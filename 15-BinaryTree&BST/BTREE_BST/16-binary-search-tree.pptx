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80" r:id="rId4"/>
    <p:sldId id="281" r:id="rId5"/>
    <p:sldId id="291" r:id="rId6"/>
    <p:sldId id="282" r:id="rId7"/>
    <p:sldId id="283" r:id="rId8"/>
    <p:sldId id="284" r:id="rId9"/>
    <p:sldId id="286" r:id="rId10"/>
    <p:sldId id="292" r:id="rId11"/>
    <p:sldId id="293" r:id="rId12"/>
    <p:sldId id="285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287" r:id="rId21"/>
    <p:sldId id="288" r:id="rId22"/>
    <p:sldId id="289" r:id="rId23"/>
    <p:sldId id="290" r:id="rId24"/>
    <p:sldId id="301" r:id="rId2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3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09CB2-88DC-44F6-BBFC-CC64BA19474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0B0B0-72F9-4F8C-B813-70AB6FE8C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2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4B31-B284-473D-92C8-18602C982C14}" type="datetime1">
              <a:rPr lang="th-TH" smtClean="0"/>
              <a:t>05/11/67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8113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6D9EA-4DFD-4648-9B2B-106D3FF5196D}" type="datetime1">
              <a:rPr lang="th-TH" smtClean="0"/>
              <a:t>05/11/67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7098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>
            <a:normAutofit/>
          </a:bodyPr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E703-986C-4E20-8FBB-823E46CBC685}" type="datetime1">
              <a:rPr lang="th-TH" smtClean="0"/>
              <a:t>05/11/67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5852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B0C9-1227-4FA9-A270-04E3880DB8C9}" type="datetime1">
              <a:rPr lang="th-TH" smtClean="0"/>
              <a:t>05/11/67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600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4044"/>
            <a:ext cx="520367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61406"/>
            <a:ext cx="5202089" cy="412230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7684" y="1334044"/>
            <a:ext cx="522611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7684" y="2261406"/>
            <a:ext cx="5227707" cy="412230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F96D-5A37-45FC-8AA0-2EB0E4B077D9}" type="datetime1">
              <a:rPr lang="th-TH" smtClean="0"/>
              <a:t>05/11/67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97B014B-136C-4027-8F6B-5749376E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8654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018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6DF56-4B7B-4ECB-99AF-E5BE77D33636}" type="datetime1">
              <a:rPr lang="th-TH" smtClean="0"/>
              <a:t>05/11/67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7664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B7E4-EA0D-4F83-B9B9-9C0DDD898427}" type="datetime1">
              <a:rPr lang="th-TH" smtClean="0"/>
              <a:t>05/11/67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906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6D373-EA76-4DC8-8116-C85E746AB3F9}" type="datetime1">
              <a:rPr lang="th-TH" smtClean="0"/>
              <a:t>05/11/67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9647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1ACA-2014-4C62-B0B7-C993F2BDD38C}" type="datetime1">
              <a:rPr lang="th-TH" smtClean="0"/>
              <a:t>05/11/67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5287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25EAC-12C6-4A53-9261-D3A7C94F7E46}" type="datetime1">
              <a:rPr lang="th-TH" smtClean="0"/>
              <a:t>05/11/67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5192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F08-1078-4904-9244-3B17C2616EF4}" type="datetime1">
              <a:rPr lang="th-TH" smtClean="0"/>
              <a:t>05/11/67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27164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8A77BEC-1DC1-4B56-A5D2-847ABAFA0A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3905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865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58781"/>
            <a:ext cx="10515600" cy="5016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92871"/>
            <a:ext cx="2743200" cy="228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Sarabun Light" panose="00000400000000000000" pitchFamily="2" charset="-34"/>
                <a:cs typeface="Sarabun Light" panose="00000400000000000000" pitchFamily="2" charset="-34"/>
              </a:defRPr>
            </a:lvl1pPr>
          </a:lstStyle>
          <a:p>
            <a:fld id="{F5AF3648-7F22-49D9-AD65-B174BA7E6BA8}" type="datetime1">
              <a:rPr lang="th-TH" smtClean="0"/>
              <a:t>05/11/67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2871"/>
            <a:ext cx="4114800" cy="228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Sarabun Light" panose="00000400000000000000" pitchFamily="2" charset="-34"/>
                <a:cs typeface="Sarabun Light" panose="00000400000000000000" pitchFamily="2" charset="-34"/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492871"/>
            <a:ext cx="2743200" cy="228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Sarabun Light" panose="00000400000000000000" pitchFamily="2" charset="-34"/>
                <a:cs typeface="Sarabun Light" panose="00000400000000000000" pitchFamily="2" charset="-34"/>
              </a:defRPr>
            </a:lvl1pPr>
          </a:lstStyle>
          <a:p>
            <a:fld id="{18A77BEC-1DC1-4B56-A5D2-847ABAFA0A20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2888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rgbClr val="FFC000"/>
          </a:solidFill>
          <a:latin typeface="Sarabun" panose="00000500000000000000" pitchFamily="2" charset="-34"/>
          <a:ea typeface="+mj-ea"/>
          <a:cs typeface="Sarabun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13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Sarabun Light" panose="00000400000000000000" pitchFamily="2" charset="-34"/>
        </a:defRPr>
      </a:lvl1pPr>
      <a:lvl2pPr marL="685800" indent="-228600" algn="l" defTabSz="914400" rtl="0" eaLnBrk="1" latinLnBrk="0" hangingPunct="1">
        <a:lnSpc>
          <a:spcPct val="13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Sarabun Light" panose="00000400000000000000" pitchFamily="2" charset="-34"/>
        </a:defRPr>
      </a:lvl2pPr>
      <a:lvl3pPr marL="1143000" indent="-228600" algn="l" defTabSz="914400" rtl="0" eaLnBrk="1" latinLnBrk="0" hangingPunct="1">
        <a:lnSpc>
          <a:spcPct val="13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Sarabun Light" panose="00000400000000000000" pitchFamily="2" charset="-34"/>
        </a:defRPr>
      </a:lvl3pPr>
      <a:lvl4pPr marL="1600200" indent="-228600" algn="l" defTabSz="914400" rtl="0" eaLnBrk="1" latinLnBrk="0" hangingPunct="1">
        <a:lnSpc>
          <a:spcPct val="13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Sarabun Light" panose="00000400000000000000" pitchFamily="2" charset="-34"/>
        </a:defRPr>
      </a:lvl4pPr>
      <a:lvl5pPr marL="2057400" indent="-228600" algn="l" defTabSz="914400" rtl="0" eaLnBrk="1" latinLnBrk="0" hangingPunct="1">
        <a:lnSpc>
          <a:spcPct val="13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Sarabun Light" panose="00000400000000000000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09A5-429B-44CE-B03F-85F5C7CA9B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  <a:endParaRPr lang="th-T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DDFEF-594A-404E-8299-04659F06F7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Binary Tree with value condition</a:t>
            </a:r>
            <a:endParaRPr lang="th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9B8DE-8DD9-4D53-81F5-15A857603A3D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Nattee Niparnan</a:t>
            </a:r>
            <a:endParaRPr lang="th-TH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51109-544E-69FB-8766-2420CC92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264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96FA-3A13-432A-99DB-21593EB4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6FC46-0E46-4DCA-BEDD-5B6B4CE3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10515600" cy="457619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>
                <a:latin typeface="Sarabun ExtraLight" panose="00000300000000000000" pitchFamily="2" charset="-34"/>
                <a:cs typeface="Sarabun ExtraLight" panose="00000300000000000000" pitchFamily="2" charset="-34"/>
              </a:rPr>
              <a:t>We add additional </a:t>
            </a:r>
            <a:r>
              <a:rPr lang="en-US" dirty="0">
                <a:solidFill>
                  <a:schemeClr val="accent5"/>
                </a:solidFill>
                <a:latin typeface="Sarabun ExtraLight" panose="00000300000000000000" pitchFamily="2" charset="-34"/>
                <a:cs typeface="Sarabun ExtraLight" panose="00000300000000000000" pitchFamily="2" charset="-34"/>
              </a:rPr>
              <a:t>value constraint </a:t>
            </a:r>
            <a:r>
              <a:rPr lang="en-US" dirty="0">
                <a:latin typeface="Sarabun ExtraLight" panose="00000300000000000000" pitchFamily="2" charset="-34"/>
                <a:cs typeface="Sarabun ExtraLight" panose="00000300000000000000" pitchFamily="2" charset="-34"/>
              </a:rPr>
              <a:t>to a Binary Tree 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Sarabun ExtraLight" panose="00000300000000000000" pitchFamily="2" charset="-34"/>
                <a:cs typeface="Sarabun ExtraLight" panose="00000300000000000000" pitchFamily="2" charset="-34"/>
              </a:rPr>
              <a:t>The constraint make finding data in the tree much faster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solidFill>
                  <a:schemeClr val="accent6"/>
                </a:solidFill>
                <a:latin typeface="Sarabun ExtraLight" panose="00000300000000000000" pitchFamily="2" charset="-34"/>
                <a:cs typeface="Sarabun ExtraLight" panose="00000300000000000000" pitchFamily="2" charset="-34"/>
              </a:rPr>
              <a:t>O(h) </a:t>
            </a:r>
            <a:r>
              <a:rPr lang="en-US" dirty="0">
                <a:latin typeface="Sarabun ExtraLight" panose="00000300000000000000" pitchFamily="2" charset="-34"/>
                <a:cs typeface="Sarabun ExtraLight" panose="00000300000000000000" pitchFamily="2" charset="-34"/>
              </a:rPr>
              <a:t>where h is the height of the tree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latin typeface="Sarabun ExtraLight" panose="00000300000000000000" pitchFamily="2" charset="-34"/>
                <a:cs typeface="Sarabun ExtraLight" panose="00000300000000000000" pitchFamily="2" charset="-34"/>
              </a:rPr>
              <a:t>The tree is expected to have h be in </a:t>
            </a:r>
            <a:r>
              <a:rPr lang="en-US" dirty="0">
                <a:solidFill>
                  <a:schemeClr val="accent6"/>
                </a:solidFill>
                <a:latin typeface="Sarabun ExtraLight" panose="00000300000000000000" pitchFamily="2" charset="-34"/>
                <a:cs typeface="Sarabun ExtraLight" panose="00000300000000000000" pitchFamily="2" charset="-34"/>
              </a:rPr>
              <a:t>O( lg n)</a:t>
            </a:r>
            <a:r>
              <a:rPr lang="en-US" dirty="0">
                <a:latin typeface="Sarabun ExtraLight" panose="00000300000000000000" pitchFamily="2" charset="-34"/>
                <a:cs typeface="Sarabun ExtraLight" panose="00000300000000000000" pitchFamily="2" charset="-34"/>
              </a:rPr>
              <a:t>, but this is not always true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latin typeface="Sarabun ExtraLight" panose="00000300000000000000" pitchFamily="2" charset="-34"/>
                <a:cs typeface="Sarabun ExtraLight" panose="00000300000000000000" pitchFamily="2" charset="-34"/>
              </a:rPr>
              <a:t>The next tree (AVL tree) will add more constraint so that we can guarantee that </a:t>
            </a:r>
            <a:r>
              <a:rPr lang="en-US" dirty="0">
                <a:solidFill>
                  <a:schemeClr val="accent6"/>
                </a:solidFill>
                <a:latin typeface="Sarabun ExtraLight" panose="00000300000000000000" pitchFamily="2" charset="-34"/>
                <a:cs typeface="Sarabun ExtraLight" panose="00000300000000000000" pitchFamily="2" charset="-34"/>
              </a:rPr>
              <a:t>h = O( log n)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Sarabun ExtraLight" panose="00000300000000000000" pitchFamily="2" charset="-34"/>
                <a:cs typeface="Sarabun ExtraLight" panose="00000300000000000000" pitchFamily="2" charset="-34"/>
              </a:rPr>
              <a:t>Using the same approach as a binary heap, maintain the constraint during modification</a:t>
            </a:r>
            <a:endParaRPr lang="th-TH" dirty="0">
              <a:latin typeface="Sarabun ExtraLight" panose="00000300000000000000" pitchFamily="2" charset="-34"/>
              <a:cs typeface="Sarabun ExtraLight" panose="00000300000000000000" pitchFamily="2" charset="-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0CE4E-BA56-505A-66FD-27B13AE0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1102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6CF2-9898-41B4-B606-6D4F5154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D802-DD12-4FC9-844D-97A5438F8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28" y="1358781"/>
            <a:ext cx="6975120" cy="53149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Structure rule: must be a Binary Tree</a:t>
            </a:r>
          </a:p>
          <a:p>
            <a:r>
              <a:rPr lang="en-US" dirty="0"/>
              <a:t>Value rule: for any node </a:t>
            </a:r>
            <a:r>
              <a:rPr lang="en-US" dirty="0">
                <a:solidFill>
                  <a:schemeClr val="accent6"/>
                </a:solidFill>
              </a:rPr>
              <a:t>x</a:t>
            </a:r>
          </a:p>
          <a:p>
            <a:pPr lvl="1"/>
            <a:r>
              <a:rPr lang="en-US" dirty="0"/>
              <a:t>data in </a:t>
            </a:r>
            <a:r>
              <a:rPr lang="en-US" dirty="0">
                <a:solidFill>
                  <a:schemeClr val="accent2"/>
                </a:solidFill>
              </a:rPr>
              <a:t>left-subtree</a:t>
            </a:r>
            <a:r>
              <a:rPr lang="en-US" dirty="0"/>
              <a:t> must be </a:t>
            </a:r>
            <a:r>
              <a:rPr lang="en-US" dirty="0">
                <a:solidFill>
                  <a:schemeClr val="accent4"/>
                </a:solidFill>
              </a:rPr>
              <a:t>less than </a:t>
            </a:r>
            <a:r>
              <a:rPr lang="en-US" dirty="0"/>
              <a:t>the data in </a:t>
            </a:r>
            <a:r>
              <a:rPr lang="en-US" dirty="0">
                <a:solidFill>
                  <a:schemeClr val="accent6"/>
                </a:solidFill>
              </a:rPr>
              <a:t>x</a:t>
            </a:r>
          </a:p>
          <a:p>
            <a:pPr lvl="1"/>
            <a:r>
              <a:rPr lang="en-US" dirty="0"/>
              <a:t>data in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  <a:r>
              <a:rPr lang="en-US" dirty="0"/>
              <a:t> must be </a:t>
            </a:r>
            <a:r>
              <a:rPr lang="en-US" dirty="0">
                <a:solidFill>
                  <a:schemeClr val="accent3"/>
                </a:solidFill>
              </a:rPr>
              <a:t>more than </a:t>
            </a:r>
            <a:r>
              <a:rPr lang="en-US" dirty="0"/>
              <a:t>the data in </a:t>
            </a:r>
            <a:r>
              <a:rPr lang="en-US" dirty="0">
                <a:solidFill>
                  <a:schemeClr val="accent6"/>
                </a:solidFill>
              </a:rPr>
              <a:t>x</a:t>
            </a:r>
          </a:p>
          <a:p>
            <a:r>
              <a:rPr lang="en-US" dirty="0"/>
              <a:t>Recursive Definition</a:t>
            </a:r>
          </a:p>
          <a:p>
            <a:pPr lvl="1"/>
            <a:r>
              <a:rPr lang="en-US" dirty="0"/>
              <a:t>An </a:t>
            </a:r>
            <a:r>
              <a:rPr lang="en-US" dirty="0">
                <a:solidFill>
                  <a:schemeClr val="accent6"/>
                </a:solidFill>
              </a:rPr>
              <a:t>empty tree </a:t>
            </a:r>
            <a:r>
              <a:rPr lang="en-US" dirty="0"/>
              <a:t>is a Binary Search Tree (BST)</a:t>
            </a:r>
          </a:p>
          <a:p>
            <a:pPr lvl="1"/>
            <a:r>
              <a:rPr lang="en-US" sz="2200" dirty="0"/>
              <a:t>A node X is a BST when </a:t>
            </a:r>
          </a:p>
          <a:p>
            <a:pPr lvl="2"/>
            <a:r>
              <a:rPr lang="en-US" sz="1900" dirty="0"/>
              <a:t>Its subtrees (if any) must be BST   and</a:t>
            </a:r>
          </a:p>
          <a:p>
            <a:pPr lvl="2"/>
            <a:r>
              <a:rPr lang="en-US" sz="1900" dirty="0"/>
              <a:t>If </a:t>
            </a:r>
            <a:r>
              <a:rPr lang="en-US" sz="1900" dirty="0">
                <a:solidFill>
                  <a:schemeClr val="accent2"/>
                </a:solidFill>
              </a:rPr>
              <a:t>left-subtree</a:t>
            </a:r>
            <a:r>
              <a:rPr lang="en-US" sz="1900" dirty="0"/>
              <a:t> exists, </a:t>
            </a:r>
            <a:r>
              <a:rPr lang="en-US" sz="1900" dirty="0">
                <a:solidFill>
                  <a:schemeClr val="accent6"/>
                </a:solidFill>
              </a:rPr>
              <a:t>X-&gt;data </a:t>
            </a:r>
            <a:r>
              <a:rPr lang="en-US" sz="1900" dirty="0"/>
              <a:t>must be more than x-&gt;left-&gt;data</a:t>
            </a:r>
          </a:p>
          <a:p>
            <a:pPr lvl="2"/>
            <a:r>
              <a:rPr lang="en-US" sz="1900" dirty="0"/>
              <a:t>If </a:t>
            </a:r>
            <a:r>
              <a:rPr lang="en-US" sz="1900" dirty="0">
                <a:solidFill>
                  <a:schemeClr val="accent5"/>
                </a:solidFill>
              </a:rPr>
              <a:t>right-subtree</a:t>
            </a:r>
            <a:r>
              <a:rPr lang="en-US" sz="1900" dirty="0"/>
              <a:t> exists, </a:t>
            </a:r>
            <a:r>
              <a:rPr lang="en-US" sz="1900" dirty="0">
                <a:solidFill>
                  <a:schemeClr val="accent6"/>
                </a:solidFill>
              </a:rPr>
              <a:t>X-&gt;data </a:t>
            </a:r>
            <a:r>
              <a:rPr lang="en-US" sz="1900" dirty="0"/>
              <a:t>must be less than </a:t>
            </a:r>
            <a:r>
              <a:rPr lang="en-US" sz="1900" dirty="0">
                <a:solidFill>
                  <a:schemeClr val="accent5"/>
                </a:solidFill>
              </a:rPr>
              <a:t>x-&gt;right-&gt;data</a:t>
            </a:r>
          </a:p>
          <a:p>
            <a:pPr lvl="2"/>
            <a:endParaRPr lang="en-US" sz="1900" dirty="0"/>
          </a:p>
          <a:p>
            <a:pPr lvl="2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DE4D33-43F4-4942-8F02-C725937CF908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flipV="1">
            <a:off x="6800740" y="769403"/>
            <a:ext cx="61110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E48168-5288-4168-BAE0-11845ECA96D6}"/>
              </a:ext>
            </a:extLst>
          </p:cNvPr>
          <p:cNvCxnSpPr>
            <a:cxnSpLocks/>
            <a:stCxn id="8" idx="1"/>
            <a:endCxn id="6" idx="1"/>
          </p:cNvCxnSpPr>
          <p:nvPr/>
        </p:nvCxnSpPr>
        <p:spPr>
          <a:xfrm flipH="1" flipV="1">
            <a:off x="7411848" y="769403"/>
            <a:ext cx="495689" cy="83461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c 5">
            <a:extLst>
              <a:ext uri="{FF2B5EF4-FFF2-40B4-BE49-F238E27FC236}">
                <a16:creationId xmlns:a16="http://schemas.microsoft.com/office/drawing/2014/main" id="{510C28DA-3821-4FAB-84B1-60AEED3AD3E6}"/>
              </a:ext>
            </a:extLst>
          </p:cNvPr>
          <p:cNvSpPr/>
          <p:nvPr/>
        </p:nvSpPr>
        <p:spPr>
          <a:xfrm>
            <a:off x="7220380" y="57793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C46590FD-E511-44A5-A871-C64D4C1037E8}"/>
              </a:ext>
            </a:extLst>
          </p:cNvPr>
          <p:cNvSpPr/>
          <p:nvPr/>
        </p:nvSpPr>
        <p:spPr>
          <a:xfrm>
            <a:off x="6609272" y="140661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C2106EA-13E2-4DC3-AFBA-9CB45AAB2203}"/>
              </a:ext>
            </a:extLst>
          </p:cNvPr>
          <p:cNvSpPr/>
          <p:nvPr/>
        </p:nvSpPr>
        <p:spPr>
          <a:xfrm>
            <a:off x="7716069" y="141254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3B129E-ECA2-4161-955E-92D3EC2B3886}"/>
              </a:ext>
            </a:extLst>
          </p:cNvPr>
          <p:cNvCxnSpPr>
            <a:cxnSpLocks/>
            <a:stCxn id="12" idx="1"/>
            <a:endCxn id="11" idx="1"/>
          </p:cNvCxnSpPr>
          <p:nvPr/>
        </p:nvCxnSpPr>
        <p:spPr>
          <a:xfrm flipV="1">
            <a:off x="9756493" y="769403"/>
            <a:ext cx="61110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13DC5C-44F1-4C69-BD0F-37B2EF950B70}"/>
              </a:ext>
            </a:extLst>
          </p:cNvPr>
          <p:cNvCxnSpPr>
            <a:cxnSpLocks/>
            <a:stCxn id="13" idx="1"/>
            <a:endCxn id="11" idx="1"/>
          </p:cNvCxnSpPr>
          <p:nvPr/>
        </p:nvCxnSpPr>
        <p:spPr>
          <a:xfrm flipH="1" flipV="1">
            <a:off x="10367601" y="769403"/>
            <a:ext cx="495689" cy="83461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06DFAC00-6782-442E-B314-E43B6AC565DE}"/>
              </a:ext>
            </a:extLst>
          </p:cNvPr>
          <p:cNvSpPr/>
          <p:nvPr/>
        </p:nvSpPr>
        <p:spPr>
          <a:xfrm>
            <a:off x="10176133" y="57793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E53CB4A-65D0-44CA-AF0B-7B0E2428997B}"/>
              </a:ext>
            </a:extLst>
          </p:cNvPr>
          <p:cNvSpPr/>
          <p:nvPr/>
        </p:nvSpPr>
        <p:spPr>
          <a:xfrm>
            <a:off x="9565025" y="140661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44A3CB6-E521-434D-8918-DBA4E7DAAD4C}"/>
              </a:ext>
            </a:extLst>
          </p:cNvPr>
          <p:cNvSpPr/>
          <p:nvPr/>
        </p:nvSpPr>
        <p:spPr>
          <a:xfrm>
            <a:off x="10671822" y="141254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659278-29F6-4974-BE8B-0161D2745929}"/>
              </a:ext>
            </a:extLst>
          </p:cNvPr>
          <p:cNvCxnSpPr>
            <a:cxnSpLocks/>
            <a:stCxn id="17" idx="1"/>
            <a:endCxn id="18" idx="1"/>
          </p:cNvCxnSpPr>
          <p:nvPr/>
        </p:nvCxnSpPr>
        <p:spPr>
          <a:xfrm flipV="1">
            <a:off x="10313335" y="3379373"/>
            <a:ext cx="361931" cy="680262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2232AB-4F3A-4B74-936C-BA39643A0BEB}"/>
              </a:ext>
            </a:extLst>
          </p:cNvPr>
          <p:cNvCxnSpPr>
            <a:cxnSpLocks/>
            <a:stCxn id="18" idx="1"/>
            <a:endCxn id="16" idx="1"/>
          </p:cNvCxnSpPr>
          <p:nvPr/>
        </p:nvCxnSpPr>
        <p:spPr>
          <a:xfrm flipH="1" flipV="1">
            <a:off x="10179591" y="2736226"/>
            <a:ext cx="495675" cy="64314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4BE73F0D-0979-459B-A3F8-E2748990F786}"/>
              </a:ext>
            </a:extLst>
          </p:cNvPr>
          <p:cNvSpPr/>
          <p:nvPr/>
        </p:nvSpPr>
        <p:spPr>
          <a:xfrm>
            <a:off x="9988123" y="2544758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1D930317-A6B3-4F68-B51A-F0AFBD42DE8E}"/>
              </a:ext>
            </a:extLst>
          </p:cNvPr>
          <p:cNvSpPr/>
          <p:nvPr/>
        </p:nvSpPr>
        <p:spPr>
          <a:xfrm>
            <a:off x="10121867" y="3868167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2D18E94-FA35-4406-BAAB-2C5B1ACE9D53}"/>
              </a:ext>
            </a:extLst>
          </p:cNvPr>
          <p:cNvSpPr/>
          <p:nvPr/>
        </p:nvSpPr>
        <p:spPr>
          <a:xfrm>
            <a:off x="10483798" y="318790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F81E6C-1A13-4201-B650-CC3BC6DE23FA}"/>
              </a:ext>
            </a:extLst>
          </p:cNvPr>
          <p:cNvCxnSpPr>
            <a:cxnSpLocks/>
            <a:stCxn id="22" idx="1"/>
            <a:endCxn id="23" idx="1"/>
          </p:cNvCxnSpPr>
          <p:nvPr/>
        </p:nvCxnSpPr>
        <p:spPr>
          <a:xfrm flipH="1" flipV="1">
            <a:off x="8231819" y="3379373"/>
            <a:ext cx="535039" cy="63689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124118-CF7C-4509-B677-DEFA78F4237B}"/>
              </a:ext>
            </a:extLst>
          </p:cNvPr>
          <p:cNvCxnSpPr>
            <a:cxnSpLocks/>
            <a:stCxn id="23" idx="1"/>
            <a:endCxn id="21" idx="1"/>
          </p:cNvCxnSpPr>
          <p:nvPr/>
        </p:nvCxnSpPr>
        <p:spPr>
          <a:xfrm flipH="1" flipV="1">
            <a:off x="7736144" y="2736226"/>
            <a:ext cx="495675" cy="64314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5CC055FC-AA9E-4247-8EE6-E2CA259AD9D9}"/>
              </a:ext>
            </a:extLst>
          </p:cNvPr>
          <p:cNvSpPr/>
          <p:nvPr/>
        </p:nvSpPr>
        <p:spPr>
          <a:xfrm>
            <a:off x="7544676" y="2544758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1A05DD56-F63C-4FD2-B429-D2302F03F55B}"/>
              </a:ext>
            </a:extLst>
          </p:cNvPr>
          <p:cNvSpPr/>
          <p:nvPr/>
        </p:nvSpPr>
        <p:spPr>
          <a:xfrm>
            <a:off x="8575390" y="382480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B8B50F88-F8E5-4134-A3E7-DABF14CDBC3B}"/>
              </a:ext>
            </a:extLst>
          </p:cNvPr>
          <p:cNvSpPr/>
          <p:nvPr/>
        </p:nvSpPr>
        <p:spPr>
          <a:xfrm>
            <a:off x="8040351" y="318790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6C4A45-76DC-4796-9DD0-6A942F8ECFD2}"/>
              </a:ext>
            </a:extLst>
          </p:cNvPr>
          <p:cNvCxnSpPr>
            <a:cxnSpLocks/>
            <a:stCxn id="29" idx="1"/>
            <a:endCxn id="30" idx="1"/>
          </p:cNvCxnSpPr>
          <p:nvPr/>
        </p:nvCxnSpPr>
        <p:spPr>
          <a:xfrm flipV="1">
            <a:off x="7751811" y="5567959"/>
            <a:ext cx="361931" cy="680262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55FD89A-5F55-4EDC-A70D-3BCCA03D4556}"/>
              </a:ext>
            </a:extLst>
          </p:cNvPr>
          <p:cNvCxnSpPr>
            <a:cxnSpLocks/>
            <a:stCxn id="30" idx="1"/>
            <a:endCxn id="28" idx="1"/>
          </p:cNvCxnSpPr>
          <p:nvPr/>
        </p:nvCxnSpPr>
        <p:spPr>
          <a:xfrm flipV="1">
            <a:off x="8113742" y="4871925"/>
            <a:ext cx="382935" cy="69603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2703774D-78F9-4B61-8567-4FA11ED74A2F}"/>
              </a:ext>
            </a:extLst>
          </p:cNvPr>
          <p:cNvSpPr/>
          <p:nvPr/>
        </p:nvSpPr>
        <p:spPr>
          <a:xfrm>
            <a:off x="8305209" y="4680457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BDFF25CB-313F-4443-9594-BCE68DBBE898}"/>
              </a:ext>
            </a:extLst>
          </p:cNvPr>
          <p:cNvSpPr/>
          <p:nvPr/>
        </p:nvSpPr>
        <p:spPr>
          <a:xfrm>
            <a:off x="7560343" y="6056753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9E956102-EE61-4AD0-BACC-54B05896E1B3}"/>
              </a:ext>
            </a:extLst>
          </p:cNvPr>
          <p:cNvSpPr/>
          <p:nvPr/>
        </p:nvSpPr>
        <p:spPr>
          <a:xfrm>
            <a:off x="7922274" y="537649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pic>
        <p:nvPicPr>
          <p:cNvPr id="35" name="Graphic 34" descr="Close">
            <a:extLst>
              <a:ext uri="{FF2B5EF4-FFF2-40B4-BE49-F238E27FC236}">
                <a16:creationId xmlns:a16="http://schemas.microsoft.com/office/drawing/2014/main" id="{CECF7BDE-ED1B-4F0A-8E84-B27CAA6FC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0523" y="788980"/>
            <a:ext cx="474777" cy="474777"/>
          </a:xfrm>
          <a:prstGeom prst="rect">
            <a:avLst/>
          </a:prstGeom>
        </p:spPr>
      </p:pic>
      <p:pic>
        <p:nvPicPr>
          <p:cNvPr id="36" name="Graphic 35" descr="Close">
            <a:extLst>
              <a:ext uri="{FF2B5EF4-FFF2-40B4-BE49-F238E27FC236}">
                <a16:creationId xmlns:a16="http://schemas.microsoft.com/office/drawing/2014/main" id="{4196604D-4745-4111-8AF8-08C641A0D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5406" y="3353264"/>
            <a:ext cx="474777" cy="474777"/>
          </a:xfrm>
          <a:prstGeom prst="rect">
            <a:avLst/>
          </a:prstGeom>
        </p:spPr>
      </p:pic>
      <p:pic>
        <p:nvPicPr>
          <p:cNvPr id="38" name="Graphic 37" descr="Checkmark">
            <a:extLst>
              <a:ext uri="{FF2B5EF4-FFF2-40B4-BE49-F238E27FC236}">
                <a16:creationId xmlns:a16="http://schemas.microsoft.com/office/drawing/2014/main" id="{3B36270B-B549-4032-A53F-46F512C96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3282" y="823900"/>
            <a:ext cx="457200" cy="457200"/>
          </a:xfrm>
          <a:prstGeom prst="rect">
            <a:avLst/>
          </a:prstGeom>
        </p:spPr>
      </p:pic>
      <p:pic>
        <p:nvPicPr>
          <p:cNvPr id="39" name="Graphic 38" descr="Checkmark">
            <a:extLst>
              <a:ext uri="{FF2B5EF4-FFF2-40B4-BE49-F238E27FC236}">
                <a16:creationId xmlns:a16="http://schemas.microsoft.com/office/drawing/2014/main" id="{157EEA89-C19A-46ED-AB8C-D2E12F896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4689" y="2709143"/>
            <a:ext cx="457200" cy="457200"/>
          </a:xfrm>
          <a:prstGeom prst="rect">
            <a:avLst/>
          </a:prstGeom>
        </p:spPr>
      </p:pic>
      <p:pic>
        <p:nvPicPr>
          <p:cNvPr id="40" name="Graphic 39" descr="Checkmark">
            <a:extLst>
              <a:ext uri="{FF2B5EF4-FFF2-40B4-BE49-F238E27FC236}">
                <a16:creationId xmlns:a16="http://schemas.microsoft.com/office/drawing/2014/main" id="{CC81DBCD-2EE2-41DD-88F6-64E9B13D9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9964" y="5376491"/>
            <a:ext cx="457200" cy="457200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FD5253C6-CD7B-219E-4C85-BBECF65B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369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19CACD-33B0-4192-B0E0-18DCD9FB0B57}"/>
              </a:ext>
            </a:extLst>
          </p:cNvPr>
          <p:cNvCxnSpPr>
            <a:cxnSpLocks/>
            <a:stCxn id="47" idx="1"/>
            <a:endCxn id="63" idx="1"/>
          </p:cNvCxnSpPr>
          <p:nvPr/>
        </p:nvCxnSpPr>
        <p:spPr>
          <a:xfrm flipH="1" flipV="1">
            <a:off x="9044409" y="5020733"/>
            <a:ext cx="246876" cy="115936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070A463-0FE0-4930-A595-7B7411C09EF5}"/>
              </a:ext>
            </a:extLst>
          </p:cNvPr>
          <p:cNvCxnSpPr>
            <a:cxnSpLocks/>
            <a:stCxn id="54" idx="1"/>
            <a:endCxn id="14" idx="1"/>
          </p:cNvCxnSpPr>
          <p:nvPr/>
        </p:nvCxnSpPr>
        <p:spPr>
          <a:xfrm flipH="1" flipV="1">
            <a:off x="9881259" y="2250737"/>
            <a:ext cx="820705" cy="88782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112F9E8-8BDD-47DB-9E37-C0FEE40B5A1F}"/>
              </a:ext>
            </a:extLst>
          </p:cNvPr>
          <p:cNvCxnSpPr>
            <a:cxnSpLocks/>
            <a:stCxn id="74" idx="1"/>
            <a:endCxn id="10" idx="1"/>
          </p:cNvCxnSpPr>
          <p:nvPr/>
        </p:nvCxnSpPr>
        <p:spPr>
          <a:xfrm flipV="1">
            <a:off x="4744498" y="2250737"/>
            <a:ext cx="823317" cy="88782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2274A7A-09E4-47FC-A0DA-2BC8E99404CB}"/>
              </a:ext>
            </a:extLst>
          </p:cNvPr>
          <p:cNvCxnSpPr>
            <a:cxnSpLocks/>
          </p:cNvCxnSpPr>
          <p:nvPr/>
        </p:nvCxnSpPr>
        <p:spPr>
          <a:xfrm flipH="1" flipV="1">
            <a:off x="4779316" y="3175655"/>
            <a:ext cx="344294" cy="84005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65714B2-3082-41F9-92EB-C8E5BE370424}"/>
              </a:ext>
            </a:extLst>
          </p:cNvPr>
          <p:cNvCxnSpPr>
            <a:cxnSpLocks/>
            <a:stCxn id="59" idx="1"/>
            <a:endCxn id="54" idx="1"/>
          </p:cNvCxnSpPr>
          <p:nvPr/>
        </p:nvCxnSpPr>
        <p:spPr>
          <a:xfrm flipH="1" flipV="1">
            <a:off x="10701964" y="3138563"/>
            <a:ext cx="600895" cy="8286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FD9E1C3-3CDC-4042-B54F-BFA6ADDCD054}"/>
              </a:ext>
            </a:extLst>
          </p:cNvPr>
          <p:cNvCxnSpPr>
            <a:cxnSpLocks/>
            <a:stCxn id="61" idx="1"/>
            <a:endCxn id="54" idx="1"/>
          </p:cNvCxnSpPr>
          <p:nvPr/>
        </p:nvCxnSpPr>
        <p:spPr>
          <a:xfrm flipV="1">
            <a:off x="10295542" y="3138563"/>
            <a:ext cx="406422" cy="8286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8D135C3-F766-4C54-B0A6-95D7F299F55C}"/>
              </a:ext>
            </a:extLst>
          </p:cNvPr>
          <p:cNvCxnSpPr>
            <a:cxnSpLocks/>
            <a:stCxn id="63" idx="1"/>
            <a:endCxn id="32" idx="1"/>
          </p:cNvCxnSpPr>
          <p:nvPr/>
        </p:nvCxnSpPr>
        <p:spPr>
          <a:xfrm flipV="1">
            <a:off x="9044409" y="3967239"/>
            <a:ext cx="382935" cy="105349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093BA2-C31E-4C04-8660-0BC5C5D3955E}"/>
              </a:ext>
            </a:extLst>
          </p:cNvPr>
          <p:cNvCxnSpPr>
            <a:cxnSpLocks/>
            <a:stCxn id="16" idx="1"/>
            <a:endCxn id="12" idx="1"/>
          </p:cNvCxnSpPr>
          <p:nvPr/>
        </p:nvCxnSpPr>
        <p:spPr>
          <a:xfrm flipV="1">
            <a:off x="5641616" y="3967239"/>
            <a:ext cx="399999" cy="95088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45582D-B199-4934-BD25-5068DA710E84}"/>
              </a:ext>
            </a:extLst>
          </p:cNvPr>
          <p:cNvCxnSpPr>
            <a:cxnSpLocks/>
            <a:stCxn id="20" idx="1"/>
            <a:endCxn id="12" idx="1"/>
          </p:cNvCxnSpPr>
          <p:nvPr/>
        </p:nvCxnSpPr>
        <p:spPr>
          <a:xfrm flipH="1" flipV="1">
            <a:off x="6041615" y="3967239"/>
            <a:ext cx="359829" cy="95088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9DDBD7-91C7-4718-B87F-69242956C47C}"/>
              </a:ext>
            </a:extLst>
          </p:cNvPr>
          <p:cNvCxnSpPr>
            <a:cxnSpLocks/>
            <a:stCxn id="23" idx="1"/>
            <a:endCxn id="14" idx="1"/>
          </p:cNvCxnSpPr>
          <p:nvPr/>
        </p:nvCxnSpPr>
        <p:spPr>
          <a:xfrm flipV="1">
            <a:off x="8831596" y="2250737"/>
            <a:ext cx="1049663" cy="88782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26EE75-2231-41B7-B346-B74456B294E8}"/>
              </a:ext>
            </a:extLst>
          </p:cNvPr>
          <p:cNvCxnSpPr>
            <a:cxnSpLocks/>
            <a:stCxn id="29" idx="1"/>
            <a:endCxn id="23" idx="1"/>
          </p:cNvCxnSpPr>
          <p:nvPr/>
        </p:nvCxnSpPr>
        <p:spPr>
          <a:xfrm flipV="1">
            <a:off x="8235849" y="3138564"/>
            <a:ext cx="595747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629C43C-DF9C-4132-9B4A-2AAFE65A7B30}"/>
              </a:ext>
            </a:extLst>
          </p:cNvPr>
          <p:cNvCxnSpPr>
            <a:cxnSpLocks/>
            <a:stCxn id="32" idx="1"/>
            <a:endCxn id="23" idx="1"/>
          </p:cNvCxnSpPr>
          <p:nvPr/>
        </p:nvCxnSpPr>
        <p:spPr>
          <a:xfrm flipH="1" flipV="1">
            <a:off x="8831596" y="3138564"/>
            <a:ext cx="59574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97330C-4E26-47FB-BF8E-ECEBF6E602F1}"/>
              </a:ext>
            </a:extLst>
          </p:cNvPr>
          <p:cNvCxnSpPr>
            <a:cxnSpLocks/>
            <a:stCxn id="35" idx="1"/>
            <a:endCxn id="29" idx="1"/>
          </p:cNvCxnSpPr>
          <p:nvPr/>
        </p:nvCxnSpPr>
        <p:spPr>
          <a:xfrm flipV="1">
            <a:off x="7718610" y="3967239"/>
            <a:ext cx="517239" cy="95190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A4E571A-AA18-457B-9A96-5390A3A23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865465"/>
          </a:xfrm>
        </p:spPr>
        <p:txBody>
          <a:bodyPr/>
          <a:lstStyle/>
          <a:p>
            <a:r>
              <a:rPr lang="en-US" dirty="0"/>
              <a:t>Finding Value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1DB5D-A757-471A-96C0-24B060AF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936" y="1358781"/>
            <a:ext cx="4025445" cy="501638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Value rules make finding fast</a:t>
            </a:r>
          </a:p>
          <a:p>
            <a:r>
              <a:rPr lang="en-US" dirty="0"/>
              <a:t>To find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r>
              <a:rPr lang="en-US" dirty="0"/>
              <a:t> Start from root</a:t>
            </a:r>
          </a:p>
          <a:p>
            <a:pPr lvl="1"/>
            <a:r>
              <a:rPr lang="en-US" dirty="0"/>
              <a:t>If the current node is not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r>
              <a:rPr lang="en-US" dirty="0"/>
              <a:t>,</a:t>
            </a:r>
          </a:p>
          <a:p>
            <a:pPr lvl="2"/>
            <a:r>
              <a:rPr lang="en-US" dirty="0"/>
              <a:t>search in left-subtree if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r>
              <a:rPr lang="en-US" dirty="0"/>
              <a:t> is </a:t>
            </a:r>
            <a:r>
              <a:rPr lang="en-US" dirty="0">
                <a:solidFill>
                  <a:schemeClr val="accent4"/>
                </a:solidFill>
              </a:rPr>
              <a:t>less</a:t>
            </a:r>
            <a:r>
              <a:rPr lang="en-US" dirty="0"/>
              <a:t> than the </a:t>
            </a:r>
            <a:r>
              <a:rPr lang="en-US" dirty="0">
                <a:solidFill>
                  <a:schemeClr val="accent6"/>
                </a:solidFill>
              </a:rPr>
              <a:t>current node</a:t>
            </a:r>
          </a:p>
          <a:p>
            <a:pPr lvl="2"/>
            <a:r>
              <a:rPr lang="en-US" dirty="0"/>
              <a:t>search in right-subtree if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r>
              <a:rPr lang="en-US" dirty="0"/>
              <a:t> is </a:t>
            </a:r>
            <a:r>
              <a:rPr lang="en-US" dirty="0">
                <a:solidFill>
                  <a:schemeClr val="accent3"/>
                </a:solidFill>
              </a:rPr>
              <a:t>more</a:t>
            </a:r>
            <a:r>
              <a:rPr lang="en-US" dirty="0"/>
              <a:t> than the </a:t>
            </a:r>
            <a:r>
              <a:rPr lang="en-US" dirty="0">
                <a:solidFill>
                  <a:schemeClr val="accent6"/>
                </a:solidFill>
              </a:rPr>
              <a:t>current node </a:t>
            </a:r>
          </a:p>
          <a:p>
            <a:pPr lvl="1"/>
            <a:r>
              <a:rPr lang="en-US" dirty="0"/>
              <a:t>Keep going until we find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r>
              <a:rPr lang="en-US" dirty="0"/>
              <a:t> or reach </a:t>
            </a:r>
            <a:r>
              <a:rPr lang="en-US" dirty="0">
                <a:solidFill>
                  <a:schemeClr val="accent5"/>
                </a:solidFill>
              </a:rPr>
              <a:t>NULL</a:t>
            </a:r>
          </a:p>
          <a:p>
            <a:r>
              <a:rPr lang="en-US" dirty="0"/>
              <a:t>Other operation also depends on find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913378-1A2F-467E-B43C-419229FCB65A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>
            <a:off x="5567815" y="2250737"/>
            <a:ext cx="1084908" cy="88782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85A67F-049E-4D93-AC63-044AF5D2C831}"/>
              </a:ext>
            </a:extLst>
          </p:cNvPr>
          <p:cNvCxnSpPr>
            <a:cxnSpLocks/>
            <a:stCxn id="12" idx="1"/>
            <a:endCxn id="11" idx="1"/>
          </p:cNvCxnSpPr>
          <p:nvPr/>
        </p:nvCxnSpPr>
        <p:spPr>
          <a:xfrm flipV="1">
            <a:off x="6041615" y="3138564"/>
            <a:ext cx="61110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A2F5F0-1CBF-4B0A-86BC-151B54A3E61B}"/>
              </a:ext>
            </a:extLst>
          </p:cNvPr>
          <p:cNvCxnSpPr>
            <a:cxnSpLocks/>
            <a:stCxn id="13" idx="1"/>
            <a:endCxn id="11" idx="1"/>
          </p:cNvCxnSpPr>
          <p:nvPr/>
        </p:nvCxnSpPr>
        <p:spPr>
          <a:xfrm flipH="1" flipV="1">
            <a:off x="6652723" y="3138564"/>
            <a:ext cx="495689" cy="83461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A6EBE1-0550-4D19-BD40-5F5E8B36626F}"/>
              </a:ext>
            </a:extLst>
          </p:cNvPr>
          <p:cNvCxnSpPr>
            <a:cxnSpLocks/>
            <a:stCxn id="14" idx="1"/>
            <a:endCxn id="9" idx="1"/>
          </p:cNvCxnSpPr>
          <p:nvPr/>
        </p:nvCxnSpPr>
        <p:spPr>
          <a:xfrm flipH="1" flipV="1">
            <a:off x="7479437" y="1422062"/>
            <a:ext cx="2401822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4E827E-2812-4794-A0C3-147990E8BC14}"/>
              </a:ext>
            </a:extLst>
          </p:cNvPr>
          <p:cNvCxnSpPr>
            <a:cxnSpLocks/>
            <a:stCxn id="10" idx="1"/>
            <a:endCxn id="9" idx="1"/>
          </p:cNvCxnSpPr>
          <p:nvPr/>
        </p:nvCxnSpPr>
        <p:spPr>
          <a:xfrm flipV="1">
            <a:off x="5567815" y="1422062"/>
            <a:ext cx="1911622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6EAF19F8-85A4-42E3-81D2-581087BD62A7}"/>
              </a:ext>
            </a:extLst>
          </p:cNvPr>
          <p:cNvSpPr/>
          <p:nvPr/>
        </p:nvSpPr>
        <p:spPr>
          <a:xfrm>
            <a:off x="7287969" y="1230594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F041671F-99A0-4DFF-BF6F-0215C6B027A2}"/>
              </a:ext>
            </a:extLst>
          </p:cNvPr>
          <p:cNvSpPr/>
          <p:nvPr/>
        </p:nvSpPr>
        <p:spPr>
          <a:xfrm>
            <a:off x="5376347" y="205926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23A4A10-D306-4489-B53E-AF840B247983}"/>
              </a:ext>
            </a:extLst>
          </p:cNvPr>
          <p:cNvSpPr/>
          <p:nvPr/>
        </p:nvSpPr>
        <p:spPr>
          <a:xfrm>
            <a:off x="6461255" y="294709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06FE6CB-7B97-4092-A45B-6FD72061ED9C}"/>
              </a:ext>
            </a:extLst>
          </p:cNvPr>
          <p:cNvSpPr/>
          <p:nvPr/>
        </p:nvSpPr>
        <p:spPr>
          <a:xfrm>
            <a:off x="5850147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9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FB07BC2-2461-4162-A42C-66235F9BFC64}"/>
              </a:ext>
            </a:extLst>
          </p:cNvPr>
          <p:cNvSpPr/>
          <p:nvPr/>
        </p:nvSpPr>
        <p:spPr>
          <a:xfrm>
            <a:off x="6956944" y="378171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D64786FE-F71D-498B-ADA4-6C16DDBA04C4}"/>
              </a:ext>
            </a:extLst>
          </p:cNvPr>
          <p:cNvSpPr/>
          <p:nvPr/>
        </p:nvSpPr>
        <p:spPr>
          <a:xfrm>
            <a:off x="9689791" y="205926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57780A3-6F13-40A6-BA57-CF2B03D8E1D5}"/>
              </a:ext>
            </a:extLst>
          </p:cNvPr>
          <p:cNvSpPr/>
          <p:nvPr/>
        </p:nvSpPr>
        <p:spPr>
          <a:xfrm>
            <a:off x="5450148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EE346094-18AA-477E-B02E-9D6059F50A2D}"/>
              </a:ext>
            </a:extLst>
          </p:cNvPr>
          <p:cNvSpPr/>
          <p:nvPr/>
        </p:nvSpPr>
        <p:spPr>
          <a:xfrm>
            <a:off x="6209976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DBE8FA8-8417-4D8D-B2F1-C21B24C4B130}"/>
              </a:ext>
            </a:extLst>
          </p:cNvPr>
          <p:cNvSpPr/>
          <p:nvPr/>
        </p:nvSpPr>
        <p:spPr>
          <a:xfrm>
            <a:off x="8640128" y="294709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49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22A36862-250C-409F-8A08-C984DD0B3450}"/>
              </a:ext>
            </a:extLst>
          </p:cNvPr>
          <p:cNvSpPr/>
          <p:nvPr/>
        </p:nvSpPr>
        <p:spPr>
          <a:xfrm>
            <a:off x="8044381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48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B9E86466-33D0-4D3F-AD2D-AEA50746416F}"/>
              </a:ext>
            </a:extLst>
          </p:cNvPr>
          <p:cNvSpPr/>
          <p:nvPr/>
        </p:nvSpPr>
        <p:spPr>
          <a:xfrm>
            <a:off x="9235876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77EE1B79-18F4-49E0-9220-52168712F344}"/>
              </a:ext>
            </a:extLst>
          </p:cNvPr>
          <p:cNvSpPr/>
          <p:nvPr/>
        </p:nvSpPr>
        <p:spPr>
          <a:xfrm>
            <a:off x="7527142" y="472767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5C5C5FC0-5BBD-42BC-8DEE-9CC2EC814150}"/>
              </a:ext>
            </a:extLst>
          </p:cNvPr>
          <p:cNvSpPr/>
          <p:nvPr/>
        </p:nvSpPr>
        <p:spPr>
          <a:xfrm>
            <a:off x="10510496" y="294709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70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32E75D38-4D3B-4995-98DF-0118020B3D90}"/>
              </a:ext>
            </a:extLst>
          </p:cNvPr>
          <p:cNvSpPr/>
          <p:nvPr/>
        </p:nvSpPr>
        <p:spPr>
          <a:xfrm>
            <a:off x="11111391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88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2DD828FA-2013-45B8-89DC-AE042DDFF830}"/>
              </a:ext>
            </a:extLst>
          </p:cNvPr>
          <p:cNvSpPr/>
          <p:nvPr/>
        </p:nvSpPr>
        <p:spPr>
          <a:xfrm>
            <a:off x="10104074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D3132E83-36C0-4819-863C-D447078247B1}"/>
              </a:ext>
            </a:extLst>
          </p:cNvPr>
          <p:cNvSpPr/>
          <p:nvPr/>
        </p:nvSpPr>
        <p:spPr>
          <a:xfrm>
            <a:off x="8852941" y="482926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79EA2F61-103F-4352-90F0-70BB5B1A3EB2}"/>
              </a:ext>
            </a:extLst>
          </p:cNvPr>
          <p:cNvSpPr/>
          <p:nvPr/>
        </p:nvSpPr>
        <p:spPr>
          <a:xfrm>
            <a:off x="4553030" y="2947094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57BB029A-07C7-4D3C-8DFB-01CC44C71DB1}"/>
              </a:ext>
            </a:extLst>
          </p:cNvPr>
          <p:cNvSpPr/>
          <p:nvPr/>
        </p:nvSpPr>
        <p:spPr>
          <a:xfrm>
            <a:off x="4897324" y="378715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B5EEFCB-762A-49B4-BF23-1F91FE1FFE67}"/>
              </a:ext>
            </a:extLst>
          </p:cNvPr>
          <p:cNvSpPr/>
          <p:nvPr/>
        </p:nvSpPr>
        <p:spPr>
          <a:xfrm>
            <a:off x="7222262" y="593386"/>
            <a:ext cx="443779" cy="5089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9</a:t>
            </a:r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7EEE7D-413B-4063-A600-4607FFE3D096}"/>
              </a:ext>
            </a:extLst>
          </p:cNvPr>
          <p:cNvSpPr txBox="1"/>
          <p:nvPr/>
        </p:nvSpPr>
        <p:spPr>
          <a:xfrm>
            <a:off x="7910077" y="797861"/>
            <a:ext cx="1509650" cy="461665"/>
          </a:xfrm>
          <a:prstGeom prst="rect">
            <a:avLst/>
          </a:prstGeom>
          <a:solidFill>
            <a:schemeClr val="accent4">
              <a:alpha val="51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200" dirty="0"/>
              <a:t>9 is less than 45, search left-subtree</a:t>
            </a:r>
            <a:endParaRPr lang="th-TH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0565D3-76C4-43E6-AC98-FE380EA7E66F}"/>
              </a:ext>
            </a:extLst>
          </p:cNvPr>
          <p:cNvSpPr txBox="1"/>
          <p:nvPr/>
        </p:nvSpPr>
        <p:spPr>
          <a:xfrm>
            <a:off x="3733722" y="1858011"/>
            <a:ext cx="1509650" cy="461665"/>
          </a:xfrm>
          <a:prstGeom prst="rect">
            <a:avLst/>
          </a:prstGeom>
          <a:solidFill>
            <a:schemeClr val="accent4">
              <a:alpha val="51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200" dirty="0"/>
              <a:t>9 is more than 2, search right-subtree</a:t>
            </a:r>
            <a:endParaRPr lang="th-TH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981446-F1D0-4D35-A4A0-D5DD17C03956}"/>
              </a:ext>
            </a:extLst>
          </p:cNvPr>
          <p:cNvSpPr txBox="1"/>
          <p:nvPr/>
        </p:nvSpPr>
        <p:spPr>
          <a:xfrm>
            <a:off x="6854322" y="2549508"/>
            <a:ext cx="1509650" cy="461665"/>
          </a:xfrm>
          <a:prstGeom prst="rect">
            <a:avLst/>
          </a:prstGeom>
          <a:solidFill>
            <a:schemeClr val="accent4">
              <a:alpha val="51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200" dirty="0"/>
              <a:t>9 is less than 20, search left-subtree</a:t>
            </a:r>
            <a:endParaRPr lang="th-TH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4D2A37-9483-411A-9A91-700034E5778F}"/>
              </a:ext>
            </a:extLst>
          </p:cNvPr>
          <p:cNvSpPr txBox="1"/>
          <p:nvPr/>
        </p:nvSpPr>
        <p:spPr>
          <a:xfrm>
            <a:off x="6257978" y="4155523"/>
            <a:ext cx="703995" cy="276999"/>
          </a:xfrm>
          <a:prstGeom prst="rect">
            <a:avLst/>
          </a:prstGeom>
          <a:solidFill>
            <a:schemeClr val="accent4">
              <a:alpha val="51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Found!</a:t>
            </a:r>
            <a:endParaRPr lang="th-TH" sz="1200" dirty="0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62BB63B1-1244-4E67-AC14-86B354179AF8}"/>
              </a:ext>
            </a:extLst>
          </p:cNvPr>
          <p:cNvSpPr/>
          <p:nvPr/>
        </p:nvSpPr>
        <p:spPr>
          <a:xfrm>
            <a:off x="7224654" y="593229"/>
            <a:ext cx="443779" cy="5089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54</a:t>
            </a:r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9E4DD7-8143-4658-95C5-64CE6381314D}"/>
              </a:ext>
            </a:extLst>
          </p:cNvPr>
          <p:cNvSpPr txBox="1"/>
          <p:nvPr/>
        </p:nvSpPr>
        <p:spPr>
          <a:xfrm>
            <a:off x="10061613" y="4479770"/>
            <a:ext cx="903324" cy="276999"/>
          </a:xfrm>
          <a:prstGeom prst="rect">
            <a:avLst/>
          </a:prstGeom>
          <a:solidFill>
            <a:schemeClr val="accent4">
              <a:alpha val="51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Not found</a:t>
            </a:r>
            <a:endParaRPr lang="th-TH" sz="1200" dirty="0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46034182-25CF-4CDD-935E-9288931C4305}"/>
              </a:ext>
            </a:extLst>
          </p:cNvPr>
          <p:cNvSpPr/>
          <p:nvPr/>
        </p:nvSpPr>
        <p:spPr>
          <a:xfrm>
            <a:off x="9099817" y="598862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BE4D83D-EDA2-12F4-DC17-F98EEC3A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417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15677 0.1342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9" y="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677 0.13426 L -0.06485 0.26042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485 0.26042 L -0.11498 0.3821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3" y="6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11111E-6 L 0.19961 0.1331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74" y="6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61 0.1331 L 0.11354 0.2625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10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354 0.2625 L 0.16237 0.38333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5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37 0.38333 L 0.20026 0.60857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" y="1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17" grpId="3" animBg="1"/>
      <p:bldP spid="17" grpId="4" animBg="1"/>
      <p:bldP spid="18" grpId="0" animBg="1"/>
      <p:bldP spid="18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4" grpId="2" animBg="1"/>
      <p:bldP spid="44" grpId="3" animBg="1"/>
      <p:bldP spid="44" grpId="4" animBg="1"/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6979-70C7-482F-91FC-A82F3D54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Node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9B58-AB2A-4A6E-942E-D49A200BF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76893C-5110-40B7-BAA3-7506A6BEEBA8}"/>
              </a:ext>
            </a:extLst>
          </p:cNvPr>
          <p:cNvSpPr/>
          <p:nvPr/>
        </p:nvSpPr>
        <p:spPr>
          <a:xfrm>
            <a:off x="315817" y="2533032"/>
            <a:ext cx="9191740" cy="397031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friend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map_bst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protected: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: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 { }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: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 {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515F8-4C86-43F7-8FBF-FC6E797913CB}"/>
              </a:ext>
            </a:extLst>
          </p:cNvPr>
          <p:cNvSpPr/>
          <p:nvPr/>
        </p:nvSpPr>
        <p:spPr>
          <a:xfrm>
            <a:off x="3825608" y="1855738"/>
            <a:ext cx="7528192" cy="2862322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compare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&lt;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?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5DF6281-B095-40F4-B08E-0248B213855F}"/>
              </a:ext>
            </a:extLst>
          </p:cNvPr>
          <p:cNvSpPr/>
          <p:nvPr/>
        </p:nvSpPr>
        <p:spPr>
          <a:xfrm>
            <a:off x="6521986" y="395252"/>
            <a:ext cx="2291508" cy="1121839"/>
          </a:xfrm>
          <a:prstGeom prst="wedgeRoundRectCallout">
            <a:avLst>
              <a:gd name="adj1" fmla="val -51121"/>
              <a:gd name="adj2" fmla="val 160704"/>
              <a:gd name="adj3" fmla="val 16667"/>
            </a:avLst>
          </a:prstGeom>
          <a:solidFill>
            <a:schemeClr val="accent3">
              <a:alpha val="52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Compare(</a:t>
            </a:r>
            <a:r>
              <a:rPr lang="en-US" sz="1800" dirty="0" err="1"/>
              <a:t>a,b</a:t>
            </a:r>
            <a:r>
              <a:rPr lang="en-US" sz="1800" dirty="0"/>
              <a:t>)</a:t>
            </a:r>
          </a:p>
          <a:p>
            <a:r>
              <a:rPr lang="en-US" sz="1800" dirty="0"/>
              <a:t>Return -1 if a &lt; b</a:t>
            </a:r>
          </a:p>
          <a:p>
            <a:r>
              <a:rPr lang="en-US" sz="1800" dirty="0"/>
              <a:t>Return 0 if a == b</a:t>
            </a:r>
          </a:p>
          <a:p>
            <a:r>
              <a:rPr lang="en-US" sz="1800" dirty="0"/>
              <a:t>Return 1 if a &gt; b</a:t>
            </a:r>
            <a:endParaRPr lang="th-TH" sz="1800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A99E7F7-5E01-4703-A979-28D8A981088B}"/>
              </a:ext>
            </a:extLst>
          </p:cNvPr>
          <p:cNvSpPr/>
          <p:nvPr/>
        </p:nvSpPr>
        <p:spPr>
          <a:xfrm>
            <a:off x="9428603" y="482837"/>
            <a:ext cx="2291508" cy="1121839"/>
          </a:xfrm>
          <a:prstGeom prst="wedgeRoundRectCallout">
            <a:avLst>
              <a:gd name="adj1" fmla="val -10736"/>
              <a:gd name="adj2" fmla="val 80177"/>
              <a:gd name="adj3" fmla="val 16667"/>
            </a:avLst>
          </a:prstGeom>
          <a:solidFill>
            <a:schemeClr val="accent2">
              <a:alpha val="52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Later, we will need a  parent node of the searching value</a:t>
            </a:r>
            <a:endParaRPr lang="th-TH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41529-9828-2118-9940-B24ABB98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089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9504157-2115-43D4-9169-5D819B6E2F2E}"/>
              </a:ext>
            </a:extLst>
          </p:cNvPr>
          <p:cNvCxnSpPr>
            <a:cxnSpLocks/>
            <a:stCxn id="50" idx="1"/>
            <a:endCxn id="36" idx="1"/>
          </p:cNvCxnSpPr>
          <p:nvPr/>
        </p:nvCxnSpPr>
        <p:spPr>
          <a:xfrm flipH="1" flipV="1">
            <a:off x="9044409" y="5020733"/>
            <a:ext cx="246876" cy="115936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36BC472-39FC-41B5-9859-1EB9E02F5D51}"/>
              </a:ext>
            </a:extLst>
          </p:cNvPr>
          <p:cNvCxnSpPr>
            <a:cxnSpLocks/>
            <a:stCxn id="32" idx="1"/>
          </p:cNvCxnSpPr>
          <p:nvPr/>
        </p:nvCxnSpPr>
        <p:spPr>
          <a:xfrm>
            <a:off x="7718610" y="4919143"/>
            <a:ext cx="469621" cy="939042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62E3A5-7EE2-4477-98E7-5B01A83D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C343E-74BC-4B87-B213-963EFF912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829" y="1355178"/>
            <a:ext cx="3749648" cy="5016382"/>
          </a:xfrm>
        </p:spPr>
        <p:txBody>
          <a:bodyPr>
            <a:normAutofit fontScale="92500"/>
          </a:bodyPr>
          <a:lstStyle/>
          <a:p>
            <a:r>
              <a:rPr lang="en-US" dirty="0"/>
              <a:t>Assumption: Data is BST is unique</a:t>
            </a:r>
          </a:p>
          <a:p>
            <a:r>
              <a:rPr lang="en-US" dirty="0">
                <a:solidFill>
                  <a:schemeClr val="accent6"/>
                </a:solidFill>
              </a:rPr>
              <a:t>Insert(e) </a:t>
            </a:r>
            <a:r>
              <a:rPr lang="en-US" dirty="0"/>
              <a:t>by find </a:t>
            </a:r>
            <a:r>
              <a:rPr lang="en-US" dirty="0">
                <a:solidFill>
                  <a:schemeClr val="accent6"/>
                </a:solidFill>
              </a:rPr>
              <a:t>e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r>
              <a:rPr lang="en-US" dirty="0"/>
              <a:t> is found, don’t add any node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r>
              <a:rPr lang="en-US" dirty="0"/>
              <a:t> is not in BST, find must reach </a:t>
            </a:r>
            <a:r>
              <a:rPr lang="en-US" dirty="0">
                <a:solidFill>
                  <a:schemeClr val="accent5"/>
                </a:solidFill>
              </a:rPr>
              <a:t>NULL</a:t>
            </a:r>
            <a:r>
              <a:rPr lang="en-US" dirty="0"/>
              <a:t> somewhere, that </a:t>
            </a:r>
            <a:r>
              <a:rPr lang="en-US" dirty="0">
                <a:solidFill>
                  <a:schemeClr val="accent5"/>
                </a:solidFill>
              </a:rPr>
              <a:t>NULL</a:t>
            </a:r>
            <a:r>
              <a:rPr lang="en-US" dirty="0"/>
              <a:t> is where to put </a:t>
            </a:r>
            <a:r>
              <a:rPr lang="en-US" dirty="0">
                <a:solidFill>
                  <a:schemeClr val="accent6"/>
                </a:solidFill>
              </a:rPr>
              <a:t>e</a:t>
            </a:r>
          </a:p>
          <a:p>
            <a:r>
              <a:rPr lang="en-US" dirty="0"/>
              <a:t>Both structure and value constraints are satisfied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236E86-50D4-4D27-BCE6-49A19C9C987D}"/>
              </a:ext>
            </a:extLst>
          </p:cNvPr>
          <p:cNvCxnSpPr>
            <a:cxnSpLocks/>
            <a:stCxn id="33" idx="1"/>
            <a:endCxn id="26" idx="1"/>
          </p:cNvCxnSpPr>
          <p:nvPr/>
        </p:nvCxnSpPr>
        <p:spPr>
          <a:xfrm flipH="1" flipV="1">
            <a:off x="9881259" y="2250737"/>
            <a:ext cx="820705" cy="88782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6C97DD-CFFA-4893-A6F5-4AEE2FC2E3F0}"/>
              </a:ext>
            </a:extLst>
          </p:cNvPr>
          <p:cNvCxnSpPr>
            <a:cxnSpLocks/>
            <a:stCxn id="37" idx="1"/>
            <a:endCxn id="22" idx="1"/>
          </p:cNvCxnSpPr>
          <p:nvPr/>
        </p:nvCxnSpPr>
        <p:spPr>
          <a:xfrm flipV="1">
            <a:off x="4744498" y="2250737"/>
            <a:ext cx="823317" cy="88782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ECFB46-BE60-49DF-A491-5A794810F734}"/>
              </a:ext>
            </a:extLst>
          </p:cNvPr>
          <p:cNvCxnSpPr>
            <a:cxnSpLocks/>
          </p:cNvCxnSpPr>
          <p:nvPr/>
        </p:nvCxnSpPr>
        <p:spPr>
          <a:xfrm flipH="1" flipV="1">
            <a:off x="4779316" y="3175655"/>
            <a:ext cx="344294" cy="84005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E3DAFF-CCDC-49D3-A9E9-675A134BD3E7}"/>
              </a:ext>
            </a:extLst>
          </p:cNvPr>
          <p:cNvCxnSpPr>
            <a:cxnSpLocks/>
            <a:stCxn id="34" idx="1"/>
            <a:endCxn id="33" idx="1"/>
          </p:cNvCxnSpPr>
          <p:nvPr/>
        </p:nvCxnSpPr>
        <p:spPr>
          <a:xfrm flipH="1" flipV="1">
            <a:off x="10701964" y="3138563"/>
            <a:ext cx="600895" cy="8286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8D0512-64F5-4564-BB11-B4C9018A8561}"/>
              </a:ext>
            </a:extLst>
          </p:cNvPr>
          <p:cNvCxnSpPr>
            <a:cxnSpLocks/>
            <a:stCxn id="35" idx="1"/>
            <a:endCxn id="33" idx="1"/>
          </p:cNvCxnSpPr>
          <p:nvPr/>
        </p:nvCxnSpPr>
        <p:spPr>
          <a:xfrm flipV="1">
            <a:off x="10295542" y="3138563"/>
            <a:ext cx="406422" cy="8286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0C2738-2BA0-4F6A-84C6-560ACB4500A3}"/>
              </a:ext>
            </a:extLst>
          </p:cNvPr>
          <p:cNvCxnSpPr>
            <a:cxnSpLocks/>
            <a:stCxn id="36" idx="1"/>
            <a:endCxn id="31" idx="1"/>
          </p:cNvCxnSpPr>
          <p:nvPr/>
        </p:nvCxnSpPr>
        <p:spPr>
          <a:xfrm flipV="1">
            <a:off x="9044409" y="3967239"/>
            <a:ext cx="382935" cy="105349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4FCCCB-88B7-4B13-BC53-E26C9816C8C6}"/>
              </a:ext>
            </a:extLst>
          </p:cNvPr>
          <p:cNvCxnSpPr>
            <a:cxnSpLocks/>
            <a:stCxn id="27" idx="1"/>
            <a:endCxn id="24" idx="1"/>
          </p:cNvCxnSpPr>
          <p:nvPr/>
        </p:nvCxnSpPr>
        <p:spPr>
          <a:xfrm flipV="1">
            <a:off x="5641616" y="3967239"/>
            <a:ext cx="399999" cy="95088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6D239E-B89A-440B-882A-BFB68AC01A10}"/>
              </a:ext>
            </a:extLst>
          </p:cNvPr>
          <p:cNvCxnSpPr>
            <a:cxnSpLocks/>
            <a:stCxn id="28" idx="1"/>
            <a:endCxn id="24" idx="1"/>
          </p:cNvCxnSpPr>
          <p:nvPr/>
        </p:nvCxnSpPr>
        <p:spPr>
          <a:xfrm flipH="1" flipV="1">
            <a:off x="6041615" y="3967239"/>
            <a:ext cx="359829" cy="95088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568F9B-D113-4725-8100-F399FAAF99DD}"/>
              </a:ext>
            </a:extLst>
          </p:cNvPr>
          <p:cNvCxnSpPr>
            <a:cxnSpLocks/>
            <a:stCxn id="29" idx="1"/>
            <a:endCxn id="26" idx="1"/>
          </p:cNvCxnSpPr>
          <p:nvPr/>
        </p:nvCxnSpPr>
        <p:spPr>
          <a:xfrm flipV="1">
            <a:off x="8831596" y="2250737"/>
            <a:ext cx="1049663" cy="88782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4C924C-FFB1-4D43-A030-77ECA9C45D3D}"/>
              </a:ext>
            </a:extLst>
          </p:cNvPr>
          <p:cNvCxnSpPr>
            <a:cxnSpLocks/>
            <a:stCxn id="30" idx="1"/>
            <a:endCxn id="29" idx="1"/>
          </p:cNvCxnSpPr>
          <p:nvPr/>
        </p:nvCxnSpPr>
        <p:spPr>
          <a:xfrm flipV="1">
            <a:off x="8235849" y="3138564"/>
            <a:ext cx="595747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5CBA2A-0123-4B80-8EDD-B32C20D9BFDB}"/>
              </a:ext>
            </a:extLst>
          </p:cNvPr>
          <p:cNvCxnSpPr>
            <a:cxnSpLocks/>
            <a:stCxn id="31" idx="1"/>
            <a:endCxn id="29" idx="1"/>
          </p:cNvCxnSpPr>
          <p:nvPr/>
        </p:nvCxnSpPr>
        <p:spPr>
          <a:xfrm flipH="1" flipV="1">
            <a:off x="8831596" y="3138564"/>
            <a:ext cx="59574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958CB1-AD73-495E-A362-CF664FC7E101}"/>
              </a:ext>
            </a:extLst>
          </p:cNvPr>
          <p:cNvCxnSpPr>
            <a:cxnSpLocks/>
            <a:stCxn id="32" idx="1"/>
            <a:endCxn id="30" idx="1"/>
          </p:cNvCxnSpPr>
          <p:nvPr/>
        </p:nvCxnSpPr>
        <p:spPr>
          <a:xfrm flipV="1">
            <a:off x="7718610" y="3967239"/>
            <a:ext cx="517239" cy="95190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6AD215-33FD-400D-817A-E23E8B2A2AD1}"/>
              </a:ext>
            </a:extLst>
          </p:cNvPr>
          <p:cNvCxnSpPr>
            <a:cxnSpLocks/>
            <a:stCxn id="22" idx="1"/>
            <a:endCxn id="23" idx="1"/>
          </p:cNvCxnSpPr>
          <p:nvPr/>
        </p:nvCxnSpPr>
        <p:spPr>
          <a:xfrm>
            <a:off x="5567815" y="2250737"/>
            <a:ext cx="1084908" cy="88782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56F34F-4585-477E-988F-CAD2A0FA6BC8}"/>
              </a:ext>
            </a:extLst>
          </p:cNvPr>
          <p:cNvCxnSpPr>
            <a:cxnSpLocks/>
            <a:stCxn id="24" idx="1"/>
            <a:endCxn id="23" idx="1"/>
          </p:cNvCxnSpPr>
          <p:nvPr/>
        </p:nvCxnSpPr>
        <p:spPr>
          <a:xfrm flipV="1">
            <a:off x="6041615" y="3138564"/>
            <a:ext cx="61110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791762-F412-4112-B927-B5DB4BEFF522}"/>
              </a:ext>
            </a:extLst>
          </p:cNvPr>
          <p:cNvCxnSpPr>
            <a:cxnSpLocks/>
            <a:stCxn id="25" idx="1"/>
            <a:endCxn id="23" idx="1"/>
          </p:cNvCxnSpPr>
          <p:nvPr/>
        </p:nvCxnSpPr>
        <p:spPr>
          <a:xfrm flipH="1" flipV="1">
            <a:off x="6652723" y="3138564"/>
            <a:ext cx="495689" cy="83461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B2BC43-CEF3-4F94-B79A-7D765E77F0EA}"/>
              </a:ext>
            </a:extLst>
          </p:cNvPr>
          <p:cNvCxnSpPr>
            <a:cxnSpLocks/>
            <a:stCxn id="26" idx="1"/>
            <a:endCxn id="21" idx="1"/>
          </p:cNvCxnSpPr>
          <p:nvPr/>
        </p:nvCxnSpPr>
        <p:spPr>
          <a:xfrm flipH="1" flipV="1">
            <a:off x="7479437" y="1422062"/>
            <a:ext cx="2401822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AE6FCA-4842-4651-B12B-EFB7D93DC159}"/>
              </a:ext>
            </a:extLst>
          </p:cNvPr>
          <p:cNvCxnSpPr>
            <a:cxnSpLocks/>
            <a:stCxn id="22" idx="1"/>
            <a:endCxn id="21" idx="1"/>
          </p:cNvCxnSpPr>
          <p:nvPr/>
        </p:nvCxnSpPr>
        <p:spPr>
          <a:xfrm flipV="1">
            <a:off x="5567815" y="1422062"/>
            <a:ext cx="1911622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27F4979B-8CFF-4AA1-BCBC-F03DCD4D8C16}"/>
              </a:ext>
            </a:extLst>
          </p:cNvPr>
          <p:cNvSpPr/>
          <p:nvPr/>
        </p:nvSpPr>
        <p:spPr>
          <a:xfrm>
            <a:off x="7287969" y="1230594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7D8CC36-6FEC-4F97-8ECA-465E04FDD038}"/>
              </a:ext>
            </a:extLst>
          </p:cNvPr>
          <p:cNvSpPr/>
          <p:nvPr/>
        </p:nvSpPr>
        <p:spPr>
          <a:xfrm>
            <a:off x="5376347" y="205926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771FC73A-9719-4B80-8002-E74DAF3AB3CC}"/>
              </a:ext>
            </a:extLst>
          </p:cNvPr>
          <p:cNvSpPr/>
          <p:nvPr/>
        </p:nvSpPr>
        <p:spPr>
          <a:xfrm>
            <a:off x="6461255" y="294709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2EC8922C-0B4E-4918-B8FE-DD400F0FDA64}"/>
              </a:ext>
            </a:extLst>
          </p:cNvPr>
          <p:cNvSpPr/>
          <p:nvPr/>
        </p:nvSpPr>
        <p:spPr>
          <a:xfrm>
            <a:off x="5850147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9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CE88CEA3-C729-49D8-9CD5-1A4003A94737}"/>
              </a:ext>
            </a:extLst>
          </p:cNvPr>
          <p:cNvSpPr/>
          <p:nvPr/>
        </p:nvSpPr>
        <p:spPr>
          <a:xfrm>
            <a:off x="6956944" y="378171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A2532753-3601-48FE-AF38-68B396F14FAB}"/>
              </a:ext>
            </a:extLst>
          </p:cNvPr>
          <p:cNvSpPr/>
          <p:nvPr/>
        </p:nvSpPr>
        <p:spPr>
          <a:xfrm>
            <a:off x="9689791" y="205926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98D0393D-AEAA-4FB9-A681-58B1219CFC42}"/>
              </a:ext>
            </a:extLst>
          </p:cNvPr>
          <p:cNvSpPr/>
          <p:nvPr/>
        </p:nvSpPr>
        <p:spPr>
          <a:xfrm>
            <a:off x="5450148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8A220046-679D-4BD8-9C52-81F84C2CC93E}"/>
              </a:ext>
            </a:extLst>
          </p:cNvPr>
          <p:cNvSpPr/>
          <p:nvPr/>
        </p:nvSpPr>
        <p:spPr>
          <a:xfrm>
            <a:off x="6209976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1BA2714E-BBD1-4A55-BCC8-F32A3801F4B0}"/>
              </a:ext>
            </a:extLst>
          </p:cNvPr>
          <p:cNvSpPr/>
          <p:nvPr/>
        </p:nvSpPr>
        <p:spPr>
          <a:xfrm>
            <a:off x="8640128" y="294709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49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EDEB7DDF-E3E8-48B8-8FF0-E45D898D61EA}"/>
              </a:ext>
            </a:extLst>
          </p:cNvPr>
          <p:cNvSpPr/>
          <p:nvPr/>
        </p:nvSpPr>
        <p:spPr>
          <a:xfrm>
            <a:off x="8044381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48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10BCCF1A-C7FE-4123-90B6-D0BC954D51BA}"/>
              </a:ext>
            </a:extLst>
          </p:cNvPr>
          <p:cNvSpPr/>
          <p:nvPr/>
        </p:nvSpPr>
        <p:spPr>
          <a:xfrm>
            <a:off x="9235876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FEF3553B-A7D8-4B47-8A97-C95BB9138484}"/>
              </a:ext>
            </a:extLst>
          </p:cNvPr>
          <p:cNvSpPr/>
          <p:nvPr/>
        </p:nvSpPr>
        <p:spPr>
          <a:xfrm>
            <a:off x="7527142" y="472767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18DE224B-17AD-426D-83EC-1C68D8715669}"/>
              </a:ext>
            </a:extLst>
          </p:cNvPr>
          <p:cNvSpPr/>
          <p:nvPr/>
        </p:nvSpPr>
        <p:spPr>
          <a:xfrm>
            <a:off x="10510496" y="294709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70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5FDC4908-770A-4C55-9D7E-2D945126751D}"/>
              </a:ext>
            </a:extLst>
          </p:cNvPr>
          <p:cNvSpPr/>
          <p:nvPr/>
        </p:nvSpPr>
        <p:spPr>
          <a:xfrm>
            <a:off x="11111391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88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7173A7B8-7A81-4D19-849C-3B858F4CC7F6}"/>
              </a:ext>
            </a:extLst>
          </p:cNvPr>
          <p:cNvSpPr/>
          <p:nvPr/>
        </p:nvSpPr>
        <p:spPr>
          <a:xfrm>
            <a:off x="10104074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42E5510-64A5-4AEC-82DF-9DAF48E11841}"/>
              </a:ext>
            </a:extLst>
          </p:cNvPr>
          <p:cNvSpPr/>
          <p:nvPr/>
        </p:nvSpPr>
        <p:spPr>
          <a:xfrm>
            <a:off x="8852941" y="482926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D4A1E926-A55B-4C1B-9EAE-9F7A3C04668B}"/>
              </a:ext>
            </a:extLst>
          </p:cNvPr>
          <p:cNvSpPr/>
          <p:nvPr/>
        </p:nvSpPr>
        <p:spPr>
          <a:xfrm>
            <a:off x="4553030" y="2947094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675ACF8B-B82C-43A0-BF15-729490F572BD}"/>
              </a:ext>
            </a:extLst>
          </p:cNvPr>
          <p:cNvSpPr/>
          <p:nvPr/>
        </p:nvSpPr>
        <p:spPr>
          <a:xfrm>
            <a:off x="4897324" y="378715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7E925089-DDA4-4CF6-A36A-ABB8200B8CC3}"/>
              </a:ext>
            </a:extLst>
          </p:cNvPr>
          <p:cNvSpPr/>
          <p:nvPr/>
        </p:nvSpPr>
        <p:spPr>
          <a:xfrm>
            <a:off x="8297413" y="41492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47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A530E25-5D64-4792-92BF-FB1DE2CB8388}"/>
              </a:ext>
            </a:extLst>
          </p:cNvPr>
          <p:cNvSpPr/>
          <p:nvPr/>
        </p:nvSpPr>
        <p:spPr>
          <a:xfrm>
            <a:off x="7568588" y="1112704"/>
            <a:ext cx="1993459" cy="4583016"/>
          </a:xfrm>
          <a:custGeom>
            <a:avLst/>
            <a:gdLst>
              <a:gd name="connsiteX0" fmla="*/ 145600 w 2189274"/>
              <a:gd name="connsiteY0" fmla="*/ 0 h 4660134"/>
              <a:gd name="connsiteX1" fmla="*/ 2172704 w 2189274"/>
              <a:gd name="connsiteY1" fmla="*/ 1134737 h 4660134"/>
              <a:gd name="connsiteX2" fmla="*/ 1071017 w 2189274"/>
              <a:gd name="connsiteY2" fmla="*/ 1905918 h 4660134"/>
              <a:gd name="connsiteX3" fmla="*/ 432039 w 2189274"/>
              <a:gd name="connsiteY3" fmla="*/ 2809301 h 4660134"/>
              <a:gd name="connsiteX4" fmla="*/ 2381 w 2189274"/>
              <a:gd name="connsiteY4" fmla="*/ 3679633 h 4660134"/>
              <a:gd name="connsiteX5" fmla="*/ 619325 w 2189274"/>
              <a:gd name="connsiteY5" fmla="*/ 4660134 h 4660134"/>
              <a:gd name="connsiteX0" fmla="*/ 145600 w 2058952"/>
              <a:gd name="connsiteY0" fmla="*/ 0 h 4660134"/>
              <a:gd name="connsiteX1" fmla="*/ 2040501 w 2058952"/>
              <a:gd name="connsiteY1" fmla="*/ 1013551 h 4660134"/>
              <a:gd name="connsiteX2" fmla="*/ 1071017 w 2058952"/>
              <a:gd name="connsiteY2" fmla="*/ 1905918 h 4660134"/>
              <a:gd name="connsiteX3" fmla="*/ 432039 w 2058952"/>
              <a:gd name="connsiteY3" fmla="*/ 2809301 h 4660134"/>
              <a:gd name="connsiteX4" fmla="*/ 2381 w 2058952"/>
              <a:gd name="connsiteY4" fmla="*/ 3679633 h 4660134"/>
              <a:gd name="connsiteX5" fmla="*/ 619325 w 2058952"/>
              <a:gd name="connsiteY5" fmla="*/ 4660134 h 4660134"/>
              <a:gd name="connsiteX0" fmla="*/ 148959 w 2062550"/>
              <a:gd name="connsiteY0" fmla="*/ 0 h 4660134"/>
              <a:gd name="connsiteX1" fmla="*/ 2043860 w 2062550"/>
              <a:gd name="connsiteY1" fmla="*/ 1013551 h 4660134"/>
              <a:gd name="connsiteX2" fmla="*/ 1074376 w 2062550"/>
              <a:gd name="connsiteY2" fmla="*/ 1905918 h 4660134"/>
              <a:gd name="connsiteX3" fmla="*/ 358280 w 2062550"/>
              <a:gd name="connsiteY3" fmla="*/ 2743200 h 4660134"/>
              <a:gd name="connsiteX4" fmla="*/ 5740 w 2062550"/>
              <a:gd name="connsiteY4" fmla="*/ 3679633 h 4660134"/>
              <a:gd name="connsiteX5" fmla="*/ 622684 w 2062550"/>
              <a:gd name="connsiteY5" fmla="*/ 4660134 h 4660134"/>
              <a:gd name="connsiteX0" fmla="*/ 214049 w 2127640"/>
              <a:gd name="connsiteY0" fmla="*/ 0 h 4660134"/>
              <a:gd name="connsiteX1" fmla="*/ 2108950 w 2127640"/>
              <a:gd name="connsiteY1" fmla="*/ 1013551 h 4660134"/>
              <a:gd name="connsiteX2" fmla="*/ 1139466 w 2127640"/>
              <a:gd name="connsiteY2" fmla="*/ 1905918 h 4660134"/>
              <a:gd name="connsiteX3" fmla="*/ 423370 w 2127640"/>
              <a:gd name="connsiteY3" fmla="*/ 2743200 h 4660134"/>
              <a:gd name="connsiteX4" fmla="*/ 4728 w 2127640"/>
              <a:gd name="connsiteY4" fmla="*/ 3899970 h 4660134"/>
              <a:gd name="connsiteX5" fmla="*/ 687774 w 2127640"/>
              <a:gd name="connsiteY5" fmla="*/ 4660134 h 4660134"/>
              <a:gd name="connsiteX0" fmla="*/ 0 w 1913591"/>
              <a:gd name="connsiteY0" fmla="*/ 0 h 4660134"/>
              <a:gd name="connsiteX1" fmla="*/ 1894901 w 1913591"/>
              <a:gd name="connsiteY1" fmla="*/ 1013551 h 4660134"/>
              <a:gd name="connsiteX2" fmla="*/ 925417 w 1913591"/>
              <a:gd name="connsiteY2" fmla="*/ 1905918 h 4660134"/>
              <a:gd name="connsiteX3" fmla="*/ 209321 w 1913591"/>
              <a:gd name="connsiteY3" fmla="*/ 2743200 h 4660134"/>
              <a:gd name="connsiteX4" fmla="*/ 44067 w 1913591"/>
              <a:gd name="connsiteY4" fmla="*/ 3822852 h 4660134"/>
              <a:gd name="connsiteX5" fmla="*/ 473725 w 1913591"/>
              <a:gd name="connsiteY5" fmla="*/ 4660134 h 4660134"/>
              <a:gd name="connsiteX0" fmla="*/ 0 w 1993459"/>
              <a:gd name="connsiteY0" fmla="*/ 0 h 4583016"/>
              <a:gd name="connsiteX1" fmla="*/ 1972019 w 1993459"/>
              <a:gd name="connsiteY1" fmla="*/ 936433 h 4583016"/>
              <a:gd name="connsiteX2" fmla="*/ 1002535 w 1993459"/>
              <a:gd name="connsiteY2" fmla="*/ 1828800 h 4583016"/>
              <a:gd name="connsiteX3" fmla="*/ 286439 w 1993459"/>
              <a:gd name="connsiteY3" fmla="*/ 2666082 h 4583016"/>
              <a:gd name="connsiteX4" fmla="*/ 121185 w 1993459"/>
              <a:gd name="connsiteY4" fmla="*/ 3745734 h 4583016"/>
              <a:gd name="connsiteX5" fmla="*/ 550843 w 1993459"/>
              <a:gd name="connsiteY5" fmla="*/ 4583016 h 4583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3459" h="4583016">
                <a:moveTo>
                  <a:pt x="0" y="0"/>
                </a:moveTo>
                <a:cubicBezTo>
                  <a:pt x="936434" y="408542"/>
                  <a:pt x="1804930" y="631633"/>
                  <a:pt x="1972019" y="936433"/>
                </a:cubicBezTo>
                <a:cubicBezTo>
                  <a:pt x="2139108" y="1241233"/>
                  <a:pt x="1283465" y="1540525"/>
                  <a:pt x="1002535" y="1828800"/>
                </a:cubicBezTo>
                <a:cubicBezTo>
                  <a:pt x="721605" y="2117075"/>
                  <a:pt x="433331" y="2346593"/>
                  <a:pt x="286439" y="2666082"/>
                </a:cubicBezTo>
                <a:cubicBezTo>
                  <a:pt x="139547" y="2985571"/>
                  <a:pt x="77118" y="3426245"/>
                  <a:pt x="121185" y="3745734"/>
                </a:cubicBezTo>
                <a:cubicBezTo>
                  <a:pt x="165252" y="4065223"/>
                  <a:pt x="257978" y="4247001"/>
                  <a:pt x="550843" y="4583016"/>
                </a:cubicBezTo>
              </a:path>
            </a:pathLst>
          </a:custGeom>
          <a:noFill/>
          <a:ln w="19050">
            <a:solidFill>
              <a:schemeClr val="accent4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FBA5E5-A8CA-4046-B0EC-56412BEB178A}"/>
              </a:ext>
            </a:extLst>
          </p:cNvPr>
          <p:cNvSpPr txBox="1"/>
          <p:nvPr/>
        </p:nvSpPr>
        <p:spPr>
          <a:xfrm>
            <a:off x="9132983" y="414926"/>
            <a:ext cx="2082188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Insert 47</a:t>
            </a:r>
            <a:endParaRPr lang="th-TH" dirty="0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3AF4A71A-C6DC-436B-948F-80E1EADC5C23}"/>
              </a:ext>
            </a:extLst>
          </p:cNvPr>
          <p:cNvSpPr/>
          <p:nvPr/>
        </p:nvSpPr>
        <p:spPr>
          <a:xfrm>
            <a:off x="9099817" y="598862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E71A32E9-F102-4E86-AD0B-8687E5C93B8A}"/>
              </a:ext>
            </a:extLst>
          </p:cNvPr>
          <p:cNvSpPr/>
          <p:nvPr/>
        </p:nvSpPr>
        <p:spPr>
          <a:xfrm rot="13992853">
            <a:off x="7219616" y="4998068"/>
            <a:ext cx="277769" cy="267982"/>
          </a:xfrm>
          <a:prstGeom prst="downArrow">
            <a:avLst/>
          </a:prstGeom>
          <a:solidFill>
            <a:schemeClr val="accent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2D0586-98FF-4983-9C00-FACE7E469645}"/>
              </a:ext>
            </a:extLst>
          </p:cNvPr>
          <p:cNvSpPr txBox="1"/>
          <p:nvPr/>
        </p:nvSpPr>
        <p:spPr>
          <a:xfrm rot="2964021">
            <a:off x="6732253" y="5138860"/>
            <a:ext cx="864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</a:rPr>
              <a:t>parent</a:t>
            </a:r>
            <a:endParaRPr lang="th-TH" sz="1800" dirty="0">
              <a:solidFill>
                <a:schemeClr val="accent1"/>
              </a:solidFill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2F2B28DD-DDD5-30A3-794E-86DCE988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474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278 0.05625 L 0.09441 0.22291 L 0.01394 0.34027 L -0.04062 0.46064 L -0.06106 0.58912 C -0.04713 0.63888 -0.03645 0.71458 -0.02226 0.76458 " pathEditMode="relative" rAng="0" ptsTypes="AAAAAA">
                                      <p:cBhvr>
                                        <p:cTn id="2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59" y="3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48" grpId="0" animBg="1"/>
      <p:bldP spid="46" grpId="0" animBg="1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67968D-503B-4893-BA90-391EFAB96E7D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9044409" y="5020733"/>
            <a:ext cx="246876" cy="115936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D018478-EC85-4A09-8FC6-41B8030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Erase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62523-BDE9-46F0-9508-F29FDB986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939" y="1160537"/>
            <a:ext cx="4758377" cy="501638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erase(e)</a:t>
            </a:r>
            <a:r>
              <a:rPr lang="en-US" dirty="0"/>
              <a:t> first have to find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r>
              <a:rPr lang="en-US" dirty="0"/>
              <a:t> as well</a:t>
            </a:r>
          </a:p>
          <a:p>
            <a:r>
              <a:rPr lang="en-US" dirty="0"/>
              <a:t>If not found, do nothing</a:t>
            </a:r>
          </a:p>
          <a:p>
            <a:r>
              <a:rPr lang="en-US" dirty="0"/>
              <a:t>If found at node </a:t>
            </a:r>
            <a:r>
              <a:rPr lang="en-US" dirty="0">
                <a:solidFill>
                  <a:schemeClr val="accent4"/>
                </a:solidFill>
              </a:rPr>
              <a:t>X</a:t>
            </a:r>
            <a:r>
              <a:rPr lang="en-US" dirty="0"/>
              <a:t> , there are </a:t>
            </a:r>
            <a:r>
              <a:rPr lang="en-US" dirty="0">
                <a:solidFill>
                  <a:schemeClr val="accent4"/>
                </a:solidFill>
              </a:rPr>
              <a:t>3 cases </a:t>
            </a:r>
            <a:r>
              <a:rPr lang="en-US" dirty="0"/>
              <a:t>depends on number of children of e</a:t>
            </a:r>
          </a:p>
          <a:p>
            <a:pPr lvl="1"/>
            <a:r>
              <a:rPr lang="en-US" dirty="0"/>
              <a:t>If has </a:t>
            </a:r>
            <a:r>
              <a:rPr lang="en-US" dirty="0">
                <a:solidFill>
                  <a:schemeClr val="accent2"/>
                </a:solidFill>
              </a:rPr>
              <a:t>no child</a:t>
            </a:r>
            <a:r>
              <a:rPr lang="en-US" dirty="0"/>
              <a:t>, just simply delete </a:t>
            </a:r>
            <a:r>
              <a:rPr lang="en-US" dirty="0">
                <a:solidFill>
                  <a:schemeClr val="accent4"/>
                </a:solidFill>
              </a:rPr>
              <a:t>X</a:t>
            </a:r>
          </a:p>
          <a:p>
            <a:pPr lvl="1"/>
            <a:r>
              <a:rPr lang="en-US" dirty="0"/>
              <a:t>If has </a:t>
            </a:r>
            <a:r>
              <a:rPr lang="en-US" dirty="0">
                <a:solidFill>
                  <a:schemeClr val="accent5"/>
                </a:solidFill>
              </a:rPr>
              <a:t>one child</a:t>
            </a:r>
            <a:r>
              <a:rPr lang="en-US" dirty="0"/>
              <a:t>, have parent of X </a:t>
            </a:r>
            <a:r>
              <a:rPr lang="en-US" dirty="0">
                <a:solidFill>
                  <a:schemeClr val="accent3"/>
                </a:solidFill>
              </a:rPr>
              <a:t>points</a:t>
            </a:r>
            <a:r>
              <a:rPr lang="en-US" dirty="0"/>
              <a:t> (using the same link) </a:t>
            </a:r>
            <a:r>
              <a:rPr lang="en-US" dirty="0">
                <a:solidFill>
                  <a:schemeClr val="accent3"/>
                </a:solidFill>
              </a:rPr>
              <a:t>to the child of </a:t>
            </a:r>
            <a:r>
              <a:rPr lang="en-US" dirty="0">
                <a:solidFill>
                  <a:schemeClr val="accent4"/>
                </a:solidFill>
              </a:rPr>
              <a:t>X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/>
              <a:t>instead</a:t>
            </a:r>
          </a:p>
          <a:p>
            <a:pPr lvl="1"/>
            <a:r>
              <a:rPr lang="en-US" dirty="0"/>
              <a:t>If has </a:t>
            </a:r>
            <a:r>
              <a:rPr lang="en-US" dirty="0">
                <a:solidFill>
                  <a:schemeClr val="accent4"/>
                </a:solidFill>
              </a:rPr>
              <a:t>two children</a:t>
            </a:r>
            <a:r>
              <a:rPr lang="en-US" dirty="0"/>
              <a:t>, pick either </a:t>
            </a:r>
            <a:r>
              <a:rPr lang="en-US" dirty="0">
                <a:solidFill>
                  <a:schemeClr val="accent3"/>
                </a:solidFill>
              </a:rPr>
              <a:t>successor</a:t>
            </a:r>
            <a:r>
              <a:rPr lang="en-US" dirty="0"/>
              <a:t> or </a:t>
            </a:r>
            <a:r>
              <a:rPr lang="en-US" dirty="0">
                <a:solidFill>
                  <a:schemeClr val="accent2"/>
                </a:solidFill>
              </a:rPr>
              <a:t>predecessor</a:t>
            </a:r>
            <a:r>
              <a:rPr lang="en-US" dirty="0"/>
              <a:t> of </a:t>
            </a:r>
            <a:r>
              <a:rPr lang="en-US" dirty="0">
                <a:solidFill>
                  <a:schemeClr val="accent6"/>
                </a:solidFill>
              </a:rPr>
              <a:t>e</a:t>
            </a:r>
            <a:endParaRPr lang="en-US" dirty="0"/>
          </a:p>
          <a:p>
            <a:pPr lvl="2"/>
            <a:r>
              <a:rPr lang="en-US" dirty="0"/>
              <a:t>Assume we choose </a:t>
            </a:r>
            <a:r>
              <a:rPr lang="en-US" dirty="0">
                <a:solidFill>
                  <a:schemeClr val="accent3"/>
                </a:solidFill>
              </a:rPr>
              <a:t>successor p</a:t>
            </a:r>
            <a:r>
              <a:rPr lang="en-US" dirty="0"/>
              <a:t> (must be in right-subtree), replace </a:t>
            </a:r>
            <a:r>
              <a:rPr lang="en-US" dirty="0">
                <a:solidFill>
                  <a:schemeClr val="accent4"/>
                </a:solidFill>
              </a:rPr>
              <a:t>X</a:t>
            </a:r>
            <a:r>
              <a:rPr lang="en-US" dirty="0"/>
              <a:t> with </a:t>
            </a:r>
            <a:r>
              <a:rPr lang="en-US" dirty="0">
                <a:solidFill>
                  <a:schemeClr val="accent3"/>
                </a:solidFill>
              </a:rPr>
              <a:t>P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erase(p) </a:t>
            </a:r>
            <a:r>
              <a:rPr lang="en-US" dirty="0"/>
              <a:t>from right-subtree</a:t>
            </a:r>
            <a:endParaRPr lang="th-T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387641-4969-4197-B35F-B5C82C4A0640}"/>
              </a:ext>
            </a:extLst>
          </p:cNvPr>
          <p:cNvCxnSpPr>
            <a:cxnSpLocks/>
            <a:stCxn id="34" idx="1"/>
            <a:endCxn id="27" idx="1"/>
          </p:cNvCxnSpPr>
          <p:nvPr/>
        </p:nvCxnSpPr>
        <p:spPr>
          <a:xfrm flipH="1" flipV="1">
            <a:off x="9881259" y="2250737"/>
            <a:ext cx="820705" cy="88782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0E3E3B-8447-4440-9F54-97CE59523671}"/>
              </a:ext>
            </a:extLst>
          </p:cNvPr>
          <p:cNvCxnSpPr>
            <a:cxnSpLocks/>
            <a:stCxn id="38" idx="1"/>
            <a:endCxn id="23" idx="1"/>
          </p:cNvCxnSpPr>
          <p:nvPr/>
        </p:nvCxnSpPr>
        <p:spPr>
          <a:xfrm flipV="1">
            <a:off x="4744498" y="2250737"/>
            <a:ext cx="823317" cy="88782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D5D303-5200-4612-83E5-8371DDA336C8}"/>
              </a:ext>
            </a:extLst>
          </p:cNvPr>
          <p:cNvCxnSpPr>
            <a:cxnSpLocks/>
          </p:cNvCxnSpPr>
          <p:nvPr/>
        </p:nvCxnSpPr>
        <p:spPr>
          <a:xfrm flipH="1" flipV="1">
            <a:off x="4779316" y="3175655"/>
            <a:ext cx="344294" cy="84005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173DA0-AC60-4A40-BB00-246D83D226BD}"/>
              </a:ext>
            </a:extLst>
          </p:cNvPr>
          <p:cNvCxnSpPr>
            <a:cxnSpLocks/>
            <a:stCxn id="35" idx="1"/>
            <a:endCxn id="34" idx="1"/>
          </p:cNvCxnSpPr>
          <p:nvPr/>
        </p:nvCxnSpPr>
        <p:spPr>
          <a:xfrm flipH="1" flipV="1">
            <a:off x="10701964" y="3138563"/>
            <a:ext cx="600895" cy="8286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54790C-DCE5-4F5B-9953-85A745DEC1D6}"/>
              </a:ext>
            </a:extLst>
          </p:cNvPr>
          <p:cNvCxnSpPr>
            <a:cxnSpLocks/>
            <a:stCxn id="36" idx="1"/>
            <a:endCxn id="34" idx="1"/>
          </p:cNvCxnSpPr>
          <p:nvPr/>
        </p:nvCxnSpPr>
        <p:spPr>
          <a:xfrm flipV="1">
            <a:off x="10295542" y="3138563"/>
            <a:ext cx="406422" cy="8286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3FCFBC-00A9-4EEE-BC5C-4E832929E281}"/>
              </a:ext>
            </a:extLst>
          </p:cNvPr>
          <p:cNvCxnSpPr>
            <a:cxnSpLocks/>
            <a:stCxn id="37" idx="1"/>
            <a:endCxn id="32" idx="1"/>
          </p:cNvCxnSpPr>
          <p:nvPr/>
        </p:nvCxnSpPr>
        <p:spPr>
          <a:xfrm flipV="1">
            <a:off x="9044409" y="3967239"/>
            <a:ext cx="382935" cy="105349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0268E8-427A-4295-B966-B1A3AB820FE7}"/>
              </a:ext>
            </a:extLst>
          </p:cNvPr>
          <p:cNvCxnSpPr>
            <a:cxnSpLocks/>
            <a:stCxn id="28" idx="1"/>
            <a:endCxn id="25" idx="1"/>
          </p:cNvCxnSpPr>
          <p:nvPr/>
        </p:nvCxnSpPr>
        <p:spPr>
          <a:xfrm flipV="1">
            <a:off x="5641616" y="3967239"/>
            <a:ext cx="399999" cy="95088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1D508-3BD1-4DB4-B47D-126A4869EF86}"/>
              </a:ext>
            </a:extLst>
          </p:cNvPr>
          <p:cNvCxnSpPr>
            <a:cxnSpLocks/>
            <a:stCxn id="29" idx="1"/>
            <a:endCxn id="25" idx="1"/>
          </p:cNvCxnSpPr>
          <p:nvPr/>
        </p:nvCxnSpPr>
        <p:spPr>
          <a:xfrm flipH="1" flipV="1">
            <a:off x="6041615" y="3967239"/>
            <a:ext cx="359829" cy="95088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669B54-DE6B-45A5-9C7C-2344315266BC}"/>
              </a:ext>
            </a:extLst>
          </p:cNvPr>
          <p:cNvCxnSpPr>
            <a:cxnSpLocks/>
            <a:stCxn id="30" idx="1"/>
            <a:endCxn id="27" idx="1"/>
          </p:cNvCxnSpPr>
          <p:nvPr/>
        </p:nvCxnSpPr>
        <p:spPr>
          <a:xfrm flipV="1">
            <a:off x="8831596" y="2250737"/>
            <a:ext cx="1049663" cy="88782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4FC98C-EA9B-4DC1-9EC2-62B30CC7E3DC}"/>
              </a:ext>
            </a:extLst>
          </p:cNvPr>
          <p:cNvCxnSpPr>
            <a:cxnSpLocks/>
            <a:stCxn id="32" idx="1"/>
            <a:endCxn id="30" idx="1"/>
          </p:cNvCxnSpPr>
          <p:nvPr/>
        </p:nvCxnSpPr>
        <p:spPr>
          <a:xfrm flipH="1" flipV="1">
            <a:off x="8831596" y="3138564"/>
            <a:ext cx="59574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EB7EAA-8816-4DC4-8525-BCD1E77E6C15}"/>
              </a:ext>
            </a:extLst>
          </p:cNvPr>
          <p:cNvCxnSpPr>
            <a:cxnSpLocks/>
            <a:stCxn id="23" idx="1"/>
            <a:endCxn id="24" idx="1"/>
          </p:cNvCxnSpPr>
          <p:nvPr/>
        </p:nvCxnSpPr>
        <p:spPr>
          <a:xfrm>
            <a:off x="5567815" y="2250737"/>
            <a:ext cx="1084908" cy="88782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A8F035-3DDD-4016-A0BA-41BBEC3B6264}"/>
              </a:ext>
            </a:extLst>
          </p:cNvPr>
          <p:cNvCxnSpPr>
            <a:cxnSpLocks/>
            <a:stCxn id="25" idx="1"/>
            <a:endCxn id="24" idx="1"/>
          </p:cNvCxnSpPr>
          <p:nvPr/>
        </p:nvCxnSpPr>
        <p:spPr>
          <a:xfrm flipV="1">
            <a:off x="6041615" y="3138564"/>
            <a:ext cx="61110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3BB0C6B-6DBA-40B4-85B4-215B497BA4DA}"/>
              </a:ext>
            </a:extLst>
          </p:cNvPr>
          <p:cNvCxnSpPr>
            <a:cxnSpLocks/>
            <a:stCxn id="26" idx="1"/>
            <a:endCxn id="24" idx="1"/>
          </p:cNvCxnSpPr>
          <p:nvPr/>
        </p:nvCxnSpPr>
        <p:spPr>
          <a:xfrm flipH="1" flipV="1">
            <a:off x="6652723" y="3138564"/>
            <a:ext cx="495689" cy="83461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FD908A-F04E-48CB-8B16-97BFF71D9447}"/>
              </a:ext>
            </a:extLst>
          </p:cNvPr>
          <p:cNvCxnSpPr>
            <a:cxnSpLocks/>
            <a:stCxn id="27" idx="1"/>
            <a:endCxn id="22" idx="1"/>
          </p:cNvCxnSpPr>
          <p:nvPr/>
        </p:nvCxnSpPr>
        <p:spPr>
          <a:xfrm flipH="1" flipV="1">
            <a:off x="7479437" y="1422062"/>
            <a:ext cx="2401822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755A23-F9F9-4CFB-AAE5-E24BABCEB66C}"/>
              </a:ext>
            </a:extLst>
          </p:cNvPr>
          <p:cNvCxnSpPr>
            <a:cxnSpLocks/>
            <a:stCxn id="23" idx="1"/>
            <a:endCxn id="22" idx="1"/>
          </p:cNvCxnSpPr>
          <p:nvPr/>
        </p:nvCxnSpPr>
        <p:spPr>
          <a:xfrm flipV="1">
            <a:off x="5567815" y="1422062"/>
            <a:ext cx="1911622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87E3291D-8690-443C-B29C-1F00A3CE3E0F}"/>
              </a:ext>
            </a:extLst>
          </p:cNvPr>
          <p:cNvSpPr/>
          <p:nvPr/>
        </p:nvSpPr>
        <p:spPr>
          <a:xfrm>
            <a:off x="7287969" y="1230594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68A9791C-E113-47F0-9B41-BB01AE2E2478}"/>
              </a:ext>
            </a:extLst>
          </p:cNvPr>
          <p:cNvSpPr/>
          <p:nvPr/>
        </p:nvSpPr>
        <p:spPr>
          <a:xfrm>
            <a:off x="5376347" y="205926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AE6070FE-5ECB-425C-BFE5-E6D2F4450790}"/>
              </a:ext>
            </a:extLst>
          </p:cNvPr>
          <p:cNvSpPr/>
          <p:nvPr/>
        </p:nvSpPr>
        <p:spPr>
          <a:xfrm>
            <a:off x="6461255" y="294709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D700C600-A995-4DCA-A5C8-A26CBEAE0EA8}"/>
              </a:ext>
            </a:extLst>
          </p:cNvPr>
          <p:cNvSpPr/>
          <p:nvPr/>
        </p:nvSpPr>
        <p:spPr>
          <a:xfrm>
            <a:off x="5850147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9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10ECAD74-15EB-4C4C-A0F3-1E568B16A122}"/>
              </a:ext>
            </a:extLst>
          </p:cNvPr>
          <p:cNvSpPr/>
          <p:nvPr/>
        </p:nvSpPr>
        <p:spPr>
          <a:xfrm>
            <a:off x="6956944" y="378171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E90226C9-AC56-4E69-84B5-4D9E864D756F}"/>
              </a:ext>
            </a:extLst>
          </p:cNvPr>
          <p:cNvSpPr/>
          <p:nvPr/>
        </p:nvSpPr>
        <p:spPr>
          <a:xfrm>
            <a:off x="9689791" y="205926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B33D7338-C30C-4684-9725-ED16606ACA7B}"/>
              </a:ext>
            </a:extLst>
          </p:cNvPr>
          <p:cNvSpPr/>
          <p:nvPr/>
        </p:nvSpPr>
        <p:spPr>
          <a:xfrm>
            <a:off x="5450148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5F57D27-9CA1-4BB4-8C62-06B053E58898}"/>
              </a:ext>
            </a:extLst>
          </p:cNvPr>
          <p:cNvSpPr/>
          <p:nvPr/>
        </p:nvSpPr>
        <p:spPr>
          <a:xfrm>
            <a:off x="6209976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296348A4-B7D5-4E0A-A3B0-EFAF4B66614A}"/>
              </a:ext>
            </a:extLst>
          </p:cNvPr>
          <p:cNvSpPr/>
          <p:nvPr/>
        </p:nvSpPr>
        <p:spPr>
          <a:xfrm>
            <a:off x="8640128" y="294709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49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47947C36-B6C4-4ACB-A8F4-3C29325E05D0}"/>
              </a:ext>
            </a:extLst>
          </p:cNvPr>
          <p:cNvSpPr/>
          <p:nvPr/>
        </p:nvSpPr>
        <p:spPr>
          <a:xfrm>
            <a:off x="9235876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E389F848-084C-4DDD-B769-8977D81540F3}"/>
              </a:ext>
            </a:extLst>
          </p:cNvPr>
          <p:cNvSpPr/>
          <p:nvPr/>
        </p:nvSpPr>
        <p:spPr>
          <a:xfrm>
            <a:off x="10510496" y="294709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70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83B8BC14-7D0F-4103-B477-D46FD8561569}"/>
              </a:ext>
            </a:extLst>
          </p:cNvPr>
          <p:cNvSpPr/>
          <p:nvPr/>
        </p:nvSpPr>
        <p:spPr>
          <a:xfrm>
            <a:off x="11111391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88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250C2AF0-2349-497D-894D-3C34F3EC4CBE}"/>
              </a:ext>
            </a:extLst>
          </p:cNvPr>
          <p:cNvSpPr/>
          <p:nvPr/>
        </p:nvSpPr>
        <p:spPr>
          <a:xfrm>
            <a:off x="10104074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7905CA02-E714-4C9C-B52B-D7F808DB654A}"/>
              </a:ext>
            </a:extLst>
          </p:cNvPr>
          <p:cNvSpPr/>
          <p:nvPr/>
        </p:nvSpPr>
        <p:spPr>
          <a:xfrm>
            <a:off x="8852941" y="482926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8A901C84-DF72-46DF-9390-3B4EAB902362}"/>
              </a:ext>
            </a:extLst>
          </p:cNvPr>
          <p:cNvSpPr/>
          <p:nvPr/>
        </p:nvSpPr>
        <p:spPr>
          <a:xfrm>
            <a:off x="4553030" y="2947094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93A8826F-0FBA-4F5C-AF65-F1D5595BC9A1}"/>
              </a:ext>
            </a:extLst>
          </p:cNvPr>
          <p:cNvSpPr/>
          <p:nvPr/>
        </p:nvSpPr>
        <p:spPr>
          <a:xfrm>
            <a:off x="4897324" y="378715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8E04F3-B782-4D23-B1F0-2E3039086F1D}"/>
              </a:ext>
            </a:extLst>
          </p:cNvPr>
          <p:cNvSpPr txBox="1"/>
          <p:nvPr/>
        </p:nvSpPr>
        <p:spPr>
          <a:xfrm>
            <a:off x="9129470" y="289053"/>
            <a:ext cx="138102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Erase 3</a:t>
            </a:r>
            <a:endParaRPr lang="th-TH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938BC6-6E6F-4540-824F-58B5F56F8104}"/>
              </a:ext>
            </a:extLst>
          </p:cNvPr>
          <p:cNvSpPr txBox="1"/>
          <p:nvPr/>
        </p:nvSpPr>
        <p:spPr>
          <a:xfrm>
            <a:off x="9129470" y="960482"/>
            <a:ext cx="138102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Erase 53</a:t>
            </a:r>
            <a:endParaRPr lang="th-TH" sz="2000" dirty="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086D18C8-97F1-434A-97E4-A0450D850B27}"/>
              </a:ext>
            </a:extLst>
          </p:cNvPr>
          <p:cNvSpPr/>
          <p:nvPr/>
        </p:nvSpPr>
        <p:spPr>
          <a:xfrm rot="19797201">
            <a:off x="7066078" y="723669"/>
            <a:ext cx="443779" cy="5089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3</a:t>
            </a:r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B8AC2B06-1526-4E4E-9728-A8E35D915950}"/>
              </a:ext>
            </a:extLst>
          </p:cNvPr>
          <p:cNvSpPr/>
          <p:nvPr/>
        </p:nvSpPr>
        <p:spPr>
          <a:xfrm rot="2069153">
            <a:off x="7472826" y="749241"/>
            <a:ext cx="443779" cy="5089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53</a:t>
            </a:r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318246C1-217F-46BB-9FBB-14F3BFCCD5E5}"/>
              </a:ext>
            </a:extLst>
          </p:cNvPr>
          <p:cNvSpPr/>
          <p:nvPr/>
        </p:nvSpPr>
        <p:spPr>
          <a:xfrm>
            <a:off x="9099817" y="598862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2EBCF-7699-C3E0-B2B9-F9D1E8FE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8688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59259E-6 L -0.16472 0.12593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42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472 0.12593 L -0.07279 0.25209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279 0.25209 L -0.12774 0.39074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47" y="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774 0.39074 L -0.15782 0.52014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0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6 L 0.2056 0.12615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73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6 0.12615 L 0.10898 0.25555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31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898 0.25555 L 0.15937 0.37639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3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44444E-6 L 0.03099 -0.153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9" y="-7685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3.33333E-6 L 0.03138 -0.15371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-7685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0.03138 -0.15602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-7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2" grpId="0" animBg="1"/>
      <p:bldP spid="37" grpId="0" animBg="1"/>
      <p:bldP spid="41" grpId="0" animBg="1"/>
      <p:bldP spid="41" grpId="1" animBg="1"/>
      <p:bldP spid="42" grpId="0" animBg="1"/>
      <p:bldP spid="43" grpId="0" animBg="1"/>
      <p:bldP spid="43" grpId="1" animBg="1"/>
      <p:bldP spid="43" grpId="2" animBg="1"/>
      <p:bldP spid="43" grpId="3" animBg="1"/>
      <p:bldP spid="43" grpId="4" animBg="1"/>
      <p:bldP spid="43" grpId="5" animBg="1"/>
      <p:bldP spid="44" grpId="0" animBg="1"/>
      <p:bldP spid="44" grpId="1" animBg="1"/>
      <p:bldP spid="44" grpId="2" animBg="1"/>
      <p:bldP spid="44" grpId="3" animBg="1"/>
      <p:bldP spid="44" grpId="5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5ADD0C8-FBA1-4E61-B3BC-EB4D02BD44E8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9044409" y="5020733"/>
            <a:ext cx="246876" cy="115936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F1366AA-019D-489D-876B-FE36855B5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Erase node with 2 children</a:t>
            </a:r>
            <a:endParaRPr lang="th-TH" dirty="0"/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2A50C533-E637-44A6-972B-4A6398A86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58781"/>
            <a:ext cx="3644706" cy="50163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Replace by </a:t>
            </a:r>
            <a:r>
              <a:rPr lang="en-US" dirty="0">
                <a:solidFill>
                  <a:schemeClr val="accent3"/>
                </a:solidFill>
              </a:rPr>
              <a:t>successor</a:t>
            </a:r>
            <a:r>
              <a:rPr lang="en-US" dirty="0"/>
              <a:t> (or </a:t>
            </a:r>
            <a:r>
              <a:rPr lang="en-US" dirty="0">
                <a:solidFill>
                  <a:schemeClr val="accent2"/>
                </a:solidFill>
              </a:rPr>
              <a:t>predecessor</a:t>
            </a:r>
            <a:r>
              <a:rPr lang="en-US" dirty="0"/>
              <a:t>) preserves value rules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Successor</a:t>
            </a:r>
            <a:r>
              <a:rPr lang="en-US" dirty="0"/>
              <a:t> is the minimum in </a:t>
            </a:r>
            <a:r>
              <a:rPr lang="en-US" dirty="0">
                <a:solidFill>
                  <a:schemeClr val="accent5"/>
                </a:solidFill>
              </a:rPr>
              <a:t>right subtree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Predecessor</a:t>
            </a:r>
            <a:r>
              <a:rPr lang="en-US" dirty="0"/>
              <a:t> is the maximum in </a:t>
            </a:r>
            <a:r>
              <a:rPr lang="en-US" dirty="0">
                <a:solidFill>
                  <a:schemeClr val="accent4"/>
                </a:solidFill>
              </a:rPr>
              <a:t>left subtree</a:t>
            </a:r>
          </a:p>
          <a:p>
            <a:r>
              <a:rPr lang="en-US" dirty="0"/>
              <a:t>Both exists (because the node has both subtrees)</a:t>
            </a:r>
            <a:endParaRPr lang="th-T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EE2A1B-7D11-4BE9-ADE6-1430A65E0588}"/>
              </a:ext>
            </a:extLst>
          </p:cNvPr>
          <p:cNvCxnSpPr>
            <a:cxnSpLocks/>
            <a:stCxn id="34" idx="1"/>
            <a:endCxn id="27" idx="1"/>
          </p:cNvCxnSpPr>
          <p:nvPr/>
        </p:nvCxnSpPr>
        <p:spPr>
          <a:xfrm flipH="1" flipV="1">
            <a:off x="9881259" y="2250737"/>
            <a:ext cx="820705" cy="88782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3E796A-3E35-4CF4-8F89-6A5B4F5410BE}"/>
              </a:ext>
            </a:extLst>
          </p:cNvPr>
          <p:cNvCxnSpPr>
            <a:cxnSpLocks/>
            <a:stCxn id="38" idx="1"/>
            <a:endCxn id="23" idx="1"/>
          </p:cNvCxnSpPr>
          <p:nvPr/>
        </p:nvCxnSpPr>
        <p:spPr>
          <a:xfrm flipV="1">
            <a:off x="4744498" y="2250737"/>
            <a:ext cx="823317" cy="88782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8923D0-7DD2-4D53-B198-5263C4A37785}"/>
              </a:ext>
            </a:extLst>
          </p:cNvPr>
          <p:cNvCxnSpPr>
            <a:cxnSpLocks/>
          </p:cNvCxnSpPr>
          <p:nvPr/>
        </p:nvCxnSpPr>
        <p:spPr>
          <a:xfrm flipH="1" flipV="1">
            <a:off x="4779316" y="3175655"/>
            <a:ext cx="344294" cy="84005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D3ED94-DEC4-4F70-A975-BE9B95DB591A}"/>
              </a:ext>
            </a:extLst>
          </p:cNvPr>
          <p:cNvCxnSpPr>
            <a:cxnSpLocks/>
            <a:stCxn id="35" idx="1"/>
            <a:endCxn id="34" idx="1"/>
          </p:cNvCxnSpPr>
          <p:nvPr/>
        </p:nvCxnSpPr>
        <p:spPr>
          <a:xfrm flipH="1" flipV="1">
            <a:off x="10701964" y="3138563"/>
            <a:ext cx="600895" cy="8286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015052-912C-4950-964A-7AE3176C0534}"/>
              </a:ext>
            </a:extLst>
          </p:cNvPr>
          <p:cNvCxnSpPr>
            <a:cxnSpLocks/>
            <a:stCxn id="36" idx="1"/>
            <a:endCxn id="34" idx="1"/>
          </p:cNvCxnSpPr>
          <p:nvPr/>
        </p:nvCxnSpPr>
        <p:spPr>
          <a:xfrm flipV="1">
            <a:off x="10295542" y="3138563"/>
            <a:ext cx="406422" cy="8286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86F59D-541E-471C-9FB5-0E654B7EC9D5}"/>
              </a:ext>
            </a:extLst>
          </p:cNvPr>
          <p:cNvCxnSpPr>
            <a:cxnSpLocks/>
            <a:stCxn id="37" idx="1"/>
            <a:endCxn id="32" idx="1"/>
          </p:cNvCxnSpPr>
          <p:nvPr/>
        </p:nvCxnSpPr>
        <p:spPr>
          <a:xfrm flipV="1">
            <a:off x="9044409" y="3967239"/>
            <a:ext cx="382935" cy="105349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50A861-EE59-4768-A839-A9F3A4C25014}"/>
              </a:ext>
            </a:extLst>
          </p:cNvPr>
          <p:cNvCxnSpPr>
            <a:cxnSpLocks/>
            <a:stCxn id="28" idx="1"/>
            <a:endCxn id="25" idx="1"/>
          </p:cNvCxnSpPr>
          <p:nvPr/>
        </p:nvCxnSpPr>
        <p:spPr>
          <a:xfrm flipV="1">
            <a:off x="5641616" y="3967239"/>
            <a:ext cx="399999" cy="95088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8AA413-5568-48CC-8FA4-4F4831C5DB9F}"/>
              </a:ext>
            </a:extLst>
          </p:cNvPr>
          <p:cNvCxnSpPr>
            <a:cxnSpLocks/>
            <a:stCxn id="29" idx="1"/>
            <a:endCxn id="25" idx="1"/>
          </p:cNvCxnSpPr>
          <p:nvPr/>
        </p:nvCxnSpPr>
        <p:spPr>
          <a:xfrm flipH="1" flipV="1">
            <a:off x="6041615" y="3967239"/>
            <a:ext cx="356964" cy="95088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6058AC-3858-41DD-9A6E-5B1B2E59EFF4}"/>
              </a:ext>
            </a:extLst>
          </p:cNvPr>
          <p:cNvCxnSpPr>
            <a:cxnSpLocks/>
            <a:stCxn id="30" idx="1"/>
            <a:endCxn id="27" idx="1"/>
          </p:cNvCxnSpPr>
          <p:nvPr/>
        </p:nvCxnSpPr>
        <p:spPr>
          <a:xfrm flipV="1">
            <a:off x="8831596" y="2250737"/>
            <a:ext cx="1049663" cy="88782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A033CE-38F2-49C6-BC27-66C5145CC63D}"/>
              </a:ext>
            </a:extLst>
          </p:cNvPr>
          <p:cNvCxnSpPr>
            <a:cxnSpLocks/>
            <a:stCxn id="31" idx="1"/>
            <a:endCxn id="30" idx="1"/>
          </p:cNvCxnSpPr>
          <p:nvPr/>
        </p:nvCxnSpPr>
        <p:spPr>
          <a:xfrm flipV="1">
            <a:off x="8235849" y="3138564"/>
            <a:ext cx="595747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AA6E3D-F799-4F92-8B5F-E6DC6AE486A7}"/>
              </a:ext>
            </a:extLst>
          </p:cNvPr>
          <p:cNvCxnSpPr>
            <a:cxnSpLocks/>
            <a:stCxn id="32" idx="1"/>
            <a:endCxn id="30" idx="1"/>
          </p:cNvCxnSpPr>
          <p:nvPr/>
        </p:nvCxnSpPr>
        <p:spPr>
          <a:xfrm flipH="1" flipV="1">
            <a:off x="8831596" y="3138564"/>
            <a:ext cx="59574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67B173-FD85-4177-B583-639BD3798D8B}"/>
              </a:ext>
            </a:extLst>
          </p:cNvPr>
          <p:cNvCxnSpPr>
            <a:cxnSpLocks/>
            <a:stCxn id="33" idx="1"/>
            <a:endCxn id="31" idx="1"/>
          </p:cNvCxnSpPr>
          <p:nvPr/>
        </p:nvCxnSpPr>
        <p:spPr>
          <a:xfrm flipV="1">
            <a:off x="7718610" y="3967239"/>
            <a:ext cx="517239" cy="95190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E8F77D-6D2E-46D4-AEF9-43F84CEA2BE5}"/>
              </a:ext>
            </a:extLst>
          </p:cNvPr>
          <p:cNvCxnSpPr>
            <a:cxnSpLocks/>
            <a:stCxn id="23" idx="1"/>
            <a:endCxn id="24" idx="1"/>
          </p:cNvCxnSpPr>
          <p:nvPr/>
        </p:nvCxnSpPr>
        <p:spPr>
          <a:xfrm>
            <a:off x="5567815" y="2250737"/>
            <a:ext cx="1084908" cy="88782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DFA5D0-2853-4488-A57B-F304C8D9DFC1}"/>
              </a:ext>
            </a:extLst>
          </p:cNvPr>
          <p:cNvCxnSpPr>
            <a:cxnSpLocks/>
            <a:stCxn id="25" idx="1"/>
            <a:endCxn id="24" idx="1"/>
          </p:cNvCxnSpPr>
          <p:nvPr/>
        </p:nvCxnSpPr>
        <p:spPr>
          <a:xfrm flipV="1">
            <a:off x="6041615" y="3138564"/>
            <a:ext cx="611108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ACD73F-E3C9-4555-9C26-6DD338BDCAB4}"/>
              </a:ext>
            </a:extLst>
          </p:cNvPr>
          <p:cNvCxnSpPr>
            <a:cxnSpLocks/>
            <a:stCxn id="26" idx="1"/>
            <a:endCxn id="24" idx="1"/>
          </p:cNvCxnSpPr>
          <p:nvPr/>
        </p:nvCxnSpPr>
        <p:spPr>
          <a:xfrm flipH="1" flipV="1">
            <a:off x="6652723" y="3138564"/>
            <a:ext cx="495689" cy="83461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2CB74D-FAFD-4D52-BE5F-541BD4B577C0}"/>
              </a:ext>
            </a:extLst>
          </p:cNvPr>
          <p:cNvCxnSpPr>
            <a:cxnSpLocks/>
            <a:stCxn id="27" idx="1"/>
            <a:endCxn id="22" idx="1"/>
          </p:cNvCxnSpPr>
          <p:nvPr/>
        </p:nvCxnSpPr>
        <p:spPr>
          <a:xfrm flipH="1" flipV="1">
            <a:off x="7479437" y="1422062"/>
            <a:ext cx="2401822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3CB1FB-8B55-42D5-9355-A189378EC9CF}"/>
              </a:ext>
            </a:extLst>
          </p:cNvPr>
          <p:cNvCxnSpPr>
            <a:cxnSpLocks/>
            <a:stCxn id="23" idx="1"/>
            <a:endCxn id="22" idx="1"/>
          </p:cNvCxnSpPr>
          <p:nvPr/>
        </p:nvCxnSpPr>
        <p:spPr>
          <a:xfrm flipV="1">
            <a:off x="5567815" y="1422062"/>
            <a:ext cx="1911622" cy="8286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97EF77B6-83DC-4E12-8578-6BE661D59B79}"/>
              </a:ext>
            </a:extLst>
          </p:cNvPr>
          <p:cNvSpPr/>
          <p:nvPr/>
        </p:nvSpPr>
        <p:spPr>
          <a:xfrm>
            <a:off x="7287969" y="1230594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7D4D55B8-FFEE-4E08-85C6-6364C225BB2A}"/>
              </a:ext>
            </a:extLst>
          </p:cNvPr>
          <p:cNvSpPr/>
          <p:nvPr/>
        </p:nvSpPr>
        <p:spPr>
          <a:xfrm>
            <a:off x="5376347" y="205926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70496236-F068-428B-8643-486F7FE82470}"/>
              </a:ext>
            </a:extLst>
          </p:cNvPr>
          <p:cNvSpPr/>
          <p:nvPr/>
        </p:nvSpPr>
        <p:spPr>
          <a:xfrm>
            <a:off x="6461255" y="294709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BC316D9A-706C-42D2-B140-538900AC6DBB}"/>
              </a:ext>
            </a:extLst>
          </p:cNvPr>
          <p:cNvSpPr/>
          <p:nvPr/>
        </p:nvSpPr>
        <p:spPr>
          <a:xfrm>
            <a:off x="5850147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9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63775366-25C0-439D-B7CA-8D74DC8C5AEF}"/>
              </a:ext>
            </a:extLst>
          </p:cNvPr>
          <p:cNvSpPr/>
          <p:nvPr/>
        </p:nvSpPr>
        <p:spPr>
          <a:xfrm>
            <a:off x="6956944" y="378171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1549BB54-036B-4724-BA0A-6D7B03A9534A}"/>
              </a:ext>
            </a:extLst>
          </p:cNvPr>
          <p:cNvSpPr/>
          <p:nvPr/>
        </p:nvSpPr>
        <p:spPr>
          <a:xfrm>
            <a:off x="9689791" y="205926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0C314A0-76A8-49AC-965E-8D6800521E6B}"/>
              </a:ext>
            </a:extLst>
          </p:cNvPr>
          <p:cNvSpPr/>
          <p:nvPr/>
        </p:nvSpPr>
        <p:spPr>
          <a:xfrm>
            <a:off x="5450148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F063B2C6-151A-4142-9D0E-345327D243A5}"/>
              </a:ext>
            </a:extLst>
          </p:cNvPr>
          <p:cNvSpPr/>
          <p:nvPr/>
        </p:nvSpPr>
        <p:spPr>
          <a:xfrm>
            <a:off x="6207111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29703517-C230-4685-8C5E-9D38D68788B4}"/>
              </a:ext>
            </a:extLst>
          </p:cNvPr>
          <p:cNvSpPr/>
          <p:nvPr/>
        </p:nvSpPr>
        <p:spPr>
          <a:xfrm>
            <a:off x="8640128" y="294709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49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C485281D-7E31-4231-9573-E0C977108099}"/>
              </a:ext>
            </a:extLst>
          </p:cNvPr>
          <p:cNvSpPr/>
          <p:nvPr/>
        </p:nvSpPr>
        <p:spPr>
          <a:xfrm>
            <a:off x="8044381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48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6B5A6A23-F62B-4D23-AA29-7947C52F7162}"/>
              </a:ext>
            </a:extLst>
          </p:cNvPr>
          <p:cNvSpPr/>
          <p:nvPr/>
        </p:nvSpPr>
        <p:spPr>
          <a:xfrm>
            <a:off x="9235876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AD4976A6-EBD1-456D-AD54-5560660E173C}"/>
              </a:ext>
            </a:extLst>
          </p:cNvPr>
          <p:cNvSpPr/>
          <p:nvPr/>
        </p:nvSpPr>
        <p:spPr>
          <a:xfrm>
            <a:off x="7527142" y="472767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EAFF4463-AAE9-4953-8645-14608185D8CE}"/>
              </a:ext>
            </a:extLst>
          </p:cNvPr>
          <p:cNvSpPr/>
          <p:nvPr/>
        </p:nvSpPr>
        <p:spPr>
          <a:xfrm>
            <a:off x="10510496" y="294709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70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3321E9B8-1D10-4E79-AB16-D13E817282C9}"/>
              </a:ext>
            </a:extLst>
          </p:cNvPr>
          <p:cNvSpPr/>
          <p:nvPr/>
        </p:nvSpPr>
        <p:spPr>
          <a:xfrm>
            <a:off x="11111391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88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B24D7B9-4644-4A6B-B29A-48F9AA5FABC6}"/>
              </a:ext>
            </a:extLst>
          </p:cNvPr>
          <p:cNvSpPr/>
          <p:nvPr/>
        </p:nvSpPr>
        <p:spPr>
          <a:xfrm>
            <a:off x="10104074" y="37757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66581E45-BDE1-4B43-B3EA-121B0156037F}"/>
              </a:ext>
            </a:extLst>
          </p:cNvPr>
          <p:cNvSpPr/>
          <p:nvPr/>
        </p:nvSpPr>
        <p:spPr>
          <a:xfrm>
            <a:off x="8852941" y="482926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54D37ED7-80EB-480B-AA8E-43A1C4268026}"/>
              </a:ext>
            </a:extLst>
          </p:cNvPr>
          <p:cNvSpPr/>
          <p:nvPr/>
        </p:nvSpPr>
        <p:spPr>
          <a:xfrm>
            <a:off x="4553030" y="2947094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60467D6F-B53D-4568-9B38-93E8D98C1677}"/>
              </a:ext>
            </a:extLst>
          </p:cNvPr>
          <p:cNvSpPr/>
          <p:nvPr/>
        </p:nvSpPr>
        <p:spPr>
          <a:xfrm>
            <a:off x="4897324" y="378715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C740EE-C3C1-46E3-BD9A-0724BA67D8CD}"/>
              </a:ext>
            </a:extLst>
          </p:cNvPr>
          <p:cNvSpPr txBox="1"/>
          <p:nvPr/>
        </p:nvSpPr>
        <p:spPr>
          <a:xfrm>
            <a:off x="8691700" y="751503"/>
            <a:ext cx="113175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Erase 20</a:t>
            </a:r>
            <a:endParaRPr lang="th-TH" sz="2000" dirty="0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536F9F76-6751-4C75-A751-54CD10BD405B}"/>
              </a:ext>
            </a:extLst>
          </p:cNvPr>
          <p:cNvSpPr/>
          <p:nvPr/>
        </p:nvSpPr>
        <p:spPr>
          <a:xfrm>
            <a:off x="9099817" y="598862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D8AA5EBF-FE43-4183-B28C-7D5C7B86FA1B}"/>
              </a:ext>
            </a:extLst>
          </p:cNvPr>
          <p:cNvSpPr/>
          <p:nvPr/>
        </p:nvSpPr>
        <p:spPr>
          <a:xfrm>
            <a:off x="6435885" y="2534666"/>
            <a:ext cx="382936" cy="3829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D96DB2C1-D001-43A8-AD9E-E90FEA731BED}"/>
              </a:ext>
            </a:extLst>
          </p:cNvPr>
          <p:cNvSpPr/>
          <p:nvPr/>
        </p:nvSpPr>
        <p:spPr>
          <a:xfrm rot="13323946">
            <a:off x="5938571" y="5099686"/>
            <a:ext cx="382936" cy="382935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22712D-16EA-47D3-9675-C30139BC0266}"/>
              </a:ext>
            </a:extLst>
          </p:cNvPr>
          <p:cNvSpPr txBox="1"/>
          <p:nvPr/>
        </p:nvSpPr>
        <p:spPr>
          <a:xfrm>
            <a:off x="8691700" y="1245437"/>
            <a:ext cx="113175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Erase 49</a:t>
            </a:r>
            <a:endParaRPr lang="th-TH" sz="2000" dirty="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5D8DCBC9-F52D-406D-96DC-990BE6B99FC0}"/>
              </a:ext>
            </a:extLst>
          </p:cNvPr>
          <p:cNvSpPr/>
          <p:nvPr/>
        </p:nvSpPr>
        <p:spPr>
          <a:xfrm>
            <a:off x="8639472" y="2516084"/>
            <a:ext cx="382936" cy="3829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0B8C9A7A-AA5D-4FD1-9CB4-234FDE5F53D6}"/>
              </a:ext>
            </a:extLst>
          </p:cNvPr>
          <p:cNvSpPr/>
          <p:nvPr/>
        </p:nvSpPr>
        <p:spPr>
          <a:xfrm rot="13323946">
            <a:off x="8550369" y="5169568"/>
            <a:ext cx="382936" cy="382935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DEF297-754B-4B62-A25E-2348B25C0F51}"/>
              </a:ext>
            </a:extLst>
          </p:cNvPr>
          <p:cNvSpPr txBox="1"/>
          <p:nvPr/>
        </p:nvSpPr>
        <p:spPr>
          <a:xfrm>
            <a:off x="8691700" y="751503"/>
            <a:ext cx="320412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Erase 20 </a:t>
            </a:r>
            <a:r>
              <a:rPr lang="en-US" sz="2000" dirty="0">
                <a:sym typeface="Wingdings" panose="05000000000000000000" pitchFamily="2" charset="2"/>
              </a:rPr>
              <a:t> Erase 14 (</a:t>
            </a:r>
            <a:r>
              <a:rPr lang="en-US" sz="2000" dirty="0" err="1">
                <a:sym typeface="Wingdings" panose="05000000000000000000" pitchFamily="2" charset="2"/>
              </a:rPr>
              <a:t>pred</a:t>
            </a:r>
            <a:r>
              <a:rPr lang="en-US" sz="2000" dirty="0">
                <a:sym typeface="Wingdings" panose="05000000000000000000" pitchFamily="2" charset="2"/>
              </a:rPr>
              <a:t>)</a:t>
            </a:r>
            <a:endParaRPr lang="th-TH" sz="2000" dirty="0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848A1FA4-C110-47F5-99D3-F1940919DE2A}"/>
              </a:ext>
            </a:extLst>
          </p:cNvPr>
          <p:cNvSpPr/>
          <p:nvPr/>
        </p:nvSpPr>
        <p:spPr>
          <a:xfrm>
            <a:off x="6208994" y="472665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6F9D15-BF92-4242-B573-5D4863C87C6F}"/>
              </a:ext>
            </a:extLst>
          </p:cNvPr>
          <p:cNvSpPr txBox="1"/>
          <p:nvPr/>
        </p:nvSpPr>
        <p:spPr>
          <a:xfrm>
            <a:off x="8691699" y="1244821"/>
            <a:ext cx="320412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Erase 49 </a:t>
            </a:r>
            <a:r>
              <a:rPr lang="en-US" sz="2000" dirty="0">
                <a:sym typeface="Wingdings" panose="05000000000000000000" pitchFamily="2" charset="2"/>
              </a:rPr>
              <a:t> Erase 50 (</a:t>
            </a:r>
            <a:r>
              <a:rPr lang="en-US" sz="2000" dirty="0" err="1">
                <a:sym typeface="Wingdings" panose="05000000000000000000" pitchFamily="2" charset="2"/>
              </a:rPr>
              <a:t>succ</a:t>
            </a:r>
            <a:r>
              <a:rPr lang="en-US" sz="2000" dirty="0">
                <a:sym typeface="Wingdings" panose="05000000000000000000" pitchFamily="2" charset="2"/>
              </a:rPr>
              <a:t>)</a:t>
            </a:r>
            <a:endParaRPr lang="th-TH" sz="2000" dirty="0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5BB11C37-D260-42CE-A6D8-5ACBF06ED72C}"/>
              </a:ext>
            </a:extLst>
          </p:cNvPr>
          <p:cNvSpPr/>
          <p:nvPr/>
        </p:nvSpPr>
        <p:spPr>
          <a:xfrm>
            <a:off x="8852941" y="482926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A32092-E461-E84E-63C0-04BB9D649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2505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7 L 0.02031 -0.25949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12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44444E-6 L -0.01758 -0.2743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5" y="-1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2031 -0.16898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" y="-8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7" grpId="0" animBg="1"/>
      <p:bldP spid="41" grpId="0" animBg="1"/>
      <p:bldP spid="41" grpId="1" animBg="1"/>
      <p:bldP spid="43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9" grpId="0" animBg="1"/>
      <p:bldP spid="50" grpId="0" animBg="1"/>
      <p:bldP spid="50" grpId="1" animBg="1"/>
      <p:bldP spid="44" grpId="0" animBg="1"/>
      <p:bldP spid="44" grpId="1" animBg="1"/>
      <p:bldP spid="53" grpId="0" animBg="1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8A18-D626-4317-ABAC-EFC3AA1E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Successor and Predecessor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39C38-C563-4A50-93DC-2E5B4E42D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080" y="1358781"/>
            <a:ext cx="5200190" cy="257424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Successor</a:t>
            </a:r>
            <a:r>
              <a:rPr lang="en-US" dirty="0"/>
              <a:t> is the minimum in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</a:p>
          <a:p>
            <a:r>
              <a:rPr lang="en-US" dirty="0"/>
              <a:t>If a tree has </a:t>
            </a:r>
            <a:r>
              <a:rPr lang="en-US" dirty="0">
                <a:solidFill>
                  <a:schemeClr val="accent4"/>
                </a:solidFill>
              </a:rPr>
              <a:t>left-subtree</a:t>
            </a:r>
            <a:r>
              <a:rPr lang="en-US" dirty="0"/>
              <a:t>, min is the min of </a:t>
            </a:r>
            <a:r>
              <a:rPr lang="en-US" dirty="0">
                <a:solidFill>
                  <a:schemeClr val="accent4"/>
                </a:solidFill>
              </a:rPr>
              <a:t>left-subtree</a:t>
            </a:r>
          </a:p>
          <a:p>
            <a:pPr lvl="1"/>
            <a:r>
              <a:rPr lang="en-US" dirty="0"/>
              <a:t>If not, min is the root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778C07-2E89-4AED-B30F-58DF74B1CA7E}"/>
              </a:ext>
            </a:extLst>
          </p:cNvPr>
          <p:cNvSpPr txBox="1">
            <a:spLocks/>
          </p:cNvSpPr>
          <p:nvPr/>
        </p:nvSpPr>
        <p:spPr>
          <a:xfrm>
            <a:off x="6286730" y="1358781"/>
            <a:ext cx="5200190" cy="2574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2pPr>
            <a:lvl3pPr marL="11430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3pPr>
            <a:lvl4pPr marL="16002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4pPr>
            <a:lvl5pPr marL="20574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Predecessor</a:t>
            </a:r>
            <a:r>
              <a:rPr lang="en-US" dirty="0"/>
              <a:t> is the maximum in </a:t>
            </a:r>
            <a:r>
              <a:rPr lang="en-US" dirty="0">
                <a:solidFill>
                  <a:schemeClr val="accent4"/>
                </a:solidFill>
              </a:rPr>
              <a:t>left-subtree</a:t>
            </a:r>
          </a:p>
          <a:p>
            <a:r>
              <a:rPr lang="en-US" dirty="0"/>
              <a:t>If a tree has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  <a:r>
              <a:rPr lang="en-US" dirty="0"/>
              <a:t>, max is the max of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</a:p>
          <a:p>
            <a:pPr lvl="1"/>
            <a:r>
              <a:rPr lang="en-US" dirty="0"/>
              <a:t>If not, max is the root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63759-68EC-4DC6-B722-0FC5ECCE3DE9}"/>
              </a:ext>
            </a:extLst>
          </p:cNvPr>
          <p:cNvSpPr/>
          <p:nvPr/>
        </p:nvSpPr>
        <p:spPr>
          <a:xfrm>
            <a:off x="705080" y="4184547"/>
            <a:ext cx="4043190" cy="2308324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find_min_node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  //r must not be NULL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C65C37-4732-40D9-AA3C-AEB0DBC80959}"/>
              </a:ext>
            </a:extLst>
          </p:cNvPr>
          <p:cNvSpPr/>
          <p:nvPr/>
        </p:nvSpPr>
        <p:spPr>
          <a:xfrm>
            <a:off x="5574534" y="4184547"/>
            <a:ext cx="4373925" cy="2308324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find_max_node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  //r must not be NULL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7715B-FB2E-17DF-E95A-797D6ADE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72082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8A18-D626-4317-ABAC-EFC3AA1E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Successor and Predecessor (recursive)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39C38-C563-4A50-93DC-2E5B4E42D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080" y="1358781"/>
            <a:ext cx="5200190" cy="257424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Successor</a:t>
            </a:r>
            <a:r>
              <a:rPr lang="en-US" dirty="0"/>
              <a:t> is the minimum in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</a:p>
          <a:p>
            <a:r>
              <a:rPr lang="en-US" dirty="0"/>
              <a:t>If a tree has </a:t>
            </a:r>
            <a:r>
              <a:rPr lang="en-US" dirty="0">
                <a:solidFill>
                  <a:schemeClr val="accent4"/>
                </a:solidFill>
              </a:rPr>
              <a:t>left-subtree</a:t>
            </a:r>
            <a:r>
              <a:rPr lang="en-US" dirty="0"/>
              <a:t>, min is the min of </a:t>
            </a:r>
            <a:r>
              <a:rPr lang="en-US" dirty="0">
                <a:solidFill>
                  <a:schemeClr val="accent4"/>
                </a:solidFill>
              </a:rPr>
              <a:t>left-subtree</a:t>
            </a:r>
          </a:p>
          <a:p>
            <a:pPr lvl="1"/>
            <a:r>
              <a:rPr lang="en-US" dirty="0"/>
              <a:t>If not, min is the root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778C07-2E89-4AED-B30F-58DF74B1CA7E}"/>
              </a:ext>
            </a:extLst>
          </p:cNvPr>
          <p:cNvSpPr txBox="1">
            <a:spLocks/>
          </p:cNvSpPr>
          <p:nvPr/>
        </p:nvSpPr>
        <p:spPr>
          <a:xfrm>
            <a:off x="6286730" y="1358781"/>
            <a:ext cx="5200190" cy="2574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2pPr>
            <a:lvl3pPr marL="11430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3pPr>
            <a:lvl4pPr marL="16002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4pPr>
            <a:lvl5pPr marL="20574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Predecessor</a:t>
            </a:r>
            <a:r>
              <a:rPr lang="en-US" dirty="0"/>
              <a:t> is the maximum in </a:t>
            </a:r>
            <a:r>
              <a:rPr lang="en-US" dirty="0">
                <a:solidFill>
                  <a:schemeClr val="accent4"/>
                </a:solidFill>
              </a:rPr>
              <a:t>left-subtree</a:t>
            </a:r>
          </a:p>
          <a:p>
            <a:r>
              <a:rPr lang="en-US" dirty="0"/>
              <a:t>If a tree has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  <a:r>
              <a:rPr lang="en-US" dirty="0"/>
              <a:t>, max is the max of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</a:p>
          <a:p>
            <a:pPr lvl="1"/>
            <a:r>
              <a:rPr lang="en-US" dirty="0"/>
              <a:t>If not, max is the root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C65C37-4732-40D9-AA3C-AEB0DBC80959}"/>
              </a:ext>
            </a:extLst>
          </p:cNvPr>
          <p:cNvSpPr/>
          <p:nvPr/>
        </p:nvSpPr>
        <p:spPr>
          <a:xfrm>
            <a:off x="5574535" y="4184547"/>
            <a:ext cx="4373925" cy="147732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find_max_node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  //r must not be NULL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find_max_node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945F8-6F41-41FD-8A35-2280FB1E5AD3}"/>
              </a:ext>
            </a:extLst>
          </p:cNvPr>
          <p:cNvSpPr/>
          <p:nvPr/>
        </p:nvSpPr>
        <p:spPr>
          <a:xfrm>
            <a:off x="705079" y="4184547"/>
            <a:ext cx="4241493" cy="147732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find_min_node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  //r must not be NULL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find_min_node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495E7-FD59-4770-B494-38065AA9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73743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EA9B-DB4A-40C2-B56B-E4354D743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C26B-AE2B-4378-9F80-B5E38C5AC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58781"/>
            <a:ext cx="4912604" cy="501638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Insert, erase depends in </a:t>
            </a:r>
            <a:r>
              <a:rPr lang="en-US" dirty="0">
                <a:solidFill>
                  <a:schemeClr val="accent3"/>
                </a:solidFill>
              </a:rPr>
              <a:t>find</a:t>
            </a:r>
            <a:r>
              <a:rPr lang="en-US" dirty="0"/>
              <a:t>,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find_min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/>
              <a:t>(or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find_max</a:t>
            </a:r>
            <a:r>
              <a:rPr lang="en-US" dirty="0"/>
              <a:t>)</a:t>
            </a:r>
            <a:endParaRPr lang="en-US" dirty="0">
              <a:solidFill>
                <a:schemeClr val="accent3"/>
              </a:solidFill>
            </a:endParaRPr>
          </a:p>
          <a:p>
            <a:r>
              <a:rPr lang="en-US" dirty="0"/>
              <a:t>All finds start from root and in the worst case reach the leaf</a:t>
            </a:r>
          </a:p>
          <a:p>
            <a:pPr lvl="1"/>
            <a:r>
              <a:rPr lang="en-US" dirty="0"/>
              <a:t>Hence, </a:t>
            </a:r>
            <a:r>
              <a:rPr lang="en-US" dirty="0">
                <a:solidFill>
                  <a:schemeClr val="accent5"/>
                </a:solidFill>
              </a:rPr>
              <a:t>O(h)</a:t>
            </a:r>
          </a:p>
          <a:p>
            <a:r>
              <a:rPr lang="en-US" dirty="0"/>
              <a:t>Height of the tree can be in the range from </a:t>
            </a:r>
            <a:r>
              <a:rPr lang="en-US" dirty="0">
                <a:solidFill>
                  <a:schemeClr val="accent6"/>
                </a:solidFill>
              </a:rPr>
              <a:t>n</a:t>
            </a:r>
            <a:r>
              <a:rPr lang="en-US" dirty="0"/>
              <a:t> to </a:t>
            </a:r>
            <a:r>
              <a:rPr lang="en-US" dirty="0">
                <a:solidFill>
                  <a:schemeClr val="accent6"/>
                </a:solidFill>
              </a:rPr>
              <a:t>lg n</a:t>
            </a:r>
          </a:p>
          <a:p>
            <a:r>
              <a:rPr lang="en-US" dirty="0"/>
              <a:t>For </a:t>
            </a:r>
            <a:r>
              <a:rPr lang="en-US" dirty="0">
                <a:solidFill>
                  <a:schemeClr val="accent2"/>
                </a:solidFill>
              </a:rPr>
              <a:t>1,000,000</a:t>
            </a:r>
            <a:r>
              <a:rPr lang="en-US" dirty="0"/>
              <a:t> nodes, its in the range of </a:t>
            </a:r>
            <a:r>
              <a:rPr lang="en-US" dirty="0">
                <a:solidFill>
                  <a:schemeClr val="accent2"/>
                </a:solidFill>
              </a:rPr>
              <a:t>[20,999999]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O(h) </a:t>
            </a:r>
            <a:r>
              <a:rPr lang="en-US" dirty="0"/>
              <a:t>is, right now, </a:t>
            </a:r>
            <a:r>
              <a:rPr lang="en-US" dirty="0">
                <a:solidFill>
                  <a:schemeClr val="accent2"/>
                </a:solidFill>
              </a:rPr>
              <a:t>O(n)</a:t>
            </a:r>
          </a:p>
          <a:p>
            <a:pPr lvl="1"/>
            <a:r>
              <a:rPr lang="en-US" dirty="0"/>
              <a:t>Will be fixed by AVL tree</a:t>
            </a:r>
            <a:endParaRPr lang="th-TH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03AD3F-771D-4B6F-B9C6-15DFEFA4CF09}"/>
              </a:ext>
            </a:extLst>
          </p:cNvPr>
          <p:cNvCxnSpPr>
            <a:cxnSpLocks/>
            <a:stCxn id="9" idx="1"/>
            <a:endCxn id="11" idx="1"/>
          </p:cNvCxnSpPr>
          <p:nvPr/>
        </p:nvCxnSpPr>
        <p:spPr>
          <a:xfrm flipV="1">
            <a:off x="7979520" y="556597"/>
            <a:ext cx="428935" cy="56092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FB6007-DB58-4633-92A1-9605AF167573}"/>
              </a:ext>
            </a:extLst>
          </p:cNvPr>
          <p:cNvCxnSpPr>
            <a:cxnSpLocks/>
            <a:stCxn id="10" idx="1"/>
            <a:endCxn id="12" idx="1"/>
          </p:cNvCxnSpPr>
          <p:nvPr/>
        </p:nvCxnSpPr>
        <p:spPr>
          <a:xfrm flipH="1">
            <a:off x="7098792" y="1611205"/>
            <a:ext cx="386367" cy="55467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9DA849-208F-4414-AF1E-5F67BEF2269A}"/>
              </a:ext>
            </a:extLst>
          </p:cNvPr>
          <p:cNvCxnSpPr>
            <a:cxnSpLocks/>
            <a:stCxn id="12" idx="1"/>
            <a:endCxn id="13" idx="1"/>
          </p:cNvCxnSpPr>
          <p:nvPr/>
        </p:nvCxnSpPr>
        <p:spPr>
          <a:xfrm flipH="1">
            <a:off x="6706127" y="2165884"/>
            <a:ext cx="392665" cy="56065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1A0E71-DFDB-45A9-8605-80FC897B1303}"/>
              </a:ext>
            </a:extLst>
          </p:cNvPr>
          <p:cNvCxnSpPr>
            <a:cxnSpLocks/>
            <a:stCxn id="13" idx="1"/>
            <a:endCxn id="14" idx="1"/>
          </p:cNvCxnSpPr>
          <p:nvPr/>
        </p:nvCxnSpPr>
        <p:spPr>
          <a:xfrm flipH="1">
            <a:off x="6370660" y="2726540"/>
            <a:ext cx="335467" cy="55209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CECA0A-7996-4384-B0FF-B88F1E064F80}"/>
              </a:ext>
            </a:extLst>
          </p:cNvPr>
          <p:cNvCxnSpPr>
            <a:cxnSpLocks/>
            <a:stCxn id="10" idx="1"/>
            <a:endCxn id="9" idx="1"/>
          </p:cNvCxnSpPr>
          <p:nvPr/>
        </p:nvCxnSpPr>
        <p:spPr>
          <a:xfrm flipV="1">
            <a:off x="7485159" y="1117517"/>
            <a:ext cx="494361" cy="493688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72E1132B-4FF1-469A-AA66-52F9B881D2C7}"/>
              </a:ext>
            </a:extLst>
          </p:cNvPr>
          <p:cNvSpPr/>
          <p:nvPr/>
        </p:nvSpPr>
        <p:spPr>
          <a:xfrm>
            <a:off x="7788052" y="92604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9E361591-A770-4D04-A0B4-F601BC43DDD0}"/>
              </a:ext>
            </a:extLst>
          </p:cNvPr>
          <p:cNvSpPr/>
          <p:nvPr/>
        </p:nvSpPr>
        <p:spPr>
          <a:xfrm>
            <a:off x="7293691" y="1419737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80D0D53A-7ADD-48EB-8378-97EF979A83B4}"/>
              </a:ext>
            </a:extLst>
          </p:cNvPr>
          <p:cNvSpPr/>
          <p:nvPr/>
        </p:nvSpPr>
        <p:spPr>
          <a:xfrm>
            <a:off x="8216987" y="36512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2D4B12C-05A7-48C4-B510-CFCEABFAA00A}"/>
              </a:ext>
            </a:extLst>
          </p:cNvPr>
          <p:cNvSpPr/>
          <p:nvPr/>
        </p:nvSpPr>
        <p:spPr>
          <a:xfrm>
            <a:off x="6907324" y="197441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4B60938-52A7-4A52-9591-0D51841223D3}"/>
              </a:ext>
            </a:extLst>
          </p:cNvPr>
          <p:cNvSpPr/>
          <p:nvPr/>
        </p:nvSpPr>
        <p:spPr>
          <a:xfrm>
            <a:off x="6514659" y="2535072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D09496E-0C8C-4B03-81AA-C97802F533AE}"/>
              </a:ext>
            </a:extLst>
          </p:cNvPr>
          <p:cNvSpPr/>
          <p:nvPr/>
        </p:nvSpPr>
        <p:spPr>
          <a:xfrm>
            <a:off x="6179192" y="3087162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BBD1C8-A625-45C6-9258-405FE669B476}"/>
              </a:ext>
            </a:extLst>
          </p:cNvPr>
          <p:cNvCxnSpPr>
            <a:cxnSpLocks/>
            <a:stCxn id="29" idx="1"/>
            <a:endCxn id="30" idx="1"/>
          </p:cNvCxnSpPr>
          <p:nvPr/>
        </p:nvCxnSpPr>
        <p:spPr>
          <a:xfrm flipH="1">
            <a:off x="10322833" y="2165884"/>
            <a:ext cx="372031" cy="56065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546FEC-67F1-42F2-A294-1E4B865B0522}"/>
              </a:ext>
            </a:extLst>
          </p:cNvPr>
          <p:cNvCxnSpPr>
            <a:cxnSpLocks/>
            <a:stCxn id="29" idx="1"/>
            <a:endCxn id="31" idx="1"/>
          </p:cNvCxnSpPr>
          <p:nvPr/>
        </p:nvCxnSpPr>
        <p:spPr>
          <a:xfrm flipH="1" flipV="1">
            <a:off x="10131366" y="1611205"/>
            <a:ext cx="563498" cy="55467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284B7D-B43B-472F-A8AB-7631413BC89A}"/>
              </a:ext>
            </a:extLst>
          </p:cNvPr>
          <p:cNvCxnSpPr>
            <a:cxnSpLocks/>
            <a:stCxn id="31" idx="1"/>
            <a:endCxn id="32" idx="1"/>
          </p:cNvCxnSpPr>
          <p:nvPr/>
        </p:nvCxnSpPr>
        <p:spPr>
          <a:xfrm flipH="1" flipV="1">
            <a:off x="9737526" y="1122573"/>
            <a:ext cx="393840" cy="488632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0CD5A-4564-4DE0-A747-A4BB053C3CD6}"/>
              </a:ext>
            </a:extLst>
          </p:cNvPr>
          <p:cNvCxnSpPr>
            <a:cxnSpLocks/>
            <a:stCxn id="32" idx="1"/>
            <a:endCxn id="33" idx="1"/>
          </p:cNvCxnSpPr>
          <p:nvPr/>
        </p:nvCxnSpPr>
        <p:spPr>
          <a:xfrm flipH="1" flipV="1">
            <a:off x="9258858" y="556597"/>
            <a:ext cx="478668" cy="5659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B4072CD-0D81-4ADD-90EA-42632E2D1D26}"/>
              </a:ext>
            </a:extLst>
          </p:cNvPr>
          <p:cNvCxnSpPr>
            <a:cxnSpLocks/>
            <a:stCxn id="29" idx="1"/>
            <a:endCxn id="28" idx="1"/>
          </p:cNvCxnSpPr>
          <p:nvPr/>
        </p:nvCxnSpPr>
        <p:spPr>
          <a:xfrm>
            <a:off x="10694864" y="2165884"/>
            <a:ext cx="467468" cy="56065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82CE5ED2-57B2-4624-B7D9-5396B37EC35C}"/>
              </a:ext>
            </a:extLst>
          </p:cNvPr>
          <p:cNvSpPr/>
          <p:nvPr/>
        </p:nvSpPr>
        <p:spPr>
          <a:xfrm>
            <a:off x="10970864" y="25350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C7804F72-3B95-4155-89A5-C62FE94BFB89}"/>
              </a:ext>
            </a:extLst>
          </p:cNvPr>
          <p:cNvSpPr/>
          <p:nvPr/>
        </p:nvSpPr>
        <p:spPr>
          <a:xfrm>
            <a:off x="10503396" y="1974416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C259257F-F0FB-43CA-82F0-14DF39AA2F3C}"/>
              </a:ext>
            </a:extLst>
          </p:cNvPr>
          <p:cNvSpPr/>
          <p:nvPr/>
        </p:nvSpPr>
        <p:spPr>
          <a:xfrm>
            <a:off x="10131365" y="253507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DFD81C79-7819-4A6E-B619-27CF00A381FB}"/>
              </a:ext>
            </a:extLst>
          </p:cNvPr>
          <p:cNvSpPr/>
          <p:nvPr/>
        </p:nvSpPr>
        <p:spPr>
          <a:xfrm>
            <a:off x="9939898" y="1419737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8B45AA7E-735B-467F-846C-5D5DDA36428F}"/>
              </a:ext>
            </a:extLst>
          </p:cNvPr>
          <p:cNvSpPr/>
          <p:nvPr/>
        </p:nvSpPr>
        <p:spPr>
          <a:xfrm>
            <a:off x="9546058" y="93110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6B42F364-3531-486B-B7A1-92A6B6C111D1}"/>
              </a:ext>
            </a:extLst>
          </p:cNvPr>
          <p:cNvSpPr/>
          <p:nvPr/>
        </p:nvSpPr>
        <p:spPr>
          <a:xfrm>
            <a:off x="9067390" y="36512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A6AE4FF-3319-436E-86A7-153FA596865B}"/>
              </a:ext>
            </a:extLst>
          </p:cNvPr>
          <p:cNvCxnSpPr>
            <a:cxnSpLocks/>
            <a:stCxn id="72" idx="1"/>
            <a:endCxn id="73" idx="1"/>
          </p:cNvCxnSpPr>
          <p:nvPr/>
        </p:nvCxnSpPr>
        <p:spPr>
          <a:xfrm flipH="1">
            <a:off x="7643258" y="4877608"/>
            <a:ext cx="372031" cy="56065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F525B60-5250-44A0-BF38-FE01936F8585}"/>
              </a:ext>
            </a:extLst>
          </p:cNvPr>
          <p:cNvCxnSpPr>
            <a:cxnSpLocks/>
            <a:stCxn id="72" idx="1"/>
            <a:endCxn id="74" idx="1"/>
          </p:cNvCxnSpPr>
          <p:nvPr/>
        </p:nvCxnSpPr>
        <p:spPr>
          <a:xfrm flipH="1" flipV="1">
            <a:off x="7451791" y="4322929"/>
            <a:ext cx="563498" cy="55467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550C500-DF97-49A7-97BD-2CE76DD32D59}"/>
              </a:ext>
            </a:extLst>
          </p:cNvPr>
          <p:cNvCxnSpPr>
            <a:cxnSpLocks/>
            <a:stCxn id="74" idx="1"/>
            <a:endCxn id="75" idx="1"/>
          </p:cNvCxnSpPr>
          <p:nvPr/>
        </p:nvCxnSpPr>
        <p:spPr>
          <a:xfrm flipH="1">
            <a:off x="7096644" y="4322929"/>
            <a:ext cx="355147" cy="55467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AB9F805-8C25-4535-AAE6-D944084C9FC9}"/>
              </a:ext>
            </a:extLst>
          </p:cNvPr>
          <p:cNvCxnSpPr>
            <a:cxnSpLocks/>
            <a:stCxn id="75" idx="1"/>
            <a:endCxn id="76" idx="1"/>
          </p:cNvCxnSpPr>
          <p:nvPr/>
        </p:nvCxnSpPr>
        <p:spPr>
          <a:xfrm flipH="1">
            <a:off x="6734145" y="4877608"/>
            <a:ext cx="362499" cy="56065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958E107-4A32-4353-BDD7-5C2B5F99FE12}"/>
              </a:ext>
            </a:extLst>
          </p:cNvPr>
          <p:cNvCxnSpPr>
            <a:cxnSpLocks/>
            <a:stCxn id="72" idx="1"/>
            <a:endCxn id="71" idx="1"/>
          </p:cNvCxnSpPr>
          <p:nvPr/>
        </p:nvCxnSpPr>
        <p:spPr>
          <a:xfrm>
            <a:off x="8015289" y="4877608"/>
            <a:ext cx="467468" cy="56065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Arc 70">
            <a:extLst>
              <a:ext uri="{FF2B5EF4-FFF2-40B4-BE49-F238E27FC236}">
                <a16:creationId xmlns:a16="http://schemas.microsoft.com/office/drawing/2014/main" id="{EBBA13EC-E116-4F31-880F-709143B628FA}"/>
              </a:ext>
            </a:extLst>
          </p:cNvPr>
          <p:cNvSpPr/>
          <p:nvPr/>
        </p:nvSpPr>
        <p:spPr>
          <a:xfrm>
            <a:off x="8291289" y="524679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49F0FD89-7CE9-4A3F-855D-00051CD2AFFE}"/>
              </a:ext>
            </a:extLst>
          </p:cNvPr>
          <p:cNvSpPr/>
          <p:nvPr/>
        </p:nvSpPr>
        <p:spPr>
          <a:xfrm>
            <a:off x="7823821" y="468614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C12941F6-6E97-46E8-B39E-3C185B533119}"/>
              </a:ext>
            </a:extLst>
          </p:cNvPr>
          <p:cNvSpPr/>
          <p:nvPr/>
        </p:nvSpPr>
        <p:spPr>
          <a:xfrm>
            <a:off x="7451790" y="524679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5027F498-E462-40CC-B3B7-BB9D55B1F7BD}"/>
              </a:ext>
            </a:extLst>
          </p:cNvPr>
          <p:cNvSpPr/>
          <p:nvPr/>
        </p:nvSpPr>
        <p:spPr>
          <a:xfrm>
            <a:off x="7260323" y="4131461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3B882D8B-99CC-4D05-ACE6-4EBB4D31FEBA}"/>
              </a:ext>
            </a:extLst>
          </p:cNvPr>
          <p:cNvSpPr/>
          <p:nvPr/>
        </p:nvSpPr>
        <p:spPr>
          <a:xfrm>
            <a:off x="6905176" y="4686140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9B6661AE-E6B0-44FC-86F3-336E2840B5D8}"/>
              </a:ext>
            </a:extLst>
          </p:cNvPr>
          <p:cNvSpPr/>
          <p:nvPr/>
        </p:nvSpPr>
        <p:spPr>
          <a:xfrm>
            <a:off x="6542677" y="5246795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1BD2DA-5273-475F-A5F9-C3D3A7A40BFE}"/>
              </a:ext>
            </a:extLst>
          </p:cNvPr>
          <p:cNvSpPr txBox="1"/>
          <p:nvPr/>
        </p:nvSpPr>
        <p:spPr>
          <a:xfrm>
            <a:off x="7485158" y="2258458"/>
            <a:ext cx="1489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Max height = 5</a:t>
            </a:r>
            <a:endParaRPr lang="th-TH" sz="16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76A161-25E8-472A-A074-6E3EDECE114D}"/>
              </a:ext>
            </a:extLst>
          </p:cNvPr>
          <p:cNvSpPr txBox="1"/>
          <p:nvPr/>
        </p:nvSpPr>
        <p:spPr>
          <a:xfrm>
            <a:off x="8216987" y="4430991"/>
            <a:ext cx="1489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Min height = 2</a:t>
            </a:r>
            <a:endParaRPr lang="th-TH" sz="16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2E5EDDB-4291-4989-8013-C49A6A54350F}"/>
              </a:ext>
            </a:extLst>
          </p:cNvPr>
          <p:cNvSpPr txBox="1"/>
          <p:nvPr/>
        </p:nvSpPr>
        <p:spPr>
          <a:xfrm>
            <a:off x="10193580" y="1027741"/>
            <a:ext cx="1489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height = 4</a:t>
            </a:r>
            <a:endParaRPr lang="th-TH" sz="16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CBEAEDB-8F14-A13E-6285-F7FEF8AA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358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83" grpId="0"/>
      <p:bldP spid="84" grpId="0"/>
      <p:bldP spid="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18F198-6D4B-4F0F-9FC6-8E70B2B185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CP::</a:t>
            </a:r>
            <a:r>
              <a:rPr lang="en-US" dirty="0" err="1"/>
              <a:t>map_bst</a:t>
            </a:r>
            <a:endParaRPr lang="th-TH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9B1F5B5-2462-4B0D-8F1D-CDA9A7AD1A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Binary Search Tree to create associated data structure</a:t>
            </a:r>
            <a:endParaRPr lang="th-TH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44AF6F-8A3A-F722-65F6-47436774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133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1B0D-E51D-4E55-89EA-53D6DBFD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EB65-AC68-49AB-995F-E80DFDF22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4593116" cy="5016382"/>
          </a:xfrm>
        </p:spPr>
        <p:txBody>
          <a:bodyPr/>
          <a:lstStyle/>
          <a:p>
            <a:r>
              <a:rPr lang="en-US" dirty="0"/>
              <a:t>Need node class</a:t>
            </a:r>
          </a:p>
          <a:p>
            <a:r>
              <a:rPr lang="en-US" dirty="0"/>
              <a:t>Also need iterator class</a:t>
            </a:r>
          </a:p>
          <a:p>
            <a:r>
              <a:rPr lang="en-US" dirty="0"/>
              <a:t>Template has two types</a:t>
            </a:r>
          </a:p>
          <a:p>
            <a:pPr lvl="1"/>
            <a:r>
              <a:rPr lang="en-US" dirty="0"/>
              <a:t>Key Type and Mapped Type</a:t>
            </a:r>
          </a:p>
          <a:p>
            <a:pPr lvl="1"/>
            <a:r>
              <a:rPr lang="en-US" dirty="0" err="1"/>
              <a:t>ValueType</a:t>
            </a:r>
            <a:r>
              <a:rPr lang="en-US" dirty="0"/>
              <a:t> is pair&lt;</a:t>
            </a:r>
            <a:r>
              <a:rPr lang="en-US" dirty="0" err="1"/>
              <a:t>KeyType,MappedType</a:t>
            </a:r>
            <a:r>
              <a:rPr lang="en-US" dirty="0"/>
              <a:t>&gt;</a:t>
            </a:r>
          </a:p>
          <a:p>
            <a:r>
              <a:rPr lang="en-US" dirty="0"/>
              <a:t>Also need custom comparator</a:t>
            </a:r>
            <a:endParaRPr lang="th-T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9071B-40F0-4865-AA17-FD7201FC1616}"/>
              </a:ext>
            </a:extLst>
          </p:cNvPr>
          <p:cNvSpPr/>
          <p:nvPr/>
        </p:nvSpPr>
        <p:spPr>
          <a:xfrm>
            <a:off x="5431316" y="284304"/>
            <a:ext cx="6096000" cy="6494085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5"/>
            </a:solidFill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template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typename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typename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MappedT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typename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CompareT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less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&gt; &gt;</a:t>
            </a: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map_bst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protected: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pair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MappedT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&gt;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friend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map_bst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protected: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};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protected: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*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public: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};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*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CompareT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iterator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0DE94-CD26-0036-5B6A-47B4505C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264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B0E4-1DF6-441B-93DE-5ABF534A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Class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FACBD-A8A7-42EA-8ECF-C4A0417F3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106" y="365129"/>
            <a:ext cx="7365694" cy="3970318"/>
          </a:xfrm>
        </p:spPr>
        <p:txBody>
          <a:bodyPr/>
          <a:lstStyle/>
          <a:p>
            <a:r>
              <a:rPr lang="en-US" dirty="0"/>
              <a:t>Data stores both the key type and mapped type (as a pair)</a:t>
            </a:r>
          </a:p>
          <a:p>
            <a:r>
              <a:rPr lang="en-US" dirty="0"/>
              <a:t>Map finds by key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BB56E3-10EE-44BC-AB64-3F398D10219A}"/>
              </a:ext>
            </a:extLst>
          </p:cNvPr>
          <p:cNvSpPr/>
          <p:nvPr/>
        </p:nvSpPr>
        <p:spPr>
          <a:xfrm>
            <a:off x="370900" y="2709839"/>
            <a:ext cx="9246825" cy="397031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friend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map_bst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protected: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: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 { }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: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 {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208C8-BA27-0772-D943-D8612BE3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7068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0467-A580-40BB-A240-0FD0BE07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Ctors</a:t>
            </a:r>
            <a:r>
              <a:rPr lang="en-US" dirty="0"/>
              <a:t>, </a:t>
            </a:r>
            <a:r>
              <a:rPr lang="en-US" dirty="0" err="1"/>
              <a:t>Dtor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53BAC-E465-435A-902A-C3D43EF54063}"/>
              </a:ext>
            </a:extLst>
          </p:cNvPr>
          <p:cNvSpPr/>
          <p:nvPr/>
        </p:nvSpPr>
        <p:spPr>
          <a:xfrm>
            <a:off x="767049" y="1271366"/>
            <a:ext cx="10657902" cy="5355312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map_bst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map_bst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MappedT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CompareT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&gt;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: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{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copy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 }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map_bst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CompareT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CompareT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) :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{ }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map_bst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MappedT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CompareT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operator=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map_bst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MappedT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CompareT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&gt;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swap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swap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swap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swap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~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map_bst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clear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ED967DA4-1A68-4F48-92AC-B310FECCA2F7}"/>
              </a:ext>
            </a:extLst>
          </p:cNvPr>
          <p:cNvSpPr/>
          <p:nvPr/>
        </p:nvSpPr>
        <p:spPr>
          <a:xfrm>
            <a:off x="6312665" y="2126255"/>
            <a:ext cx="1839816" cy="547607"/>
          </a:xfrm>
          <a:prstGeom prst="wedgeRoundRectCallout">
            <a:avLst>
              <a:gd name="adj1" fmla="val -96630"/>
              <a:gd name="adj2" fmla="val -58585"/>
              <a:gd name="adj3" fmla="val 16667"/>
            </a:avLst>
          </a:prstGeom>
          <a:solidFill>
            <a:schemeClr val="accent3">
              <a:alpha val="52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Recursive Copy</a:t>
            </a:r>
            <a:endParaRPr lang="th-TH" sz="18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0F2089C-24C1-4206-BAAB-91A380BBA7F7}"/>
              </a:ext>
            </a:extLst>
          </p:cNvPr>
          <p:cNvSpPr/>
          <p:nvPr/>
        </p:nvSpPr>
        <p:spPr>
          <a:xfrm>
            <a:off x="3646583" y="5475383"/>
            <a:ext cx="1839816" cy="547607"/>
          </a:xfrm>
          <a:prstGeom prst="wedgeRoundRectCallout">
            <a:avLst>
              <a:gd name="adj1" fmla="val -116390"/>
              <a:gd name="adj2" fmla="val 78219"/>
              <a:gd name="adj3" fmla="val 16667"/>
            </a:avLst>
          </a:prstGeom>
          <a:solidFill>
            <a:schemeClr val="accent3">
              <a:alpha val="52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Recursive delete</a:t>
            </a:r>
            <a:endParaRPr lang="th-TH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15F8F9-8F77-B8F4-A126-BA020394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6747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02A8-528E-4072-9C32-5786D56F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Find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32CB1-0FC3-466F-B995-A692B3436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by Key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8B3C1-9948-408D-9D5A-8D0773B4BB03}"/>
              </a:ext>
            </a:extLst>
          </p:cNvPr>
          <p:cNvSpPr/>
          <p:nvPr/>
        </p:nvSpPr>
        <p:spPr>
          <a:xfrm>
            <a:off x="5257800" y="396885"/>
            <a:ext cx="6096000" cy="147732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4"/>
            </a:solidFill>
          </a:ln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find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?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end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: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6D4C1-8249-4E9D-8EAD-5696B9B96163}"/>
              </a:ext>
            </a:extLst>
          </p:cNvPr>
          <p:cNvSpPr/>
          <p:nvPr/>
        </p:nvSpPr>
        <p:spPr>
          <a:xfrm>
            <a:off x="838200" y="2245554"/>
            <a:ext cx="9110031" cy="4247317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compare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))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-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))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+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compare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first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&lt; 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?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ECB50-AA2F-21B0-0413-31ABB962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42463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EE5D-BE81-47B4-86B0-E883CB7D8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F2187-61CB-4060-9BF9-1B802F854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3546513" cy="5016382"/>
          </a:xfrm>
        </p:spPr>
        <p:txBody>
          <a:bodyPr/>
          <a:lstStyle/>
          <a:p>
            <a:r>
              <a:rPr lang="en-US" dirty="0"/>
              <a:t>Insert return pair of iterator and insert result</a:t>
            </a:r>
            <a:endParaRPr lang="th-T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224EC5-F8C7-4320-92AB-7A23057B7FFF}"/>
              </a:ext>
            </a:extLst>
          </p:cNvPr>
          <p:cNvSpPr/>
          <p:nvPr/>
        </p:nvSpPr>
        <p:spPr>
          <a:xfrm>
            <a:off x="562778" y="3425883"/>
            <a:ext cx="6763439" cy="3139321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pair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iterator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&gt;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val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val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first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not_found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not_found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val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child_link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val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first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=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make_pair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not_found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CD2FC-AE92-4FA5-8CB1-40372CC3227D}"/>
              </a:ext>
            </a:extLst>
          </p:cNvPr>
          <p:cNvSpPr/>
          <p:nvPr/>
        </p:nvSpPr>
        <p:spPr>
          <a:xfrm>
            <a:off x="5395510" y="1200819"/>
            <a:ext cx="6096000" cy="1754326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3"/>
            </a:solidFill>
          </a:ln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child_link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mLess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first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?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A585E8-C4CA-4F16-B94F-B2806305A644}"/>
              </a:ext>
            </a:extLst>
          </p:cNvPr>
          <p:cNvSpPr txBox="1">
            <a:spLocks/>
          </p:cNvSpPr>
          <p:nvPr/>
        </p:nvSpPr>
        <p:spPr>
          <a:xfrm>
            <a:off x="7601639" y="3241217"/>
            <a:ext cx="4296578" cy="17543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3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2pPr>
            <a:lvl3pPr marL="11430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3pPr>
            <a:lvl4pPr marL="16002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4pPr>
            <a:lvl5pPr marL="2057400" indent="-228600" algn="l" defTabSz="914400" rtl="0" eaLnBrk="1" latinLnBrk="0" hangingPunct="1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Sarabun Light" panose="00000400000000000000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child_link</a:t>
            </a:r>
            <a:r>
              <a:rPr lang="en-US" dirty="0"/>
              <a:t> return a reference (the variable) to the pointer of the appropriate child of the parent with respect to </a:t>
            </a:r>
            <a:r>
              <a:rPr lang="en-US" dirty="0">
                <a:solidFill>
                  <a:schemeClr val="accent3"/>
                </a:solidFill>
              </a:rPr>
              <a:t>k</a:t>
            </a:r>
            <a:endParaRPr lang="th-TH" dirty="0">
              <a:solidFill>
                <a:schemeClr val="accent3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03AEC-2D78-BC29-46DC-0962E7AF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80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CD1D-6BFA-4BD3-BB5F-355696A8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128" y="365129"/>
            <a:ext cx="3432671" cy="865465"/>
          </a:xfrm>
        </p:spPr>
        <p:txBody>
          <a:bodyPr/>
          <a:lstStyle/>
          <a:p>
            <a:r>
              <a:rPr lang="en-US" dirty="0"/>
              <a:t>Erase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70C2A-1181-41E8-A7EA-85173498B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4516" y="1358781"/>
            <a:ext cx="3179284" cy="5016382"/>
          </a:xfrm>
        </p:spPr>
        <p:txBody>
          <a:bodyPr/>
          <a:lstStyle/>
          <a:p>
            <a:r>
              <a:rPr lang="en-US" dirty="0"/>
              <a:t>Handle multiple cases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84884-D720-43EC-9CB7-1961339AC010}"/>
              </a:ext>
            </a:extLst>
          </p:cNvPr>
          <p:cNvSpPr/>
          <p:nvPr/>
        </p:nvSpPr>
        <p:spPr>
          <a:xfrm>
            <a:off x="320407" y="821467"/>
            <a:ext cx="7495142" cy="5755422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erase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&amp;&amp;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    //have two children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find_min_node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* &amp;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child_link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first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?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swap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first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first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swap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second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second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 // we are going to delete this node instead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}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* &amp;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child_link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?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delete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31E8-A674-8CA3-E4CE-F16E29AB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31993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A660-1D6C-4659-B514-215AB148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Operator[ ]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66EDB-F3DF-4725-BB6C-D544AA3C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78735"/>
            <a:ext cx="8228682" cy="1996427"/>
          </a:xfrm>
        </p:spPr>
        <p:txBody>
          <a:bodyPr>
            <a:normAutofit/>
          </a:bodyPr>
          <a:lstStyle/>
          <a:p>
            <a:r>
              <a:rPr lang="en-US" dirty="0"/>
              <a:t>Find node</a:t>
            </a:r>
          </a:p>
          <a:p>
            <a:r>
              <a:rPr lang="en-US" dirty="0"/>
              <a:t>If not exists, create one with default </a:t>
            </a:r>
            <a:r>
              <a:rPr lang="en-US" dirty="0" err="1"/>
              <a:t>MappedTypeReturn</a:t>
            </a:r>
            <a:r>
              <a:rPr lang="en-US" dirty="0"/>
              <a:t> </a:t>
            </a:r>
            <a:r>
              <a:rPr lang="en-US" dirty="0" err="1"/>
              <a:t>MappedType</a:t>
            </a:r>
            <a:r>
              <a:rPr lang="en-US" dirty="0"/>
              <a:t> of the node</a:t>
            </a:r>
            <a:endParaRPr lang="th-T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1CE5D-FD95-4F3B-BCED-06FB8186D872}"/>
              </a:ext>
            </a:extLst>
          </p:cNvPr>
          <p:cNvSpPr/>
          <p:nvPr/>
        </p:nvSpPr>
        <p:spPr>
          <a:xfrm>
            <a:off x="838200" y="1373504"/>
            <a:ext cx="8791460" cy="2862322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MappedT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operator[]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KeyT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mRoot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make_pair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MappedT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()),</a:t>
            </a:r>
            <a:r>
              <a:rPr lang="en-US" sz="1800" dirty="0" err="1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child_link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=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mSize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second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CD30D-FD63-511A-2257-FD43E7EF9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19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9264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E1D0-6081-46B4-8BD1-210AD6DC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B1C74-5379-4D8B-B536-7C18BCAF4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linked list, we need a class for iterator</a:t>
            </a:r>
          </a:p>
          <a:p>
            <a:pPr lvl="1"/>
            <a:r>
              <a:rPr lang="en-US" dirty="0"/>
              <a:t>Because we need custom operator++, -- (and some more)</a:t>
            </a:r>
          </a:p>
          <a:p>
            <a:r>
              <a:rPr lang="en-US" dirty="0"/>
              <a:t>Iterator class just store a </a:t>
            </a:r>
            <a:r>
              <a:rPr lang="en-US" dirty="0">
                <a:solidFill>
                  <a:schemeClr val="accent4"/>
                </a:solidFill>
              </a:rPr>
              <a:t>pointer to a node</a:t>
            </a:r>
            <a:endParaRPr lang="th-TH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EA3B02-3DF4-4D41-AC5E-5B9A04C48C60}"/>
              </a:ext>
            </a:extLst>
          </p:cNvPr>
          <p:cNvSpPr/>
          <p:nvPr/>
        </p:nvSpPr>
        <p:spPr>
          <a:xfrm>
            <a:off x="679374" y="3783082"/>
            <a:ext cx="6096000" cy="2862322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6"/>
            </a:solidFill>
          </a:ln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protected: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*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public: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: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) {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: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 }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// more functions below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   };</a:t>
            </a:r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56852-D8C8-1510-9A46-EE58E554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861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F5F579-41C4-496F-9D8A-38B5422BBF8A}"/>
              </a:ext>
            </a:extLst>
          </p:cNvPr>
          <p:cNvCxnSpPr>
            <a:cxnSpLocks/>
            <a:stCxn id="5" idx="1"/>
            <a:endCxn id="9" idx="1"/>
          </p:cNvCxnSpPr>
          <p:nvPr/>
        </p:nvCxnSpPr>
        <p:spPr>
          <a:xfrm flipV="1">
            <a:off x="6907465" y="556597"/>
            <a:ext cx="607859" cy="56092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26A372-647F-4D36-88AB-EA612D85D25A}"/>
              </a:ext>
            </a:extLst>
          </p:cNvPr>
          <p:cNvCxnSpPr>
            <a:cxnSpLocks/>
            <a:stCxn id="6" idx="1"/>
            <a:endCxn id="11" idx="1"/>
          </p:cNvCxnSpPr>
          <p:nvPr/>
        </p:nvCxnSpPr>
        <p:spPr>
          <a:xfrm>
            <a:off x="5591108" y="1666467"/>
            <a:ext cx="608865" cy="50798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FA470E-D83C-4B6A-A2E1-CA66DCC73479}"/>
              </a:ext>
            </a:extLst>
          </p:cNvPr>
          <p:cNvCxnSpPr>
            <a:cxnSpLocks/>
            <a:stCxn id="11" idx="1"/>
            <a:endCxn id="12" idx="1"/>
          </p:cNvCxnSpPr>
          <p:nvPr/>
        </p:nvCxnSpPr>
        <p:spPr>
          <a:xfrm>
            <a:off x="6199973" y="2174450"/>
            <a:ext cx="383845" cy="55209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D5FB4A-FD00-4D1B-BDCE-9F077AFBAB4A}"/>
              </a:ext>
            </a:extLst>
          </p:cNvPr>
          <p:cNvCxnSpPr>
            <a:cxnSpLocks/>
            <a:stCxn id="12" idx="1"/>
            <a:endCxn id="13" idx="1"/>
          </p:cNvCxnSpPr>
          <p:nvPr/>
        </p:nvCxnSpPr>
        <p:spPr>
          <a:xfrm>
            <a:off x="6583818" y="2726540"/>
            <a:ext cx="191467" cy="55209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30D880-5FC8-4EFC-8744-80A99EA3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Operator++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C7D9-1F01-4167-AE8D-6F23F0D7E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4389408" cy="5016382"/>
          </a:xfrm>
        </p:spPr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chemeClr val="accent3"/>
                </a:solidFill>
              </a:rPr>
              <a:t>successor</a:t>
            </a:r>
            <a:r>
              <a:rPr lang="en-US" dirty="0"/>
              <a:t> of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, easy if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have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</a:p>
          <a:p>
            <a:pPr lvl="1"/>
            <a:r>
              <a:rPr lang="en-US" dirty="0"/>
              <a:t>Just find </a:t>
            </a:r>
            <a:r>
              <a:rPr lang="en-US" dirty="0">
                <a:solidFill>
                  <a:schemeClr val="accent4"/>
                </a:solidFill>
              </a:rPr>
              <a:t>min</a:t>
            </a:r>
            <a:r>
              <a:rPr lang="en-US" dirty="0"/>
              <a:t> of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</a:p>
          <a:p>
            <a:r>
              <a:rPr lang="en-US" dirty="0"/>
              <a:t>If not, we have to go up (go toward root) until we find one that is </a:t>
            </a:r>
            <a:r>
              <a:rPr lang="en-US" dirty="0">
                <a:solidFill>
                  <a:schemeClr val="accent3"/>
                </a:solidFill>
              </a:rPr>
              <a:t>more</a:t>
            </a:r>
            <a:r>
              <a:rPr lang="en-US" dirty="0"/>
              <a:t> than x</a:t>
            </a:r>
          </a:p>
          <a:p>
            <a:pPr lvl="1"/>
            <a:r>
              <a:rPr lang="en-US" dirty="0"/>
              <a:t>This is always the closest </a:t>
            </a:r>
            <a:r>
              <a:rPr lang="en-US" dirty="0">
                <a:solidFill>
                  <a:schemeClr val="accent4"/>
                </a:solidFill>
              </a:rPr>
              <a:t>ancestor</a:t>
            </a:r>
            <a:r>
              <a:rPr lang="en-US" dirty="0"/>
              <a:t> of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that has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in its </a:t>
            </a:r>
            <a:r>
              <a:rPr lang="en-US" dirty="0">
                <a:solidFill>
                  <a:schemeClr val="accent2"/>
                </a:solidFill>
              </a:rPr>
              <a:t>left-subtree</a:t>
            </a:r>
          </a:p>
          <a:p>
            <a:pPr lvl="1"/>
            <a:endParaRPr lang="th-TH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149A30-D285-4A61-A207-567B8C9C0ABC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V="1">
            <a:off x="5591108" y="1117517"/>
            <a:ext cx="1316357" cy="5489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c 4">
            <a:extLst>
              <a:ext uri="{FF2B5EF4-FFF2-40B4-BE49-F238E27FC236}">
                <a16:creationId xmlns:a16="http://schemas.microsoft.com/office/drawing/2014/main" id="{115CBE68-B206-49CB-BC0E-08BCBA03E658}"/>
              </a:ext>
            </a:extLst>
          </p:cNvPr>
          <p:cNvSpPr/>
          <p:nvPr/>
        </p:nvSpPr>
        <p:spPr>
          <a:xfrm>
            <a:off x="6715997" y="92604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8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B60154D-916A-480D-9780-E4290656B781}"/>
              </a:ext>
            </a:extLst>
          </p:cNvPr>
          <p:cNvSpPr/>
          <p:nvPr/>
        </p:nvSpPr>
        <p:spPr>
          <a:xfrm>
            <a:off x="5399640" y="147499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68B656D1-9932-4EBD-BAA4-DE50DB47653C}"/>
              </a:ext>
            </a:extLst>
          </p:cNvPr>
          <p:cNvSpPr/>
          <p:nvPr/>
        </p:nvSpPr>
        <p:spPr>
          <a:xfrm>
            <a:off x="7323856" y="36512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3FA1D8E-28E6-453D-BD9E-93EB6E72CE7C}"/>
              </a:ext>
            </a:extLst>
          </p:cNvPr>
          <p:cNvSpPr/>
          <p:nvPr/>
        </p:nvSpPr>
        <p:spPr>
          <a:xfrm>
            <a:off x="6008505" y="1982982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4762D34-59D3-4CB6-A442-4489A7D0A4DC}"/>
              </a:ext>
            </a:extLst>
          </p:cNvPr>
          <p:cNvSpPr/>
          <p:nvPr/>
        </p:nvSpPr>
        <p:spPr>
          <a:xfrm>
            <a:off x="6392350" y="2535072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1FB37F27-C20F-4287-9939-86BAE7347E37}"/>
              </a:ext>
            </a:extLst>
          </p:cNvPr>
          <p:cNvSpPr/>
          <p:nvPr/>
        </p:nvSpPr>
        <p:spPr>
          <a:xfrm>
            <a:off x="6583817" y="3087162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20B1D9DE-1DE3-4A94-BA88-86C7D0DDE87B}"/>
              </a:ext>
            </a:extLst>
          </p:cNvPr>
          <p:cNvSpPr/>
          <p:nvPr/>
        </p:nvSpPr>
        <p:spPr>
          <a:xfrm rot="13652331">
            <a:off x="6384892" y="3425463"/>
            <a:ext cx="238613" cy="2570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FAD3C417-8A97-4017-9783-7DDF59C90503}"/>
              </a:ext>
            </a:extLst>
          </p:cNvPr>
          <p:cNvSpPr/>
          <p:nvPr/>
        </p:nvSpPr>
        <p:spPr>
          <a:xfrm>
            <a:off x="4595945" y="292738"/>
            <a:ext cx="1591591" cy="705420"/>
          </a:xfrm>
          <a:prstGeom prst="wedgeRoundRectCallout">
            <a:avLst>
              <a:gd name="adj1" fmla="val 82822"/>
              <a:gd name="adj2" fmla="val 43868"/>
              <a:gd name="adj3" fmla="val 16667"/>
            </a:avLst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/>
              <a:t>8 is successor of 5</a:t>
            </a:r>
            <a:endParaRPr lang="th-TH" sz="2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7AF6D0-D982-4FD1-863A-49CC21CA1A19}"/>
              </a:ext>
            </a:extLst>
          </p:cNvPr>
          <p:cNvSpPr/>
          <p:nvPr/>
        </p:nvSpPr>
        <p:spPr>
          <a:xfrm>
            <a:off x="7875006" y="330014"/>
            <a:ext cx="4123696" cy="4031873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operator++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&amp;&amp; </a:t>
            </a:r>
            <a:b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         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}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(*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3DA08-0587-7B60-AE1A-FB6829F5D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21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5633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2.96296E-6 L -0.01705 -0.09283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9" y="-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6 -0.09283 L -0.04192 -0.15857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-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192 -0.15857 L -0.09192 -0.2386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192 -0.23866 L 0.01706 -0.31412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43" y="-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0" grpId="2" animBg="1"/>
      <p:bldP spid="40" grpId="3" animBg="1"/>
      <p:bldP spid="40" grpId="4" animBg="1"/>
      <p:bldP spid="41" grpId="0" animBg="1"/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F5F579-41C4-496F-9D8A-38B5422BBF8A}"/>
              </a:ext>
            </a:extLst>
          </p:cNvPr>
          <p:cNvCxnSpPr>
            <a:cxnSpLocks/>
            <a:stCxn id="5" idx="1"/>
            <a:endCxn id="9" idx="1"/>
          </p:cNvCxnSpPr>
          <p:nvPr/>
        </p:nvCxnSpPr>
        <p:spPr>
          <a:xfrm flipH="1" flipV="1">
            <a:off x="5308408" y="556597"/>
            <a:ext cx="790349" cy="56092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26A372-647F-4D36-88AB-EA612D85D25A}"/>
              </a:ext>
            </a:extLst>
          </p:cNvPr>
          <p:cNvCxnSpPr>
            <a:cxnSpLocks/>
            <a:stCxn id="6" idx="1"/>
            <a:endCxn id="11" idx="1"/>
          </p:cNvCxnSpPr>
          <p:nvPr/>
        </p:nvCxnSpPr>
        <p:spPr>
          <a:xfrm flipH="1">
            <a:off x="6697580" y="1666467"/>
            <a:ext cx="441912" cy="50798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FA470E-D83C-4B6A-A2E1-CA66DCC73479}"/>
              </a:ext>
            </a:extLst>
          </p:cNvPr>
          <p:cNvCxnSpPr>
            <a:cxnSpLocks/>
            <a:stCxn id="11" idx="1"/>
            <a:endCxn id="12" idx="1"/>
          </p:cNvCxnSpPr>
          <p:nvPr/>
        </p:nvCxnSpPr>
        <p:spPr>
          <a:xfrm flipH="1">
            <a:off x="6411082" y="2174450"/>
            <a:ext cx="286498" cy="55209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D5FB4A-FD00-4D1B-BDCE-9F077AFBAB4A}"/>
              </a:ext>
            </a:extLst>
          </p:cNvPr>
          <p:cNvCxnSpPr>
            <a:cxnSpLocks/>
            <a:stCxn id="12" idx="1"/>
            <a:endCxn id="13" idx="1"/>
          </p:cNvCxnSpPr>
          <p:nvPr/>
        </p:nvCxnSpPr>
        <p:spPr>
          <a:xfrm flipH="1">
            <a:off x="6154590" y="2726540"/>
            <a:ext cx="256492" cy="55209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30D880-5FC8-4EFC-8744-80A99EA3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Operator--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C7D9-1F01-4167-AE8D-6F23F0D7E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4389408" cy="5016382"/>
          </a:xfrm>
        </p:spPr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chemeClr val="accent4"/>
                </a:solidFill>
              </a:rPr>
              <a:t>predecessor</a:t>
            </a:r>
            <a:r>
              <a:rPr lang="en-US" dirty="0"/>
              <a:t> of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, easy if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have </a:t>
            </a:r>
            <a:r>
              <a:rPr lang="en-US" dirty="0">
                <a:solidFill>
                  <a:schemeClr val="accent2"/>
                </a:solidFill>
              </a:rPr>
              <a:t>left-subtree</a:t>
            </a:r>
          </a:p>
          <a:p>
            <a:pPr lvl="1"/>
            <a:r>
              <a:rPr lang="en-US" dirty="0"/>
              <a:t>Just find </a:t>
            </a:r>
            <a:r>
              <a:rPr lang="en-US" dirty="0">
                <a:solidFill>
                  <a:schemeClr val="accent6"/>
                </a:solidFill>
              </a:rPr>
              <a:t>max</a:t>
            </a:r>
            <a:r>
              <a:rPr lang="en-US" dirty="0"/>
              <a:t> of </a:t>
            </a:r>
            <a:r>
              <a:rPr lang="en-US" dirty="0">
                <a:solidFill>
                  <a:schemeClr val="accent2"/>
                </a:solidFill>
              </a:rPr>
              <a:t>left-subtree</a:t>
            </a:r>
          </a:p>
          <a:p>
            <a:r>
              <a:rPr lang="en-US" dirty="0"/>
              <a:t>If not, we have to go up (go toward root) until we find one that is </a:t>
            </a:r>
            <a:r>
              <a:rPr lang="en-US" dirty="0">
                <a:solidFill>
                  <a:schemeClr val="accent4"/>
                </a:solidFill>
              </a:rPr>
              <a:t>less</a:t>
            </a:r>
            <a:r>
              <a:rPr lang="en-US" dirty="0"/>
              <a:t> than x</a:t>
            </a:r>
          </a:p>
          <a:p>
            <a:pPr lvl="1"/>
            <a:r>
              <a:rPr lang="en-US" dirty="0"/>
              <a:t>This is always the closest </a:t>
            </a:r>
            <a:r>
              <a:rPr lang="en-US" dirty="0">
                <a:solidFill>
                  <a:schemeClr val="accent4"/>
                </a:solidFill>
              </a:rPr>
              <a:t>ancestor</a:t>
            </a:r>
            <a:r>
              <a:rPr lang="en-US" dirty="0"/>
              <a:t> of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that has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in its </a:t>
            </a:r>
            <a:r>
              <a:rPr lang="en-US" dirty="0">
                <a:solidFill>
                  <a:schemeClr val="accent5"/>
                </a:solidFill>
              </a:rPr>
              <a:t>right-subtree</a:t>
            </a:r>
          </a:p>
          <a:p>
            <a:pPr lvl="1"/>
            <a:endParaRPr lang="th-TH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149A30-D285-4A61-A207-567B8C9C0ABC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 flipV="1">
            <a:off x="6098757" y="1117517"/>
            <a:ext cx="1040735" cy="5489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c 4">
            <a:extLst>
              <a:ext uri="{FF2B5EF4-FFF2-40B4-BE49-F238E27FC236}">
                <a16:creationId xmlns:a16="http://schemas.microsoft.com/office/drawing/2014/main" id="{115CBE68-B206-49CB-BC0E-08BCBA03E658}"/>
              </a:ext>
            </a:extLst>
          </p:cNvPr>
          <p:cNvSpPr/>
          <p:nvPr/>
        </p:nvSpPr>
        <p:spPr>
          <a:xfrm>
            <a:off x="5907289" y="92604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13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B60154D-916A-480D-9780-E4290656B781}"/>
              </a:ext>
            </a:extLst>
          </p:cNvPr>
          <p:cNvSpPr/>
          <p:nvPr/>
        </p:nvSpPr>
        <p:spPr>
          <a:xfrm>
            <a:off x="6948024" y="147499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68B656D1-9932-4EBD-BAA4-DE50DB47653C}"/>
              </a:ext>
            </a:extLst>
          </p:cNvPr>
          <p:cNvSpPr/>
          <p:nvPr/>
        </p:nvSpPr>
        <p:spPr>
          <a:xfrm>
            <a:off x="5116940" y="365129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3FA1D8E-28E6-453D-BD9E-93EB6E72CE7C}"/>
              </a:ext>
            </a:extLst>
          </p:cNvPr>
          <p:cNvSpPr/>
          <p:nvPr/>
        </p:nvSpPr>
        <p:spPr>
          <a:xfrm>
            <a:off x="6506112" y="1982982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40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4762D34-59D3-4CB6-A442-4489A7D0A4DC}"/>
              </a:ext>
            </a:extLst>
          </p:cNvPr>
          <p:cNvSpPr/>
          <p:nvPr/>
        </p:nvSpPr>
        <p:spPr>
          <a:xfrm>
            <a:off x="6219614" y="2535072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30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1FB37F27-C20F-4287-9939-86BAE7347E37}"/>
              </a:ext>
            </a:extLst>
          </p:cNvPr>
          <p:cNvSpPr/>
          <p:nvPr/>
        </p:nvSpPr>
        <p:spPr>
          <a:xfrm>
            <a:off x="5963122" y="3087162"/>
            <a:ext cx="382935" cy="382935"/>
          </a:xfrm>
          <a:prstGeom prst="arc">
            <a:avLst>
              <a:gd name="adj1" fmla="val 16200000"/>
              <a:gd name="adj2" fmla="val 16197843"/>
            </a:avLst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15</a:t>
            </a:r>
            <a:endParaRPr lang="th-TH" sz="2000" dirty="0">
              <a:solidFill>
                <a:sysClr val="windowText" lastClr="000000"/>
              </a:solidFill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20B1D9DE-1DE3-4A94-BA88-86C7D0DDE87B}"/>
              </a:ext>
            </a:extLst>
          </p:cNvPr>
          <p:cNvSpPr/>
          <p:nvPr/>
        </p:nvSpPr>
        <p:spPr>
          <a:xfrm rot="8334787">
            <a:off x="6345302" y="3394518"/>
            <a:ext cx="238613" cy="2570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th-TH"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FAD3C417-8A97-4017-9783-7DDF59C90503}"/>
              </a:ext>
            </a:extLst>
          </p:cNvPr>
          <p:cNvSpPr/>
          <p:nvPr/>
        </p:nvSpPr>
        <p:spPr>
          <a:xfrm>
            <a:off x="3227605" y="750743"/>
            <a:ext cx="1944170" cy="705420"/>
          </a:xfrm>
          <a:prstGeom prst="wedgeRoundRectCallout">
            <a:avLst>
              <a:gd name="adj1" fmla="val 85655"/>
              <a:gd name="adj2" fmla="val 17318"/>
              <a:gd name="adj3" fmla="val 16667"/>
            </a:avLst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/>
              <a:t>13 is predecessor of 15</a:t>
            </a:r>
            <a:endParaRPr lang="th-TH" sz="2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7AF6D0-D982-4FD1-863A-49CC21CA1A19}"/>
              </a:ext>
            </a:extLst>
          </p:cNvPr>
          <p:cNvSpPr/>
          <p:nvPr/>
        </p:nvSpPr>
        <p:spPr>
          <a:xfrm>
            <a:off x="7875006" y="330014"/>
            <a:ext cx="4123696" cy="4031873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operator--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&amp;&amp; </a:t>
            </a:r>
            <a:b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         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}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left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right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(*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95327-83A7-DE41-ED27-4FF44B4E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22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1811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59259E-6 L 0.01914 -0.0882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1" y="-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914 -0.0882 L 0.04258 -0.16227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8 -0.16227 L 0.07877 -0.2349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0" y="-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77 -0.23496 L -0.01432 -0.30949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61" y="-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0" grpId="2" animBg="1"/>
      <p:bldP spid="40" grpId="3" animBg="1"/>
      <p:bldP spid="40" grpId="4" animBg="1"/>
      <p:bldP spid="41" grpId="0" animBg="1"/>
      <p:bldP spid="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B8D8-EC15-494B-8B01-F46F101B9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Functions</a:t>
            </a:r>
            <a:endParaRPr lang="th-T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E2D4B-8008-49F4-8D26-41214DAF39A3}"/>
              </a:ext>
            </a:extLst>
          </p:cNvPr>
          <p:cNvSpPr/>
          <p:nvPr/>
        </p:nvSpPr>
        <p:spPr>
          <a:xfrm>
            <a:off x="838200" y="1318729"/>
            <a:ext cx="8360884" cy="5078313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operator++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tmp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(*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operator++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tmp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operator--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tmp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(*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operator--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tmp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 {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    }</a:t>
            </a:r>
          </a:p>
          <a:p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ValueT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operator-&gt;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() {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&amp;(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 }</a:t>
            </a:r>
          </a:p>
          <a:p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operator==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 {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 }</a:t>
            </a:r>
          </a:p>
          <a:p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operator!=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4EC9B0"/>
                </a:solidFill>
                <a:latin typeface="Consolas" panose="020B0609020204030204" pitchFamily="49" charset="0"/>
              </a:rPr>
              <a:t>tree_iterator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b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 { 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 }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5A2404-CC12-2E0A-2AC3-9FDB9B26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23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54427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1A36-17F3-41A3-8040-B4F18F90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7D251-BF97-41FB-920E-472B3FDC8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Search Tree relies on </a:t>
            </a:r>
            <a:r>
              <a:rPr lang="en-US" dirty="0">
                <a:solidFill>
                  <a:schemeClr val="accent3"/>
                </a:solidFill>
              </a:rPr>
              <a:t>Value Constraint </a:t>
            </a:r>
            <a:r>
              <a:rPr lang="en-US" dirty="0"/>
              <a:t>to make find fast</a:t>
            </a:r>
          </a:p>
          <a:p>
            <a:pPr lvl="1"/>
            <a:r>
              <a:rPr lang="en-US" dirty="0"/>
              <a:t>Possible to be slow (will be fixed later)</a:t>
            </a:r>
          </a:p>
          <a:p>
            <a:r>
              <a:rPr lang="en-US" dirty="0"/>
              <a:t>Erase requires </a:t>
            </a:r>
            <a:r>
              <a:rPr lang="en-US" dirty="0" err="1">
                <a:solidFill>
                  <a:schemeClr val="accent1"/>
                </a:solidFill>
              </a:rPr>
              <a:t>find_min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max</a:t>
            </a:r>
          </a:p>
          <a:p>
            <a:r>
              <a:rPr lang="en-US" dirty="0"/>
              <a:t>CP::</a:t>
            </a:r>
            <a:r>
              <a:rPr lang="en-US" dirty="0" err="1"/>
              <a:t>map_bst</a:t>
            </a:r>
            <a:r>
              <a:rPr lang="en-US" dirty="0"/>
              <a:t> use pair to store </a:t>
            </a:r>
            <a:r>
              <a:rPr lang="en-US" dirty="0" err="1">
                <a:solidFill>
                  <a:schemeClr val="accent4"/>
                </a:solidFill>
              </a:rPr>
              <a:t>KeyT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4"/>
                </a:solidFill>
              </a:rPr>
              <a:t>MappedT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/>
              <a:t>Find use Key</a:t>
            </a:r>
          </a:p>
          <a:p>
            <a:r>
              <a:rPr lang="en-US" dirty="0">
                <a:solidFill>
                  <a:schemeClr val="accent2"/>
                </a:solidFill>
              </a:rPr>
              <a:t>Iterator</a:t>
            </a:r>
            <a:r>
              <a:rPr lang="en-US" dirty="0"/>
              <a:t> is just a pointer</a:t>
            </a:r>
          </a:p>
          <a:p>
            <a:pPr lvl="1"/>
            <a:r>
              <a:rPr lang="en-US" dirty="0"/>
              <a:t>Have a problem of </a:t>
            </a:r>
            <a:r>
              <a:rPr lang="en-US" dirty="0">
                <a:solidFill>
                  <a:schemeClr val="accent5"/>
                </a:solidFill>
              </a:rPr>
              <a:t>operator--</a:t>
            </a:r>
            <a:r>
              <a:rPr lang="en-US" dirty="0"/>
              <a:t> at </a:t>
            </a:r>
            <a:r>
              <a:rPr lang="en-US" dirty="0">
                <a:solidFill>
                  <a:schemeClr val="accent5"/>
                </a:solidFill>
              </a:rPr>
              <a:t>end() </a:t>
            </a:r>
            <a:r>
              <a:rPr lang="en-US" dirty="0"/>
              <a:t>(will be fixed later)</a:t>
            </a:r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4E847-FFB4-10A5-893E-56C5A1D8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7BEC-1DC1-4B56-A5D2-847ABAFA0A20}" type="slidenum">
              <a:rPr lang="th-TH" smtClean="0"/>
              <a:t>24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8861343"/>
      </p:ext>
    </p:extLst>
  </p:cSld>
  <p:clrMapOvr>
    <a:masterClrMapping/>
  </p:clrMapOvr>
</p:sld>
</file>

<file path=ppt/theme/theme1.xml><?xml version="1.0" encoding="utf-8"?>
<a:theme xmlns:a="http://schemas.openxmlformats.org/drawingml/2006/main" name="dae-default">
  <a:themeElements>
    <a:clrScheme name="Custom 3">
      <a:dk1>
        <a:sysClr val="windowText" lastClr="000000"/>
      </a:dk1>
      <a:lt1>
        <a:sysClr val="window" lastClr="FFFFFF"/>
      </a:lt1>
      <a:dk2>
        <a:srgbClr val="212121"/>
      </a:dk2>
      <a:lt2>
        <a:srgbClr val="E7E6E6"/>
      </a:lt2>
      <a:accent1>
        <a:srgbClr val="D4FB79"/>
      </a:accent1>
      <a:accent2>
        <a:srgbClr val="FF7E79"/>
      </a:accent2>
      <a:accent3>
        <a:srgbClr val="76D6FB"/>
      </a:accent3>
      <a:accent4>
        <a:srgbClr val="FFD479"/>
      </a:accent4>
      <a:accent5>
        <a:srgbClr val="D783FF"/>
      </a:accent5>
      <a:accent6>
        <a:srgbClr val="73FA79"/>
      </a:accent6>
      <a:hlink>
        <a:srgbClr val="0096FF"/>
      </a:hlink>
      <a:folHlink>
        <a:srgbClr val="954F72"/>
      </a:folHlink>
    </a:clrScheme>
    <a:fontScheme name="Custom 1">
      <a:majorFont>
        <a:latin typeface="Sarabun ExtraLight"/>
        <a:ea typeface=""/>
        <a:cs typeface="Sarabun ExtraLight"/>
      </a:majorFont>
      <a:minorFont>
        <a:latin typeface="Sarabun ExtraLight"/>
        <a:ea typeface=""/>
        <a:cs typeface="Sarabun ExtraLight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e-default" id="{510114F9-C429-4665-9804-4C0F10FA9A8E}" vid="{3074D711-C638-4782-B543-05305884A16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dae-default</Template>
  <TotalTime>2009</TotalTime>
  <Words>3039</Words>
  <Application>Microsoft Office PowerPoint</Application>
  <PresentationFormat>Widescreen</PresentationFormat>
  <Paragraphs>514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Arial</vt:lpstr>
      <vt:lpstr>Consolas</vt:lpstr>
      <vt:lpstr>Corbel</vt:lpstr>
      <vt:lpstr>Sarabun</vt:lpstr>
      <vt:lpstr>Sarabun ExtraLight</vt:lpstr>
      <vt:lpstr>Sarabun Light</vt:lpstr>
      <vt:lpstr>Wingdings</vt:lpstr>
      <vt:lpstr>dae-default</vt:lpstr>
      <vt:lpstr>Binary Search Tree</vt:lpstr>
      <vt:lpstr>Overview</vt:lpstr>
      <vt:lpstr>Binary Search Tree</vt:lpstr>
      <vt:lpstr>Finding Value in BST</vt:lpstr>
      <vt:lpstr>Find Node</vt:lpstr>
      <vt:lpstr>Insert</vt:lpstr>
      <vt:lpstr>Erase</vt:lpstr>
      <vt:lpstr>Erase node with 2 children</vt:lpstr>
      <vt:lpstr>Finding Successor and Predecessor</vt:lpstr>
      <vt:lpstr>Finding Successor and Predecessor (recursive)</vt:lpstr>
      <vt:lpstr>Complexity Analysis</vt:lpstr>
      <vt:lpstr>CP::map_bst</vt:lpstr>
      <vt:lpstr>Layout</vt:lpstr>
      <vt:lpstr>Node Class</vt:lpstr>
      <vt:lpstr>Ctors, Dtor</vt:lpstr>
      <vt:lpstr>Actual Find</vt:lpstr>
      <vt:lpstr>Insert</vt:lpstr>
      <vt:lpstr>Erase</vt:lpstr>
      <vt:lpstr>Operator[ ]</vt:lpstr>
      <vt:lpstr>Iterator</vt:lpstr>
      <vt:lpstr>Operator++</vt:lpstr>
      <vt:lpstr>Operator--</vt:lpstr>
      <vt:lpstr>Other Functions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Nattee Niparnan</dc:creator>
  <cp:lastModifiedBy>Vishnu Kotrajaras</cp:lastModifiedBy>
  <cp:revision>69</cp:revision>
  <dcterms:created xsi:type="dcterms:W3CDTF">2020-11-04T00:09:46Z</dcterms:created>
  <dcterms:modified xsi:type="dcterms:W3CDTF">2024-11-05T16:36:35Z</dcterms:modified>
</cp:coreProperties>
</file>