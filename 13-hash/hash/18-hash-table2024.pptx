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2" r:id="rId4"/>
    <p:sldId id="303" r:id="rId5"/>
    <p:sldId id="310" r:id="rId6"/>
    <p:sldId id="304" r:id="rId7"/>
    <p:sldId id="305" r:id="rId8"/>
    <p:sldId id="306" r:id="rId9"/>
    <p:sldId id="307" r:id="rId10"/>
    <p:sldId id="308" r:id="rId11"/>
    <p:sldId id="309" r:id="rId12"/>
    <p:sldId id="311" r:id="rId13"/>
    <p:sldId id="313" r:id="rId14"/>
    <p:sldId id="312" r:id="rId15"/>
    <p:sldId id="314" r:id="rId16"/>
    <p:sldId id="315" r:id="rId17"/>
    <p:sldId id="316" r:id="rId18"/>
    <p:sldId id="317" r:id="rId19"/>
    <p:sldId id="365" r:id="rId20"/>
    <p:sldId id="318" r:id="rId21"/>
    <p:sldId id="319" r:id="rId22"/>
    <p:sldId id="320" r:id="rId23"/>
    <p:sldId id="321" r:id="rId24"/>
    <p:sldId id="322" r:id="rId25"/>
    <p:sldId id="335" r:id="rId26"/>
    <p:sldId id="334" r:id="rId27"/>
    <p:sldId id="336" r:id="rId28"/>
    <p:sldId id="337" r:id="rId29"/>
    <p:sldId id="338" r:id="rId30"/>
    <p:sldId id="339" r:id="rId31"/>
    <p:sldId id="340" r:id="rId32"/>
    <p:sldId id="323" r:id="rId33"/>
    <p:sldId id="324" r:id="rId34"/>
    <p:sldId id="330" r:id="rId35"/>
    <p:sldId id="331" r:id="rId36"/>
    <p:sldId id="325" r:id="rId37"/>
    <p:sldId id="326" r:id="rId38"/>
    <p:sldId id="327" r:id="rId39"/>
    <p:sldId id="341" r:id="rId40"/>
    <p:sldId id="342" r:id="rId41"/>
    <p:sldId id="329" r:id="rId42"/>
    <p:sldId id="332" r:id="rId43"/>
    <p:sldId id="328" r:id="rId44"/>
    <p:sldId id="366" r:id="rId45"/>
    <p:sldId id="333" r:id="rId46"/>
    <p:sldId id="343" r:id="rId47"/>
    <p:sldId id="344" r:id="rId48"/>
    <p:sldId id="345" r:id="rId49"/>
    <p:sldId id="368" r:id="rId50"/>
    <p:sldId id="370" r:id="rId51"/>
    <p:sldId id="369" r:id="rId52"/>
    <p:sldId id="371" r:id="rId53"/>
    <p:sldId id="372" r:id="rId54"/>
    <p:sldId id="347" r:id="rId55"/>
    <p:sldId id="348" r:id="rId56"/>
    <p:sldId id="351" r:id="rId57"/>
    <p:sldId id="349" r:id="rId58"/>
    <p:sldId id="352" r:id="rId59"/>
    <p:sldId id="350" r:id="rId60"/>
    <p:sldId id="353" r:id="rId61"/>
    <p:sldId id="356" r:id="rId62"/>
    <p:sldId id="354" r:id="rId63"/>
    <p:sldId id="355" r:id="rId64"/>
    <p:sldId id="357" r:id="rId65"/>
    <p:sldId id="358" r:id="rId66"/>
    <p:sldId id="359" r:id="rId67"/>
    <p:sldId id="360" r:id="rId68"/>
    <p:sldId id="362" r:id="rId69"/>
    <p:sldId id="363" r:id="rId70"/>
    <p:sldId id="364" r:id="rId71"/>
    <p:sldId id="361" r:id="rId72"/>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4C32"/>
    <a:srgbClr val="580000"/>
    <a:srgbClr val="800000"/>
    <a:srgbClr val="990033"/>
    <a:srgbClr val="76D6FB"/>
    <a:srgbClr val="F57D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30" d="100"/>
          <a:sy n="130" d="100"/>
        </p:scale>
        <p:origin x="422" y="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F131ED-A080-41C8-AF11-1F2844E63701}" type="datetimeFigureOut">
              <a:rPr lang="th-TH" smtClean="0"/>
              <a:t>16/02/67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258113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31ED-A080-41C8-AF11-1F2844E63701}" type="datetimeFigureOut">
              <a:rPr lang="th-TH" smtClean="0"/>
              <a:t>16/02/67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2370989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4"/>
            <a:ext cx="10515600" cy="2852737"/>
          </a:xfrm>
        </p:spPr>
        <p:txBody>
          <a:bodyPr anchor="b">
            <a:normAutofit/>
          </a:bodyPr>
          <a:lstStyle>
            <a:lvl1pPr>
              <a:defRPr sz="6000" b="1"/>
            </a:lvl1pPr>
          </a:lstStyle>
          <a:p>
            <a:r>
              <a:rPr lang="en-US" dirty="0"/>
              <a:t>Click to edit Master title style</a:t>
            </a:r>
          </a:p>
        </p:txBody>
      </p:sp>
      <p:sp>
        <p:nvSpPr>
          <p:cNvPr id="3" name="Text Placeholder 2"/>
          <p:cNvSpPr>
            <a:spLocks noGrp="1"/>
          </p:cNvSpPr>
          <p:nvPr>
            <p:ph type="body" idx="1"/>
          </p:nvPr>
        </p:nvSpPr>
        <p:spPr>
          <a:xfrm>
            <a:off x="831851" y="4589469"/>
            <a:ext cx="10515600" cy="1500187"/>
          </a:xfrm>
        </p:spPr>
        <p:txBody>
          <a:bodyPr>
            <a:normAutofit/>
          </a:bodyPr>
          <a:lstStyle>
            <a:lvl1pPr marL="0" indent="0">
              <a:buNone/>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18F131ED-A080-41C8-AF11-1F2844E63701}" type="datetimeFigureOut">
              <a:rPr lang="th-TH" smtClean="0"/>
              <a:t>16/02/67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3158529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F131ED-A080-41C8-AF11-1F2844E63701}" type="datetimeFigureOut">
              <a:rPr lang="th-TH" smtClean="0"/>
              <a:t>16/02/67</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406001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334044"/>
            <a:ext cx="5203678"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9" y="2261406"/>
            <a:ext cx="5202089" cy="412230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27684" y="1334044"/>
            <a:ext cx="5226116"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27684" y="2261406"/>
            <a:ext cx="5227707" cy="412230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8F131ED-A080-41C8-AF11-1F2844E63701}" type="datetimeFigureOut">
              <a:rPr lang="th-TH" smtClean="0"/>
              <a:t>16/02/67</a:t>
            </a:fld>
            <a:endParaRPr lang="th-TH"/>
          </a:p>
        </p:txBody>
      </p:sp>
      <p:sp>
        <p:nvSpPr>
          <p:cNvPr id="8" name="Footer Placeholder 7"/>
          <p:cNvSpPr>
            <a:spLocks noGrp="1"/>
          </p:cNvSpPr>
          <p:nvPr>
            <p:ph type="ftr" sz="quarter" idx="11"/>
          </p:nvPr>
        </p:nvSpPr>
        <p:spPr/>
        <p:txBody>
          <a:bodyPr/>
          <a:lstStyle/>
          <a:p>
            <a:endParaRPr lang="th-TH"/>
          </a:p>
        </p:txBody>
      </p:sp>
      <p:sp>
        <p:nvSpPr>
          <p:cNvPr id="9" name="Slide Number Placeholder 8"/>
          <p:cNvSpPr>
            <a:spLocks noGrp="1"/>
          </p:cNvSpPr>
          <p:nvPr>
            <p:ph type="sldNum" sz="quarter" idx="12"/>
          </p:nvPr>
        </p:nvSpPr>
        <p:spPr/>
        <p:txBody>
          <a:bodyPr/>
          <a:lstStyle/>
          <a:p>
            <a:fld id="{18A77BEC-1DC1-4B56-A5D2-847ABAFA0A20}" type="slidenum">
              <a:rPr lang="th-TH" smtClean="0"/>
              <a:t>‹#›</a:t>
            </a:fld>
            <a:endParaRPr lang="th-TH"/>
          </a:p>
        </p:txBody>
      </p:sp>
      <p:sp>
        <p:nvSpPr>
          <p:cNvPr id="11" name="Title 1">
            <a:extLst>
              <a:ext uri="{FF2B5EF4-FFF2-40B4-BE49-F238E27FC236}">
                <a16:creationId xmlns:a16="http://schemas.microsoft.com/office/drawing/2014/main" id="{097B014B-136C-4027-8F6B-5749376E9363}"/>
              </a:ext>
            </a:extLst>
          </p:cNvPr>
          <p:cNvSpPr>
            <a:spLocks noGrp="1"/>
          </p:cNvSpPr>
          <p:nvPr>
            <p:ph type="title"/>
          </p:nvPr>
        </p:nvSpPr>
        <p:spPr>
          <a:xfrm>
            <a:off x="839788" y="365129"/>
            <a:ext cx="10515600" cy="865465"/>
          </a:xfrm>
        </p:spPr>
        <p:txBody>
          <a:bodyPr/>
          <a:lstStyle/>
          <a:p>
            <a:r>
              <a:rPr lang="en-US" dirty="0"/>
              <a:t>Click to edit Master title style</a:t>
            </a:r>
          </a:p>
        </p:txBody>
      </p:sp>
    </p:spTree>
    <p:extLst>
      <p:ext uri="{BB962C8B-B14F-4D97-AF65-F5344CB8AC3E}">
        <p14:creationId xmlns:p14="http://schemas.microsoft.com/office/powerpoint/2010/main" val="2280185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F131ED-A080-41C8-AF11-1F2844E63701}" type="datetimeFigureOut">
              <a:rPr lang="th-TH" smtClean="0"/>
              <a:t>16/02/67</a:t>
            </a:fld>
            <a:endParaRPr lang="th-TH"/>
          </a:p>
        </p:txBody>
      </p:sp>
      <p:sp>
        <p:nvSpPr>
          <p:cNvPr id="4" name="Footer Placeholder 3"/>
          <p:cNvSpPr>
            <a:spLocks noGrp="1"/>
          </p:cNvSpPr>
          <p:nvPr>
            <p:ph type="ftr" sz="quarter" idx="11"/>
          </p:nvPr>
        </p:nvSpPr>
        <p:spPr/>
        <p:txBody>
          <a:bodyPr/>
          <a:lstStyle/>
          <a:p>
            <a:endParaRPr lang="th-TH"/>
          </a:p>
        </p:txBody>
      </p:sp>
      <p:sp>
        <p:nvSpPr>
          <p:cNvPr id="5" name="Slide Number Placeholder 4"/>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337664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F131ED-A080-41C8-AF11-1F2844E63701}" type="datetimeFigureOut">
              <a:rPr lang="th-TH" smtClean="0"/>
              <a:t>16/02/67</a:t>
            </a:fld>
            <a:endParaRPr lang="th-TH"/>
          </a:p>
        </p:txBody>
      </p:sp>
      <p:sp>
        <p:nvSpPr>
          <p:cNvPr id="3" name="Footer Placeholder 2"/>
          <p:cNvSpPr>
            <a:spLocks noGrp="1"/>
          </p:cNvSpPr>
          <p:nvPr>
            <p:ph type="ftr" sz="quarter" idx="11"/>
          </p:nvPr>
        </p:nvSpPr>
        <p:spPr/>
        <p:txBody>
          <a:bodyPr/>
          <a:lstStyle/>
          <a:p>
            <a:endParaRPr lang="th-TH"/>
          </a:p>
        </p:txBody>
      </p:sp>
      <p:sp>
        <p:nvSpPr>
          <p:cNvPr id="4" name="Slide Number Placeholder 3"/>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3709068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31"/>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8F131ED-A080-41C8-AF11-1F2844E63701}" type="datetimeFigureOut">
              <a:rPr lang="th-TH" smtClean="0"/>
              <a:t>16/02/67</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709647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31"/>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8F131ED-A080-41C8-AF11-1F2844E63701}" type="datetimeFigureOut">
              <a:rPr lang="th-TH" smtClean="0"/>
              <a:t>16/02/67</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552879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31ED-A080-41C8-AF11-1F2844E63701}" type="datetimeFigureOut">
              <a:rPr lang="th-TH" smtClean="0"/>
              <a:t>16/02/67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051921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31ED-A080-41C8-AF11-1F2844E63701}" type="datetimeFigureOut">
              <a:rPr lang="th-TH" smtClean="0"/>
              <a:t>16/02/67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3727164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US"/>
              <a:t>Edit Master text styles</a:t>
            </a: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8A77BEC-1DC1-4B56-A5D2-847ABAFA0A20}" type="slidenum">
              <a:rPr lang="th-TH" smtClean="0"/>
              <a:t>‹#›</a:t>
            </a:fld>
            <a:endParaRPr lang="th-TH"/>
          </a:p>
        </p:txBody>
      </p:sp>
    </p:spTree>
    <p:extLst>
      <p:ext uri="{BB962C8B-B14F-4D97-AF65-F5344CB8AC3E}">
        <p14:creationId xmlns:p14="http://schemas.microsoft.com/office/powerpoint/2010/main" val="183905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8654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358781"/>
            <a:ext cx="10515600" cy="501638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492871"/>
            <a:ext cx="2743200" cy="228610"/>
          </a:xfrm>
          <a:prstGeom prst="rect">
            <a:avLst/>
          </a:prstGeom>
        </p:spPr>
        <p:txBody>
          <a:bodyPr vert="horz" lIns="91440" tIns="45720" rIns="91440" bIns="45720" rtlCol="0" anchor="ctr"/>
          <a:lstStyle>
            <a:lvl1pPr algn="l">
              <a:defRPr sz="1000">
                <a:solidFill>
                  <a:schemeClr val="tx1">
                    <a:tint val="75000"/>
                  </a:schemeClr>
                </a:solidFill>
                <a:latin typeface="Sarabun Light" panose="00000400000000000000" pitchFamily="2" charset="-34"/>
                <a:cs typeface="Sarabun Light" panose="00000400000000000000" pitchFamily="2" charset="-34"/>
              </a:defRPr>
            </a:lvl1pPr>
          </a:lstStyle>
          <a:p>
            <a:fld id="{18F131ED-A080-41C8-AF11-1F2844E63701}" type="datetimeFigureOut">
              <a:rPr lang="th-TH" smtClean="0"/>
              <a:pPr/>
              <a:t>16/02/67</a:t>
            </a:fld>
            <a:endParaRPr lang="th-TH"/>
          </a:p>
        </p:txBody>
      </p:sp>
      <p:sp>
        <p:nvSpPr>
          <p:cNvPr id="5" name="Footer Placeholder 4"/>
          <p:cNvSpPr>
            <a:spLocks noGrp="1"/>
          </p:cNvSpPr>
          <p:nvPr>
            <p:ph type="ftr" sz="quarter" idx="3"/>
          </p:nvPr>
        </p:nvSpPr>
        <p:spPr>
          <a:xfrm>
            <a:off x="4038600" y="6492871"/>
            <a:ext cx="4114800" cy="228610"/>
          </a:xfrm>
          <a:prstGeom prst="rect">
            <a:avLst/>
          </a:prstGeom>
        </p:spPr>
        <p:txBody>
          <a:bodyPr vert="horz" lIns="91440" tIns="45720" rIns="91440" bIns="45720" rtlCol="0" anchor="ctr"/>
          <a:lstStyle>
            <a:lvl1pPr algn="ctr">
              <a:defRPr sz="1000">
                <a:solidFill>
                  <a:schemeClr val="tx1">
                    <a:tint val="75000"/>
                  </a:schemeClr>
                </a:solidFill>
                <a:latin typeface="Sarabun Light" panose="00000400000000000000" pitchFamily="2" charset="-34"/>
                <a:cs typeface="Sarabun Light" panose="00000400000000000000" pitchFamily="2" charset="-34"/>
              </a:defRPr>
            </a:lvl1pPr>
          </a:lstStyle>
          <a:p>
            <a:endParaRPr lang="th-TH"/>
          </a:p>
        </p:txBody>
      </p:sp>
      <p:sp>
        <p:nvSpPr>
          <p:cNvPr id="6" name="Slide Number Placeholder 5"/>
          <p:cNvSpPr>
            <a:spLocks noGrp="1"/>
          </p:cNvSpPr>
          <p:nvPr>
            <p:ph type="sldNum" sz="quarter" idx="4"/>
          </p:nvPr>
        </p:nvSpPr>
        <p:spPr>
          <a:xfrm>
            <a:off x="8610600" y="6492871"/>
            <a:ext cx="2743200" cy="228610"/>
          </a:xfrm>
          <a:prstGeom prst="rect">
            <a:avLst/>
          </a:prstGeom>
        </p:spPr>
        <p:txBody>
          <a:bodyPr vert="horz" lIns="91440" tIns="45720" rIns="91440" bIns="45720" rtlCol="0" anchor="ctr"/>
          <a:lstStyle>
            <a:lvl1pPr algn="r">
              <a:defRPr sz="1000">
                <a:solidFill>
                  <a:schemeClr val="tx1">
                    <a:tint val="75000"/>
                  </a:schemeClr>
                </a:solidFill>
                <a:latin typeface="Sarabun Light" panose="00000400000000000000" pitchFamily="2" charset="-34"/>
                <a:cs typeface="Sarabun Light" panose="00000400000000000000" pitchFamily="2" charset="-34"/>
              </a:defRPr>
            </a:lvl1pPr>
          </a:lstStyle>
          <a:p>
            <a:fld id="{18A77BEC-1DC1-4B56-A5D2-847ABAFA0A20}" type="slidenum">
              <a:rPr lang="th-TH" smtClean="0"/>
              <a:pPr/>
              <a:t>‹#›</a:t>
            </a:fld>
            <a:endParaRPr lang="th-TH"/>
          </a:p>
        </p:txBody>
      </p:sp>
    </p:spTree>
    <p:extLst>
      <p:ext uri="{BB962C8B-B14F-4D97-AF65-F5344CB8AC3E}">
        <p14:creationId xmlns:p14="http://schemas.microsoft.com/office/powerpoint/2010/main" val="6028885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3600" b="0" kern="1200">
          <a:solidFill>
            <a:srgbClr val="FFC000"/>
          </a:solidFill>
          <a:latin typeface="Sarabun" panose="00000500000000000000" pitchFamily="2" charset="-34"/>
          <a:ea typeface="+mj-ea"/>
          <a:cs typeface="Sarabun" panose="00000500000000000000" pitchFamily="2" charset="-34"/>
        </a:defRPr>
      </a:lvl1pPr>
    </p:titleStyle>
    <p:bodyStyle>
      <a:lvl1pPr marL="228600" indent="-228600" algn="l" defTabSz="914400" rtl="0" eaLnBrk="1" latinLnBrk="0" hangingPunct="1">
        <a:lnSpc>
          <a:spcPct val="135000"/>
        </a:lnSpc>
        <a:spcBef>
          <a:spcPts val="1000"/>
        </a:spcBef>
        <a:buFont typeface="Arial" panose="020B0604020202020204" pitchFamily="34" charset="0"/>
        <a:buChar char="•"/>
        <a:defRPr sz="2800" kern="1200">
          <a:solidFill>
            <a:schemeClr val="tx1"/>
          </a:solidFill>
          <a:latin typeface="+mj-lt"/>
          <a:ea typeface="+mn-ea"/>
          <a:cs typeface="Sarabun Light" panose="00000400000000000000" pitchFamily="2" charset="-34"/>
        </a:defRPr>
      </a:lvl1pPr>
      <a:lvl2pPr marL="685800" indent="-228600" algn="l" defTabSz="914400" rtl="0" eaLnBrk="1" latinLnBrk="0" hangingPunct="1">
        <a:lnSpc>
          <a:spcPct val="135000"/>
        </a:lnSpc>
        <a:spcBef>
          <a:spcPts val="500"/>
        </a:spcBef>
        <a:buFont typeface="Arial" panose="020B0604020202020204" pitchFamily="34" charset="0"/>
        <a:buChar char="•"/>
        <a:defRPr sz="2400" kern="1200">
          <a:solidFill>
            <a:schemeClr val="tx1"/>
          </a:solidFill>
          <a:latin typeface="+mj-lt"/>
          <a:ea typeface="+mn-ea"/>
          <a:cs typeface="Sarabun Light" panose="00000400000000000000" pitchFamily="2" charset="-34"/>
        </a:defRPr>
      </a:lvl2pPr>
      <a:lvl3pPr marL="1143000" indent="-228600" algn="l" defTabSz="914400" rtl="0" eaLnBrk="1" latinLnBrk="0" hangingPunct="1">
        <a:lnSpc>
          <a:spcPct val="135000"/>
        </a:lnSpc>
        <a:spcBef>
          <a:spcPts val="500"/>
        </a:spcBef>
        <a:buFont typeface="Arial" panose="020B0604020202020204" pitchFamily="34" charset="0"/>
        <a:buChar char="•"/>
        <a:defRPr sz="2000" kern="1200">
          <a:solidFill>
            <a:schemeClr val="tx1"/>
          </a:solidFill>
          <a:latin typeface="+mj-lt"/>
          <a:ea typeface="+mn-ea"/>
          <a:cs typeface="Sarabun Light" panose="00000400000000000000" pitchFamily="2" charset="-34"/>
        </a:defRPr>
      </a:lvl3pPr>
      <a:lvl4pPr marL="1600200" indent="-228600" algn="l" defTabSz="914400" rtl="0" eaLnBrk="1" latinLnBrk="0" hangingPunct="1">
        <a:lnSpc>
          <a:spcPct val="135000"/>
        </a:lnSpc>
        <a:spcBef>
          <a:spcPts val="500"/>
        </a:spcBef>
        <a:buFont typeface="Arial" panose="020B0604020202020204" pitchFamily="34" charset="0"/>
        <a:buChar char="•"/>
        <a:defRPr sz="1800" kern="1200">
          <a:solidFill>
            <a:schemeClr val="tx1"/>
          </a:solidFill>
          <a:latin typeface="+mj-lt"/>
          <a:ea typeface="+mn-ea"/>
          <a:cs typeface="Sarabun Light" panose="00000400000000000000" pitchFamily="2" charset="-34"/>
        </a:defRPr>
      </a:lvl4pPr>
      <a:lvl5pPr marL="2057400" indent="-228600" algn="l" defTabSz="914400" rtl="0" eaLnBrk="1" latinLnBrk="0" hangingPunct="1">
        <a:lnSpc>
          <a:spcPct val="135000"/>
        </a:lnSpc>
        <a:spcBef>
          <a:spcPts val="500"/>
        </a:spcBef>
        <a:buFont typeface="Arial" panose="020B0604020202020204" pitchFamily="34" charset="0"/>
        <a:buChar char="•"/>
        <a:defRPr sz="1800" kern="1200">
          <a:solidFill>
            <a:schemeClr val="tx1"/>
          </a:solidFill>
          <a:latin typeface="+mj-lt"/>
          <a:ea typeface="+mn-ea"/>
          <a:cs typeface="Sarabun Light" panose="00000400000000000000" pitchFamily="2"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09A5-429B-44CE-B03F-85F5C7CA9B8D}"/>
              </a:ext>
            </a:extLst>
          </p:cNvPr>
          <p:cNvSpPr>
            <a:spLocks noGrp="1"/>
          </p:cNvSpPr>
          <p:nvPr>
            <p:ph type="ctrTitle"/>
          </p:nvPr>
        </p:nvSpPr>
        <p:spPr/>
        <p:txBody>
          <a:bodyPr/>
          <a:lstStyle/>
          <a:p>
            <a:r>
              <a:rPr lang="en-US" dirty="0"/>
              <a:t>Hash Table</a:t>
            </a:r>
            <a:endParaRPr lang="th-TH" dirty="0"/>
          </a:p>
        </p:txBody>
      </p:sp>
      <p:sp>
        <p:nvSpPr>
          <p:cNvPr id="3" name="Subtitle 2">
            <a:extLst>
              <a:ext uri="{FF2B5EF4-FFF2-40B4-BE49-F238E27FC236}">
                <a16:creationId xmlns:a16="http://schemas.microsoft.com/office/drawing/2014/main" id="{AACDDFEF-594A-404E-8299-04659F06F7EA}"/>
              </a:ext>
            </a:extLst>
          </p:cNvPr>
          <p:cNvSpPr>
            <a:spLocks noGrp="1"/>
          </p:cNvSpPr>
          <p:nvPr>
            <p:ph type="subTitle" idx="1"/>
          </p:nvPr>
        </p:nvSpPr>
        <p:spPr/>
        <p:txBody>
          <a:bodyPr/>
          <a:lstStyle/>
          <a:p>
            <a:r>
              <a:rPr lang="en-US" dirty="0"/>
              <a:t>CP::</a:t>
            </a:r>
            <a:r>
              <a:rPr lang="en-US" dirty="0" err="1"/>
              <a:t>unordered_map</a:t>
            </a:r>
            <a:r>
              <a:rPr lang="en-US" dirty="0"/>
              <a:t> </a:t>
            </a:r>
          </a:p>
          <a:p>
            <a:r>
              <a:rPr lang="en-US" dirty="0"/>
              <a:t>A map with faster find but has no ordering</a:t>
            </a:r>
            <a:endParaRPr lang="th-TH" dirty="0"/>
          </a:p>
        </p:txBody>
      </p:sp>
      <p:sp>
        <p:nvSpPr>
          <p:cNvPr id="4" name="TextBox 3">
            <a:extLst>
              <a:ext uri="{FF2B5EF4-FFF2-40B4-BE49-F238E27FC236}">
                <a16:creationId xmlns:a16="http://schemas.microsoft.com/office/drawing/2014/main" id="{3DF9B8DE-8DD9-4D53-81F5-15A857603A3D}"/>
              </a:ext>
            </a:extLst>
          </p:cNvPr>
          <p:cNvSpPr txBox="1"/>
          <p:nvPr/>
        </p:nvSpPr>
        <p:spPr>
          <a:xfrm>
            <a:off x="0" y="6334780"/>
            <a:ext cx="12192000" cy="523220"/>
          </a:xfrm>
          <a:prstGeom prst="rect">
            <a:avLst/>
          </a:prstGeom>
          <a:solidFill>
            <a:srgbClr val="FFC000"/>
          </a:solidFill>
        </p:spPr>
        <p:txBody>
          <a:bodyPr wrap="square" rtlCol="0">
            <a:spAutoFit/>
          </a:bodyPr>
          <a:lstStyle/>
          <a:p>
            <a:r>
              <a:rPr lang="en-US" dirty="0">
                <a:solidFill>
                  <a:schemeClr val="bg1"/>
                </a:solidFill>
                <a:latin typeface="Corbel" panose="020B0503020204020204" pitchFamily="34" charset="0"/>
              </a:rPr>
              <a:t>Nattee Niparnan</a:t>
            </a:r>
            <a:endParaRPr lang="th-TH" dirty="0">
              <a:solidFill>
                <a:schemeClr val="bg1"/>
              </a:solidFill>
              <a:latin typeface="Corbel" panose="020B0503020204020204" pitchFamily="34" charset="0"/>
            </a:endParaRPr>
          </a:p>
        </p:txBody>
      </p:sp>
    </p:spTree>
    <p:extLst>
      <p:ext uri="{BB962C8B-B14F-4D97-AF65-F5344CB8AC3E}">
        <p14:creationId xmlns:p14="http://schemas.microsoft.com/office/powerpoint/2010/main" val="43264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396FA-3A13-432A-99DB-21593EB41F87}"/>
              </a:ext>
            </a:extLst>
          </p:cNvPr>
          <p:cNvSpPr>
            <a:spLocks noGrp="1"/>
          </p:cNvSpPr>
          <p:nvPr>
            <p:ph type="title"/>
          </p:nvPr>
        </p:nvSpPr>
        <p:spPr/>
        <p:txBody>
          <a:bodyPr/>
          <a:lstStyle/>
          <a:p>
            <a:r>
              <a:rPr lang="en-US"/>
              <a:t>Overview</a:t>
            </a:r>
            <a:endParaRPr lang="th-TH" dirty="0"/>
          </a:p>
        </p:txBody>
      </p:sp>
      <p:sp>
        <p:nvSpPr>
          <p:cNvPr id="3" name="Content Placeholder 2">
            <a:extLst>
              <a:ext uri="{FF2B5EF4-FFF2-40B4-BE49-F238E27FC236}">
                <a16:creationId xmlns:a16="http://schemas.microsoft.com/office/drawing/2014/main" id="{12F6FC46-0E46-4DCA-BEDD-5B6B4CE34468}"/>
              </a:ext>
            </a:extLst>
          </p:cNvPr>
          <p:cNvSpPr>
            <a:spLocks noGrp="1"/>
          </p:cNvSpPr>
          <p:nvPr>
            <p:ph idx="1"/>
          </p:nvPr>
        </p:nvSpPr>
        <p:spPr>
          <a:xfrm>
            <a:off x="838200" y="1358781"/>
            <a:ext cx="10515600" cy="4576193"/>
          </a:xfrm>
        </p:spPr>
        <p:txBody>
          <a:bodyPr>
            <a:normAutofit fontScale="62500" lnSpcReduction="20000"/>
          </a:bodyPr>
          <a:lstStyle/>
          <a:p>
            <a:pPr>
              <a:lnSpc>
                <a:spcPct val="130000"/>
              </a:lnSpc>
            </a:pPr>
            <a:r>
              <a:rPr lang="en-US" dirty="0">
                <a:latin typeface="Sarabun ExtraLight" panose="00000300000000000000" pitchFamily="2" charset="-34"/>
                <a:cs typeface="Sarabun ExtraLight" panose="00000300000000000000" pitchFamily="2" charset="-34"/>
              </a:rPr>
              <a:t>Binary Search Tree (and AVL) utilizes the fact that the data is sorted by the structure. This helps finding where we keep the data by narrowing down the searching area of the structure.</a:t>
            </a:r>
          </a:p>
          <a:p>
            <a:pPr lvl="1">
              <a:lnSpc>
                <a:spcPct val="130000"/>
              </a:lnSpc>
            </a:pPr>
            <a:r>
              <a:rPr lang="en-US" dirty="0">
                <a:latin typeface="Sarabun ExtraLight" panose="00000300000000000000" pitchFamily="2" charset="-34"/>
                <a:cs typeface="Sarabun ExtraLight" panose="00000300000000000000" pitchFamily="2" charset="-34"/>
              </a:rPr>
              <a:t>However, we still have to check, for about O(log n), position</a:t>
            </a:r>
          </a:p>
          <a:p>
            <a:pPr lvl="1">
              <a:lnSpc>
                <a:spcPct val="130000"/>
              </a:lnSpc>
            </a:pPr>
            <a:r>
              <a:rPr lang="en-US" dirty="0">
                <a:latin typeface="Sarabun ExtraLight" panose="00000300000000000000" pitchFamily="2" charset="-34"/>
                <a:cs typeface="Sarabun ExtraLight" panose="00000300000000000000" pitchFamily="2" charset="-34"/>
              </a:rPr>
              <a:t>We also get sorting of the data as a by-product. Traversing the tree (using in-order traversal) access the data in sorted order.</a:t>
            </a:r>
          </a:p>
          <a:p>
            <a:pPr>
              <a:lnSpc>
                <a:spcPct val="130000"/>
              </a:lnSpc>
            </a:pPr>
            <a:r>
              <a:rPr lang="en-US" dirty="0">
                <a:latin typeface="Sarabun ExtraLight" panose="00000300000000000000" pitchFamily="2" charset="-34"/>
                <a:cs typeface="Sarabun ExtraLight" panose="00000300000000000000" pitchFamily="2" charset="-34"/>
              </a:rPr>
              <a:t>Hash table aims to </a:t>
            </a:r>
            <a:r>
              <a:rPr lang="en-US" dirty="0">
                <a:solidFill>
                  <a:schemeClr val="accent5"/>
                </a:solidFill>
                <a:latin typeface="Sarabun ExtraLight" panose="00000300000000000000" pitchFamily="2" charset="-34"/>
                <a:cs typeface="Sarabun ExtraLight" panose="00000300000000000000" pitchFamily="2" charset="-34"/>
              </a:rPr>
              <a:t>reduces this checking further down </a:t>
            </a:r>
            <a:r>
              <a:rPr lang="en-US" dirty="0">
                <a:latin typeface="Sarabun ExtraLight" panose="00000300000000000000" pitchFamily="2" charset="-34"/>
                <a:cs typeface="Sarabun ExtraLight" panose="00000300000000000000" pitchFamily="2" charset="-34"/>
              </a:rPr>
              <a:t>but </a:t>
            </a:r>
            <a:r>
              <a:rPr lang="en-US" dirty="0">
                <a:solidFill>
                  <a:schemeClr val="accent2"/>
                </a:solidFill>
                <a:latin typeface="Sarabun ExtraLight" panose="00000300000000000000" pitchFamily="2" charset="-34"/>
                <a:cs typeface="Sarabun ExtraLight" panose="00000300000000000000" pitchFamily="2" charset="-34"/>
              </a:rPr>
              <a:t>give up the ordering of the data </a:t>
            </a:r>
            <a:r>
              <a:rPr lang="en-US" dirty="0">
                <a:latin typeface="Sarabun ExtraLight" panose="00000300000000000000" pitchFamily="2" charset="-34"/>
                <a:cs typeface="Sarabun ExtraLight" panose="00000300000000000000" pitchFamily="2" charset="-34"/>
              </a:rPr>
              <a:t>(and some more overhead cost in iteration of all data)</a:t>
            </a:r>
          </a:p>
          <a:p>
            <a:pPr>
              <a:lnSpc>
                <a:spcPct val="130000"/>
              </a:lnSpc>
            </a:pPr>
            <a:r>
              <a:rPr lang="en-US" dirty="0">
                <a:latin typeface="Sarabun ExtraLight" panose="00000300000000000000" pitchFamily="2" charset="-34"/>
                <a:cs typeface="Sarabun ExtraLight" panose="00000300000000000000" pitchFamily="2" charset="-34"/>
              </a:rPr>
              <a:t>Hash Table use</a:t>
            </a:r>
            <a:r>
              <a:rPr lang="th-TH" dirty="0">
                <a:latin typeface="Sarabun ExtraLight" panose="00000300000000000000" pitchFamily="2" charset="-34"/>
                <a:cs typeface="Sarabun ExtraLight" panose="00000300000000000000" pitchFamily="2" charset="-34"/>
              </a:rPr>
              <a:t>ห</a:t>
            </a:r>
            <a:r>
              <a:rPr lang="en-US" dirty="0">
                <a:latin typeface="Sarabun ExtraLight" panose="00000300000000000000" pitchFamily="2" charset="-34"/>
                <a:cs typeface="Sarabun ExtraLight" panose="00000300000000000000" pitchFamily="2" charset="-34"/>
              </a:rPr>
              <a:t> a </a:t>
            </a:r>
            <a:r>
              <a:rPr lang="en-US" dirty="0">
                <a:solidFill>
                  <a:schemeClr val="accent4"/>
                </a:solidFill>
                <a:latin typeface="Sarabun ExtraLight" panose="00000300000000000000" pitchFamily="2" charset="-34"/>
                <a:cs typeface="Sarabun ExtraLight" panose="00000300000000000000" pitchFamily="2" charset="-34"/>
              </a:rPr>
              <a:t>Hash Function (h) </a:t>
            </a:r>
            <a:r>
              <a:rPr lang="en-US" dirty="0">
                <a:latin typeface="Sarabun ExtraLight" panose="00000300000000000000" pitchFamily="2" charset="-34"/>
                <a:cs typeface="Sarabun ExtraLight" panose="00000300000000000000" pitchFamily="2" charset="-34"/>
              </a:rPr>
              <a:t>to </a:t>
            </a:r>
            <a:r>
              <a:rPr lang="en-US" dirty="0">
                <a:solidFill>
                  <a:schemeClr val="accent3"/>
                </a:solidFill>
                <a:latin typeface="Sarabun ExtraLight" panose="00000300000000000000" pitchFamily="2" charset="-34"/>
                <a:cs typeface="Sarabun ExtraLight" panose="00000300000000000000" pitchFamily="2" charset="-34"/>
              </a:rPr>
              <a:t>map a single data value to a unique position</a:t>
            </a:r>
            <a:r>
              <a:rPr lang="en-US" dirty="0">
                <a:latin typeface="Sarabun ExtraLight" panose="00000300000000000000" pitchFamily="2" charset="-34"/>
                <a:cs typeface="Sarabun ExtraLight" panose="00000300000000000000" pitchFamily="2" charset="-34"/>
              </a:rPr>
              <a:t>. An array </a:t>
            </a:r>
            <a:r>
              <a:rPr lang="en-US" dirty="0">
                <a:solidFill>
                  <a:schemeClr val="accent6"/>
                </a:solidFill>
                <a:latin typeface="Sarabun ExtraLight" panose="00000300000000000000" pitchFamily="2" charset="-34"/>
                <a:cs typeface="Sarabun ExtraLight" panose="00000300000000000000" pitchFamily="2" charset="-34"/>
              </a:rPr>
              <a:t>T</a:t>
            </a:r>
            <a:r>
              <a:rPr lang="en-US" dirty="0">
                <a:latin typeface="Sarabun ExtraLight" panose="00000300000000000000" pitchFamily="2" charset="-34"/>
                <a:cs typeface="Sarabun ExtraLight" panose="00000300000000000000" pitchFamily="2" charset="-34"/>
              </a:rPr>
              <a:t> is created to store a data </a:t>
            </a:r>
            <a:r>
              <a:rPr lang="en-US" dirty="0">
                <a:solidFill>
                  <a:schemeClr val="accent6"/>
                </a:solidFill>
                <a:latin typeface="Sarabun ExtraLight" panose="00000300000000000000" pitchFamily="2" charset="-34"/>
                <a:cs typeface="Sarabun ExtraLight" panose="00000300000000000000" pitchFamily="2" charset="-34"/>
              </a:rPr>
              <a:t>x</a:t>
            </a:r>
            <a:r>
              <a:rPr lang="en-US" dirty="0">
                <a:latin typeface="Sarabun ExtraLight" panose="00000300000000000000" pitchFamily="2" charset="-34"/>
                <a:cs typeface="Sarabun ExtraLight" panose="00000300000000000000" pitchFamily="2" charset="-34"/>
              </a:rPr>
              <a:t> by saying that the data </a:t>
            </a:r>
            <a:r>
              <a:rPr lang="en-US" dirty="0">
                <a:solidFill>
                  <a:schemeClr val="accent6"/>
                </a:solidFill>
                <a:latin typeface="Sarabun ExtraLight" panose="00000300000000000000" pitchFamily="2" charset="-34"/>
                <a:cs typeface="Sarabun ExtraLight" panose="00000300000000000000" pitchFamily="2" charset="-34"/>
              </a:rPr>
              <a:t>x</a:t>
            </a:r>
            <a:r>
              <a:rPr lang="en-US" dirty="0">
                <a:latin typeface="Sarabun ExtraLight" panose="00000300000000000000" pitchFamily="2" charset="-34"/>
                <a:cs typeface="Sarabun ExtraLight" panose="00000300000000000000" pitchFamily="2" charset="-34"/>
              </a:rPr>
              <a:t> must be at position T[</a:t>
            </a:r>
            <a:r>
              <a:rPr lang="en-US" dirty="0">
                <a:solidFill>
                  <a:schemeClr val="accent4"/>
                </a:solidFill>
                <a:latin typeface="Sarabun ExtraLight" panose="00000300000000000000" pitchFamily="2" charset="-34"/>
                <a:cs typeface="Sarabun ExtraLight" panose="00000300000000000000" pitchFamily="2" charset="-34"/>
              </a:rPr>
              <a:t>h(x)] </a:t>
            </a:r>
            <a:r>
              <a:rPr lang="en-US" dirty="0">
                <a:latin typeface="Sarabun ExtraLight" panose="00000300000000000000" pitchFamily="2" charset="-34"/>
                <a:cs typeface="Sarabun ExtraLight" panose="00000300000000000000" pitchFamily="2" charset="-34"/>
              </a:rPr>
              <a:t>only.</a:t>
            </a:r>
          </a:p>
          <a:p>
            <a:pPr lvl="1">
              <a:lnSpc>
                <a:spcPct val="130000"/>
              </a:lnSpc>
            </a:pPr>
            <a:r>
              <a:rPr lang="en-US" dirty="0">
                <a:latin typeface="Sarabun ExtraLight" panose="00000300000000000000" pitchFamily="2" charset="-34"/>
                <a:cs typeface="Sarabun ExtraLight" panose="00000300000000000000" pitchFamily="2" charset="-34"/>
              </a:rPr>
              <a:t>The function h depends on the type and range of value of the data to be stored</a:t>
            </a:r>
          </a:p>
          <a:p>
            <a:pPr lvl="1">
              <a:lnSpc>
                <a:spcPct val="130000"/>
              </a:lnSpc>
            </a:pPr>
            <a:r>
              <a:rPr lang="en-US" dirty="0">
                <a:latin typeface="Sarabun ExtraLight" panose="00000300000000000000" pitchFamily="2" charset="-34"/>
                <a:cs typeface="Sarabun ExtraLight" panose="00000300000000000000" pitchFamily="2" charset="-34"/>
              </a:rPr>
              <a:t>The function h maps any possible value of data to position in T. Ideally, h should be 1-to-1 and onto and the co-domain of h should be {0,...,n-1}. This is called a perfect hash function.</a:t>
            </a:r>
          </a:p>
          <a:p>
            <a:pPr lvl="1">
              <a:lnSpc>
                <a:spcPct val="130000"/>
              </a:lnSpc>
            </a:pPr>
            <a:r>
              <a:rPr lang="en-US" dirty="0">
                <a:latin typeface="Sarabun ExtraLight" panose="00000300000000000000" pitchFamily="2" charset="-34"/>
                <a:cs typeface="Sarabun ExtraLight" panose="00000300000000000000" pitchFamily="2" charset="-34"/>
              </a:rPr>
              <a:t>We will see that a perfect hash is hardly possible in practice, and we have to fix it somehow.</a:t>
            </a:r>
            <a:endParaRPr lang="th-TH" dirty="0">
              <a:latin typeface="Sarabun ExtraLight" panose="00000300000000000000" pitchFamily="2" charset="-34"/>
              <a:cs typeface="Sarabun ExtraLight" panose="00000300000000000000" pitchFamily="2" charset="-34"/>
            </a:endParaRPr>
          </a:p>
        </p:txBody>
      </p:sp>
    </p:spTree>
    <p:extLst>
      <p:ext uri="{BB962C8B-B14F-4D97-AF65-F5344CB8AC3E}">
        <p14:creationId xmlns:p14="http://schemas.microsoft.com/office/powerpoint/2010/main" val="311102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D854-D073-038C-1C36-D18358FD704D}"/>
              </a:ext>
            </a:extLst>
          </p:cNvPr>
          <p:cNvSpPr>
            <a:spLocks noGrp="1"/>
          </p:cNvSpPr>
          <p:nvPr>
            <p:ph type="title"/>
          </p:nvPr>
        </p:nvSpPr>
        <p:spPr/>
        <p:txBody>
          <a:bodyPr/>
          <a:lstStyle/>
          <a:p>
            <a:r>
              <a:rPr lang="en-US" dirty="0"/>
              <a:t>Perfect Hash Example: The Structure</a:t>
            </a:r>
          </a:p>
        </p:txBody>
      </p:sp>
      <p:sp>
        <p:nvSpPr>
          <p:cNvPr id="3" name="Content Placeholder 2">
            <a:extLst>
              <a:ext uri="{FF2B5EF4-FFF2-40B4-BE49-F238E27FC236}">
                <a16:creationId xmlns:a16="http://schemas.microsoft.com/office/drawing/2014/main" id="{3E227FBB-2C23-A530-56C2-69D83F786FC7}"/>
              </a:ext>
            </a:extLst>
          </p:cNvPr>
          <p:cNvSpPr>
            <a:spLocks noGrp="1"/>
          </p:cNvSpPr>
          <p:nvPr>
            <p:ph idx="1"/>
          </p:nvPr>
        </p:nvSpPr>
        <p:spPr>
          <a:xfrm>
            <a:off x="838200" y="1358781"/>
            <a:ext cx="8091985" cy="4290277"/>
          </a:xfrm>
        </p:spPr>
        <p:txBody>
          <a:bodyPr>
            <a:normAutofit fontScale="85000" lnSpcReduction="20000"/>
          </a:bodyPr>
          <a:lstStyle/>
          <a:p>
            <a:r>
              <a:rPr lang="en-US" dirty="0"/>
              <a:t>Assume that the data we wish to store are only lower English character ‘a’ to ‘z’.</a:t>
            </a:r>
          </a:p>
          <a:p>
            <a:r>
              <a:rPr lang="en-US" dirty="0"/>
              <a:t>We define a </a:t>
            </a:r>
            <a:r>
              <a:rPr lang="en-US" dirty="0">
                <a:solidFill>
                  <a:schemeClr val="accent4"/>
                </a:solidFill>
              </a:rPr>
              <a:t>hash function h(c) </a:t>
            </a:r>
            <a:r>
              <a:rPr lang="en-US" dirty="0"/>
              <a:t>that maps ‘a’ to 0, ‘b’ to 1, …, and ‘z’ to 25. The range of the function is 0 to 25 and we can clearly see that </a:t>
            </a:r>
            <a:r>
              <a:rPr lang="en-US" dirty="0">
                <a:solidFill>
                  <a:schemeClr val="accent4"/>
                </a:solidFill>
              </a:rPr>
              <a:t>h(c)</a:t>
            </a:r>
            <a:r>
              <a:rPr lang="en-US" dirty="0"/>
              <a:t> is </a:t>
            </a:r>
            <a:r>
              <a:rPr lang="en-US" dirty="0">
                <a:solidFill>
                  <a:schemeClr val="accent3"/>
                </a:solidFill>
              </a:rPr>
              <a:t>1-to-1</a:t>
            </a:r>
            <a:r>
              <a:rPr lang="en-US" dirty="0"/>
              <a:t> and </a:t>
            </a:r>
            <a:r>
              <a:rPr lang="en-US" dirty="0">
                <a:solidFill>
                  <a:schemeClr val="accent6"/>
                </a:solidFill>
              </a:rPr>
              <a:t>onto</a:t>
            </a:r>
          </a:p>
          <a:p>
            <a:r>
              <a:rPr lang="en-US" dirty="0"/>
              <a:t>Since </a:t>
            </a:r>
            <a:r>
              <a:rPr lang="en-US" dirty="0">
                <a:solidFill>
                  <a:schemeClr val="accent4"/>
                </a:solidFill>
              </a:rPr>
              <a:t>h(c)</a:t>
            </a:r>
            <a:r>
              <a:rPr lang="en-US" dirty="0"/>
              <a:t> has 26 possible value (0 to 25), the table T must be created with 26 slots (T[0] to T[25])</a:t>
            </a:r>
          </a:p>
          <a:p>
            <a:pPr lvl="1"/>
            <a:r>
              <a:rPr lang="en-US" dirty="0"/>
              <a:t>For now, consider T[</a:t>
            </a:r>
            <a:r>
              <a:rPr lang="en-US" dirty="0" err="1"/>
              <a:t>i</a:t>
            </a:r>
            <a:r>
              <a:rPr lang="en-US" dirty="0"/>
              <a:t>] to be a Boolean where</a:t>
            </a:r>
            <a:br>
              <a:rPr lang="en-US" dirty="0"/>
            </a:br>
            <a:r>
              <a:rPr lang="en-US" dirty="0"/>
              <a:t>T[h(x)] = true means we have x in our structure.</a:t>
            </a:r>
          </a:p>
        </p:txBody>
      </p:sp>
      <p:graphicFrame>
        <p:nvGraphicFramePr>
          <p:cNvPr id="5" name="Table 4">
            <a:extLst>
              <a:ext uri="{FF2B5EF4-FFF2-40B4-BE49-F238E27FC236}">
                <a16:creationId xmlns:a16="http://schemas.microsoft.com/office/drawing/2014/main" id="{FDF62AFC-D08E-503C-ABC4-5C1D3734A93B}"/>
              </a:ext>
            </a:extLst>
          </p:cNvPr>
          <p:cNvGraphicFramePr>
            <a:graphicFrameLocks noGrp="1"/>
          </p:cNvGraphicFramePr>
          <p:nvPr>
            <p:extLst>
              <p:ext uri="{D42A27DB-BD31-4B8C-83A1-F6EECF244321}">
                <p14:modId xmlns:p14="http://schemas.microsoft.com/office/powerpoint/2010/main" val="175204216"/>
              </p:ext>
            </p:extLst>
          </p:nvPr>
        </p:nvGraphicFramePr>
        <p:xfrm>
          <a:off x="564778" y="5861191"/>
          <a:ext cx="8024094"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gridCol w="308619">
                  <a:extLst>
                    <a:ext uri="{9D8B030D-6E8A-4147-A177-3AD203B41FA5}">
                      <a16:colId xmlns:a16="http://schemas.microsoft.com/office/drawing/2014/main" val="734879894"/>
                    </a:ext>
                  </a:extLst>
                </a:gridCol>
                <a:gridCol w="308619">
                  <a:extLst>
                    <a:ext uri="{9D8B030D-6E8A-4147-A177-3AD203B41FA5}">
                      <a16:colId xmlns:a16="http://schemas.microsoft.com/office/drawing/2014/main" val="1718225167"/>
                    </a:ext>
                  </a:extLst>
                </a:gridCol>
                <a:gridCol w="308619">
                  <a:extLst>
                    <a:ext uri="{9D8B030D-6E8A-4147-A177-3AD203B41FA5}">
                      <a16:colId xmlns:a16="http://schemas.microsoft.com/office/drawing/2014/main" val="2249222071"/>
                    </a:ext>
                  </a:extLst>
                </a:gridCol>
                <a:gridCol w="308619">
                  <a:extLst>
                    <a:ext uri="{9D8B030D-6E8A-4147-A177-3AD203B41FA5}">
                      <a16:colId xmlns:a16="http://schemas.microsoft.com/office/drawing/2014/main" val="783484956"/>
                    </a:ext>
                  </a:extLst>
                </a:gridCol>
                <a:gridCol w="308619">
                  <a:extLst>
                    <a:ext uri="{9D8B030D-6E8A-4147-A177-3AD203B41FA5}">
                      <a16:colId xmlns:a16="http://schemas.microsoft.com/office/drawing/2014/main" val="1020178417"/>
                    </a:ext>
                  </a:extLst>
                </a:gridCol>
                <a:gridCol w="308619">
                  <a:extLst>
                    <a:ext uri="{9D8B030D-6E8A-4147-A177-3AD203B41FA5}">
                      <a16:colId xmlns:a16="http://schemas.microsoft.com/office/drawing/2014/main" val="702590050"/>
                    </a:ext>
                  </a:extLst>
                </a:gridCol>
                <a:gridCol w="308619">
                  <a:extLst>
                    <a:ext uri="{9D8B030D-6E8A-4147-A177-3AD203B41FA5}">
                      <a16:colId xmlns:a16="http://schemas.microsoft.com/office/drawing/2014/main" val="1129093301"/>
                    </a:ext>
                  </a:extLst>
                </a:gridCol>
                <a:gridCol w="308619">
                  <a:extLst>
                    <a:ext uri="{9D8B030D-6E8A-4147-A177-3AD203B41FA5}">
                      <a16:colId xmlns:a16="http://schemas.microsoft.com/office/drawing/2014/main" val="1122535512"/>
                    </a:ext>
                  </a:extLst>
                </a:gridCol>
                <a:gridCol w="308619">
                  <a:extLst>
                    <a:ext uri="{9D8B030D-6E8A-4147-A177-3AD203B41FA5}">
                      <a16:colId xmlns:a16="http://schemas.microsoft.com/office/drawing/2014/main" val="1636368460"/>
                    </a:ext>
                  </a:extLst>
                </a:gridCol>
                <a:gridCol w="308619">
                  <a:extLst>
                    <a:ext uri="{9D8B030D-6E8A-4147-A177-3AD203B41FA5}">
                      <a16:colId xmlns:a16="http://schemas.microsoft.com/office/drawing/2014/main" val="3976503248"/>
                    </a:ext>
                  </a:extLst>
                </a:gridCol>
                <a:gridCol w="308619">
                  <a:extLst>
                    <a:ext uri="{9D8B030D-6E8A-4147-A177-3AD203B41FA5}">
                      <a16:colId xmlns:a16="http://schemas.microsoft.com/office/drawing/2014/main" val="3261226377"/>
                    </a:ext>
                  </a:extLst>
                </a:gridCol>
                <a:gridCol w="308619">
                  <a:extLst>
                    <a:ext uri="{9D8B030D-6E8A-4147-A177-3AD203B41FA5}">
                      <a16:colId xmlns:a16="http://schemas.microsoft.com/office/drawing/2014/main" val="1622133109"/>
                    </a:ext>
                  </a:extLst>
                </a:gridCol>
                <a:gridCol w="308619">
                  <a:extLst>
                    <a:ext uri="{9D8B030D-6E8A-4147-A177-3AD203B41FA5}">
                      <a16:colId xmlns:a16="http://schemas.microsoft.com/office/drawing/2014/main" val="461339935"/>
                    </a:ext>
                  </a:extLst>
                </a:gridCol>
                <a:gridCol w="308619">
                  <a:extLst>
                    <a:ext uri="{9D8B030D-6E8A-4147-A177-3AD203B41FA5}">
                      <a16:colId xmlns:a16="http://schemas.microsoft.com/office/drawing/2014/main" val="1353370149"/>
                    </a:ext>
                  </a:extLst>
                </a:gridCol>
                <a:gridCol w="308619">
                  <a:extLst>
                    <a:ext uri="{9D8B030D-6E8A-4147-A177-3AD203B41FA5}">
                      <a16:colId xmlns:a16="http://schemas.microsoft.com/office/drawing/2014/main" val="1956899471"/>
                    </a:ext>
                  </a:extLst>
                </a:gridCol>
                <a:gridCol w="308619">
                  <a:extLst>
                    <a:ext uri="{9D8B030D-6E8A-4147-A177-3AD203B41FA5}">
                      <a16:colId xmlns:a16="http://schemas.microsoft.com/office/drawing/2014/main" val="1130090069"/>
                    </a:ext>
                  </a:extLst>
                </a:gridCol>
              </a:tblGrid>
              <a:tr h="155141">
                <a:tc>
                  <a:txBody>
                    <a:bodyPr/>
                    <a:lstStyle/>
                    <a:p>
                      <a:pPr algn="ctr"/>
                      <a:r>
                        <a:rPr lang="en-US" sz="1600" b="0" dirty="0"/>
                        <a:t>0</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2</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3</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4</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5</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6</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7</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8</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9</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10</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11</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12</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13</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14</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15</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16</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17</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18</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19</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20</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21</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22</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23</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24</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t>25</a:t>
                      </a:r>
                      <a:endParaRPr lang="th-TH" sz="1600" b="0" dirty="0"/>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6" name="Table 5">
            <a:extLst>
              <a:ext uri="{FF2B5EF4-FFF2-40B4-BE49-F238E27FC236}">
                <a16:creationId xmlns:a16="http://schemas.microsoft.com/office/drawing/2014/main" id="{4B21349E-E134-546A-1551-D38EAD23C287}"/>
              </a:ext>
            </a:extLst>
          </p:cNvPr>
          <p:cNvGraphicFramePr>
            <a:graphicFrameLocks noGrp="1"/>
          </p:cNvGraphicFramePr>
          <p:nvPr>
            <p:extLst>
              <p:ext uri="{D42A27DB-BD31-4B8C-83A1-F6EECF244321}">
                <p14:modId xmlns:p14="http://schemas.microsoft.com/office/powerpoint/2010/main" val="1832988443"/>
              </p:ext>
            </p:extLst>
          </p:nvPr>
        </p:nvGraphicFramePr>
        <p:xfrm>
          <a:off x="9251666" y="177353"/>
          <a:ext cx="1316252" cy="6246720"/>
        </p:xfrm>
        <a:graphic>
          <a:graphicData uri="http://schemas.openxmlformats.org/drawingml/2006/table">
            <a:tbl>
              <a:tblPr firstRow="1" bandRow="1">
                <a:tableStyleId>{17292A2E-F333-43FB-9621-5CBBE7FDCDCB}</a:tableStyleId>
              </a:tblPr>
              <a:tblGrid>
                <a:gridCol w="658126">
                  <a:extLst>
                    <a:ext uri="{9D8B030D-6E8A-4147-A177-3AD203B41FA5}">
                      <a16:colId xmlns:a16="http://schemas.microsoft.com/office/drawing/2014/main" val="1500797133"/>
                    </a:ext>
                  </a:extLst>
                </a:gridCol>
                <a:gridCol w="658126">
                  <a:extLst>
                    <a:ext uri="{9D8B030D-6E8A-4147-A177-3AD203B41FA5}">
                      <a16:colId xmlns:a16="http://schemas.microsoft.com/office/drawing/2014/main" val="4258367212"/>
                    </a:ext>
                  </a:extLst>
                </a:gridCol>
              </a:tblGrid>
              <a:tr h="224364">
                <a:tc>
                  <a:txBody>
                    <a:bodyPr/>
                    <a:lstStyle/>
                    <a:p>
                      <a:r>
                        <a:rPr lang="en-US" sz="1400" b="1" dirty="0"/>
                        <a:t>x</a:t>
                      </a:r>
                    </a:p>
                  </a:txBody>
                  <a:tcPr marT="0" marB="18000"/>
                </a:tc>
                <a:tc>
                  <a:txBody>
                    <a:bodyPr/>
                    <a:lstStyle/>
                    <a:p>
                      <a:r>
                        <a:rPr lang="en-US" sz="1400" b="1" dirty="0"/>
                        <a:t>H(x)</a:t>
                      </a:r>
                    </a:p>
                  </a:txBody>
                  <a:tcPr marT="0" marB="18000"/>
                </a:tc>
                <a:extLst>
                  <a:ext uri="{0D108BD9-81ED-4DB2-BD59-A6C34878D82A}">
                    <a16:rowId xmlns:a16="http://schemas.microsoft.com/office/drawing/2014/main" val="2826415541"/>
                  </a:ext>
                </a:extLst>
              </a:tr>
              <a:tr h="224364">
                <a:tc>
                  <a:txBody>
                    <a:bodyPr/>
                    <a:lstStyle/>
                    <a:p>
                      <a:r>
                        <a:rPr lang="en-US" sz="1400" dirty="0"/>
                        <a:t>a</a:t>
                      </a:r>
                    </a:p>
                  </a:txBody>
                  <a:tcPr marT="0" marB="18000"/>
                </a:tc>
                <a:tc>
                  <a:txBody>
                    <a:bodyPr/>
                    <a:lstStyle/>
                    <a:p>
                      <a:r>
                        <a:rPr lang="en-US" sz="1400" dirty="0"/>
                        <a:t>0</a:t>
                      </a:r>
                    </a:p>
                  </a:txBody>
                  <a:tcPr marT="0" marB="18000"/>
                </a:tc>
                <a:extLst>
                  <a:ext uri="{0D108BD9-81ED-4DB2-BD59-A6C34878D82A}">
                    <a16:rowId xmlns:a16="http://schemas.microsoft.com/office/drawing/2014/main" val="1504447364"/>
                  </a:ext>
                </a:extLst>
              </a:tr>
              <a:tr h="224364">
                <a:tc>
                  <a:txBody>
                    <a:bodyPr/>
                    <a:lstStyle/>
                    <a:p>
                      <a:r>
                        <a:rPr lang="en-US" sz="1400" dirty="0"/>
                        <a:t>b</a:t>
                      </a:r>
                    </a:p>
                  </a:txBody>
                  <a:tcPr marT="0" marB="18000"/>
                </a:tc>
                <a:tc>
                  <a:txBody>
                    <a:bodyPr/>
                    <a:lstStyle/>
                    <a:p>
                      <a:r>
                        <a:rPr lang="en-US" sz="1400" dirty="0"/>
                        <a:t>1</a:t>
                      </a:r>
                    </a:p>
                  </a:txBody>
                  <a:tcPr marT="0" marB="18000"/>
                </a:tc>
                <a:extLst>
                  <a:ext uri="{0D108BD9-81ED-4DB2-BD59-A6C34878D82A}">
                    <a16:rowId xmlns:a16="http://schemas.microsoft.com/office/drawing/2014/main" val="4036690659"/>
                  </a:ext>
                </a:extLst>
              </a:tr>
              <a:tr h="224364">
                <a:tc>
                  <a:txBody>
                    <a:bodyPr/>
                    <a:lstStyle/>
                    <a:p>
                      <a:r>
                        <a:rPr lang="en-US" sz="1400" dirty="0"/>
                        <a:t>c</a:t>
                      </a:r>
                    </a:p>
                  </a:txBody>
                  <a:tcPr marT="0" marB="18000"/>
                </a:tc>
                <a:tc>
                  <a:txBody>
                    <a:bodyPr/>
                    <a:lstStyle/>
                    <a:p>
                      <a:r>
                        <a:rPr lang="en-US" sz="1200" dirty="0"/>
                        <a:t>2</a:t>
                      </a:r>
                    </a:p>
                  </a:txBody>
                  <a:tcPr marT="0" marB="18000"/>
                </a:tc>
                <a:extLst>
                  <a:ext uri="{0D108BD9-81ED-4DB2-BD59-A6C34878D82A}">
                    <a16:rowId xmlns:a16="http://schemas.microsoft.com/office/drawing/2014/main" val="2610546179"/>
                  </a:ext>
                </a:extLst>
              </a:tr>
              <a:tr h="224364">
                <a:tc>
                  <a:txBody>
                    <a:bodyPr/>
                    <a:lstStyle/>
                    <a:p>
                      <a:r>
                        <a:rPr lang="en-US" sz="1400" dirty="0"/>
                        <a:t>d</a:t>
                      </a:r>
                    </a:p>
                  </a:txBody>
                  <a:tcPr marT="0" marB="18000"/>
                </a:tc>
                <a:tc>
                  <a:txBody>
                    <a:bodyPr/>
                    <a:lstStyle/>
                    <a:p>
                      <a:r>
                        <a:rPr lang="en-US" sz="1400" dirty="0"/>
                        <a:t>3</a:t>
                      </a:r>
                    </a:p>
                  </a:txBody>
                  <a:tcPr marT="0" marB="18000"/>
                </a:tc>
                <a:extLst>
                  <a:ext uri="{0D108BD9-81ED-4DB2-BD59-A6C34878D82A}">
                    <a16:rowId xmlns:a16="http://schemas.microsoft.com/office/drawing/2014/main" val="3069750974"/>
                  </a:ext>
                </a:extLst>
              </a:tr>
              <a:tr h="224364">
                <a:tc>
                  <a:txBody>
                    <a:bodyPr/>
                    <a:lstStyle/>
                    <a:p>
                      <a:r>
                        <a:rPr lang="en-US" sz="1400" dirty="0"/>
                        <a:t>e</a:t>
                      </a:r>
                    </a:p>
                  </a:txBody>
                  <a:tcPr marT="0" marB="18000"/>
                </a:tc>
                <a:tc>
                  <a:txBody>
                    <a:bodyPr/>
                    <a:lstStyle/>
                    <a:p>
                      <a:r>
                        <a:rPr lang="en-US" sz="1400" dirty="0"/>
                        <a:t>4</a:t>
                      </a:r>
                    </a:p>
                  </a:txBody>
                  <a:tcPr marT="0" marB="18000"/>
                </a:tc>
                <a:extLst>
                  <a:ext uri="{0D108BD9-81ED-4DB2-BD59-A6C34878D82A}">
                    <a16:rowId xmlns:a16="http://schemas.microsoft.com/office/drawing/2014/main" val="3900276480"/>
                  </a:ext>
                </a:extLst>
              </a:tr>
              <a:tr h="224364">
                <a:tc>
                  <a:txBody>
                    <a:bodyPr/>
                    <a:lstStyle/>
                    <a:p>
                      <a:r>
                        <a:rPr lang="en-US" sz="1400" dirty="0"/>
                        <a:t>f</a:t>
                      </a:r>
                    </a:p>
                  </a:txBody>
                  <a:tcPr marT="0" marB="18000"/>
                </a:tc>
                <a:tc>
                  <a:txBody>
                    <a:bodyPr/>
                    <a:lstStyle/>
                    <a:p>
                      <a:r>
                        <a:rPr lang="en-US" sz="1400" dirty="0"/>
                        <a:t>5</a:t>
                      </a:r>
                    </a:p>
                  </a:txBody>
                  <a:tcPr marT="0" marB="18000"/>
                </a:tc>
                <a:extLst>
                  <a:ext uri="{0D108BD9-81ED-4DB2-BD59-A6C34878D82A}">
                    <a16:rowId xmlns:a16="http://schemas.microsoft.com/office/drawing/2014/main" val="859799659"/>
                  </a:ext>
                </a:extLst>
              </a:tr>
              <a:tr h="224364">
                <a:tc>
                  <a:txBody>
                    <a:bodyPr/>
                    <a:lstStyle/>
                    <a:p>
                      <a:r>
                        <a:rPr lang="en-US" sz="1400" dirty="0"/>
                        <a:t>g</a:t>
                      </a:r>
                    </a:p>
                  </a:txBody>
                  <a:tcPr marT="0" marB="18000"/>
                </a:tc>
                <a:tc>
                  <a:txBody>
                    <a:bodyPr/>
                    <a:lstStyle/>
                    <a:p>
                      <a:r>
                        <a:rPr lang="en-US" sz="1400" dirty="0"/>
                        <a:t>6</a:t>
                      </a:r>
                    </a:p>
                  </a:txBody>
                  <a:tcPr marT="0" marB="18000"/>
                </a:tc>
                <a:extLst>
                  <a:ext uri="{0D108BD9-81ED-4DB2-BD59-A6C34878D82A}">
                    <a16:rowId xmlns:a16="http://schemas.microsoft.com/office/drawing/2014/main" val="2057095009"/>
                  </a:ext>
                </a:extLst>
              </a:tr>
              <a:tr h="224364">
                <a:tc>
                  <a:txBody>
                    <a:bodyPr/>
                    <a:lstStyle/>
                    <a:p>
                      <a:r>
                        <a:rPr lang="en-US" sz="1400" dirty="0"/>
                        <a:t>h</a:t>
                      </a:r>
                    </a:p>
                  </a:txBody>
                  <a:tcPr marT="0" marB="18000"/>
                </a:tc>
                <a:tc>
                  <a:txBody>
                    <a:bodyPr/>
                    <a:lstStyle/>
                    <a:p>
                      <a:r>
                        <a:rPr lang="en-US" sz="1400" dirty="0"/>
                        <a:t>7</a:t>
                      </a:r>
                    </a:p>
                  </a:txBody>
                  <a:tcPr marT="0" marB="18000"/>
                </a:tc>
                <a:extLst>
                  <a:ext uri="{0D108BD9-81ED-4DB2-BD59-A6C34878D82A}">
                    <a16:rowId xmlns:a16="http://schemas.microsoft.com/office/drawing/2014/main" val="2918188361"/>
                  </a:ext>
                </a:extLst>
              </a:tr>
              <a:tr h="224364">
                <a:tc>
                  <a:txBody>
                    <a:bodyPr/>
                    <a:lstStyle/>
                    <a:p>
                      <a:r>
                        <a:rPr lang="en-US" sz="1400" dirty="0" err="1"/>
                        <a:t>i</a:t>
                      </a:r>
                      <a:endParaRPr lang="en-US" sz="1400" dirty="0"/>
                    </a:p>
                  </a:txBody>
                  <a:tcPr marT="0" marB="18000"/>
                </a:tc>
                <a:tc>
                  <a:txBody>
                    <a:bodyPr/>
                    <a:lstStyle/>
                    <a:p>
                      <a:r>
                        <a:rPr lang="en-US" sz="1400" dirty="0"/>
                        <a:t>8</a:t>
                      </a:r>
                    </a:p>
                  </a:txBody>
                  <a:tcPr marT="0" marB="18000"/>
                </a:tc>
                <a:extLst>
                  <a:ext uri="{0D108BD9-81ED-4DB2-BD59-A6C34878D82A}">
                    <a16:rowId xmlns:a16="http://schemas.microsoft.com/office/drawing/2014/main" val="3261569902"/>
                  </a:ext>
                </a:extLst>
              </a:tr>
              <a:tr h="224364">
                <a:tc>
                  <a:txBody>
                    <a:bodyPr/>
                    <a:lstStyle/>
                    <a:p>
                      <a:r>
                        <a:rPr lang="en-US" sz="1400" dirty="0"/>
                        <a:t>j</a:t>
                      </a:r>
                    </a:p>
                  </a:txBody>
                  <a:tcPr marT="0" marB="18000"/>
                </a:tc>
                <a:tc>
                  <a:txBody>
                    <a:bodyPr/>
                    <a:lstStyle/>
                    <a:p>
                      <a:r>
                        <a:rPr lang="en-US" sz="1400" dirty="0"/>
                        <a:t>9</a:t>
                      </a:r>
                    </a:p>
                  </a:txBody>
                  <a:tcPr marT="0" marB="18000"/>
                </a:tc>
                <a:extLst>
                  <a:ext uri="{0D108BD9-81ED-4DB2-BD59-A6C34878D82A}">
                    <a16:rowId xmlns:a16="http://schemas.microsoft.com/office/drawing/2014/main" val="2138835240"/>
                  </a:ext>
                </a:extLst>
              </a:tr>
              <a:tr h="224364">
                <a:tc>
                  <a:txBody>
                    <a:bodyPr/>
                    <a:lstStyle/>
                    <a:p>
                      <a:r>
                        <a:rPr lang="en-US" sz="1400" dirty="0"/>
                        <a:t>k</a:t>
                      </a:r>
                    </a:p>
                  </a:txBody>
                  <a:tcPr marT="0" marB="18000"/>
                </a:tc>
                <a:tc>
                  <a:txBody>
                    <a:bodyPr/>
                    <a:lstStyle/>
                    <a:p>
                      <a:r>
                        <a:rPr lang="en-US" sz="1400" dirty="0"/>
                        <a:t>10</a:t>
                      </a:r>
                    </a:p>
                  </a:txBody>
                  <a:tcPr marT="0" marB="18000"/>
                </a:tc>
                <a:extLst>
                  <a:ext uri="{0D108BD9-81ED-4DB2-BD59-A6C34878D82A}">
                    <a16:rowId xmlns:a16="http://schemas.microsoft.com/office/drawing/2014/main" val="793189246"/>
                  </a:ext>
                </a:extLst>
              </a:tr>
              <a:tr h="224364">
                <a:tc>
                  <a:txBody>
                    <a:bodyPr/>
                    <a:lstStyle/>
                    <a:p>
                      <a:r>
                        <a:rPr lang="en-US" sz="1400" dirty="0"/>
                        <a:t>l</a:t>
                      </a:r>
                    </a:p>
                  </a:txBody>
                  <a:tcPr marT="0" marB="18000"/>
                </a:tc>
                <a:tc>
                  <a:txBody>
                    <a:bodyPr/>
                    <a:lstStyle/>
                    <a:p>
                      <a:r>
                        <a:rPr lang="en-US" sz="1400" dirty="0"/>
                        <a:t>11</a:t>
                      </a:r>
                    </a:p>
                  </a:txBody>
                  <a:tcPr marT="0" marB="18000"/>
                </a:tc>
                <a:extLst>
                  <a:ext uri="{0D108BD9-81ED-4DB2-BD59-A6C34878D82A}">
                    <a16:rowId xmlns:a16="http://schemas.microsoft.com/office/drawing/2014/main" val="1515155514"/>
                  </a:ext>
                </a:extLst>
              </a:tr>
              <a:tr h="224364">
                <a:tc>
                  <a:txBody>
                    <a:bodyPr/>
                    <a:lstStyle/>
                    <a:p>
                      <a:r>
                        <a:rPr lang="en-US" sz="1400" dirty="0"/>
                        <a:t>m</a:t>
                      </a:r>
                    </a:p>
                  </a:txBody>
                  <a:tcPr marT="0" marB="18000"/>
                </a:tc>
                <a:tc>
                  <a:txBody>
                    <a:bodyPr/>
                    <a:lstStyle/>
                    <a:p>
                      <a:r>
                        <a:rPr lang="en-US" sz="1400" dirty="0"/>
                        <a:t>12</a:t>
                      </a:r>
                    </a:p>
                  </a:txBody>
                  <a:tcPr marT="0" marB="18000"/>
                </a:tc>
                <a:extLst>
                  <a:ext uri="{0D108BD9-81ED-4DB2-BD59-A6C34878D82A}">
                    <a16:rowId xmlns:a16="http://schemas.microsoft.com/office/drawing/2014/main" val="4090282430"/>
                  </a:ext>
                </a:extLst>
              </a:tr>
              <a:tr h="224364">
                <a:tc>
                  <a:txBody>
                    <a:bodyPr/>
                    <a:lstStyle/>
                    <a:p>
                      <a:r>
                        <a:rPr lang="en-US" sz="1400" dirty="0"/>
                        <a:t>n</a:t>
                      </a:r>
                    </a:p>
                  </a:txBody>
                  <a:tcPr marT="0" marB="18000"/>
                </a:tc>
                <a:tc>
                  <a:txBody>
                    <a:bodyPr/>
                    <a:lstStyle/>
                    <a:p>
                      <a:r>
                        <a:rPr lang="en-US" sz="1400" dirty="0"/>
                        <a:t>13</a:t>
                      </a:r>
                    </a:p>
                  </a:txBody>
                  <a:tcPr marT="0" marB="18000"/>
                </a:tc>
                <a:extLst>
                  <a:ext uri="{0D108BD9-81ED-4DB2-BD59-A6C34878D82A}">
                    <a16:rowId xmlns:a16="http://schemas.microsoft.com/office/drawing/2014/main" val="1515409969"/>
                  </a:ext>
                </a:extLst>
              </a:tr>
              <a:tr h="224364">
                <a:tc>
                  <a:txBody>
                    <a:bodyPr/>
                    <a:lstStyle/>
                    <a:p>
                      <a:r>
                        <a:rPr lang="en-US" sz="1400" dirty="0"/>
                        <a:t>o</a:t>
                      </a:r>
                    </a:p>
                  </a:txBody>
                  <a:tcPr marT="0" marB="18000"/>
                </a:tc>
                <a:tc>
                  <a:txBody>
                    <a:bodyPr/>
                    <a:lstStyle/>
                    <a:p>
                      <a:r>
                        <a:rPr lang="en-US" sz="1400" dirty="0"/>
                        <a:t>14</a:t>
                      </a:r>
                    </a:p>
                  </a:txBody>
                  <a:tcPr marT="0" marB="18000"/>
                </a:tc>
                <a:extLst>
                  <a:ext uri="{0D108BD9-81ED-4DB2-BD59-A6C34878D82A}">
                    <a16:rowId xmlns:a16="http://schemas.microsoft.com/office/drawing/2014/main" val="2172774281"/>
                  </a:ext>
                </a:extLst>
              </a:tr>
              <a:tr h="224364">
                <a:tc>
                  <a:txBody>
                    <a:bodyPr/>
                    <a:lstStyle/>
                    <a:p>
                      <a:r>
                        <a:rPr lang="en-US" sz="1400" dirty="0"/>
                        <a:t>p</a:t>
                      </a:r>
                    </a:p>
                  </a:txBody>
                  <a:tcPr marT="0" marB="18000"/>
                </a:tc>
                <a:tc>
                  <a:txBody>
                    <a:bodyPr/>
                    <a:lstStyle/>
                    <a:p>
                      <a:r>
                        <a:rPr lang="en-US" sz="1400" dirty="0"/>
                        <a:t>15</a:t>
                      </a:r>
                    </a:p>
                  </a:txBody>
                  <a:tcPr marT="0" marB="18000"/>
                </a:tc>
                <a:extLst>
                  <a:ext uri="{0D108BD9-81ED-4DB2-BD59-A6C34878D82A}">
                    <a16:rowId xmlns:a16="http://schemas.microsoft.com/office/drawing/2014/main" val="3519789542"/>
                  </a:ext>
                </a:extLst>
              </a:tr>
              <a:tr h="224364">
                <a:tc>
                  <a:txBody>
                    <a:bodyPr/>
                    <a:lstStyle/>
                    <a:p>
                      <a:r>
                        <a:rPr lang="en-US" sz="1400" dirty="0"/>
                        <a:t>q</a:t>
                      </a:r>
                    </a:p>
                  </a:txBody>
                  <a:tcPr marT="0" marB="18000"/>
                </a:tc>
                <a:tc>
                  <a:txBody>
                    <a:bodyPr/>
                    <a:lstStyle/>
                    <a:p>
                      <a:r>
                        <a:rPr lang="en-US" sz="1400" dirty="0"/>
                        <a:t>16</a:t>
                      </a:r>
                    </a:p>
                  </a:txBody>
                  <a:tcPr marT="0" marB="18000"/>
                </a:tc>
                <a:extLst>
                  <a:ext uri="{0D108BD9-81ED-4DB2-BD59-A6C34878D82A}">
                    <a16:rowId xmlns:a16="http://schemas.microsoft.com/office/drawing/2014/main" val="95885907"/>
                  </a:ext>
                </a:extLst>
              </a:tr>
              <a:tr h="224364">
                <a:tc>
                  <a:txBody>
                    <a:bodyPr/>
                    <a:lstStyle/>
                    <a:p>
                      <a:r>
                        <a:rPr lang="en-US" sz="1400" dirty="0"/>
                        <a:t>r</a:t>
                      </a:r>
                    </a:p>
                  </a:txBody>
                  <a:tcPr marT="0" marB="18000"/>
                </a:tc>
                <a:tc>
                  <a:txBody>
                    <a:bodyPr/>
                    <a:lstStyle/>
                    <a:p>
                      <a:r>
                        <a:rPr lang="en-US" sz="1400" dirty="0"/>
                        <a:t>17</a:t>
                      </a:r>
                    </a:p>
                  </a:txBody>
                  <a:tcPr marT="0" marB="18000"/>
                </a:tc>
                <a:extLst>
                  <a:ext uri="{0D108BD9-81ED-4DB2-BD59-A6C34878D82A}">
                    <a16:rowId xmlns:a16="http://schemas.microsoft.com/office/drawing/2014/main" val="3421191933"/>
                  </a:ext>
                </a:extLst>
              </a:tr>
              <a:tr h="224364">
                <a:tc>
                  <a:txBody>
                    <a:bodyPr/>
                    <a:lstStyle/>
                    <a:p>
                      <a:r>
                        <a:rPr lang="en-US" sz="1400" dirty="0"/>
                        <a:t>s</a:t>
                      </a:r>
                    </a:p>
                  </a:txBody>
                  <a:tcPr marT="0" marB="18000"/>
                </a:tc>
                <a:tc>
                  <a:txBody>
                    <a:bodyPr/>
                    <a:lstStyle/>
                    <a:p>
                      <a:r>
                        <a:rPr lang="en-US" sz="1400" dirty="0"/>
                        <a:t>18</a:t>
                      </a:r>
                    </a:p>
                  </a:txBody>
                  <a:tcPr marT="0" marB="18000"/>
                </a:tc>
                <a:extLst>
                  <a:ext uri="{0D108BD9-81ED-4DB2-BD59-A6C34878D82A}">
                    <a16:rowId xmlns:a16="http://schemas.microsoft.com/office/drawing/2014/main" val="1400686728"/>
                  </a:ext>
                </a:extLst>
              </a:tr>
              <a:tr h="224364">
                <a:tc>
                  <a:txBody>
                    <a:bodyPr/>
                    <a:lstStyle/>
                    <a:p>
                      <a:r>
                        <a:rPr lang="en-US" sz="1400" dirty="0"/>
                        <a:t>t</a:t>
                      </a:r>
                    </a:p>
                  </a:txBody>
                  <a:tcPr marT="0" marB="18000"/>
                </a:tc>
                <a:tc>
                  <a:txBody>
                    <a:bodyPr/>
                    <a:lstStyle/>
                    <a:p>
                      <a:r>
                        <a:rPr lang="en-US" sz="1400" dirty="0"/>
                        <a:t>19</a:t>
                      </a:r>
                    </a:p>
                  </a:txBody>
                  <a:tcPr marT="0" marB="18000"/>
                </a:tc>
                <a:extLst>
                  <a:ext uri="{0D108BD9-81ED-4DB2-BD59-A6C34878D82A}">
                    <a16:rowId xmlns:a16="http://schemas.microsoft.com/office/drawing/2014/main" val="627944975"/>
                  </a:ext>
                </a:extLst>
              </a:tr>
              <a:tr h="224364">
                <a:tc>
                  <a:txBody>
                    <a:bodyPr/>
                    <a:lstStyle/>
                    <a:p>
                      <a:r>
                        <a:rPr lang="en-US" sz="1400" dirty="0"/>
                        <a:t>u</a:t>
                      </a:r>
                    </a:p>
                  </a:txBody>
                  <a:tcPr marT="0" marB="18000"/>
                </a:tc>
                <a:tc>
                  <a:txBody>
                    <a:bodyPr/>
                    <a:lstStyle/>
                    <a:p>
                      <a:r>
                        <a:rPr lang="en-US" sz="1400" dirty="0"/>
                        <a:t>20</a:t>
                      </a:r>
                    </a:p>
                  </a:txBody>
                  <a:tcPr marT="0" marB="18000"/>
                </a:tc>
                <a:extLst>
                  <a:ext uri="{0D108BD9-81ED-4DB2-BD59-A6C34878D82A}">
                    <a16:rowId xmlns:a16="http://schemas.microsoft.com/office/drawing/2014/main" val="2201480104"/>
                  </a:ext>
                </a:extLst>
              </a:tr>
              <a:tr h="224364">
                <a:tc>
                  <a:txBody>
                    <a:bodyPr/>
                    <a:lstStyle/>
                    <a:p>
                      <a:r>
                        <a:rPr lang="en-US" sz="1400" dirty="0"/>
                        <a:t>v</a:t>
                      </a:r>
                    </a:p>
                  </a:txBody>
                  <a:tcPr marT="0" marB="18000"/>
                </a:tc>
                <a:tc>
                  <a:txBody>
                    <a:bodyPr/>
                    <a:lstStyle/>
                    <a:p>
                      <a:r>
                        <a:rPr lang="en-US" sz="1400" dirty="0"/>
                        <a:t>21</a:t>
                      </a:r>
                    </a:p>
                  </a:txBody>
                  <a:tcPr marT="0" marB="18000"/>
                </a:tc>
                <a:extLst>
                  <a:ext uri="{0D108BD9-81ED-4DB2-BD59-A6C34878D82A}">
                    <a16:rowId xmlns:a16="http://schemas.microsoft.com/office/drawing/2014/main" val="3155037838"/>
                  </a:ext>
                </a:extLst>
              </a:tr>
              <a:tr h="224364">
                <a:tc>
                  <a:txBody>
                    <a:bodyPr/>
                    <a:lstStyle/>
                    <a:p>
                      <a:r>
                        <a:rPr lang="en-US" sz="1400" dirty="0"/>
                        <a:t>w</a:t>
                      </a:r>
                    </a:p>
                  </a:txBody>
                  <a:tcPr marT="0" marB="18000"/>
                </a:tc>
                <a:tc>
                  <a:txBody>
                    <a:bodyPr/>
                    <a:lstStyle/>
                    <a:p>
                      <a:r>
                        <a:rPr lang="en-US" sz="1400" dirty="0"/>
                        <a:t>22</a:t>
                      </a:r>
                    </a:p>
                  </a:txBody>
                  <a:tcPr marT="0" marB="18000"/>
                </a:tc>
                <a:extLst>
                  <a:ext uri="{0D108BD9-81ED-4DB2-BD59-A6C34878D82A}">
                    <a16:rowId xmlns:a16="http://schemas.microsoft.com/office/drawing/2014/main" val="3336959291"/>
                  </a:ext>
                </a:extLst>
              </a:tr>
              <a:tr h="224364">
                <a:tc>
                  <a:txBody>
                    <a:bodyPr/>
                    <a:lstStyle/>
                    <a:p>
                      <a:r>
                        <a:rPr lang="en-US" sz="1400" dirty="0"/>
                        <a:t>x</a:t>
                      </a:r>
                    </a:p>
                  </a:txBody>
                  <a:tcPr marT="0" marB="18000"/>
                </a:tc>
                <a:tc>
                  <a:txBody>
                    <a:bodyPr/>
                    <a:lstStyle/>
                    <a:p>
                      <a:r>
                        <a:rPr lang="en-US" sz="1400" dirty="0"/>
                        <a:t>23</a:t>
                      </a:r>
                    </a:p>
                  </a:txBody>
                  <a:tcPr marT="0" marB="18000"/>
                </a:tc>
                <a:extLst>
                  <a:ext uri="{0D108BD9-81ED-4DB2-BD59-A6C34878D82A}">
                    <a16:rowId xmlns:a16="http://schemas.microsoft.com/office/drawing/2014/main" val="1560928733"/>
                  </a:ext>
                </a:extLst>
              </a:tr>
              <a:tr h="224364">
                <a:tc>
                  <a:txBody>
                    <a:bodyPr/>
                    <a:lstStyle/>
                    <a:p>
                      <a:r>
                        <a:rPr lang="en-US" sz="1400" dirty="0"/>
                        <a:t>y</a:t>
                      </a:r>
                    </a:p>
                  </a:txBody>
                  <a:tcPr marT="0" marB="18000"/>
                </a:tc>
                <a:tc>
                  <a:txBody>
                    <a:bodyPr/>
                    <a:lstStyle/>
                    <a:p>
                      <a:r>
                        <a:rPr lang="en-US" sz="1400" dirty="0"/>
                        <a:t>24</a:t>
                      </a:r>
                    </a:p>
                  </a:txBody>
                  <a:tcPr marT="0" marB="18000"/>
                </a:tc>
                <a:extLst>
                  <a:ext uri="{0D108BD9-81ED-4DB2-BD59-A6C34878D82A}">
                    <a16:rowId xmlns:a16="http://schemas.microsoft.com/office/drawing/2014/main" val="608849017"/>
                  </a:ext>
                </a:extLst>
              </a:tr>
              <a:tr h="224364">
                <a:tc>
                  <a:txBody>
                    <a:bodyPr/>
                    <a:lstStyle/>
                    <a:p>
                      <a:r>
                        <a:rPr lang="en-US" sz="1400" dirty="0"/>
                        <a:t>z</a:t>
                      </a:r>
                    </a:p>
                  </a:txBody>
                  <a:tcPr marT="0" marB="18000"/>
                </a:tc>
                <a:tc>
                  <a:txBody>
                    <a:bodyPr/>
                    <a:lstStyle/>
                    <a:p>
                      <a:r>
                        <a:rPr lang="en-US" sz="1400" dirty="0"/>
                        <a:t>25</a:t>
                      </a:r>
                    </a:p>
                  </a:txBody>
                  <a:tcPr marT="0" marB="18000"/>
                </a:tc>
                <a:extLst>
                  <a:ext uri="{0D108BD9-81ED-4DB2-BD59-A6C34878D82A}">
                    <a16:rowId xmlns:a16="http://schemas.microsoft.com/office/drawing/2014/main" val="191301698"/>
                  </a:ext>
                </a:extLst>
              </a:tr>
            </a:tbl>
          </a:graphicData>
        </a:graphic>
      </p:graphicFrame>
      <p:sp>
        <p:nvSpPr>
          <p:cNvPr id="7" name="Speech Bubble: Rectangle with Corners Rounded 6">
            <a:extLst>
              <a:ext uri="{FF2B5EF4-FFF2-40B4-BE49-F238E27FC236}">
                <a16:creationId xmlns:a16="http://schemas.microsoft.com/office/drawing/2014/main" id="{46254B3E-2F05-0B1C-3C55-0F3F05D1855A}"/>
              </a:ext>
            </a:extLst>
          </p:cNvPr>
          <p:cNvSpPr/>
          <p:nvPr/>
        </p:nvSpPr>
        <p:spPr>
          <a:xfrm>
            <a:off x="10845422" y="781365"/>
            <a:ext cx="1255593" cy="777923"/>
          </a:xfrm>
          <a:prstGeom prst="wedgeRoundRectCallout">
            <a:avLst>
              <a:gd name="adj1" fmla="val -65872"/>
              <a:gd name="adj2" fmla="val 49010"/>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a:t>The hash function</a:t>
            </a:r>
          </a:p>
        </p:txBody>
      </p:sp>
      <p:sp>
        <p:nvSpPr>
          <p:cNvPr id="8" name="Speech Bubble: Rectangle with Corners Rounded 7">
            <a:extLst>
              <a:ext uri="{FF2B5EF4-FFF2-40B4-BE49-F238E27FC236}">
                <a16:creationId xmlns:a16="http://schemas.microsoft.com/office/drawing/2014/main" id="{233A3101-73F1-91CF-67D1-3BDB73ACA525}"/>
              </a:ext>
            </a:extLst>
          </p:cNvPr>
          <p:cNvSpPr/>
          <p:nvPr/>
        </p:nvSpPr>
        <p:spPr>
          <a:xfrm>
            <a:off x="7466570" y="4977691"/>
            <a:ext cx="1255593" cy="777923"/>
          </a:xfrm>
          <a:prstGeom prst="wedgeRoundRectCallout">
            <a:avLst>
              <a:gd name="adj1" fmla="val -78258"/>
              <a:gd name="adj2" fmla="val 5456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dirty="0"/>
              <a:t>The Table T</a:t>
            </a:r>
          </a:p>
        </p:txBody>
      </p:sp>
    </p:spTree>
    <p:extLst>
      <p:ext uri="{BB962C8B-B14F-4D97-AF65-F5344CB8AC3E}">
        <p14:creationId xmlns:p14="http://schemas.microsoft.com/office/powerpoint/2010/main" val="17590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8A82F-8E2C-CD83-FCA1-096A1449FBEF}"/>
              </a:ext>
            </a:extLst>
          </p:cNvPr>
          <p:cNvSpPr>
            <a:spLocks noGrp="1"/>
          </p:cNvSpPr>
          <p:nvPr>
            <p:ph type="title"/>
          </p:nvPr>
        </p:nvSpPr>
        <p:spPr/>
        <p:txBody>
          <a:bodyPr/>
          <a:lstStyle/>
          <a:p>
            <a:r>
              <a:rPr lang="en-US" dirty="0"/>
              <a:t>Perfect Hash Example: Operation</a:t>
            </a:r>
          </a:p>
        </p:txBody>
      </p:sp>
      <p:graphicFrame>
        <p:nvGraphicFramePr>
          <p:cNvPr id="9" name="Table 8">
            <a:extLst>
              <a:ext uri="{FF2B5EF4-FFF2-40B4-BE49-F238E27FC236}">
                <a16:creationId xmlns:a16="http://schemas.microsoft.com/office/drawing/2014/main" id="{1A3465AF-7F27-A989-CE9B-95CB76253966}"/>
              </a:ext>
            </a:extLst>
          </p:cNvPr>
          <p:cNvGraphicFramePr>
            <a:graphicFrameLocks noGrp="1"/>
          </p:cNvGraphicFramePr>
          <p:nvPr>
            <p:extLst>
              <p:ext uri="{D42A27DB-BD31-4B8C-83A1-F6EECF244321}">
                <p14:modId xmlns:p14="http://schemas.microsoft.com/office/powerpoint/2010/main" val="3611770173"/>
              </p:ext>
            </p:extLst>
          </p:nvPr>
        </p:nvGraphicFramePr>
        <p:xfrm>
          <a:off x="360172" y="1452181"/>
          <a:ext cx="8024094"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gridCol w="308619">
                  <a:extLst>
                    <a:ext uri="{9D8B030D-6E8A-4147-A177-3AD203B41FA5}">
                      <a16:colId xmlns:a16="http://schemas.microsoft.com/office/drawing/2014/main" val="734879894"/>
                    </a:ext>
                  </a:extLst>
                </a:gridCol>
                <a:gridCol w="308619">
                  <a:extLst>
                    <a:ext uri="{9D8B030D-6E8A-4147-A177-3AD203B41FA5}">
                      <a16:colId xmlns:a16="http://schemas.microsoft.com/office/drawing/2014/main" val="1718225167"/>
                    </a:ext>
                  </a:extLst>
                </a:gridCol>
                <a:gridCol w="308619">
                  <a:extLst>
                    <a:ext uri="{9D8B030D-6E8A-4147-A177-3AD203B41FA5}">
                      <a16:colId xmlns:a16="http://schemas.microsoft.com/office/drawing/2014/main" val="2249222071"/>
                    </a:ext>
                  </a:extLst>
                </a:gridCol>
                <a:gridCol w="308619">
                  <a:extLst>
                    <a:ext uri="{9D8B030D-6E8A-4147-A177-3AD203B41FA5}">
                      <a16:colId xmlns:a16="http://schemas.microsoft.com/office/drawing/2014/main" val="783484956"/>
                    </a:ext>
                  </a:extLst>
                </a:gridCol>
                <a:gridCol w="308619">
                  <a:extLst>
                    <a:ext uri="{9D8B030D-6E8A-4147-A177-3AD203B41FA5}">
                      <a16:colId xmlns:a16="http://schemas.microsoft.com/office/drawing/2014/main" val="1020178417"/>
                    </a:ext>
                  </a:extLst>
                </a:gridCol>
                <a:gridCol w="308619">
                  <a:extLst>
                    <a:ext uri="{9D8B030D-6E8A-4147-A177-3AD203B41FA5}">
                      <a16:colId xmlns:a16="http://schemas.microsoft.com/office/drawing/2014/main" val="702590050"/>
                    </a:ext>
                  </a:extLst>
                </a:gridCol>
                <a:gridCol w="308619">
                  <a:extLst>
                    <a:ext uri="{9D8B030D-6E8A-4147-A177-3AD203B41FA5}">
                      <a16:colId xmlns:a16="http://schemas.microsoft.com/office/drawing/2014/main" val="1129093301"/>
                    </a:ext>
                  </a:extLst>
                </a:gridCol>
                <a:gridCol w="308619">
                  <a:extLst>
                    <a:ext uri="{9D8B030D-6E8A-4147-A177-3AD203B41FA5}">
                      <a16:colId xmlns:a16="http://schemas.microsoft.com/office/drawing/2014/main" val="1122535512"/>
                    </a:ext>
                  </a:extLst>
                </a:gridCol>
                <a:gridCol w="308619">
                  <a:extLst>
                    <a:ext uri="{9D8B030D-6E8A-4147-A177-3AD203B41FA5}">
                      <a16:colId xmlns:a16="http://schemas.microsoft.com/office/drawing/2014/main" val="1636368460"/>
                    </a:ext>
                  </a:extLst>
                </a:gridCol>
                <a:gridCol w="308619">
                  <a:extLst>
                    <a:ext uri="{9D8B030D-6E8A-4147-A177-3AD203B41FA5}">
                      <a16:colId xmlns:a16="http://schemas.microsoft.com/office/drawing/2014/main" val="3976503248"/>
                    </a:ext>
                  </a:extLst>
                </a:gridCol>
                <a:gridCol w="308619">
                  <a:extLst>
                    <a:ext uri="{9D8B030D-6E8A-4147-A177-3AD203B41FA5}">
                      <a16:colId xmlns:a16="http://schemas.microsoft.com/office/drawing/2014/main" val="3261226377"/>
                    </a:ext>
                  </a:extLst>
                </a:gridCol>
                <a:gridCol w="308619">
                  <a:extLst>
                    <a:ext uri="{9D8B030D-6E8A-4147-A177-3AD203B41FA5}">
                      <a16:colId xmlns:a16="http://schemas.microsoft.com/office/drawing/2014/main" val="1622133109"/>
                    </a:ext>
                  </a:extLst>
                </a:gridCol>
                <a:gridCol w="308619">
                  <a:extLst>
                    <a:ext uri="{9D8B030D-6E8A-4147-A177-3AD203B41FA5}">
                      <a16:colId xmlns:a16="http://schemas.microsoft.com/office/drawing/2014/main" val="461339935"/>
                    </a:ext>
                  </a:extLst>
                </a:gridCol>
                <a:gridCol w="308619">
                  <a:extLst>
                    <a:ext uri="{9D8B030D-6E8A-4147-A177-3AD203B41FA5}">
                      <a16:colId xmlns:a16="http://schemas.microsoft.com/office/drawing/2014/main" val="1353370149"/>
                    </a:ext>
                  </a:extLst>
                </a:gridCol>
                <a:gridCol w="308619">
                  <a:extLst>
                    <a:ext uri="{9D8B030D-6E8A-4147-A177-3AD203B41FA5}">
                      <a16:colId xmlns:a16="http://schemas.microsoft.com/office/drawing/2014/main" val="1956899471"/>
                    </a:ext>
                  </a:extLst>
                </a:gridCol>
                <a:gridCol w="308619">
                  <a:extLst>
                    <a:ext uri="{9D8B030D-6E8A-4147-A177-3AD203B41FA5}">
                      <a16:colId xmlns:a16="http://schemas.microsoft.com/office/drawing/2014/main" val="1130090069"/>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10" name="Table 9">
            <a:extLst>
              <a:ext uri="{FF2B5EF4-FFF2-40B4-BE49-F238E27FC236}">
                <a16:creationId xmlns:a16="http://schemas.microsoft.com/office/drawing/2014/main" id="{D8FC98E9-358F-B7F7-F5DD-30DC513B64FE}"/>
              </a:ext>
            </a:extLst>
          </p:cNvPr>
          <p:cNvGraphicFramePr>
            <a:graphicFrameLocks noGrp="1"/>
          </p:cNvGraphicFramePr>
          <p:nvPr>
            <p:extLst>
              <p:ext uri="{D42A27DB-BD31-4B8C-83A1-F6EECF244321}">
                <p14:modId xmlns:p14="http://schemas.microsoft.com/office/powerpoint/2010/main" val="3018777146"/>
              </p:ext>
            </p:extLst>
          </p:nvPr>
        </p:nvGraphicFramePr>
        <p:xfrm>
          <a:off x="360172" y="2333267"/>
          <a:ext cx="8024094"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gridCol w="308619">
                  <a:extLst>
                    <a:ext uri="{9D8B030D-6E8A-4147-A177-3AD203B41FA5}">
                      <a16:colId xmlns:a16="http://schemas.microsoft.com/office/drawing/2014/main" val="734879894"/>
                    </a:ext>
                  </a:extLst>
                </a:gridCol>
                <a:gridCol w="308619">
                  <a:extLst>
                    <a:ext uri="{9D8B030D-6E8A-4147-A177-3AD203B41FA5}">
                      <a16:colId xmlns:a16="http://schemas.microsoft.com/office/drawing/2014/main" val="1718225167"/>
                    </a:ext>
                  </a:extLst>
                </a:gridCol>
                <a:gridCol w="308619">
                  <a:extLst>
                    <a:ext uri="{9D8B030D-6E8A-4147-A177-3AD203B41FA5}">
                      <a16:colId xmlns:a16="http://schemas.microsoft.com/office/drawing/2014/main" val="2249222071"/>
                    </a:ext>
                  </a:extLst>
                </a:gridCol>
                <a:gridCol w="308619">
                  <a:extLst>
                    <a:ext uri="{9D8B030D-6E8A-4147-A177-3AD203B41FA5}">
                      <a16:colId xmlns:a16="http://schemas.microsoft.com/office/drawing/2014/main" val="783484956"/>
                    </a:ext>
                  </a:extLst>
                </a:gridCol>
                <a:gridCol w="308619">
                  <a:extLst>
                    <a:ext uri="{9D8B030D-6E8A-4147-A177-3AD203B41FA5}">
                      <a16:colId xmlns:a16="http://schemas.microsoft.com/office/drawing/2014/main" val="1020178417"/>
                    </a:ext>
                  </a:extLst>
                </a:gridCol>
                <a:gridCol w="308619">
                  <a:extLst>
                    <a:ext uri="{9D8B030D-6E8A-4147-A177-3AD203B41FA5}">
                      <a16:colId xmlns:a16="http://schemas.microsoft.com/office/drawing/2014/main" val="702590050"/>
                    </a:ext>
                  </a:extLst>
                </a:gridCol>
                <a:gridCol w="308619">
                  <a:extLst>
                    <a:ext uri="{9D8B030D-6E8A-4147-A177-3AD203B41FA5}">
                      <a16:colId xmlns:a16="http://schemas.microsoft.com/office/drawing/2014/main" val="1129093301"/>
                    </a:ext>
                  </a:extLst>
                </a:gridCol>
                <a:gridCol w="308619">
                  <a:extLst>
                    <a:ext uri="{9D8B030D-6E8A-4147-A177-3AD203B41FA5}">
                      <a16:colId xmlns:a16="http://schemas.microsoft.com/office/drawing/2014/main" val="1122535512"/>
                    </a:ext>
                  </a:extLst>
                </a:gridCol>
                <a:gridCol w="308619">
                  <a:extLst>
                    <a:ext uri="{9D8B030D-6E8A-4147-A177-3AD203B41FA5}">
                      <a16:colId xmlns:a16="http://schemas.microsoft.com/office/drawing/2014/main" val="1636368460"/>
                    </a:ext>
                  </a:extLst>
                </a:gridCol>
                <a:gridCol w="308619">
                  <a:extLst>
                    <a:ext uri="{9D8B030D-6E8A-4147-A177-3AD203B41FA5}">
                      <a16:colId xmlns:a16="http://schemas.microsoft.com/office/drawing/2014/main" val="3976503248"/>
                    </a:ext>
                  </a:extLst>
                </a:gridCol>
                <a:gridCol w="308619">
                  <a:extLst>
                    <a:ext uri="{9D8B030D-6E8A-4147-A177-3AD203B41FA5}">
                      <a16:colId xmlns:a16="http://schemas.microsoft.com/office/drawing/2014/main" val="3261226377"/>
                    </a:ext>
                  </a:extLst>
                </a:gridCol>
                <a:gridCol w="308619">
                  <a:extLst>
                    <a:ext uri="{9D8B030D-6E8A-4147-A177-3AD203B41FA5}">
                      <a16:colId xmlns:a16="http://schemas.microsoft.com/office/drawing/2014/main" val="1622133109"/>
                    </a:ext>
                  </a:extLst>
                </a:gridCol>
                <a:gridCol w="308619">
                  <a:extLst>
                    <a:ext uri="{9D8B030D-6E8A-4147-A177-3AD203B41FA5}">
                      <a16:colId xmlns:a16="http://schemas.microsoft.com/office/drawing/2014/main" val="461339935"/>
                    </a:ext>
                  </a:extLst>
                </a:gridCol>
                <a:gridCol w="308619">
                  <a:extLst>
                    <a:ext uri="{9D8B030D-6E8A-4147-A177-3AD203B41FA5}">
                      <a16:colId xmlns:a16="http://schemas.microsoft.com/office/drawing/2014/main" val="1353370149"/>
                    </a:ext>
                  </a:extLst>
                </a:gridCol>
                <a:gridCol w="308619">
                  <a:extLst>
                    <a:ext uri="{9D8B030D-6E8A-4147-A177-3AD203B41FA5}">
                      <a16:colId xmlns:a16="http://schemas.microsoft.com/office/drawing/2014/main" val="1956899471"/>
                    </a:ext>
                  </a:extLst>
                </a:gridCol>
                <a:gridCol w="308619">
                  <a:extLst>
                    <a:ext uri="{9D8B030D-6E8A-4147-A177-3AD203B41FA5}">
                      <a16:colId xmlns:a16="http://schemas.microsoft.com/office/drawing/2014/main" val="1130090069"/>
                    </a:ext>
                  </a:extLst>
                </a:gridCol>
              </a:tblGrid>
              <a:tr h="155141">
                <a:tc>
                  <a:txBody>
                    <a:bodyPr/>
                    <a:lstStyle/>
                    <a:p>
                      <a:pPr algn="ctr"/>
                      <a:r>
                        <a:rPr lang="en-US" sz="1600" b="0" dirty="0">
                          <a:solidFill>
                            <a:schemeClr val="tx1">
                              <a:lumMod val="75000"/>
                            </a:schemeClr>
                          </a:solidFill>
                        </a:rPr>
                        <a:t>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11" name="Table 10">
            <a:extLst>
              <a:ext uri="{FF2B5EF4-FFF2-40B4-BE49-F238E27FC236}">
                <a16:creationId xmlns:a16="http://schemas.microsoft.com/office/drawing/2014/main" id="{B8007565-23FE-E940-30EA-849A13D13D7C}"/>
              </a:ext>
            </a:extLst>
          </p:cNvPr>
          <p:cNvGraphicFramePr>
            <a:graphicFrameLocks noGrp="1"/>
          </p:cNvGraphicFramePr>
          <p:nvPr>
            <p:extLst>
              <p:ext uri="{D42A27DB-BD31-4B8C-83A1-F6EECF244321}">
                <p14:modId xmlns:p14="http://schemas.microsoft.com/office/powerpoint/2010/main" val="555731356"/>
              </p:ext>
            </p:extLst>
          </p:nvPr>
        </p:nvGraphicFramePr>
        <p:xfrm>
          <a:off x="360172" y="3214353"/>
          <a:ext cx="8024094"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gridCol w="308619">
                  <a:extLst>
                    <a:ext uri="{9D8B030D-6E8A-4147-A177-3AD203B41FA5}">
                      <a16:colId xmlns:a16="http://schemas.microsoft.com/office/drawing/2014/main" val="734879894"/>
                    </a:ext>
                  </a:extLst>
                </a:gridCol>
                <a:gridCol w="308619">
                  <a:extLst>
                    <a:ext uri="{9D8B030D-6E8A-4147-A177-3AD203B41FA5}">
                      <a16:colId xmlns:a16="http://schemas.microsoft.com/office/drawing/2014/main" val="1718225167"/>
                    </a:ext>
                  </a:extLst>
                </a:gridCol>
                <a:gridCol w="308619">
                  <a:extLst>
                    <a:ext uri="{9D8B030D-6E8A-4147-A177-3AD203B41FA5}">
                      <a16:colId xmlns:a16="http://schemas.microsoft.com/office/drawing/2014/main" val="2249222071"/>
                    </a:ext>
                  </a:extLst>
                </a:gridCol>
                <a:gridCol w="308619">
                  <a:extLst>
                    <a:ext uri="{9D8B030D-6E8A-4147-A177-3AD203B41FA5}">
                      <a16:colId xmlns:a16="http://schemas.microsoft.com/office/drawing/2014/main" val="783484956"/>
                    </a:ext>
                  </a:extLst>
                </a:gridCol>
                <a:gridCol w="308619">
                  <a:extLst>
                    <a:ext uri="{9D8B030D-6E8A-4147-A177-3AD203B41FA5}">
                      <a16:colId xmlns:a16="http://schemas.microsoft.com/office/drawing/2014/main" val="1020178417"/>
                    </a:ext>
                  </a:extLst>
                </a:gridCol>
                <a:gridCol w="308619">
                  <a:extLst>
                    <a:ext uri="{9D8B030D-6E8A-4147-A177-3AD203B41FA5}">
                      <a16:colId xmlns:a16="http://schemas.microsoft.com/office/drawing/2014/main" val="702590050"/>
                    </a:ext>
                  </a:extLst>
                </a:gridCol>
                <a:gridCol w="308619">
                  <a:extLst>
                    <a:ext uri="{9D8B030D-6E8A-4147-A177-3AD203B41FA5}">
                      <a16:colId xmlns:a16="http://schemas.microsoft.com/office/drawing/2014/main" val="1129093301"/>
                    </a:ext>
                  </a:extLst>
                </a:gridCol>
                <a:gridCol w="308619">
                  <a:extLst>
                    <a:ext uri="{9D8B030D-6E8A-4147-A177-3AD203B41FA5}">
                      <a16:colId xmlns:a16="http://schemas.microsoft.com/office/drawing/2014/main" val="1122535512"/>
                    </a:ext>
                  </a:extLst>
                </a:gridCol>
                <a:gridCol w="308619">
                  <a:extLst>
                    <a:ext uri="{9D8B030D-6E8A-4147-A177-3AD203B41FA5}">
                      <a16:colId xmlns:a16="http://schemas.microsoft.com/office/drawing/2014/main" val="1636368460"/>
                    </a:ext>
                  </a:extLst>
                </a:gridCol>
                <a:gridCol w="308619">
                  <a:extLst>
                    <a:ext uri="{9D8B030D-6E8A-4147-A177-3AD203B41FA5}">
                      <a16:colId xmlns:a16="http://schemas.microsoft.com/office/drawing/2014/main" val="3976503248"/>
                    </a:ext>
                  </a:extLst>
                </a:gridCol>
                <a:gridCol w="308619">
                  <a:extLst>
                    <a:ext uri="{9D8B030D-6E8A-4147-A177-3AD203B41FA5}">
                      <a16:colId xmlns:a16="http://schemas.microsoft.com/office/drawing/2014/main" val="3261226377"/>
                    </a:ext>
                  </a:extLst>
                </a:gridCol>
                <a:gridCol w="308619">
                  <a:extLst>
                    <a:ext uri="{9D8B030D-6E8A-4147-A177-3AD203B41FA5}">
                      <a16:colId xmlns:a16="http://schemas.microsoft.com/office/drawing/2014/main" val="1622133109"/>
                    </a:ext>
                  </a:extLst>
                </a:gridCol>
                <a:gridCol w="308619">
                  <a:extLst>
                    <a:ext uri="{9D8B030D-6E8A-4147-A177-3AD203B41FA5}">
                      <a16:colId xmlns:a16="http://schemas.microsoft.com/office/drawing/2014/main" val="461339935"/>
                    </a:ext>
                  </a:extLst>
                </a:gridCol>
                <a:gridCol w="308619">
                  <a:extLst>
                    <a:ext uri="{9D8B030D-6E8A-4147-A177-3AD203B41FA5}">
                      <a16:colId xmlns:a16="http://schemas.microsoft.com/office/drawing/2014/main" val="1353370149"/>
                    </a:ext>
                  </a:extLst>
                </a:gridCol>
                <a:gridCol w="308619">
                  <a:extLst>
                    <a:ext uri="{9D8B030D-6E8A-4147-A177-3AD203B41FA5}">
                      <a16:colId xmlns:a16="http://schemas.microsoft.com/office/drawing/2014/main" val="1956899471"/>
                    </a:ext>
                  </a:extLst>
                </a:gridCol>
                <a:gridCol w="308619">
                  <a:extLst>
                    <a:ext uri="{9D8B030D-6E8A-4147-A177-3AD203B41FA5}">
                      <a16:colId xmlns:a16="http://schemas.microsoft.com/office/drawing/2014/main" val="1130090069"/>
                    </a:ext>
                  </a:extLst>
                </a:gridCol>
              </a:tblGrid>
              <a:tr h="155141">
                <a:tc>
                  <a:txBody>
                    <a:bodyPr/>
                    <a:lstStyle/>
                    <a:p>
                      <a:pPr algn="ctr"/>
                      <a:r>
                        <a:rPr lang="en-US" sz="1600" b="0" dirty="0">
                          <a:solidFill>
                            <a:schemeClr val="tx1">
                              <a:lumMod val="75000"/>
                            </a:schemeClr>
                          </a:solidFill>
                        </a:rPr>
                        <a:t>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12" name="Table 11">
            <a:extLst>
              <a:ext uri="{FF2B5EF4-FFF2-40B4-BE49-F238E27FC236}">
                <a16:creationId xmlns:a16="http://schemas.microsoft.com/office/drawing/2014/main" id="{BAEC1D77-A0AE-D390-BB5C-E0A4C23BE26E}"/>
              </a:ext>
            </a:extLst>
          </p:cNvPr>
          <p:cNvGraphicFramePr>
            <a:graphicFrameLocks noGrp="1"/>
          </p:cNvGraphicFramePr>
          <p:nvPr>
            <p:extLst>
              <p:ext uri="{D42A27DB-BD31-4B8C-83A1-F6EECF244321}">
                <p14:modId xmlns:p14="http://schemas.microsoft.com/office/powerpoint/2010/main" val="817351820"/>
              </p:ext>
            </p:extLst>
          </p:nvPr>
        </p:nvGraphicFramePr>
        <p:xfrm>
          <a:off x="360172" y="4095439"/>
          <a:ext cx="8024094"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gridCol w="308619">
                  <a:extLst>
                    <a:ext uri="{9D8B030D-6E8A-4147-A177-3AD203B41FA5}">
                      <a16:colId xmlns:a16="http://schemas.microsoft.com/office/drawing/2014/main" val="734879894"/>
                    </a:ext>
                  </a:extLst>
                </a:gridCol>
                <a:gridCol w="308619">
                  <a:extLst>
                    <a:ext uri="{9D8B030D-6E8A-4147-A177-3AD203B41FA5}">
                      <a16:colId xmlns:a16="http://schemas.microsoft.com/office/drawing/2014/main" val="1718225167"/>
                    </a:ext>
                  </a:extLst>
                </a:gridCol>
                <a:gridCol w="308619">
                  <a:extLst>
                    <a:ext uri="{9D8B030D-6E8A-4147-A177-3AD203B41FA5}">
                      <a16:colId xmlns:a16="http://schemas.microsoft.com/office/drawing/2014/main" val="2249222071"/>
                    </a:ext>
                  </a:extLst>
                </a:gridCol>
                <a:gridCol w="308619">
                  <a:extLst>
                    <a:ext uri="{9D8B030D-6E8A-4147-A177-3AD203B41FA5}">
                      <a16:colId xmlns:a16="http://schemas.microsoft.com/office/drawing/2014/main" val="783484956"/>
                    </a:ext>
                  </a:extLst>
                </a:gridCol>
                <a:gridCol w="308619">
                  <a:extLst>
                    <a:ext uri="{9D8B030D-6E8A-4147-A177-3AD203B41FA5}">
                      <a16:colId xmlns:a16="http://schemas.microsoft.com/office/drawing/2014/main" val="1020178417"/>
                    </a:ext>
                  </a:extLst>
                </a:gridCol>
                <a:gridCol w="308619">
                  <a:extLst>
                    <a:ext uri="{9D8B030D-6E8A-4147-A177-3AD203B41FA5}">
                      <a16:colId xmlns:a16="http://schemas.microsoft.com/office/drawing/2014/main" val="702590050"/>
                    </a:ext>
                  </a:extLst>
                </a:gridCol>
                <a:gridCol w="308619">
                  <a:extLst>
                    <a:ext uri="{9D8B030D-6E8A-4147-A177-3AD203B41FA5}">
                      <a16:colId xmlns:a16="http://schemas.microsoft.com/office/drawing/2014/main" val="1129093301"/>
                    </a:ext>
                  </a:extLst>
                </a:gridCol>
                <a:gridCol w="308619">
                  <a:extLst>
                    <a:ext uri="{9D8B030D-6E8A-4147-A177-3AD203B41FA5}">
                      <a16:colId xmlns:a16="http://schemas.microsoft.com/office/drawing/2014/main" val="1122535512"/>
                    </a:ext>
                  </a:extLst>
                </a:gridCol>
                <a:gridCol w="308619">
                  <a:extLst>
                    <a:ext uri="{9D8B030D-6E8A-4147-A177-3AD203B41FA5}">
                      <a16:colId xmlns:a16="http://schemas.microsoft.com/office/drawing/2014/main" val="1636368460"/>
                    </a:ext>
                  </a:extLst>
                </a:gridCol>
                <a:gridCol w="308619">
                  <a:extLst>
                    <a:ext uri="{9D8B030D-6E8A-4147-A177-3AD203B41FA5}">
                      <a16:colId xmlns:a16="http://schemas.microsoft.com/office/drawing/2014/main" val="3976503248"/>
                    </a:ext>
                  </a:extLst>
                </a:gridCol>
                <a:gridCol w="308619">
                  <a:extLst>
                    <a:ext uri="{9D8B030D-6E8A-4147-A177-3AD203B41FA5}">
                      <a16:colId xmlns:a16="http://schemas.microsoft.com/office/drawing/2014/main" val="3261226377"/>
                    </a:ext>
                  </a:extLst>
                </a:gridCol>
                <a:gridCol w="308619">
                  <a:extLst>
                    <a:ext uri="{9D8B030D-6E8A-4147-A177-3AD203B41FA5}">
                      <a16:colId xmlns:a16="http://schemas.microsoft.com/office/drawing/2014/main" val="1622133109"/>
                    </a:ext>
                  </a:extLst>
                </a:gridCol>
                <a:gridCol w="308619">
                  <a:extLst>
                    <a:ext uri="{9D8B030D-6E8A-4147-A177-3AD203B41FA5}">
                      <a16:colId xmlns:a16="http://schemas.microsoft.com/office/drawing/2014/main" val="461339935"/>
                    </a:ext>
                  </a:extLst>
                </a:gridCol>
                <a:gridCol w="308619">
                  <a:extLst>
                    <a:ext uri="{9D8B030D-6E8A-4147-A177-3AD203B41FA5}">
                      <a16:colId xmlns:a16="http://schemas.microsoft.com/office/drawing/2014/main" val="1353370149"/>
                    </a:ext>
                  </a:extLst>
                </a:gridCol>
                <a:gridCol w="308619">
                  <a:extLst>
                    <a:ext uri="{9D8B030D-6E8A-4147-A177-3AD203B41FA5}">
                      <a16:colId xmlns:a16="http://schemas.microsoft.com/office/drawing/2014/main" val="1956899471"/>
                    </a:ext>
                  </a:extLst>
                </a:gridCol>
                <a:gridCol w="308619">
                  <a:extLst>
                    <a:ext uri="{9D8B030D-6E8A-4147-A177-3AD203B41FA5}">
                      <a16:colId xmlns:a16="http://schemas.microsoft.com/office/drawing/2014/main" val="1130090069"/>
                    </a:ext>
                  </a:extLst>
                </a:gridCol>
              </a:tblGrid>
              <a:tr h="155141">
                <a:tc>
                  <a:txBody>
                    <a:bodyPr/>
                    <a:lstStyle/>
                    <a:p>
                      <a:pPr algn="ctr"/>
                      <a:r>
                        <a:rPr lang="en-US" sz="1600" b="0" dirty="0">
                          <a:solidFill>
                            <a:schemeClr val="tx1">
                              <a:lumMod val="75000"/>
                            </a:schemeClr>
                          </a:solidFill>
                        </a:rPr>
                        <a:t>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13" name="Table 12">
            <a:extLst>
              <a:ext uri="{FF2B5EF4-FFF2-40B4-BE49-F238E27FC236}">
                <a16:creationId xmlns:a16="http://schemas.microsoft.com/office/drawing/2014/main" id="{B78DAC77-49CE-019F-45E2-4C3DD1232192}"/>
              </a:ext>
            </a:extLst>
          </p:cNvPr>
          <p:cNvGraphicFramePr>
            <a:graphicFrameLocks noGrp="1"/>
          </p:cNvGraphicFramePr>
          <p:nvPr>
            <p:extLst>
              <p:ext uri="{D42A27DB-BD31-4B8C-83A1-F6EECF244321}">
                <p14:modId xmlns:p14="http://schemas.microsoft.com/office/powerpoint/2010/main" val="3068046633"/>
              </p:ext>
            </p:extLst>
          </p:nvPr>
        </p:nvGraphicFramePr>
        <p:xfrm>
          <a:off x="360172" y="5857610"/>
          <a:ext cx="8024094"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gridCol w="308619">
                  <a:extLst>
                    <a:ext uri="{9D8B030D-6E8A-4147-A177-3AD203B41FA5}">
                      <a16:colId xmlns:a16="http://schemas.microsoft.com/office/drawing/2014/main" val="734879894"/>
                    </a:ext>
                  </a:extLst>
                </a:gridCol>
                <a:gridCol w="308619">
                  <a:extLst>
                    <a:ext uri="{9D8B030D-6E8A-4147-A177-3AD203B41FA5}">
                      <a16:colId xmlns:a16="http://schemas.microsoft.com/office/drawing/2014/main" val="1718225167"/>
                    </a:ext>
                  </a:extLst>
                </a:gridCol>
                <a:gridCol w="308619">
                  <a:extLst>
                    <a:ext uri="{9D8B030D-6E8A-4147-A177-3AD203B41FA5}">
                      <a16:colId xmlns:a16="http://schemas.microsoft.com/office/drawing/2014/main" val="2249222071"/>
                    </a:ext>
                  </a:extLst>
                </a:gridCol>
                <a:gridCol w="308619">
                  <a:extLst>
                    <a:ext uri="{9D8B030D-6E8A-4147-A177-3AD203B41FA5}">
                      <a16:colId xmlns:a16="http://schemas.microsoft.com/office/drawing/2014/main" val="783484956"/>
                    </a:ext>
                  </a:extLst>
                </a:gridCol>
                <a:gridCol w="308619">
                  <a:extLst>
                    <a:ext uri="{9D8B030D-6E8A-4147-A177-3AD203B41FA5}">
                      <a16:colId xmlns:a16="http://schemas.microsoft.com/office/drawing/2014/main" val="1020178417"/>
                    </a:ext>
                  </a:extLst>
                </a:gridCol>
                <a:gridCol w="308619">
                  <a:extLst>
                    <a:ext uri="{9D8B030D-6E8A-4147-A177-3AD203B41FA5}">
                      <a16:colId xmlns:a16="http://schemas.microsoft.com/office/drawing/2014/main" val="702590050"/>
                    </a:ext>
                  </a:extLst>
                </a:gridCol>
                <a:gridCol w="308619">
                  <a:extLst>
                    <a:ext uri="{9D8B030D-6E8A-4147-A177-3AD203B41FA5}">
                      <a16:colId xmlns:a16="http://schemas.microsoft.com/office/drawing/2014/main" val="1129093301"/>
                    </a:ext>
                  </a:extLst>
                </a:gridCol>
                <a:gridCol w="308619">
                  <a:extLst>
                    <a:ext uri="{9D8B030D-6E8A-4147-A177-3AD203B41FA5}">
                      <a16:colId xmlns:a16="http://schemas.microsoft.com/office/drawing/2014/main" val="1122535512"/>
                    </a:ext>
                  </a:extLst>
                </a:gridCol>
                <a:gridCol w="308619">
                  <a:extLst>
                    <a:ext uri="{9D8B030D-6E8A-4147-A177-3AD203B41FA5}">
                      <a16:colId xmlns:a16="http://schemas.microsoft.com/office/drawing/2014/main" val="1636368460"/>
                    </a:ext>
                  </a:extLst>
                </a:gridCol>
                <a:gridCol w="308619">
                  <a:extLst>
                    <a:ext uri="{9D8B030D-6E8A-4147-A177-3AD203B41FA5}">
                      <a16:colId xmlns:a16="http://schemas.microsoft.com/office/drawing/2014/main" val="3976503248"/>
                    </a:ext>
                  </a:extLst>
                </a:gridCol>
                <a:gridCol w="308619">
                  <a:extLst>
                    <a:ext uri="{9D8B030D-6E8A-4147-A177-3AD203B41FA5}">
                      <a16:colId xmlns:a16="http://schemas.microsoft.com/office/drawing/2014/main" val="3261226377"/>
                    </a:ext>
                  </a:extLst>
                </a:gridCol>
                <a:gridCol w="308619">
                  <a:extLst>
                    <a:ext uri="{9D8B030D-6E8A-4147-A177-3AD203B41FA5}">
                      <a16:colId xmlns:a16="http://schemas.microsoft.com/office/drawing/2014/main" val="1622133109"/>
                    </a:ext>
                  </a:extLst>
                </a:gridCol>
                <a:gridCol w="308619">
                  <a:extLst>
                    <a:ext uri="{9D8B030D-6E8A-4147-A177-3AD203B41FA5}">
                      <a16:colId xmlns:a16="http://schemas.microsoft.com/office/drawing/2014/main" val="461339935"/>
                    </a:ext>
                  </a:extLst>
                </a:gridCol>
                <a:gridCol w="308619">
                  <a:extLst>
                    <a:ext uri="{9D8B030D-6E8A-4147-A177-3AD203B41FA5}">
                      <a16:colId xmlns:a16="http://schemas.microsoft.com/office/drawing/2014/main" val="1353370149"/>
                    </a:ext>
                  </a:extLst>
                </a:gridCol>
                <a:gridCol w="308619">
                  <a:extLst>
                    <a:ext uri="{9D8B030D-6E8A-4147-A177-3AD203B41FA5}">
                      <a16:colId xmlns:a16="http://schemas.microsoft.com/office/drawing/2014/main" val="1956899471"/>
                    </a:ext>
                  </a:extLst>
                </a:gridCol>
                <a:gridCol w="308619">
                  <a:extLst>
                    <a:ext uri="{9D8B030D-6E8A-4147-A177-3AD203B41FA5}">
                      <a16:colId xmlns:a16="http://schemas.microsoft.com/office/drawing/2014/main" val="1130090069"/>
                    </a:ext>
                  </a:extLst>
                </a:gridCol>
              </a:tblGrid>
              <a:tr h="155141">
                <a:tc>
                  <a:txBody>
                    <a:bodyPr/>
                    <a:lstStyle/>
                    <a:p>
                      <a:pPr algn="ctr"/>
                      <a:r>
                        <a:rPr lang="en-US" sz="1600" b="0" dirty="0">
                          <a:solidFill>
                            <a:schemeClr val="tx1">
                              <a:lumMod val="75000"/>
                            </a:schemeClr>
                          </a:solidFill>
                        </a:rPr>
                        <a:t>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14" name="Table 13">
            <a:extLst>
              <a:ext uri="{FF2B5EF4-FFF2-40B4-BE49-F238E27FC236}">
                <a16:creationId xmlns:a16="http://schemas.microsoft.com/office/drawing/2014/main" id="{676889A6-E031-61BC-1460-8225E90B641B}"/>
              </a:ext>
            </a:extLst>
          </p:cNvPr>
          <p:cNvGraphicFramePr>
            <a:graphicFrameLocks noGrp="1"/>
          </p:cNvGraphicFramePr>
          <p:nvPr>
            <p:extLst>
              <p:ext uri="{D42A27DB-BD31-4B8C-83A1-F6EECF244321}">
                <p14:modId xmlns:p14="http://schemas.microsoft.com/office/powerpoint/2010/main" val="1466012727"/>
              </p:ext>
            </p:extLst>
          </p:nvPr>
        </p:nvGraphicFramePr>
        <p:xfrm>
          <a:off x="360172" y="4976525"/>
          <a:ext cx="8024094"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gridCol w="308619">
                  <a:extLst>
                    <a:ext uri="{9D8B030D-6E8A-4147-A177-3AD203B41FA5}">
                      <a16:colId xmlns:a16="http://schemas.microsoft.com/office/drawing/2014/main" val="734879894"/>
                    </a:ext>
                  </a:extLst>
                </a:gridCol>
                <a:gridCol w="308619">
                  <a:extLst>
                    <a:ext uri="{9D8B030D-6E8A-4147-A177-3AD203B41FA5}">
                      <a16:colId xmlns:a16="http://schemas.microsoft.com/office/drawing/2014/main" val="1718225167"/>
                    </a:ext>
                  </a:extLst>
                </a:gridCol>
                <a:gridCol w="308619">
                  <a:extLst>
                    <a:ext uri="{9D8B030D-6E8A-4147-A177-3AD203B41FA5}">
                      <a16:colId xmlns:a16="http://schemas.microsoft.com/office/drawing/2014/main" val="2249222071"/>
                    </a:ext>
                  </a:extLst>
                </a:gridCol>
                <a:gridCol w="308619">
                  <a:extLst>
                    <a:ext uri="{9D8B030D-6E8A-4147-A177-3AD203B41FA5}">
                      <a16:colId xmlns:a16="http://schemas.microsoft.com/office/drawing/2014/main" val="783484956"/>
                    </a:ext>
                  </a:extLst>
                </a:gridCol>
                <a:gridCol w="308619">
                  <a:extLst>
                    <a:ext uri="{9D8B030D-6E8A-4147-A177-3AD203B41FA5}">
                      <a16:colId xmlns:a16="http://schemas.microsoft.com/office/drawing/2014/main" val="1020178417"/>
                    </a:ext>
                  </a:extLst>
                </a:gridCol>
                <a:gridCol w="308619">
                  <a:extLst>
                    <a:ext uri="{9D8B030D-6E8A-4147-A177-3AD203B41FA5}">
                      <a16:colId xmlns:a16="http://schemas.microsoft.com/office/drawing/2014/main" val="702590050"/>
                    </a:ext>
                  </a:extLst>
                </a:gridCol>
                <a:gridCol w="308619">
                  <a:extLst>
                    <a:ext uri="{9D8B030D-6E8A-4147-A177-3AD203B41FA5}">
                      <a16:colId xmlns:a16="http://schemas.microsoft.com/office/drawing/2014/main" val="1129093301"/>
                    </a:ext>
                  </a:extLst>
                </a:gridCol>
                <a:gridCol w="308619">
                  <a:extLst>
                    <a:ext uri="{9D8B030D-6E8A-4147-A177-3AD203B41FA5}">
                      <a16:colId xmlns:a16="http://schemas.microsoft.com/office/drawing/2014/main" val="1122535512"/>
                    </a:ext>
                  </a:extLst>
                </a:gridCol>
                <a:gridCol w="308619">
                  <a:extLst>
                    <a:ext uri="{9D8B030D-6E8A-4147-A177-3AD203B41FA5}">
                      <a16:colId xmlns:a16="http://schemas.microsoft.com/office/drawing/2014/main" val="1636368460"/>
                    </a:ext>
                  </a:extLst>
                </a:gridCol>
                <a:gridCol w="308619">
                  <a:extLst>
                    <a:ext uri="{9D8B030D-6E8A-4147-A177-3AD203B41FA5}">
                      <a16:colId xmlns:a16="http://schemas.microsoft.com/office/drawing/2014/main" val="3976503248"/>
                    </a:ext>
                  </a:extLst>
                </a:gridCol>
                <a:gridCol w="308619">
                  <a:extLst>
                    <a:ext uri="{9D8B030D-6E8A-4147-A177-3AD203B41FA5}">
                      <a16:colId xmlns:a16="http://schemas.microsoft.com/office/drawing/2014/main" val="3261226377"/>
                    </a:ext>
                  </a:extLst>
                </a:gridCol>
                <a:gridCol w="308619">
                  <a:extLst>
                    <a:ext uri="{9D8B030D-6E8A-4147-A177-3AD203B41FA5}">
                      <a16:colId xmlns:a16="http://schemas.microsoft.com/office/drawing/2014/main" val="1622133109"/>
                    </a:ext>
                  </a:extLst>
                </a:gridCol>
                <a:gridCol w="308619">
                  <a:extLst>
                    <a:ext uri="{9D8B030D-6E8A-4147-A177-3AD203B41FA5}">
                      <a16:colId xmlns:a16="http://schemas.microsoft.com/office/drawing/2014/main" val="461339935"/>
                    </a:ext>
                  </a:extLst>
                </a:gridCol>
                <a:gridCol w="308619">
                  <a:extLst>
                    <a:ext uri="{9D8B030D-6E8A-4147-A177-3AD203B41FA5}">
                      <a16:colId xmlns:a16="http://schemas.microsoft.com/office/drawing/2014/main" val="1353370149"/>
                    </a:ext>
                  </a:extLst>
                </a:gridCol>
                <a:gridCol w="308619">
                  <a:extLst>
                    <a:ext uri="{9D8B030D-6E8A-4147-A177-3AD203B41FA5}">
                      <a16:colId xmlns:a16="http://schemas.microsoft.com/office/drawing/2014/main" val="1956899471"/>
                    </a:ext>
                  </a:extLst>
                </a:gridCol>
                <a:gridCol w="308619">
                  <a:extLst>
                    <a:ext uri="{9D8B030D-6E8A-4147-A177-3AD203B41FA5}">
                      <a16:colId xmlns:a16="http://schemas.microsoft.com/office/drawing/2014/main" val="1130090069"/>
                    </a:ext>
                  </a:extLst>
                </a:gridCol>
              </a:tblGrid>
              <a:tr h="155141">
                <a:tc>
                  <a:txBody>
                    <a:bodyPr/>
                    <a:lstStyle/>
                    <a:p>
                      <a:pPr algn="ctr"/>
                      <a:r>
                        <a:rPr lang="en-US" sz="1600" b="0" dirty="0">
                          <a:solidFill>
                            <a:schemeClr val="tx1">
                              <a:lumMod val="75000"/>
                            </a:schemeClr>
                          </a:solidFill>
                        </a:rPr>
                        <a:t>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16</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17</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18</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19</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20</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21</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22</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23</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24</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75000"/>
                            </a:schemeClr>
                          </a:solidFill>
                        </a:rPr>
                        <a:t>25</a:t>
                      </a:r>
                      <a:endParaRPr lang="th-TH" sz="1600" b="0" dirty="0">
                        <a:solidFill>
                          <a:schemeClr val="tx1">
                            <a:lumMod val="7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15" name="TextBox 14">
            <a:extLst>
              <a:ext uri="{FF2B5EF4-FFF2-40B4-BE49-F238E27FC236}">
                <a16:creationId xmlns:a16="http://schemas.microsoft.com/office/drawing/2014/main" id="{28473F7E-4EE2-0A63-E2E2-019CF8B6DC26}"/>
              </a:ext>
            </a:extLst>
          </p:cNvPr>
          <p:cNvSpPr txBox="1"/>
          <p:nvPr/>
        </p:nvSpPr>
        <p:spPr>
          <a:xfrm>
            <a:off x="8707271" y="1610436"/>
            <a:ext cx="1342030" cy="523220"/>
          </a:xfrm>
          <a:prstGeom prst="rect">
            <a:avLst/>
          </a:prstGeom>
          <a:noFill/>
        </p:spPr>
        <p:txBody>
          <a:bodyPr wrap="square" rtlCol="0">
            <a:spAutoFit/>
          </a:bodyPr>
          <a:lstStyle/>
          <a:p>
            <a:r>
              <a:rPr lang="en-US" dirty="0"/>
              <a:t>start</a:t>
            </a:r>
          </a:p>
        </p:txBody>
      </p:sp>
      <p:sp>
        <p:nvSpPr>
          <p:cNvPr id="16" name="TextBox 15">
            <a:extLst>
              <a:ext uri="{FF2B5EF4-FFF2-40B4-BE49-F238E27FC236}">
                <a16:creationId xmlns:a16="http://schemas.microsoft.com/office/drawing/2014/main" id="{EECF4142-0DDD-D41C-B600-504096CF1DE3}"/>
              </a:ext>
            </a:extLst>
          </p:cNvPr>
          <p:cNvSpPr txBox="1"/>
          <p:nvPr/>
        </p:nvSpPr>
        <p:spPr>
          <a:xfrm>
            <a:off x="8707271" y="2513498"/>
            <a:ext cx="1342030" cy="523220"/>
          </a:xfrm>
          <a:prstGeom prst="rect">
            <a:avLst/>
          </a:prstGeom>
          <a:noFill/>
        </p:spPr>
        <p:txBody>
          <a:bodyPr wrap="square" rtlCol="0">
            <a:spAutoFit/>
          </a:bodyPr>
          <a:lstStyle/>
          <a:p>
            <a:r>
              <a:rPr lang="en-US" dirty="0"/>
              <a:t>Add ‘k’</a:t>
            </a:r>
          </a:p>
        </p:txBody>
      </p:sp>
      <p:sp>
        <p:nvSpPr>
          <p:cNvPr id="17" name="TextBox 16">
            <a:extLst>
              <a:ext uri="{FF2B5EF4-FFF2-40B4-BE49-F238E27FC236}">
                <a16:creationId xmlns:a16="http://schemas.microsoft.com/office/drawing/2014/main" id="{8E1F8D9C-90FD-8A73-DE8A-F3F4B48ADA82}"/>
              </a:ext>
            </a:extLst>
          </p:cNvPr>
          <p:cNvSpPr txBox="1"/>
          <p:nvPr/>
        </p:nvSpPr>
        <p:spPr>
          <a:xfrm>
            <a:off x="8707271" y="3429000"/>
            <a:ext cx="1342030" cy="523220"/>
          </a:xfrm>
          <a:prstGeom prst="rect">
            <a:avLst/>
          </a:prstGeom>
          <a:noFill/>
        </p:spPr>
        <p:txBody>
          <a:bodyPr wrap="square" rtlCol="0">
            <a:spAutoFit/>
          </a:bodyPr>
          <a:lstStyle/>
          <a:p>
            <a:r>
              <a:rPr lang="en-US" dirty="0"/>
              <a:t>Add ‘a’</a:t>
            </a:r>
          </a:p>
        </p:txBody>
      </p:sp>
      <p:sp>
        <p:nvSpPr>
          <p:cNvPr id="18" name="TextBox 17">
            <a:extLst>
              <a:ext uri="{FF2B5EF4-FFF2-40B4-BE49-F238E27FC236}">
                <a16:creationId xmlns:a16="http://schemas.microsoft.com/office/drawing/2014/main" id="{E215424C-BE08-F820-8107-DDAA8E745837}"/>
              </a:ext>
            </a:extLst>
          </p:cNvPr>
          <p:cNvSpPr txBox="1"/>
          <p:nvPr/>
        </p:nvSpPr>
        <p:spPr>
          <a:xfrm>
            <a:off x="8707271" y="4302456"/>
            <a:ext cx="1342030" cy="523220"/>
          </a:xfrm>
          <a:prstGeom prst="rect">
            <a:avLst/>
          </a:prstGeom>
          <a:noFill/>
        </p:spPr>
        <p:txBody>
          <a:bodyPr wrap="square" rtlCol="0">
            <a:spAutoFit/>
          </a:bodyPr>
          <a:lstStyle/>
          <a:p>
            <a:r>
              <a:rPr lang="en-US" dirty="0"/>
              <a:t>Add ‘w’</a:t>
            </a:r>
          </a:p>
        </p:txBody>
      </p:sp>
      <p:sp>
        <p:nvSpPr>
          <p:cNvPr id="19" name="TextBox 18">
            <a:extLst>
              <a:ext uri="{FF2B5EF4-FFF2-40B4-BE49-F238E27FC236}">
                <a16:creationId xmlns:a16="http://schemas.microsoft.com/office/drawing/2014/main" id="{750E5791-5DC1-FADD-33F5-2E727BE2C9F3}"/>
              </a:ext>
            </a:extLst>
          </p:cNvPr>
          <p:cNvSpPr txBox="1"/>
          <p:nvPr/>
        </p:nvSpPr>
        <p:spPr>
          <a:xfrm>
            <a:off x="8707271" y="5102100"/>
            <a:ext cx="1988024" cy="523220"/>
          </a:xfrm>
          <a:prstGeom prst="rect">
            <a:avLst/>
          </a:prstGeom>
          <a:noFill/>
        </p:spPr>
        <p:txBody>
          <a:bodyPr wrap="square" rtlCol="0">
            <a:spAutoFit/>
          </a:bodyPr>
          <a:lstStyle/>
          <a:p>
            <a:r>
              <a:rPr lang="en-US" dirty="0"/>
              <a:t>delete ‘a’</a:t>
            </a:r>
          </a:p>
        </p:txBody>
      </p:sp>
      <p:sp>
        <p:nvSpPr>
          <p:cNvPr id="20" name="TextBox 19">
            <a:extLst>
              <a:ext uri="{FF2B5EF4-FFF2-40B4-BE49-F238E27FC236}">
                <a16:creationId xmlns:a16="http://schemas.microsoft.com/office/drawing/2014/main" id="{A4893CB9-46F0-8C2B-5C98-FC122C3D8D53}"/>
              </a:ext>
            </a:extLst>
          </p:cNvPr>
          <p:cNvSpPr txBox="1"/>
          <p:nvPr/>
        </p:nvSpPr>
        <p:spPr>
          <a:xfrm>
            <a:off x="8707271" y="6057443"/>
            <a:ext cx="1988024" cy="523220"/>
          </a:xfrm>
          <a:prstGeom prst="rect">
            <a:avLst/>
          </a:prstGeom>
          <a:noFill/>
        </p:spPr>
        <p:txBody>
          <a:bodyPr wrap="square" rtlCol="0">
            <a:spAutoFit/>
          </a:bodyPr>
          <a:lstStyle/>
          <a:p>
            <a:r>
              <a:rPr lang="en-US" dirty="0"/>
              <a:t>find ‘z’</a:t>
            </a:r>
          </a:p>
        </p:txBody>
      </p:sp>
      <p:graphicFrame>
        <p:nvGraphicFramePr>
          <p:cNvPr id="21" name="Table 20">
            <a:extLst>
              <a:ext uri="{FF2B5EF4-FFF2-40B4-BE49-F238E27FC236}">
                <a16:creationId xmlns:a16="http://schemas.microsoft.com/office/drawing/2014/main" id="{B873391B-9DCC-9E87-7452-F9846DC27CB9}"/>
              </a:ext>
            </a:extLst>
          </p:cNvPr>
          <p:cNvGraphicFramePr>
            <a:graphicFrameLocks noGrp="1"/>
          </p:cNvGraphicFramePr>
          <p:nvPr>
            <p:extLst>
              <p:ext uri="{D42A27DB-BD31-4B8C-83A1-F6EECF244321}">
                <p14:modId xmlns:p14="http://schemas.microsoft.com/office/powerpoint/2010/main" val="1777903130"/>
              </p:ext>
            </p:extLst>
          </p:nvPr>
        </p:nvGraphicFramePr>
        <p:xfrm>
          <a:off x="10557302" y="316049"/>
          <a:ext cx="1316252" cy="6246720"/>
        </p:xfrm>
        <a:graphic>
          <a:graphicData uri="http://schemas.openxmlformats.org/drawingml/2006/table">
            <a:tbl>
              <a:tblPr firstRow="1" bandRow="1">
                <a:tableStyleId>{17292A2E-F333-43FB-9621-5CBBE7FDCDCB}</a:tableStyleId>
              </a:tblPr>
              <a:tblGrid>
                <a:gridCol w="658126">
                  <a:extLst>
                    <a:ext uri="{9D8B030D-6E8A-4147-A177-3AD203B41FA5}">
                      <a16:colId xmlns:a16="http://schemas.microsoft.com/office/drawing/2014/main" val="1500797133"/>
                    </a:ext>
                  </a:extLst>
                </a:gridCol>
                <a:gridCol w="658126">
                  <a:extLst>
                    <a:ext uri="{9D8B030D-6E8A-4147-A177-3AD203B41FA5}">
                      <a16:colId xmlns:a16="http://schemas.microsoft.com/office/drawing/2014/main" val="4258367212"/>
                    </a:ext>
                  </a:extLst>
                </a:gridCol>
              </a:tblGrid>
              <a:tr h="224364">
                <a:tc>
                  <a:txBody>
                    <a:bodyPr/>
                    <a:lstStyle/>
                    <a:p>
                      <a:r>
                        <a:rPr lang="en-US" sz="1400" b="1" dirty="0"/>
                        <a:t>x</a:t>
                      </a:r>
                    </a:p>
                  </a:txBody>
                  <a:tcPr marT="0" marB="18000"/>
                </a:tc>
                <a:tc>
                  <a:txBody>
                    <a:bodyPr/>
                    <a:lstStyle/>
                    <a:p>
                      <a:r>
                        <a:rPr lang="en-US" sz="1400" b="1" dirty="0"/>
                        <a:t>H(x)</a:t>
                      </a:r>
                    </a:p>
                  </a:txBody>
                  <a:tcPr marT="0" marB="18000"/>
                </a:tc>
                <a:extLst>
                  <a:ext uri="{0D108BD9-81ED-4DB2-BD59-A6C34878D82A}">
                    <a16:rowId xmlns:a16="http://schemas.microsoft.com/office/drawing/2014/main" val="2826415541"/>
                  </a:ext>
                </a:extLst>
              </a:tr>
              <a:tr h="224364">
                <a:tc>
                  <a:txBody>
                    <a:bodyPr/>
                    <a:lstStyle/>
                    <a:p>
                      <a:r>
                        <a:rPr lang="en-US" sz="1400" dirty="0"/>
                        <a:t>a</a:t>
                      </a:r>
                    </a:p>
                  </a:txBody>
                  <a:tcPr marT="0" marB="18000"/>
                </a:tc>
                <a:tc>
                  <a:txBody>
                    <a:bodyPr/>
                    <a:lstStyle/>
                    <a:p>
                      <a:r>
                        <a:rPr lang="en-US" sz="1400" dirty="0"/>
                        <a:t>0</a:t>
                      </a:r>
                    </a:p>
                  </a:txBody>
                  <a:tcPr marT="0" marB="18000"/>
                </a:tc>
                <a:extLst>
                  <a:ext uri="{0D108BD9-81ED-4DB2-BD59-A6C34878D82A}">
                    <a16:rowId xmlns:a16="http://schemas.microsoft.com/office/drawing/2014/main" val="1504447364"/>
                  </a:ext>
                </a:extLst>
              </a:tr>
              <a:tr h="224364">
                <a:tc>
                  <a:txBody>
                    <a:bodyPr/>
                    <a:lstStyle/>
                    <a:p>
                      <a:r>
                        <a:rPr lang="en-US" sz="1400" dirty="0"/>
                        <a:t>b</a:t>
                      </a:r>
                    </a:p>
                  </a:txBody>
                  <a:tcPr marT="0" marB="18000"/>
                </a:tc>
                <a:tc>
                  <a:txBody>
                    <a:bodyPr/>
                    <a:lstStyle/>
                    <a:p>
                      <a:r>
                        <a:rPr lang="en-US" sz="1400" dirty="0"/>
                        <a:t>1</a:t>
                      </a:r>
                    </a:p>
                  </a:txBody>
                  <a:tcPr marT="0" marB="18000"/>
                </a:tc>
                <a:extLst>
                  <a:ext uri="{0D108BD9-81ED-4DB2-BD59-A6C34878D82A}">
                    <a16:rowId xmlns:a16="http://schemas.microsoft.com/office/drawing/2014/main" val="4036690659"/>
                  </a:ext>
                </a:extLst>
              </a:tr>
              <a:tr h="224364">
                <a:tc>
                  <a:txBody>
                    <a:bodyPr/>
                    <a:lstStyle/>
                    <a:p>
                      <a:r>
                        <a:rPr lang="en-US" sz="1400" dirty="0"/>
                        <a:t>c</a:t>
                      </a:r>
                    </a:p>
                  </a:txBody>
                  <a:tcPr marT="0" marB="18000"/>
                </a:tc>
                <a:tc>
                  <a:txBody>
                    <a:bodyPr/>
                    <a:lstStyle/>
                    <a:p>
                      <a:r>
                        <a:rPr lang="en-US" sz="1200" dirty="0"/>
                        <a:t>2</a:t>
                      </a:r>
                    </a:p>
                  </a:txBody>
                  <a:tcPr marT="0" marB="18000"/>
                </a:tc>
                <a:extLst>
                  <a:ext uri="{0D108BD9-81ED-4DB2-BD59-A6C34878D82A}">
                    <a16:rowId xmlns:a16="http://schemas.microsoft.com/office/drawing/2014/main" val="2610546179"/>
                  </a:ext>
                </a:extLst>
              </a:tr>
              <a:tr h="224364">
                <a:tc>
                  <a:txBody>
                    <a:bodyPr/>
                    <a:lstStyle/>
                    <a:p>
                      <a:r>
                        <a:rPr lang="en-US" sz="1400" dirty="0"/>
                        <a:t>d</a:t>
                      </a:r>
                    </a:p>
                  </a:txBody>
                  <a:tcPr marT="0" marB="18000"/>
                </a:tc>
                <a:tc>
                  <a:txBody>
                    <a:bodyPr/>
                    <a:lstStyle/>
                    <a:p>
                      <a:r>
                        <a:rPr lang="en-US" sz="1400" dirty="0"/>
                        <a:t>3</a:t>
                      </a:r>
                    </a:p>
                  </a:txBody>
                  <a:tcPr marT="0" marB="18000"/>
                </a:tc>
                <a:extLst>
                  <a:ext uri="{0D108BD9-81ED-4DB2-BD59-A6C34878D82A}">
                    <a16:rowId xmlns:a16="http://schemas.microsoft.com/office/drawing/2014/main" val="3069750974"/>
                  </a:ext>
                </a:extLst>
              </a:tr>
              <a:tr h="224364">
                <a:tc>
                  <a:txBody>
                    <a:bodyPr/>
                    <a:lstStyle/>
                    <a:p>
                      <a:r>
                        <a:rPr lang="en-US" sz="1400" dirty="0"/>
                        <a:t>e</a:t>
                      </a:r>
                    </a:p>
                  </a:txBody>
                  <a:tcPr marT="0" marB="18000"/>
                </a:tc>
                <a:tc>
                  <a:txBody>
                    <a:bodyPr/>
                    <a:lstStyle/>
                    <a:p>
                      <a:r>
                        <a:rPr lang="en-US" sz="1400" dirty="0"/>
                        <a:t>4</a:t>
                      </a:r>
                    </a:p>
                  </a:txBody>
                  <a:tcPr marT="0" marB="18000"/>
                </a:tc>
                <a:extLst>
                  <a:ext uri="{0D108BD9-81ED-4DB2-BD59-A6C34878D82A}">
                    <a16:rowId xmlns:a16="http://schemas.microsoft.com/office/drawing/2014/main" val="3900276480"/>
                  </a:ext>
                </a:extLst>
              </a:tr>
              <a:tr h="224364">
                <a:tc>
                  <a:txBody>
                    <a:bodyPr/>
                    <a:lstStyle/>
                    <a:p>
                      <a:r>
                        <a:rPr lang="en-US" sz="1400" dirty="0"/>
                        <a:t>f</a:t>
                      </a:r>
                    </a:p>
                  </a:txBody>
                  <a:tcPr marT="0" marB="18000"/>
                </a:tc>
                <a:tc>
                  <a:txBody>
                    <a:bodyPr/>
                    <a:lstStyle/>
                    <a:p>
                      <a:r>
                        <a:rPr lang="en-US" sz="1400" dirty="0"/>
                        <a:t>5</a:t>
                      </a:r>
                    </a:p>
                  </a:txBody>
                  <a:tcPr marT="0" marB="18000"/>
                </a:tc>
                <a:extLst>
                  <a:ext uri="{0D108BD9-81ED-4DB2-BD59-A6C34878D82A}">
                    <a16:rowId xmlns:a16="http://schemas.microsoft.com/office/drawing/2014/main" val="859799659"/>
                  </a:ext>
                </a:extLst>
              </a:tr>
              <a:tr h="224364">
                <a:tc>
                  <a:txBody>
                    <a:bodyPr/>
                    <a:lstStyle/>
                    <a:p>
                      <a:r>
                        <a:rPr lang="en-US" sz="1400" dirty="0"/>
                        <a:t>g</a:t>
                      </a:r>
                    </a:p>
                  </a:txBody>
                  <a:tcPr marT="0" marB="18000"/>
                </a:tc>
                <a:tc>
                  <a:txBody>
                    <a:bodyPr/>
                    <a:lstStyle/>
                    <a:p>
                      <a:r>
                        <a:rPr lang="en-US" sz="1400" dirty="0"/>
                        <a:t>6</a:t>
                      </a:r>
                    </a:p>
                  </a:txBody>
                  <a:tcPr marT="0" marB="18000"/>
                </a:tc>
                <a:extLst>
                  <a:ext uri="{0D108BD9-81ED-4DB2-BD59-A6C34878D82A}">
                    <a16:rowId xmlns:a16="http://schemas.microsoft.com/office/drawing/2014/main" val="2057095009"/>
                  </a:ext>
                </a:extLst>
              </a:tr>
              <a:tr h="224364">
                <a:tc>
                  <a:txBody>
                    <a:bodyPr/>
                    <a:lstStyle/>
                    <a:p>
                      <a:r>
                        <a:rPr lang="en-US" sz="1400" dirty="0"/>
                        <a:t>h</a:t>
                      </a:r>
                    </a:p>
                  </a:txBody>
                  <a:tcPr marT="0" marB="18000"/>
                </a:tc>
                <a:tc>
                  <a:txBody>
                    <a:bodyPr/>
                    <a:lstStyle/>
                    <a:p>
                      <a:r>
                        <a:rPr lang="en-US" sz="1400" dirty="0"/>
                        <a:t>7</a:t>
                      </a:r>
                    </a:p>
                  </a:txBody>
                  <a:tcPr marT="0" marB="18000"/>
                </a:tc>
                <a:extLst>
                  <a:ext uri="{0D108BD9-81ED-4DB2-BD59-A6C34878D82A}">
                    <a16:rowId xmlns:a16="http://schemas.microsoft.com/office/drawing/2014/main" val="2918188361"/>
                  </a:ext>
                </a:extLst>
              </a:tr>
              <a:tr h="224364">
                <a:tc>
                  <a:txBody>
                    <a:bodyPr/>
                    <a:lstStyle/>
                    <a:p>
                      <a:r>
                        <a:rPr lang="en-US" sz="1400" dirty="0" err="1"/>
                        <a:t>i</a:t>
                      </a:r>
                      <a:endParaRPr lang="en-US" sz="1400" dirty="0"/>
                    </a:p>
                  </a:txBody>
                  <a:tcPr marT="0" marB="18000"/>
                </a:tc>
                <a:tc>
                  <a:txBody>
                    <a:bodyPr/>
                    <a:lstStyle/>
                    <a:p>
                      <a:r>
                        <a:rPr lang="en-US" sz="1400" dirty="0"/>
                        <a:t>8</a:t>
                      </a:r>
                    </a:p>
                  </a:txBody>
                  <a:tcPr marT="0" marB="18000"/>
                </a:tc>
                <a:extLst>
                  <a:ext uri="{0D108BD9-81ED-4DB2-BD59-A6C34878D82A}">
                    <a16:rowId xmlns:a16="http://schemas.microsoft.com/office/drawing/2014/main" val="3261569902"/>
                  </a:ext>
                </a:extLst>
              </a:tr>
              <a:tr h="224364">
                <a:tc>
                  <a:txBody>
                    <a:bodyPr/>
                    <a:lstStyle/>
                    <a:p>
                      <a:r>
                        <a:rPr lang="en-US" sz="1400" dirty="0"/>
                        <a:t>j</a:t>
                      </a:r>
                    </a:p>
                  </a:txBody>
                  <a:tcPr marT="0" marB="18000"/>
                </a:tc>
                <a:tc>
                  <a:txBody>
                    <a:bodyPr/>
                    <a:lstStyle/>
                    <a:p>
                      <a:r>
                        <a:rPr lang="en-US" sz="1400" dirty="0"/>
                        <a:t>9</a:t>
                      </a:r>
                    </a:p>
                  </a:txBody>
                  <a:tcPr marT="0" marB="18000"/>
                </a:tc>
                <a:extLst>
                  <a:ext uri="{0D108BD9-81ED-4DB2-BD59-A6C34878D82A}">
                    <a16:rowId xmlns:a16="http://schemas.microsoft.com/office/drawing/2014/main" val="2138835240"/>
                  </a:ext>
                </a:extLst>
              </a:tr>
              <a:tr h="224364">
                <a:tc>
                  <a:txBody>
                    <a:bodyPr/>
                    <a:lstStyle/>
                    <a:p>
                      <a:r>
                        <a:rPr lang="en-US" sz="1400" dirty="0"/>
                        <a:t>k</a:t>
                      </a:r>
                    </a:p>
                  </a:txBody>
                  <a:tcPr marT="0" marB="18000"/>
                </a:tc>
                <a:tc>
                  <a:txBody>
                    <a:bodyPr/>
                    <a:lstStyle/>
                    <a:p>
                      <a:r>
                        <a:rPr lang="en-US" sz="1400" dirty="0"/>
                        <a:t>10</a:t>
                      </a:r>
                    </a:p>
                  </a:txBody>
                  <a:tcPr marT="0" marB="18000"/>
                </a:tc>
                <a:extLst>
                  <a:ext uri="{0D108BD9-81ED-4DB2-BD59-A6C34878D82A}">
                    <a16:rowId xmlns:a16="http://schemas.microsoft.com/office/drawing/2014/main" val="793189246"/>
                  </a:ext>
                </a:extLst>
              </a:tr>
              <a:tr h="224364">
                <a:tc>
                  <a:txBody>
                    <a:bodyPr/>
                    <a:lstStyle/>
                    <a:p>
                      <a:r>
                        <a:rPr lang="en-US" sz="1400" dirty="0"/>
                        <a:t>l</a:t>
                      </a:r>
                    </a:p>
                  </a:txBody>
                  <a:tcPr marT="0" marB="18000"/>
                </a:tc>
                <a:tc>
                  <a:txBody>
                    <a:bodyPr/>
                    <a:lstStyle/>
                    <a:p>
                      <a:r>
                        <a:rPr lang="en-US" sz="1400" dirty="0"/>
                        <a:t>11</a:t>
                      </a:r>
                    </a:p>
                  </a:txBody>
                  <a:tcPr marT="0" marB="18000"/>
                </a:tc>
                <a:extLst>
                  <a:ext uri="{0D108BD9-81ED-4DB2-BD59-A6C34878D82A}">
                    <a16:rowId xmlns:a16="http://schemas.microsoft.com/office/drawing/2014/main" val="1515155514"/>
                  </a:ext>
                </a:extLst>
              </a:tr>
              <a:tr h="224364">
                <a:tc>
                  <a:txBody>
                    <a:bodyPr/>
                    <a:lstStyle/>
                    <a:p>
                      <a:r>
                        <a:rPr lang="en-US" sz="1400" dirty="0"/>
                        <a:t>m</a:t>
                      </a:r>
                    </a:p>
                  </a:txBody>
                  <a:tcPr marT="0" marB="18000"/>
                </a:tc>
                <a:tc>
                  <a:txBody>
                    <a:bodyPr/>
                    <a:lstStyle/>
                    <a:p>
                      <a:r>
                        <a:rPr lang="en-US" sz="1400" dirty="0"/>
                        <a:t>12</a:t>
                      </a:r>
                    </a:p>
                  </a:txBody>
                  <a:tcPr marT="0" marB="18000"/>
                </a:tc>
                <a:extLst>
                  <a:ext uri="{0D108BD9-81ED-4DB2-BD59-A6C34878D82A}">
                    <a16:rowId xmlns:a16="http://schemas.microsoft.com/office/drawing/2014/main" val="4090282430"/>
                  </a:ext>
                </a:extLst>
              </a:tr>
              <a:tr h="224364">
                <a:tc>
                  <a:txBody>
                    <a:bodyPr/>
                    <a:lstStyle/>
                    <a:p>
                      <a:r>
                        <a:rPr lang="en-US" sz="1400" dirty="0"/>
                        <a:t>n</a:t>
                      </a:r>
                    </a:p>
                  </a:txBody>
                  <a:tcPr marT="0" marB="18000"/>
                </a:tc>
                <a:tc>
                  <a:txBody>
                    <a:bodyPr/>
                    <a:lstStyle/>
                    <a:p>
                      <a:r>
                        <a:rPr lang="en-US" sz="1400" dirty="0"/>
                        <a:t>13</a:t>
                      </a:r>
                    </a:p>
                  </a:txBody>
                  <a:tcPr marT="0" marB="18000"/>
                </a:tc>
                <a:extLst>
                  <a:ext uri="{0D108BD9-81ED-4DB2-BD59-A6C34878D82A}">
                    <a16:rowId xmlns:a16="http://schemas.microsoft.com/office/drawing/2014/main" val="1515409969"/>
                  </a:ext>
                </a:extLst>
              </a:tr>
              <a:tr h="224364">
                <a:tc>
                  <a:txBody>
                    <a:bodyPr/>
                    <a:lstStyle/>
                    <a:p>
                      <a:r>
                        <a:rPr lang="en-US" sz="1400" dirty="0"/>
                        <a:t>o</a:t>
                      </a:r>
                    </a:p>
                  </a:txBody>
                  <a:tcPr marT="0" marB="18000"/>
                </a:tc>
                <a:tc>
                  <a:txBody>
                    <a:bodyPr/>
                    <a:lstStyle/>
                    <a:p>
                      <a:r>
                        <a:rPr lang="en-US" sz="1400" dirty="0"/>
                        <a:t>14</a:t>
                      </a:r>
                    </a:p>
                  </a:txBody>
                  <a:tcPr marT="0" marB="18000"/>
                </a:tc>
                <a:extLst>
                  <a:ext uri="{0D108BD9-81ED-4DB2-BD59-A6C34878D82A}">
                    <a16:rowId xmlns:a16="http://schemas.microsoft.com/office/drawing/2014/main" val="2172774281"/>
                  </a:ext>
                </a:extLst>
              </a:tr>
              <a:tr h="224364">
                <a:tc>
                  <a:txBody>
                    <a:bodyPr/>
                    <a:lstStyle/>
                    <a:p>
                      <a:r>
                        <a:rPr lang="en-US" sz="1400" dirty="0"/>
                        <a:t>p</a:t>
                      </a:r>
                    </a:p>
                  </a:txBody>
                  <a:tcPr marT="0" marB="18000"/>
                </a:tc>
                <a:tc>
                  <a:txBody>
                    <a:bodyPr/>
                    <a:lstStyle/>
                    <a:p>
                      <a:r>
                        <a:rPr lang="en-US" sz="1400" dirty="0"/>
                        <a:t>15</a:t>
                      </a:r>
                    </a:p>
                  </a:txBody>
                  <a:tcPr marT="0" marB="18000"/>
                </a:tc>
                <a:extLst>
                  <a:ext uri="{0D108BD9-81ED-4DB2-BD59-A6C34878D82A}">
                    <a16:rowId xmlns:a16="http://schemas.microsoft.com/office/drawing/2014/main" val="3519789542"/>
                  </a:ext>
                </a:extLst>
              </a:tr>
              <a:tr h="224364">
                <a:tc>
                  <a:txBody>
                    <a:bodyPr/>
                    <a:lstStyle/>
                    <a:p>
                      <a:r>
                        <a:rPr lang="en-US" sz="1400" dirty="0"/>
                        <a:t>q</a:t>
                      </a:r>
                    </a:p>
                  </a:txBody>
                  <a:tcPr marT="0" marB="18000"/>
                </a:tc>
                <a:tc>
                  <a:txBody>
                    <a:bodyPr/>
                    <a:lstStyle/>
                    <a:p>
                      <a:r>
                        <a:rPr lang="en-US" sz="1400" dirty="0"/>
                        <a:t>16</a:t>
                      </a:r>
                    </a:p>
                  </a:txBody>
                  <a:tcPr marT="0" marB="18000"/>
                </a:tc>
                <a:extLst>
                  <a:ext uri="{0D108BD9-81ED-4DB2-BD59-A6C34878D82A}">
                    <a16:rowId xmlns:a16="http://schemas.microsoft.com/office/drawing/2014/main" val="95885907"/>
                  </a:ext>
                </a:extLst>
              </a:tr>
              <a:tr h="224364">
                <a:tc>
                  <a:txBody>
                    <a:bodyPr/>
                    <a:lstStyle/>
                    <a:p>
                      <a:r>
                        <a:rPr lang="en-US" sz="1400" dirty="0"/>
                        <a:t>r</a:t>
                      </a:r>
                    </a:p>
                  </a:txBody>
                  <a:tcPr marT="0" marB="18000"/>
                </a:tc>
                <a:tc>
                  <a:txBody>
                    <a:bodyPr/>
                    <a:lstStyle/>
                    <a:p>
                      <a:r>
                        <a:rPr lang="en-US" sz="1400" dirty="0"/>
                        <a:t>17</a:t>
                      </a:r>
                    </a:p>
                  </a:txBody>
                  <a:tcPr marT="0" marB="18000"/>
                </a:tc>
                <a:extLst>
                  <a:ext uri="{0D108BD9-81ED-4DB2-BD59-A6C34878D82A}">
                    <a16:rowId xmlns:a16="http://schemas.microsoft.com/office/drawing/2014/main" val="3421191933"/>
                  </a:ext>
                </a:extLst>
              </a:tr>
              <a:tr h="224364">
                <a:tc>
                  <a:txBody>
                    <a:bodyPr/>
                    <a:lstStyle/>
                    <a:p>
                      <a:r>
                        <a:rPr lang="en-US" sz="1400" dirty="0"/>
                        <a:t>s</a:t>
                      </a:r>
                    </a:p>
                  </a:txBody>
                  <a:tcPr marT="0" marB="18000"/>
                </a:tc>
                <a:tc>
                  <a:txBody>
                    <a:bodyPr/>
                    <a:lstStyle/>
                    <a:p>
                      <a:r>
                        <a:rPr lang="en-US" sz="1400" dirty="0"/>
                        <a:t>18</a:t>
                      </a:r>
                    </a:p>
                  </a:txBody>
                  <a:tcPr marT="0" marB="18000"/>
                </a:tc>
                <a:extLst>
                  <a:ext uri="{0D108BD9-81ED-4DB2-BD59-A6C34878D82A}">
                    <a16:rowId xmlns:a16="http://schemas.microsoft.com/office/drawing/2014/main" val="1400686728"/>
                  </a:ext>
                </a:extLst>
              </a:tr>
              <a:tr h="224364">
                <a:tc>
                  <a:txBody>
                    <a:bodyPr/>
                    <a:lstStyle/>
                    <a:p>
                      <a:r>
                        <a:rPr lang="en-US" sz="1400" dirty="0"/>
                        <a:t>t</a:t>
                      </a:r>
                    </a:p>
                  </a:txBody>
                  <a:tcPr marT="0" marB="18000"/>
                </a:tc>
                <a:tc>
                  <a:txBody>
                    <a:bodyPr/>
                    <a:lstStyle/>
                    <a:p>
                      <a:r>
                        <a:rPr lang="en-US" sz="1400" dirty="0"/>
                        <a:t>19</a:t>
                      </a:r>
                    </a:p>
                  </a:txBody>
                  <a:tcPr marT="0" marB="18000"/>
                </a:tc>
                <a:extLst>
                  <a:ext uri="{0D108BD9-81ED-4DB2-BD59-A6C34878D82A}">
                    <a16:rowId xmlns:a16="http://schemas.microsoft.com/office/drawing/2014/main" val="627944975"/>
                  </a:ext>
                </a:extLst>
              </a:tr>
              <a:tr h="224364">
                <a:tc>
                  <a:txBody>
                    <a:bodyPr/>
                    <a:lstStyle/>
                    <a:p>
                      <a:r>
                        <a:rPr lang="en-US" sz="1400" dirty="0"/>
                        <a:t>u</a:t>
                      </a:r>
                    </a:p>
                  </a:txBody>
                  <a:tcPr marT="0" marB="18000"/>
                </a:tc>
                <a:tc>
                  <a:txBody>
                    <a:bodyPr/>
                    <a:lstStyle/>
                    <a:p>
                      <a:r>
                        <a:rPr lang="en-US" sz="1400" dirty="0"/>
                        <a:t>20</a:t>
                      </a:r>
                    </a:p>
                  </a:txBody>
                  <a:tcPr marT="0" marB="18000"/>
                </a:tc>
                <a:extLst>
                  <a:ext uri="{0D108BD9-81ED-4DB2-BD59-A6C34878D82A}">
                    <a16:rowId xmlns:a16="http://schemas.microsoft.com/office/drawing/2014/main" val="2201480104"/>
                  </a:ext>
                </a:extLst>
              </a:tr>
              <a:tr h="224364">
                <a:tc>
                  <a:txBody>
                    <a:bodyPr/>
                    <a:lstStyle/>
                    <a:p>
                      <a:r>
                        <a:rPr lang="en-US" sz="1400" dirty="0"/>
                        <a:t>v</a:t>
                      </a:r>
                    </a:p>
                  </a:txBody>
                  <a:tcPr marT="0" marB="18000"/>
                </a:tc>
                <a:tc>
                  <a:txBody>
                    <a:bodyPr/>
                    <a:lstStyle/>
                    <a:p>
                      <a:r>
                        <a:rPr lang="en-US" sz="1400" dirty="0"/>
                        <a:t>21</a:t>
                      </a:r>
                    </a:p>
                  </a:txBody>
                  <a:tcPr marT="0" marB="18000"/>
                </a:tc>
                <a:extLst>
                  <a:ext uri="{0D108BD9-81ED-4DB2-BD59-A6C34878D82A}">
                    <a16:rowId xmlns:a16="http://schemas.microsoft.com/office/drawing/2014/main" val="3155037838"/>
                  </a:ext>
                </a:extLst>
              </a:tr>
              <a:tr h="224364">
                <a:tc>
                  <a:txBody>
                    <a:bodyPr/>
                    <a:lstStyle/>
                    <a:p>
                      <a:r>
                        <a:rPr lang="en-US" sz="1400" dirty="0"/>
                        <a:t>w</a:t>
                      </a:r>
                    </a:p>
                  </a:txBody>
                  <a:tcPr marT="0" marB="18000"/>
                </a:tc>
                <a:tc>
                  <a:txBody>
                    <a:bodyPr/>
                    <a:lstStyle/>
                    <a:p>
                      <a:r>
                        <a:rPr lang="en-US" sz="1400" dirty="0"/>
                        <a:t>22</a:t>
                      </a:r>
                    </a:p>
                  </a:txBody>
                  <a:tcPr marT="0" marB="18000"/>
                </a:tc>
                <a:extLst>
                  <a:ext uri="{0D108BD9-81ED-4DB2-BD59-A6C34878D82A}">
                    <a16:rowId xmlns:a16="http://schemas.microsoft.com/office/drawing/2014/main" val="3336959291"/>
                  </a:ext>
                </a:extLst>
              </a:tr>
              <a:tr h="224364">
                <a:tc>
                  <a:txBody>
                    <a:bodyPr/>
                    <a:lstStyle/>
                    <a:p>
                      <a:r>
                        <a:rPr lang="en-US" sz="1400" dirty="0"/>
                        <a:t>x</a:t>
                      </a:r>
                    </a:p>
                  </a:txBody>
                  <a:tcPr marT="0" marB="18000"/>
                </a:tc>
                <a:tc>
                  <a:txBody>
                    <a:bodyPr/>
                    <a:lstStyle/>
                    <a:p>
                      <a:r>
                        <a:rPr lang="en-US" sz="1400" dirty="0"/>
                        <a:t>23</a:t>
                      </a:r>
                    </a:p>
                  </a:txBody>
                  <a:tcPr marT="0" marB="18000"/>
                </a:tc>
                <a:extLst>
                  <a:ext uri="{0D108BD9-81ED-4DB2-BD59-A6C34878D82A}">
                    <a16:rowId xmlns:a16="http://schemas.microsoft.com/office/drawing/2014/main" val="1560928733"/>
                  </a:ext>
                </a:extLst>
              </a:tr>
              <a:tr h="224364">
                <a:tc>
                  <a:txBody>
                    <a:bodyPr/>
                    <a:lstStyle/>
                    <a:p>
                      <a:r>
                        <a:rPr lang="en-US" sz="1400" dirty="0"/>
                        <a:t>y</a:t>
                      </a:r>
                    </a:p>
                  </a:txBody>
                  <a:tcPr marT="0" marB="18000"/>
                </a:tc>
                <a:tc>
                  <a:txBody>
                    <a:bodyPr/>
                    <a:lstStyle/>
                    <a:p>
                      <a:r>
                        <a:rPr lang="en-US" sz="1400" dirty="0"/>
                        <a:t>24</a:t>
                      </a:r>
                    </a:p>
                  </a:txBody>
                  <a:tcPr marT="0" marB="18000"/>
                </a:tc>
                <a:extLst>
                  <a:ext uri="{0D108BD9-81ED-4DB2-BD59-A6C34878D82A}">
                    <a16:rowId xmlns:a16="http://schemas.microsoft.com/office/drawing/2014/main" val="608849017"/>
                  </a:ext>
                </a:extLst>
              </a:tr>
              <a:tr h="224364">
                <a:tc>
                  <a:txBody>
                    <a:bodyPr/>
                    <a:lstStyle/>
                    <a:p>
                      <a:r>
                        <a:rPr lang="en-US" sz="1400" dirty="0"/>
                        <a:t>z</a:t>
                      </a:r>
                    </a:p>
                  </a:txBody>
                  <a:tcPr marT="0" marB="18000"/>
                </a:tc>
                <a:tc>
                  <a:txBody>
                    <a:bodyPr/>
                    <a:lstStyle/>
                    <a:p>
                      <a:r>
                        <a:rPr lang="en-US" sz="1400" dirty="0"/>
                        <a:t>25</a:t>
                      </a:r>
                    </a:p>
                  </a:txBody>
                  <a:tcPr marT="0" marB="18000"/>
                </a:tc>
                <a:extLst>
                  <a:ext uri="{0D108BD9-81ED-4DB2-BD59-A6C34878D82A}">
                    <a16:rowId xmlns:a16="http://schemas.microsoft.com/office/drawing/2014/main" val="191301698"/>
                  </a:ext>
                </a:extLst>
              </a:tr>
            </a:tbl>
          </a:graphicData>
        </a:graphic>
      </p:graphicFrame>
    </p:spTree>
    <p:extLst>
      <p:ext uri="{BB962C8B-B14F-4D97-AF65-F5344CB8AC3E}">
        <p14:creationId xmlns:p14="http://schemas.microsoft.com/office/powerpoint/2010/main" val="278382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35E98-626A-53DA-838B-A37220A06A16}"/>
              </a:ext>
            </a:extLst>
          </p:cNvPr>
          <p:cNvSpPr>
            <a:spLocks noGrp="1"/>
          </p:cNvSpPr>
          <p:nvPr>
            <p:ph type="title"/>
          </p:nvPr>
        </p:nvSpPr>
        <p:spPr/>
        <p:txBody>
          <a:bodyPr/>
          <a:lstStyle/>
          <a:p>
            <a:r>
              <a:rPr lang="en-US" dirty="0"/>
              <a:t>Using Hash Table as a std::map</a:t>
            </a:r>
          </a:p>
        </p:txBody>
      </p:sp>
      <p:sp>
        <p:nvSpPr>
          <p:cNvPr id="3" name="Content Placeholder 2">
            <a:extLst>
              <a:ext uri="{FF2B5EF4-FFF2-40B4-BE49-F238E27FC236}">
                <a16:creationId xmlns:a16="http://schemas.microsoft.com/office/drawing/2014/main" id="{878BA371-37D8-9C70-F6AF-445560C39884}"/>
              </a:ext>
            </a:extLst>
          </p:cNvPr>
          <p:cNvSpPr>
            <a:spLocks noGrp="1"/>
          </p:cNvSpPr>
          <p:nvPr>
            <p:ph idx="1"/>
          </p:nvPr>
        </p:nvSpPr>
        <p:spPr>
          <a:xfrm>
            <a:off x="838200" y="1358780"/>
            <a:ext cx="10515600" cy="3789115"/>
          </a:xfrm>
        </p:spPr>
        <p:txBody>
          <a:bodyPr>
            <a:normAutofit fontScale="85000" lnSpcReduction="20000"/>
          </a:bodyPr>
          <a:lstStyle/>
          <a:p>
            <a:r>
              <a:rPr lang="en-US" dirty="0"/>
              <a:t>As a map, we store a </a:t>
            </a:r>
            <a:r>
              <a:rPr lang="en-US" dirty="0">
                <a:solidFill>
                  <a:schemeClr val="accent5"/>
                </a:solidFill>
              </a:rPr>
              <a:t>pair</a:t>
            </a:r>
            <a:r>
              <a:rPr lang="en-US" dirty="0"/>
              <a:t> of </a:t>
            </a:r>
            <a:r>
              <a:rPr lang="en-US" dirty="0">
                <a:solidFill>
                  <a:schemeClr val="accent3"/>
                </a:solidFill>
              </a:rPr>
              <a:t>key</a:t>
            </a:r>
            <a:r>
              <a:rPr lang="en-US" dirty="0"/>
              <a:t> and its </a:t>
            </a:r>
            <a:r>
              <a:rPr lang="en-US" dirty="0">
                <a:solidFill>
                  <a:schemeClr val="accent6"/>
                </a:solidFill>
              </a:rPr>
              <a:t>associated data</a:t>
            </a:r>
          </a:p>
          <a:p>
            <a:r>
              <a:rPr lang="en-US" dirty="0"/>
              <a:t>For simplicity in describing the hash, we will consider using a hash as a std::set where we only store whether we have the key in the data structure. </a:t>
            </a:r>
          </a:p>
          <a:p>
            <a:pPr lvl="1"/>
            <a:r>
              <a:rPr lang="en-US" dirty="0"/>
              <a:t>To use a map, we will store both the key and its associated value</a:t>
            </a:r>
          </a:p>
          <a:p>
            <a:pPr lvl="1"/>
            <a:r>
              <a:rPr lang="en-US" dirty="0"/>
              <a:t>In that case, </a:t>
            </a:r>
            <a:r>
              <a:rPr lang="en-US" dirty="0">
                <a:solidFill>
                  <a:schemeClr val="accent4"/>
                </a:solidFill>
              </a:rPr>
              <a:t>T[x] </a:t>
            </a:r>
            <a:r>
              <a:rPr lang="en-US" dirty="0"/>
              <a:t>(where x is of type T1) stores a </a:t>
            </a:r>
            <a:r>
              <a:rPr lang="en-US" dirty="0">
                <a:solidFill>
                  <a:schemeClr val="accent4"/>
                </a:solidFill>
              </a:rPr>
              <a:t>pair &lt;bool,T2&gt; </a:t>
            </a:r>
            <a:r>
              <a:rPr lang="en-US" dirty="0"/>
              <a:t>where bool indicate whether we have the key X in our data structure and T2 stored the associated value.</a:t>
            </a:r>
          </a:p>
          <a:p>
            <a:r>
              <a:rPr lang="en-US" dirty="0"/>
              <a:t>For example, let’s have an </a:t>
            </a:r>
            <a:r>
              <a:rPr lang="en-US" dirty="0" err="1">
                <a:latin typeface="Consolas" panose="020B0609020204030204" pitchFamily="49" charset="0"/>
              </a:rPr>
              <a:t>unordered_map</a:t>
            </a:r>
            <a:r>
              <a:rPr lang="en-US" dirty="0">
                <a:latin typeface="Consolas" panose="020B0609020204030204" pitchFamily="49" charset="0"/>
              </a:rPr>
              <a:t>&lt;</a:t>
            </a:r>
            <a:r>
              <a:rPr lang="en-US" dirty="0" err="1">
                <a:latin typeface="Consolas" panose="020B0609020204030204" pitchFamily="49" charset="0"/>
              </a:rPr>
              <a:t>char,int</a:t>
            </a:r>
            <a:r>
              <a:rPr lang="en-US" dirty="0">
                <a:latin typeface="Consolas" panose="020B0609020204030204" pitchFamily="49" charset="0"/>
              </a:rPr>
              <a:t>&gt; a</a:t>
            </a:r>
            <a:r>
              <a:rPr lang="en-US" dirty="0"/>
              <a:t> and let use set </a:t>
            </a:r>
            <a:r>
              <a:rPr lang="en-US" dirty="0">
                <a:latin typeface="Consolas" panose="020B0609020204030204" pitchFamily="49" charset="0"/>
              </a:rPr>
              <a:t>a[‘k’] = 20 </a:t>
            </a:r>
            <a:r>
              <a:rPr lang="en-US" dirty="0"/>
              <a:t>and </a:t>
            </a:r>
            <a:r>
              <a:rPr lang="en-US" dirty="0">
                <a:latin typeface="Consolas" panose="020B0609020204030204" pitchFamily="49" charset="0"/>
              </a:rPr>
              <a:t>a[‘e’] = -4</a:t>
            </a:r>
          </a:p>
        </p:txBody>
      </p:sp>
      <p:graphicFrame>
        <p:nvGraphicFramePr>
          <p:cNvPr id="4" name="Table 3">
            <a:extLst>
              <a:ext uri="{FF2B5EF4-FFF2-40B4-BE49-F238E27FC236}">
                <a16:creationId xmlns:a16="http://schemas.microsoft.com/office/drawing/2014/main" id="{71BB95BA-3354-8D78-D850-F39EBCAF87C1}"/>
              </a:ext>
            </a:extLst>
          </p:cNvPr>
          <p:cNvGraphicFramePr>
            <a:graphicFrameLocks noGrp="1"/>
          </p:cNvGraphicFramePr>
          <p:nvPr>
            <p:extLst>
              <p:ext uri="{D42A27DB-BD31-4B8C-83A1-F6EECF244321}">
                <p14:modId xmlns:p14="http://schemas.microsoft.com/office/powerpoint/2010/main" val="380882764"/>
              </p:ext>
            </p:extLst>
          </p:nvPr>
        </p:nvGraphicFramePr>
        <p:xfrm>
          <a:off x="838200" y="5033539"/>
          <a:ext cx="9874254" cy="817372"/>
        </p:xfrm>
        <a:graphic>
          <a:graphicData uri="http://schemas.openxmlformats.org/drawingml/2006/table">
            <a:tbl>
              <a:tblPr firstRow="1" bandRow="1">
                <a:tableStyleId>{E8B1032C-EA38-4F05-BA0D-38AFFFC7BED3}</a:tableStyleId>
              </a:tblPr>
              <a:tblGrid>
                <a:gridCol w="759558">
                  <a:extLst>
                    <a:ext uri="{9D8B030D-6E8A-4147-A177-3AD203B41FA5}">
                      <a16:colId xmlns:a16="http://schemas.microsoft.com/office/drawing/2014/main" val="2431925760"/>
                    </a:ext>
                  </a:extLst>
                </a:gridCol>
                <a:gridCol w="759558">
                  <a:extLst>
                    <a:ext uri="{9D8B030D-6E8A-4147-A177-3AD203B41FA5}">
                      <a16:colId xmlns:a16="http://schemas.microsoft.com/office/drawing/2014/main" val="2788890793"/>
                    </a:ext>
                  </a:extLst>
                </a:gridCol>
                <a:gridCol w="759558">
                  <a:extLst>
                    <a:ext uri="{9D8B030D-6E8A-4147-A177-3AD203B41FA5}">
                      <a16:colId xmlns:a16="http://schemas.microsoft.com/office/drawing/2014/main" val="4204188436"/>
                    </a:ext>
                  </a:extLst>
                </a:gridCol>
                <a:gridCol w="759558">
                  <a:extLst>
                    <a:ext uri="{9D8B030D-6E8A-4147-A177-3AD203B41FA5}">
                      <a16:colId xmlns:a16="http://schemas.microsoft.com/office/drawing/2014/main" val="3149246360"/>
                    </a:ext>
                  </a:extLst>
                </a:gridCol>
                <a:gridCol w="759558">
                  <a:extLst>
                    <a:ext uri="{9D8B030D-6E8A-4147-A177-3AD203B41FA5}">
                      <a16:colId xmlns:a16="http://schemas.microsoft.com/office/drawing/2014/main" val="29750842"/>
                    </a:ext>
                  </a:extLst>
                </a:gridCol>
                <a:gridCol w="759558">
                  <a:extLst>
                    <a:ext uri="{9D8B030D-6E8A-4147-A177-3AD203B41FA5}">
                      <a16:colId xmlns:a16="http://schemas.microsoft.com/office/drawing/2014/main" val="3424601522"/>
                    </a:ext>
                  </a:extLst>
                </a:gridCol>
                <a:gridCol w="759558">
                  <a:extLst>
                    <a:ext uri="{9D8B030D-6E8A-4147-A177-3AD203B41FA5}">
                      <a16:colId xmlns:a16="http://schemas.microsoft.com/office/drawing/2014/main" val="982321321"/>
                    </a:ext>
                  </a:extLst>
                </a:gridCol>
                <a:gridCol w="759558">
                  <a:extLst>
                    <a:ext uri="{9D8B030D-6E8A-4147-A177-3AD203B41FA5}">
                      <a16:colId xmlns:a16="http://schemas.microsoft.com/office/drawing/2014/main" val="3681052910"/>
                    </a:ext>
                  </a:extLst>
                </a:gridCol>
                <a:gridCol w="759558">
                  <a:extLst>
                    <a:ext uri="{9D8B030D-6E8A-4147-A177-3AD203B41FA5}">
                      <a16:colId xmlns:a16="http://schemas.microsoft.com/office/drawing/2014/main" val="4181970598"/>
                    </a:ext>
                  </a:extLst>
                </a:gridCol>
                <a:gridCol w="759558">
                  <a:extLst>
                    <a:ext uri="{9D8B030D-6E8A-4147-A177-3AD203B41FA5}">
                      <a16:colId xmlns:a16="http://schemas.microsoft.com/office/drawing/2014/main" val="1665246077"/>
                    </a:ext>
                  </a:extLst>
                </a:gridCol>
                <a:gridCol w="759558">
                  <a:extLst>
                    <a:ext uri="{9D8B030D-6E8A-4147-A177-3AD203B41FA5}">
                      <a16:colId xmlns:a16="http://schemas.microsoft.com/office/drawing/2014/main" val="734879894"/>
                    </a:ext>
                  </a:extLst>
                </a:gridCol>
                <a:gridCol w="759558">
                  <a:extLst>
                    <a:ext uri="{9D8B030D-6E8A-4147-A177-3AD203B41FA5}">
                      <a16:colId xmlns:a16="http://schemas.microsoft.com/office/drawing/2014/main" val="1718225167"/>
                    </a:ext>
                  </a:extLst>
                </a:gridCol>
                <a:gridCol w="759558">
                  <a:extLst>
                    <a:ext uri="{9D8B030D-6E8A-4147-A177-3AD203B41FA5}">
                      <a16:colId xmlns:a16="http://schemas.microsoft.com/office/drawing/2014/main" val="1672655105"/>
                    </a:ext>
                  </a:extLst>
                </a:gridCol>
              </a:tblGrid>
              <a:tr h="408686">
                <a:tc>
                  <a:txBody>
                    <a:bodyPr/>
                    <a:lstStyle/>
                    <a:p>
                      <a:pPr algn="ctr"/>
                      <a:r>
                        <a:rPr lang="en-US" sz="1400" b="0" dirty="0">
                          <a:solidFill>
                            <a:schemeClr val="tx1">
                              <a:lumMod val="65000"/>
                            </a:schemeClr>
                          </a:solidFill>
                        </a:rPr>
                        <a:t>0</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1</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2</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3</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4</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5</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6</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7</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8</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9</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10</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11</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0" dirty="0">
                          <a:solidFill>
                            <a:schemeClr val="tx1">
                              <a:lumMod val="65000"/>
                            </a:schemeClr>
                          </a:solidFill>
                        </a:rPr>
                        <a:t>…</a:t>
                      </a:r>
                      <a:endParaRPr lang="th-TH" sz="14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408686">
                <a:tc>
                  <a:txBody>
                    <a:bodyPr/>
                    <a:lstStyle/>
                    <a:p>
                      <a:pPr algn="ct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400" dirty="0"/>
                        <a:t>{</a:t>
                      </a:r>
                      <a:r>
                        <a:rPr lang="en-US" sz="1400" dirty="0">
                          <a:solidFill>
                            <a:schemeClr val="accent3"/>
                          </a:solidFill>
                        </a:rPr>
                        <a:t>true</a:t>
                      </a:r>
                      <a:r>
                        <a:rPr lang="en-US" sz="1400" dirty="0"/>
                        <a:t>,-4}</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400" dirty="0"/>
                        <a:t>{</a:t>
                      </a:r>
                      <a:r>
                        <a:rPr lang="en-US" sz="1400" dirty="0">
                          <a:solidFill>
                            <a:schemeClr val="accent3"/>
                          </a:solidFill>
                        </a:rPr>
                        <a:t>true</a:t>
                      </a:r>
                      <a:r>
                        <a:rPr lang="en-US" sz="1400" dirty="0"/>
                        <a:t>, 20}</a:t>
                      </a:r>
                      <a:endParaRPr lang="th-TH" sz="14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accent2"/>
                          </a:solidFill>
                        </a:rPr>
                        <a:t>false</a:t>
                      </a:r>
                      <a:r>
                        <a:rPr lang="en-US" sz="1400" dirty="0"/>
                        <a:t>,0}</a:t>
                      </a:r>
                      <a:endParaRPr lang="th-TH" sz="1400" dirty="0"/>
                    </a:p>
                  </a:txBody>
                  <a:tcPr marL="36000" marR="36000"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algn="ctr"/>
                      <a:r>
                        <a:rPr lang="en-US" sz="1400" dirty="0"/>
                        <a:t>…</a:t>
                      </a:r>
                      <a:endParaRPr lang="th-TH" sz="1400" dirty="0"/>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4361109"/>
                  </a:ext>
                </a:extLst>
              </a:tr>
            </a:tbl>
          </a:graphicData>
        </a:graphic>
      </p:graphicFrame>
    </p:spTree>
    <p:extLst>
      <p:ext uri="{BB962C8B-B14F-4D97-AF65-F5344CB8AC3E}">
        <p14:creationId xmlns:p14="http://schemas.microsoft.com/office/powerpoint/2010/main" val="3267478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C89F-582E-07D6-186E-B9F60AB10966}"/>
              </a:ext>
            </a:extLst>
          </p:cNvPr>
          <p:cNvSpPr>
            <a:spLocks noGrp="1"/>
          </p:cNvSpPr>
          <p:nvPr>
            <p:ph type="title"/>
          </p:nvPr>
        </p:nvSpPr>
        <p:spPr/>
        <p:txBody>
          <a:bodyPr/>
          <a:lstStyle/>
          <a:p>
            <a:r>
              <a:rPr lang="en-US" dirty="0"/>
              <a:t>Basic Analysis of perfect hash</a:t>
            </a:r>
          </a:p>
        </p:txBody>
      </p:sp>
      <p:sp>
        <p:nvSpPr>
          <p:cNvPr id="3" name="Content Placeholder 2">
            <a:extLst>
              <a:ext uri="{FF2B5EF4-FFF2-40B4-BE49-F238E27FC236}">
                <a16:creationId xmlns:a16="http://schemas.microsoft.com/office/drawing/2014/main" id="{2903322F-4C7A-483D-879B-4AA625704715}"/>
              </a:ext>
            </a:extLst>
          </p:cNvPr>
          <p:cNvSpPr>
            <a:spLocks noGrp="1"/>
          </p:cNvSpPr>
          <p:nvPr>
            <p:ph idx="1"/>
          </p:nvPr>
        </p:nvSpPr>
        <p:spPr/>
        <p:txBody>
          <a:bodyPr>
            <a:normAutofit fontScale="77500" lnSpcReduction="20000"/>
          </a:bodyPr>
          <a:lstStyle/>
          <a:p>
            <a:r>
              <a:rPr lang="en-US" dirty="0">
                <a:solidFill>
                  <a:schemeClr val="accent4"/>
                </a:solidFill>
              </a:rPr>
              <a:t>Adding</a:t>
            </a:r>
            <a:r>
              <a:rPr lang="en-US" dirty="0"/>
              <a:t>, </a:t>
            </a:r>
            <a:r>
              <a:rPr lang="en-US" dirty="0">
                <a:solidFill>
                  <a:schemeClr val="accent3"/>
                </a:solidFill>
              </a:rPr>
              <a:t>Deleting</a:t>
            </a:r>
            <a:r>
              <a:rPr lang="en-US" dirty="0"/>
              <a:t> and </a:t>
            </a:r>
            <a:r>
              <a:rPr lang="en-US" dirty="0">
                <a:solidFill>
                  <a:schemeClr val="accent5"/>
                </a:solidFill>
              </a:rPr>
              <a:t>Finding</a:t>
            </a:r>
            <a:r>
              <a:rPr lang="en-US" dirty="0"/>
              <a:t> can be done in </a:t>
            </a:r>
            <a:r>
              <a:rPr lang="en-US" dirty="0">
                <a:solidFill>
                  <a:schemeClr val="accent2"/>
                </a:solidFill>
              </a:rPr>
              <a:t>constant time </a:t>
            </a:r>
            <a:r>
              <a:rPr lang="en-US" dirty="0"/>
              <a:t>(plus the time to  run the hash function)</a:t>
            </a:r>
          </a:p>
          <a:p>
            <a:pPr lvl="1"/>
            <a:r>
              <a:rPr lang="en-US" dirty="0"/>
              <a:t>For the previous example, the hash function is </a:t>
            </a:r>
          </a:p>
          <a:p>
            <a:pPr lvl="1"/>
            <a:r>
              <a:rPr lang="en-US" dirty="0"/>
              <a:t>This is as fast as possible</a:t>
            </a:r>
          </a:p>
          <a:p>
            <a:r>
              <a:rPr lang="en-US" dirty="0"/>
              <a:t>Drawback?</a:t>
            </a:r>
          </a:p>
          <a:p>
            <a:pPr lvl="1"/>
            <a:r>
              <a:rPr lang="en-US" dirty="0"/>
              <a:t>The </a:t>
            </a:r>
            <a:r>
              <a:rPr lang="en-US" dirty="0">
                <a:solidFill>
                  <a:schemeClr val="accent2"/>
                </a:solidFill>
              </a:rPr>
              <a:t>size</a:t>
            </a:r>
            <a:r>
              <a:rPr lang="en-US" dirty="0"/>
              <a:t> of the table is </a:t>
            </a:r>
            <a:r>
              <a:rPr lang="en-US" dirty="0">
                <a:solidFill>
                  <a:schemeClr val="accent2"/>
                </a:solidFill>
              </a:rPr>
              <a:t>always the number of possible value </a:t>
            </a:r>
            <a:r>
              <a:rPr lang="en-US" dirty="0"/>
              <a:t>of data to be stored regardless of how many actual data are being stored, it is 26 in the previous example</a:t>
            </a:r>
          </a:p>
          <a:p>
            <a:pPr lvl="1"/>
            <a:r>
              <a:rPr lang="en-US" dirty="0"/>
              <a:t>What is the size of the table T when we wish to store any string of lower character of length 10?</a:t>
            </a:r>
          </a:p>
          <a:p>
            <a:pPr lvl="1"/>
            <a:r>
              <a:rPr lang="en-US" dirty="0"/>
              <a:t>In many case, the number of possible value of data is </a:t>
            </a:r>
            <a:r>
              <a:rPr lang="en-US" dirty="0">
                <a:solidFill>
                  <a:schemeClr val="accent4"/>
                </a:solidFill>
              </a:rPr>
              <a:t>prohibitively large. </a:t>
            </a:r>
          </a:p>
          <a:p>
            <a:pPr lvl="1"/>
            <a:r>
              <a:rPr lang="en-US" dirty="0"/>
              <a:t>There are approx. 600k English words in the dictionary</a:t>
            </a:r>
          </a:p>
          <a:p>
            <a:pPr lvl="1"/>
            <a:r>
              <a:rPr lang="en-US" dirty="0"/>
              <a:t>Comparing to the number of any string of length 10</a:t>
            </a:r>
          </a:p>
        </p:txBody>
      </p:sp>
      <p:sp>
        <p:nvSpPr>
          <p:cNvPr id="5" name="TextBox 4">
            <a:extLst>
              <a:ext uri="{FF2B5EF4-FFF2-40B4-BE49-F238E27FC236}">
                <a16:creationId xmlns:a16="http://schemas.microsoft.com/office/drawing/2014/main" id="{3EFBC18C-7F16-C7AE-A0B6-E506E3C5C726}"/>
              </a:ext>
            </a:extLst>
          </p:cNvPr>
          <p:cNvSpPr txBox="1"/>
          <p:nvPr/>
        </p:nvSpPr>
        <p:spPr>
          <a:xfrm>
            <a:off x="6772836" y="1991996"/>
            <a:ext cx="2631141" cy="923330"/>
          </a:xfrm>
          <a:prstGeom prst="rect">
            <a:avLst/>
          </a:prstGeom>
          <a:solidFill>
            <a:schemeClr val="bg1"/>
          </a:solidFill>
          <a:ln>
            <a:solidFill>
              <a:schemeClr val="accent1"/>
            </a:solidFill>
          </a:ln>
        </p:spPr>
        <p:txBody>
          <a:bodyPr wrap="square">
            <a:spAutoFit/>
          </a:bodyPr>
          <a:lstStyle/>
          <a:p>
            <a:r>
              <a:rPr lang="en-US" sz="1800" b="0" dirty="0">
                <a:solidFill>
                  <a:srgbClr val="569CD6"/>
                </a:solidFill>
                <a:effectLst/>
                <a:latin typeface="Monaspace Neon" pitchFamily="50" charset="0"/>
              </a:rPr>
              <a:t>int</a:t>
            </a:r>
            <a:r>
              <a:rPr lang="en-US" sz="1800" b="0" dirty="0">
                <a:solidFill>
                  <a:srgbClr val="D4D4D4"/>
                </a:solidFill>
                <a:effectLst/>
                <a:latin typeface="Monaspace Neon" pitchFamily="50" charset="0"/>
              </a:rPr>
              <a:t> </a:t>
            </a:r>
            <a:r>
              <a:rPr lang="en-US" sz="1800" b="0" dirty="0">
                <a:solidFill>
                  <a:srgbClr val="DCDCAA"/>
                </a:solidFill>
                <a:effectLst/>
                <a:latin typeface="Monaspace Neon" pitchFamily="50" charset="0"/>
              </a:rPr>
              <a:t>h</a:t>
            </a:r>
            <a:r>
              <a:rPr lang="en-US" sz="1800" b="0" dirty="0">
                <a:solidFill>
                  <a:srgbClr val="D4D4D4"/>
                </a:solidFill>
                <a:effectLst/>
                <a:latin typeface="Monaspace Neon" pitchFamily="50" charset="0"/>
              </a:rPr>
              <a:t>(</a:t>
            </a:r>
            <a:r>
              <a:rPr lang="en-US" sz="1800" b="0" dirty="0">
                <a:solidFill>
                  <a:srgbClr val="569CD6"/>
                </a:solidFill>
                <a:effectLst/>
                <a:latin typeface="Monaspace Neon" pitchFamily="50" charset="0"/>
              </a:rPr>
              <a:t>char</a:t>
            </a:r>
            <a:r>
              <a:rPr lang="en-US" sz="1800" b="0" dirty="0">
                <a:solidFill>
                  <a:srgbClr val="D4D4D4"/>
                </a:solidFill>
                <a:effectLst/>
                <a:latin typeface="Monaspace Neon" pitchFamily="50" charset="0"/>
              </a:rPr>
              <a:t> </a:t>
            </a:r>
            <a:r>
              <a:rPr lang="en-US" sz="1800" b="0" dirty="0">
                <a:solidFill>
                  <a:srgbClr val="9CDCFE"/>
                </a:solidFill>
                <a:effectLst/>
                <a:latin typeface="Monaspace Neon" pitchFamily="50" charset="0"/>
              </a:rPr>
              <a:t>c</a:t>
            </a:r>
            <a:r>
              <a:rPr lang="en-US" sz="1800" b="0" dirty="0">
                <a:solidFill>
                  <a:srgbClr val="D4D4D4"/>
                </a:solidFill>
                <a:effectLst/>
                <a:latin typeface="Monaspace Neon" pitchFamily="50" charset="0"/>
              </a:rPr>
              <a:t>) { </a:t>
            </a:r>
          </a:p>
          <a:p>
            <a:r>
              <a:rPr lang="en-US" sz="1800" b="0" dirty="0">
                <a:solidFill>
                  <a:srgbClr val="D4D4D4"/>
                </a:solidFill>
                <a:effectLst/>
                <a:latin typeface="Monaspace Neon" pitchFamily="50" charset="0"/>
              </a:rPr>
              <a:t>  </a:t>
            </a:r>
            <a:r>
              <a:rPr lang="en-US" sz="1800" b="0" dirty="0">
                <a:solidFill>
                  <a:srgbClr val="C586C0"/>
                </a:solidFill>
                <a:effectLst/>
                <a:latin typeface="Monaspace Neon" pitchFamily="50" charset="0"/>
              </a:rPr>
              <a:t>return</a:t>
            </a:r>
            <a:r>
              <a:rPr lang="en-US" sz="1800" b="0" dirty="0">
                <a:solidFill>
                  <a:srgbClr val="D4D4D4"/>
                </a:solidFill>
                <a:effectLst/>
                <a:latin typeface="Monaspace Neon" pitchFamily="50" charset="0"/>
              </a:rPr>
              <a:t> c - </a:t>
            </a:r>
            <a:r>
              <a:rPr lang="en-US" sz="1800" b="0" dirty="0">
                <a:solidFill>
                  <a:srgbClr val="CE9178"/>
                </a:solidFill>
                <a:effectLst/>
                <a:latin typeface="Monaspace Neon" pitchFamily="50" charset="0"/>
              </a:rPr>
              <a:t>'a'</a:t>
            </a:r>
            <a:r>
              <a:rPr lang="en-US" sz="1800" b="0" dirty="0">
                <a:solidFill>
                  <a:srgbClr val="D4D4D4"/>
                </a:solidFill>
                <a:effectLst/>
                <a:latin typeface="Monaspace Neon" pitchFamily="50" charset="0"/>
              </a:rPr>
              <a:t>;</a:t>
            </a:r>
          </a:p>
          <a:p>
            <a:r>
              <a:rPr lang="en-US" sz="1800" b="0" dirty="0">
                <a:solidFill>
                  <a:srgbClr val="D4D4D4"/>
                </a:solidFill>
                <a:effectLst/>
                <a:latin typeface="Monaspace Neon" pitchFamily="50" charset="0"/>
              </a:rPr>
              <a:t>}</a:t>
            </a:r>
          </a:p>
        </p:txBody>
      </p:sp>
    </p:spTree>
    <p:extLst>
      <p:ext uri="{BB962C8B-B14F-4D97-AF65-F5344CB8AC3E}">
        <p14:creationId xmlns:p14="http://schemas.microsoft.com/office/powerpoint/2010/main" val="2835021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641AB-D4C6-6C4B-8037-1611962D7367}"/>
              </a:ext>
            </a:extLst>
          </p:cNvPr>
          <p:cNvSpPr>
            <a:spLocks noGrp="1"/>
          </p:cNvSpPr>
          <p:nvPr>
            <p:ph type="title"/>
          </p:nvPr>
        </p:nvSpPr>
        <p:spPr/>
        <p:txBody>
          <a:bodyPr/>
          <a:lstStyle/>
          <a:p>
            <a:r>
              <a:rPr lang="en-US" dirty="0"/>
              <a:t>Perfect hash problem and solution</a:t>
            </a:r>
          </a:p>
        </p:txBody>
      </p:sp>
      <p:sp>
        <p:nvSpPr>
          <p:cNvPr id="3" name="Content Placeholder 2">
            <a:extLst>
              <a:ext uri="{FF2B5EF4-FFF2-40B4-BE49-F238E27FC236}">
                <a16:creationId xmlns:a16="http://schemas.microsoft.com/office/drawing/2014/main" id="{75DBF57E-9362-C905-3D94-758F31007B92}"/>
              </a:ext>
            </a:extLst>
          </p:cNvPr>
          <p:cNvSpPr>
            <a:spLocks noGrp="1"/>
          </p:cNvSpPr>
          <p:nvPr>
            <p:ph idx="1"/>
          </p:nvPr>
        </p:nvSpPr>
        <p:spPr>
          <a:xfrm>
            <a:off x="838200" y="1358781"/>
            <a:ext cx="6556131" cy="5016382"/>
          </a:xfrm>
        </p:spPr>
        <p:txBody>
          <a:bodyPr>
            <a:normAutofit fontScale="92500" lnSpcReduction="20000"/>
          </a:bodyPr>
          <a:lstStyle/>
          <a:p>
            <a:r>
              <a:rPr lang="en-US" dirty="0"/>
              <a:t>Just don’t use the perfect hash, h may not be </a:t>
            </a:r>
            <a:r>
              <a:rPr lang="en-US" dirty="0">
                <a:solidFill>
                  <a:schemeClr val="accent3"/>
                </a:solidFill>
              </a:rPr>
              <a:t>1-to-1</a:t>
            </a:r>
            <a:r>
              <a:rPr lang="en-US" dirty="0"/>
              <a:t> nor </a:t>
            </a:r>
            <a:r>
              <a:rPr lang="en-US" dirty="0">
                <a:solidFill>
                  <a:schemeClr val="accent6"/>
                </a:solidFill>
              </a:rPr>
              <a:t>onto</a:t>
            </a:r>
            <a:r>
              <a:rPr lang="en-US" dirty="0"/>
              <a:t>, to reduce the size of the co-domain of h, so that the size of T can be reduced</a:t>
            </a:r>
          </a:p>
          <a:p>
            <a:r>
              <a:rPr lang="en-US" dirty="0"/>
              <a:t>Since h is now not </a:t>
            </a:r>
            <a:r>
              <a:rPr lang="en-US" dirty="0">
                <a:solidFill>
                  <a:schemeClr val="accent3"/>
                </a:solidFill>
              </a:rPr>
              <a:t>1-to-1</a:t>
            </a:r>
            <a:r>
              <a:rPr lang="en-US" dirty="0"/>
              <a:t>, it is possible that two different keys </a:t>
            </a:r>
            <a:r>
              <a:rPr lang="en-US" dirty="0">
                <a:solidFill>
                  <a:schemeClr val="accent5"/>
                </a:solidFill>
              </a:rPr>
              <a:t>x1</a:t>
            </a:r>
            <a:r>
              <a:rPr lang="en-US" dirty="0"/>
              <a:t> and </a:t>
            </a:r>
            <a:r>
              <a:rPr lang="en-US" dirty="0">
                <a:solidFill>
                  <a:schemeClr val="accent2"/>
                </a:solidFill>
              </a:rPr>
              <a:t>x2</a:t>
            </a:r>
            <a:r>
              <a:rPr lang="en-US" dirty="0"/>
              <a:t> map to the same value under h, i.e., </a:t>
            </a:r>
            <a:r>
              <a:rPr lang="en-US" dirty="0">
                <a:solidFill>
                  <a:schemeClr val="accent4"/>
                </a:solidFill>
              </a:rPr>
              <a:t>h(</a:t>
            </a:r>
            <a:r>
              <a:rPr lang="en-US" dirty="0">
                <a:solidFill>
                  <a:schemeClr val="accent5"/>
                </a:solidFill>
              </a:rPr>
              <a:t>x1</a:t>
            </a:r>
            <a:r>
              <a:rPr lang="en-US" dirty="0">
                <a:solidFill>
                  <a:schemeClr val="accent4"/>
                </a:solidFill>
              </a:rPr>
              <a:t>)</a:t>
            </a:r>
            <a:r>
              <a:rPr lang="en-US" dirty="0"/>
              <a:t> == </a:t>
            </a:r>
            <a:r>
              <a:rPr lang="en-US" dirty="0">
                <a:solidFill>
                  <a:schemeClr val="accent4"/>
                </a:solidFill>
              </a:rPr>
              <a:t>h(</a:t>
            </a:r>
            <a:r>
              <a:rPr lang="en-US" dirty="0">
                <a:solidFill>
                  <a:schemeClr val="accent2"/>
                </a:solidFill>
              </a:rPr>
              <a:t>x2</a:t>
            </a:r>
            <a:r>
              <a:rPr lang="en-US" dirty="0">
                <a:solidFill>
                  <a:schemeClr val="accent4"/>
                </a:solidFill>
              </a:rPr>
              <a:t>)</a:t>
            </a:r>
          </a:p>
          <a:p>
            <a:pPr lvl="1"/>
            <a:r>
              <a:rPr lang="en-US" dirty="0"/>
              <a:t>This is called </a:t>
            </a:r>
            <a:r>
              <a:rPr lang="en-US" dirty="0">
                <a:solidFill>
                  <a:schemeClr val="accent5"/>
                </a:solidFill>
              </a:rPr>
              <a:t>a collision</a:t>
            </a:r>
          </a:p>
          <a:p>
            <a:r>
              <a:rPr lang="en-US" dirty="0"/>
              <a:t>Example, consider a non-perfect hash function h(x) = </a:t>
            </a:r>
          </a:p>
          <a:p>
            <a:pPr lvl="1"/>
            <a:endParaRPr lang="en-US" dirty="0"/>
          </a:p>
        </p:txBody>
      </p:sp>
      <p:sp>
        <p:nvSpPr>
          <p:cNvPr id="5" name="TextBox 4">
            <a:extLst>
              <a:ext uri="{FF2B5EF4-FFF2-40B4-BE49-F238E27FC236}">
                <a16:creationId xmlns:a16="http://schemas.microsoft.com/office/drawing/2014/main" id="{C1E30BC6-A5F5-FE8B-F86E-59EACF453B42}"/>
              </a:ext>
            </a:extLst>
          </p:cNvPr>
          <p:cNvSpPr txBox="1"/>
          <p:nvPr/>
        </p:nvSpPr>
        <p:spPr>
          <a:xfrm>
            <a:off x="3315799" y="5791893"/>
            <a:ext cx="3665293" cy="400110"/>
          </a:xfrm>
          <a:prstGeom prst="rect">
            <a:avLst/>
          </a:prstGeom>
          <a:solidFill>
            <a:schemeClr val="bg1"/>
          </a:solidFill>
          <a:ln>
            <a:solidFill>
              <a:schemeClr val="accent1"/>
            </a:solidFill>
          </a:ln>
        </p:spPr>
        <p:txBody>
          <a:bodyPr wrap="square">
            <a:spAutoFit/>
          </a:bodyPr>
          <a:lstStyle/>
          <a:p>
            <a:r>
              <a:rPr lang="en-US" sz="2000" b="0" dirty="0">
                <a:solidFill>
                  <a:srgbClr val="C586C0"/>
                </a:solidFill>
                <a:effectLst/>
                <a:latin typeface="Monaspace Neon" pitchFamily="50" charset="0"/>
              </a:rPr>
              <a:t>return</a:t>
            </a:r>
            <a:r>
              <a:rPr lang="en-US" sz="2000" b="0" dirty="0">
                <a:solidFill>
                  <a:srgbClr val="D4D4D4"/>
                </a:solidFill>
                <a:effectLst/>
                <a:latin typeface="Monaspace Neon" pitchFamily="50" charset="0"/>
              </a:rPr>
              <a:t> (c - </a:t>
            </a:r>
            <a:r>
              <a:rPr lang="en-US" sz="2000" b="0" dirty="0">
                <a:solidFill>
                  <a:srgbClr val="CE9178"/>
                </a:solidFill>
                <a:effectLst/>
                <a:latin typeface="Monaspace Neon" pitchFamily="50" charset="0"/>
              </a:rPr>
              <a:t>'a'</a:t>
            </a:r>
            <a:r>
              <a:rPr lang="en-US" sz="2000" b="0" dirty="0">
                <a:solidFill>
                  <a:srgbClr val="D4D4D4"/>
                </a:solidFill>
                <a:effectLst/>
                <a:latin typeface="Monaspace Neon" pitchFamily="50" charset="0"/>
              </a:rPr>
              <a:t>) % </a:t>
            </a:r>
            <a:r>
              <a:rPr lang="en-US" sz="2000" b="0" dirty="0">
                <a:solidFill>
                  <a:srgbClr val="B5CEA8"/>
                </a:solidFill>
                <a:effectLst/>
                <a:latin typeface="Monaspace Neon" pitchFamily="50" charset="0"/>
              </a:rPr>
              <a:t>10</a:t>
            </a:r>
            <a:r>
              <a:rPr lang="en-US" sz="2000" b="0" dirty="0">
                <a:solidFill>
                  <a:srgbClr val="D4D4D4"/>
                </a:solidFill>
                <a:effectLst/>
                <a:latin typeface="Monaspace Neon" pitchFamily="50" charset="0"/>
              </a:rPr>
              <a:t>;</a:t>
            </a:r>
          </a:p>
        </p:txBody>
      </p:sp>
      <p:graphicFrame>
        <p:nvGraphicFramePr>
          <p:cNvPr id="6" name="Table 5">
            <a:extLst>
              <a:ext uri="{FF2B5EF4-FFF2-40B4-BE49-F238E27FC236}">
                <a16:creationId xmlns:a16="http://schemas.microsoft.com/office/drawing/2014/main" id="{17F7CFC4-2F30-8947-FC5A-E155F768D993}"/>
              </a:ext>
            </a:extLst>
          </p:cNvPr>
          <p:cNvGraphicFramePr>
            <a:graphicFrameLocks noGrp="1"/>
          </p:cNvGraphicFramePr>
          <p:nvPr>
            <p:extLst>
              <p:ext uri="{D42A27DB-BD31-4B8C-83A1-F6EECF244321}">
                <p14:modId xmlns:p14="http://schemas.microsoft.com/office/powerpoint/2010/main" val="2134221556"/>
              </p:ext>
            </p:extLst>
          </p:nvPr>
        </p:nvGraphicFramePr>
        <p:xfrm>
          <a:off x="8142439" y="246151"/>
          <a:ext cx="1316252" cy="6246720"/>
        </p:xfrm>
        <a:graphic>
          <a:graphicData uri="http://schemas.openxmlformats.org/drawingml/2006/table">
            <a:tbl>
              <a:tblPr firstRow="1" bandRow="1">
                <a:tableStyleId>{17292A2E-F333-43FB-9621-5CBBE7FDCDCB}</a:tableStyleId>
              </a:tblPr>
              <a:tblGrid>
                <a:gridCol w="658126">
                  <a:extLst>
                    <a:ext uri="{9D8B030D-6E8A-4147-A177-3AD203B41FA5}">
                      <a16:colId xmlns:a16="http://schemas.microsoft.com/office/drawing/2014/main" val="1500797133"/>
                    </a:ext>
                  </a:extLst>
                </a:gridCol>
                <a:gridCol w="658126">
                  <a:extLst>
                    <a:ext uri="{9D8B030D-6E8A-4147-A177-3AD203B41FA5}">
                      <a16:colId xmlns:a16="http://schemas.microsoft.com/office/drawing/2014/main" val="4258367212"/>
                    </a:ext>
                  </a:extLst>
                </a:gridCol>
              </a:tblGrid>
              <a:tr h="224364">
                <a:tc>
                  <a:txBody>
                    <a:bodyPr/>
                    <a:lstStyle/>
                    <a:p>
                      <a:r>
                        <a:rPr lang="en-US" sz="1400" b="1" dirty="0"/>
                        <a:t>x</a:t>
                      </a:r>
                    </a:p>
                  </a:txBody>
                  <a:tcPr marT="0" marB="18000"/>
                </a:tc>
                <a:tc>
                  <a:txBody>
                    <a:bodyPr/>
                    <a:lstStyle/>
                    <a:p>
                      <a:r>
                        <a:rPr lang="en-US" sz="1400" b="1" dirty="0"/>
                        <a:t>H(x)</a:t>
                      </a:r>
                    </a:p>
                  </a:txBody>
                  <a:tcPr marT="0" marB="18000"/>
                </a:tc>
                <a:extLst>
                  <a:ext uri="{0D108BD9-81ED-4DB2-BD59-A6C34878D82A}">
                    <a16:rowId xmlns:a16="http://schemas.microsoft.com/office/drawing/2014/main" val="2826415541"/>
                  </a:ext>
                </a:extLst>
              </a:tr>
              <a:tr h="224364">
                <a:tc>
                  <a:txBody>
                    <a:bodyPr/>
                    <a:lstStyle/>
                    <a:p>
                      <a:r>
                        <a:rPr lang="en-US" sz="1400" dirty="0"/>
                        <a:t>a</a:t>
                      </a:r>
                    </a:p>
                  </a:txBody>
                  <a:tcPr marT="0" marB="18000"/>
                </a:tc>
                <a:tc>
                  <a:txBody>
                    <a:bodyPr/>
                    <a:lstStyle/>
                    <a:p>
                      <a:r>
                        <a:rPr lang="en-US" sz="1400" dirty="0">
                          <a:solidFill>
                            <a:schemeClr val="accent2"/>
                          </a:solidFill>
                        </a:rPr>
                        <a:t>0</a:t>
                      </a:r>
                    </a:p>
                  </a:txBody>
                  <a:tcPr marT="0" marB="18000"/>
                </a:tc>
                <a:extLst>
                  <a:ext uri="{0D108BD9-81ED-4DB2-BD59-A6C34878D82A}">
                    <a16:rowId xmlns:a16="http://schemas.microsoft.com/office/drawing/2014/main" val="1504447364"/>
                  </a:ext>
                </a:extLst>
              </a:tr>
              <a:tr h="224364">
                <a:tc>
                  <a:txBody>
                    <a:bodyPr/>
                    <a:lstStyle/>
                    <a:p>
                      <a:r>
                        <a:rPr lang="en-US" sz="1400" dirty="0"/>
                        <a:t>b</a:t>
                      </a:r>
                    </a:p>
                  </a:txBody>
                  <a:tcPr marT="0" marB="18000"/>
                </a:tc>
                <a:tc>
                  <a:txBody>
                    <a:bodyPr/>
                    <a:lstStyle/>
                    <a:p>
                      <a:r>
                        <a:rPr lang="en-US" sz="1400" dirty="0">
                          <a:solidFill>
                            <a:schemeClr val="accent2"/>
                          </a:solidFill>
                        </a:rPr>
                        <a:t>1</a:t>
                      </a:r>
                    </a:p>
                  </a:txBody>
                  <a:tcPr marT="0" marB="18000"/>
                </a:tc>
                <a:extLst>
                  <a:ext uri="{0D108BD9-81ED-4DB2-BD59-A6C34878D82A}">
                    <a16:rowId xmlns:a16="http://schemas.microsoft.com/office/drawing/2014/main" val="4036690659"/>
                  </a:ext>
                </a:extLst>
              </a:tr>
              <a:tr h="224364">
                <a:tc>
                  <a:txBody>
                    <a:bodyPr/>
                    <a:lstStyle/>
                    <a:p>
                      <a:r>
                        <a:rPr lang="en-US" sz="1400" dirty="0"/>
                        <a:t>c</a:t>
                      </a:r>
                    </a:p>
                  </a:txBody>
                  <a:tcPr marT="0" marB="18000"/>
                </a:tc>
                <a:tc>
                  <a:txBody>
                    <a:bodyPr/>
                    <a:lstStyle/>
                    <a:p>
                      <a:r>
                        <a:rPr lang="en-US" sz="1200" dirty="0">
                          <a:solidFill>
                            <a:schemeClr val="accent2"/>
                          </a:solidFill>
                        </a:rPr>
                        <a:t>2</a:t>
                      </a:r>
                    </a:p>
                  </a:txBody>
                  <a:tcPr marT="0" marB="18000"/>
                </a:tc>
                <a:extLst>
                  <a:ext uri="{0D108BD9-81ED-4DB2-BD59-A6C34878D82A}">
                    <a16:rowId xmlns:a16="http://schemas.microsoft.com/office/drawing/2014/main" val="2610546179"/>
                  </a:ext>
                </a:extLst>
              </a:tr>
              <a:tr h="224364">
                <a:tc>
                  <a:txBody>
                    <a:bodyPr/>
                    <a:lstStyle/>
                    <a:p>
                      <a:r>
                        <a:rPr lang="en-US" sz="1400" dirty="0"/>
                        <a:t>d</a:t>
                      </a:r>
                    </a:p>
                  </a:txBody>
                  <a:tcPr marT="0" marB="18000"/>
                </a:tc>
                <a:tc>
                  <a:txBody>
                    <a:bodyPr/>
                    <a:lstStyle/>
                    <a:p>
                      <a:r>
                        <a:rPr lang="en-US" sz="1400" dirty="0">
                          <a:solidFill>
                            <a:schemeClr val="accent2"/>
                          </a:solidFill>
                        </a:rPr>
                        <a:t>3</a:t>
                      </a:r>
                    </a:p>
                  </a:txBody>
                  <a:tcPr marT="0" marB="18000"/>
                </a:tc>
                <a:extLst>
                  <a:ext uri="{0D108BD9-81ED-4DB2-BD59-A6C34878D82A}">
                    <a16:rowId xmlns:a16="http://schemas.microsoft.com/office/drawing/2014/main" val="3069750974"/>
                  </a:ext>
                </a:extLst>
              </a:tr>
              <a:tr h="224364">
                <a:tc>
                  <a:txBody>
                    <a:bodyPr/>
                    <a:lstStyle/>
                    <a:p>
                      <a:r>
                        <a:rPr lang="en-US" sz="1400" dirty="0"/>
                        <a:t>e</a:t>
                      </a:r>
                    </a:p>
                  </a:txBody>
                  <a:tcPr marT="0" marB="18000"/>
                </a:tc>
                <a:tc>
                  <a:txBody>
                    <a:bodyPr/>
                    <a:lstStyle/>
                    <a:p>
                      <a:r>
                        <a:rPr lang="en-US" sz="1400" dirty="0">
                          <a:solidFill>
                            <a:schemeClr val="accent2"/>
                          </a:solidFill>
                        </a:rPr>
                        <a:t>4</a:t>
                      </a:r>
                    </a:p>
                  </a:txBody>
                  <a:tcPr marT="0" marB="18000"/>
                </a:tc>
                <a:extLst>
                  <a:ext uri="{0D108BD9-81ED-4DB2-BD59-A6C34878D82A}">
                    <a16:rowId xmlns:a16="http://schemas.microsoft.com/office/drawing/2014/main" val="3900276480"/>
                  </a:ext>
                </a:extLst>
              </a:tr>
              <a:tr h="224364">
                <a:tc>
                  <a:txBody>
                    <a:bodyPr/>
                    <a:lstStyle/>
                    <a:p>
                      <a:r>
                        <a:rPr lang="en-US" sz="1400" dirty="0"/>
                        <a:t>f</a:t>
                      </a:r>
                    </a:p>
                  </a:txBody>
                  <a:tcPr marT="0" marB="18000"/>
                </a:tc>
                <a:tc>
                  <a:txBody>
                    <a:bodyPr/>
                    <a:lstStyle/>
                    <a:p>
                      <a:r>
                        <a:rPr lang="en-US" sz="1400" dirty="0">
                          <a:solidFill>
                            <a:schemeClr val="accent2"/>
                          </a:solidFill>
                        </a:rPr>
                        <a:t>5</a:t>
                      </a:r>
                    </a:p>
                  </a:txBody>
                  <a:tcPr marT="0" marB="18000"/>
                </a:tc>
                <a:extLst>
                  <a:ext uri="{0D108BD9-81ED-4DB2-BD59-A6C34878D82A}">
                    <a16:rowId xmlns:a16="http://schemas.microsoft.com/office/drawing/2014/main" val="859799659"/>
                  </a:ext>
                </a:extLst>
              </a:tr>
              <a:tr h="224364">
                <a:tc>
                  <a:txBody>
                    <a:bodyPr/>
                    <a:lstStyle/>
                    <a:p>
                      <a:r>
                        <a:rPr lang="en-US" sz="1400" dirty="0"/>
                        <a:t>g</a:t>
                      </a:r>
                    </a:p>
                  </a:txBody>
                  <a:tcPr marT="0" marB="18000"/>
                </a:tc>
                <a:tc>
                  <a:txBody>
                    <a:bodyPr/>
                    <a:lstStyle/>
                    <a:p>
                      <a:r>
                        <a:rPr lang="en-US" sz="1400" dirty="0">
                          <a:solidFill>
                            <a:schemeClr val="accent2"/>
                          </a:solidFill>
                        </a:rPr>
                        <a:t>6</a:t>
                      </a:r>
                    </a:p>
                  </a:txBody>
                  <a:tcPr marT="0" marB="18000"/>
                </a:tc>
                <a:extLst>
                  <a:ext uri="{0D108BD9-81ED-4DB2-BD59-A6C34878D82A}">
                    <a16:rowId xmlns:a16="http://schemas.microsoft.com/office/drawing/2014/main" val="2057095009"/>
                  </a:ext>
                </a:extLst>
              </a:tr>
              <a:tr h="224364">
                <a:tc>
                  <a:txBody>
                    <a:bodyPr/>
                    <a:lstStyle/>
                    <a:p>
                      <a:r>
                        <a:rPr lang="en-US" sz="1400" dirty="0"/>
                        <a:t>h</a:t>
                      </a:r>
                    </a:p>
                  </a:txBody>
                  <a:tcPr marT="0" marB="18000"/>
                </a:tc>
                <a:tc>
                  <a:txBody>
                    <a:bodyPr/>
                    <a:lstStyle/>
                    <a:p>
                      <a:r>
                        <a:rPr lang="en-US" sz="1400" dirty="0">
                          <a:solidFill>
                            <a:schemeClr val="accent2"/>
                          </a:solidFill>
                        </a:rPr>
                        <a:t>7</a:t>
                      </a:r>
                    </a:p>
                  </a:txBody>
                  <a:tcPr marT="0" marB="18000"/>
                </a:tc>
                <a:extLst>
                  <a:ext uri="{0D108BD9-81ED-4DB2-BD59-A6C34878D82A}">
                    <a16:rowId xmlns:a16="http://schemas.microsoft.com/office/drawing/2014/main" val="2918188361"/>
                  </a:ext>
                </a:extLst>
              </a:tr>
              <a:tr h="224364">
                <a:tc>
                  <a:txBody>
                    <a:bodyPr/>
                    <a:lstStyle/>
                    <a:p>
                      <a:r>
                        <a:rPr lang="en-US" sz="1400" dirty="0" err="1"/>
                        <a:t>i</a:t>
                      </a:r>
                      <a:endParaRPr lang="en-US" sz="1400" dirty="0"/>
                    </a:p>
                  </a:txBody>
                  <a:tcPr marT="0" marB="18000"/>
                </a:tc>
                <a:tc>
                  <a:txBody>
                    <a:bodyPr/>
                    <a:lstStyle/>
                    <a:p>
                      <a:r>
                        <a:rPr lang="en-US" sz="1400" dirty="0">
                          <a:solidFill>
                            <a:schemeClr val="accent2"/>
                          </a:solidFill>
                        </a:rPr>
                        <a:t>8</a:t>
                      </a:r>
                    </a:p>
                  </a:txBody>
                  <a:tcPr marT="0" marB="18000"/>
                </a:tc>
                <a:extLst>
                  <a:ext uri="{0D108BD9-81ED-4DB2-BD59-A6C34878D82A}">
                    <a16:rowId xmlns:a16="http://schemas.microsoft.com/office/drawing/2014/main" val="3261569902"/>
                  </a:ext>
                </a:extLst>
              </a:tr>
              <a:tr h="224364">
                <a:tc>
                  <a:txBody>
                    <a:bodyPr/>
                    <a:lstStyle/>
                    <a:p>
                      <a:r>
                        <a:rPr lang="en-US" sz="1400" dirty="0"/>
                        <a:t>j</a:t>
                      </a:r>
                    </a:p>
                  </a:txBody>
                  <a:tcPr marT="0" marB="18000"/>
                </a:tc>
                <a:tc>
                  <a:txBody>
                    <a:bodyPr/>
                    <a:lstStyle/>
                    <a:p>
                      <a:r>
                        <a:rPr lang="en-US" sz="1400" dirty="0">
                          <a:solidFill>
                            <a:schemeClr val="accent2"/>
                          </a:solidFill>
                        </a:rPr>
                        <a:t>9</a:t>
                      </a:r>
                    </a:p>
                  </a:txBody>
                  <a:tcPr marT="0" marB="18000"/>
                </a:tc>
                <a:extLst>
                  <a:ext uri="{0D108BD9-81ED-4DB2-BD59-A6C34878D82A}">
                    <a16:rowId xmlns:a16="http://schemas.microsoft.com/office/drawing/2014/main" val="2138835240"/>
                  </a:ext>
                </a:extLst>
              </a:tr>
              <a:tr h="224364">
                <a:tc>
                  <a:txBody>
                    <a:bodyPr/>
                    <a:lstStyle/>
                    <a:p>
                      <a:r>
                        <a:rPr lang="en-US" sz="1400" dirty="0"/>
                        <a:t>k</a:t>
                      </a:r>
                    </a:p>
                  </a:txBody>
                  <a:tcPr marT="0" marB="18000"/>
                </a:tc>
                <a:tc>
                  <a:txBody>
                    <a:bodyPr/>
                    <a:lstStyle/>
                    <a:p>
                      <a:r>
                        <a:rPr lang="en-US" sz="1400" dirty="0">
                          <a:solidFill>
                            <a:schemeClr val="accent6"/>
                          </a:solidFill>
                        </a:rPr>
                        <a:t>0</a:t>
                      </a:r>
                    </a:p>
                  </a:txBody>
                  <a:tcPr marT="0" marB="18000"/>
                </a:tc>
                <a:extLst>
                  <a:ext uri="{0D108BD9-81ED-4DB2-BD59-A6C34878D82A}">
                    <a16:rowId xmlns:a16="http://schemas.microsoft.com/office/drawing/2014/main" val="793189246"/>
                  </a:ext>
                </a:extLst>
              </a:tr>
              <a:tr h="224364">
                <a:tc>
                  <a:txBody>
                    <a:bodyPr/>
                    <a:lstStyle/>
                    <a:p>
                      <a:r>
                        <a:rPr lang="en-US" sz="1400" dirty="0"/>
                        <a:t>l</a:t>
                      </a:r>
                    </a:p>
                  </a:txBody>
                  <a:tcPr marT="0" marB="18000"/>
                </a:tc>
                <a:tc>
                  <a:txBody>
                    <a:bodyPr/>
                    <a:lstStyle/>
                    <a:p>
                      <a:r>
                        <a:rPr lang="en-US" sz="1400" dirty="0">
                          <a:solidFill>
                            <a:schemeClr val="accent6"/>
                          </a:solidFill>
                        </a:rPr>
                        <a:t>1</a:t>
                      </a:r>
                    </a:p>
                  </a:txBody>
                  <a:tcPr marT="0" marB="18000"/>
                </a:tc>
                <a:extLst>
                  <a:ext uri="{0D108BD9-81ED-4DB2-BD59-A6C34878D82A}">
                    <a16:rowId xmlns:a16="http://schemas.microsoft.com/office/drawing/2014/main" val="1515155514"/>
                  </a:ext>
                </a:extLst>
              </a:tr>
              <a:tr h="224364">
                <a:tc>
                  <a:txBody>
                    <a:bodyPr/>
                    <a:lstStyle/>
                    <a:p>
                      <a:r>
                        <a:rPr lang="en-US" sz="1400" dirty="0"/>
                        <a:t>m</a:t>
                      </a:r>
                    </a:p>
                  </a:txBody>
                  <a:tcPr marT="0" marB="18000"/>
                </a:tc>
                <a:tc>
                  <a:txBody>
                    <a:bodyPr/>
                    <a:lstStyle/>
                    <a:p>
                      <a:r>
                        <a:rPr lang="en-US" sz="1400" dirty="0">
                          <a:solidFill>
                            <a:schemeClr val="accent6"/>
                          </a:solidFill>
                        </a:rPr>
                        <a:t>2</a:t>
                      </a:r>
                    </a:p>
                  </a:txBody>
                  <a:tcPr marT="0" marB="18000"/>
                </a:tc>
                <a:extLst>
                  <a:ext uri="{0D108BD9-81ED-4DB2-BD59-A6C34878D82A}">
                    <a16:rowId xmlns:a16="http://schemas.microsoft.com/office/drawing/2014/main" val="4090282430"/>
                  </a:ext>
                </a:extLst>
              </a:tr>
              <a:tr h="224364">
                <a:tc>
                  <a:txBody>
                    <a:bodyPr/>
                    <a:lstStyle/>
                    <a:p>
                      <a:r>
                        <a:rPr lang="en-US" sz="1400" dirty="0"/>
                        <a:t>n</a:t>
                      </a:r>
                    </a:p>
                  </a:txBody>
                  <a:tcPr marT="0" marB="18000"/>
                </a:tc>
                <a:tc>
                  <a:txBody>
                    <a:bodyPr/>
                    <a:lstStyle/>
                    <a:p>
                      <a:r>
                        <a:rPr lang="en-US" sz="1400" dirty="0">
                          <a:solidFill>
                            <a:schemeClr val="accent6"/>
                          </a:solidFill>
                        </a:rPr>
                        <a:t>3</a:t>
                      </a:r>
                    </a:p>
                  </a:txBody>
                  <a:tcPr marT="0" marB="18000"/>
                </a:tc>
                <a:extLst>
                  <a:ext uri="{0D108BD9-81ED-4DB2-BD59-A6C34878D82A}">
                    <a16:rowId xmlns:a16="http://schemas.microsoft.com/office/drawing/2014/main" val="1515409969"/>
                  </a:ext>
                </a:extLst>
              </a:tr>
              <a:tr h="224364">
                <a:tc>
                  <a:txBody>
                    <a:bodyPr/>
                    <a:lstStyle/>
                    <a:p>
                      <a:r>
                        <a:rPr lang="en-US" sz="1400" dirty="0"/>
                        <a:t>o</a:t>
                      </a:r>
                    </a:p>
                  </a:txBody>
                  <a:tcPr marT="0" marB="18000"/>
                </a:tc>
                <a:tc>
                  <a:txBody>
                    <a:bodyPr/>
                    <a:lstStyle/>
                    <a:p>
                      <a:r>
                        <a:rPr lang="en-US" sz="1400" dirty="0">
                          <a:solidFill>
                            <a:schemeClr val="accent6"/>
                          </a:solidFill>
                        </a:rPr>
                        <a:t>4</a:t>
                      </a:r>
                    </a:p>
                  </a:txBody>
                  <a:tcPr marT="0" marB="18000"/>
                </a:tc>
                <a:extLst>
                  <a:ext uri="{0D108BD9-81ED-4DB2-BD59-A6C34878D82A}">
                    <a16:rowId xmlns:a16="http://schemas.microsoft.com/office/drawing/2014/main" val="2172774281"/>
                  </a:ext>
                </a:extLst>
              </a:tr>
              <a:tr h="224364">
                <a:tc>
                  <a:txBody>
                    <a:bodyPr/>
                    <a:lstStyle/>
                    <a:p>
                      <a:r>
                        <a:rPr lang="en-US" sz="1400" dirty="0"/>
                        <a:t>p</a:t>
                      </a:r>
                    </a:p>
                  </a:txBody>
                  <a:tcPr marT="0" marB="18000"/>
                </a:tc>
                <a:tc>
                  <a:txBody>
                    <a:bodyPr/>
                    <a:lstStyle/>
                    <a:p>
                      <a:r>
                        <a:rPr lang="en-US" sz="1400" dirty="0">
                          <a:solidFill>
                            <a:schemeClr val="accent6"/>
                          </a:solidFill>
                        </a:rPr>
                        <a:t>5</a:t>
                      </a:r>
                    </a:p>
                  </a:txBody>
                  <a:tcPr marT="0" marB="18000"/>
                </a:tc>
                <a:extLst>
                  <a:ext uri="{0D108BD9-81ED-4DB2-BD59-A6C34878D82A}">
                    <a16:rowId xmlns:a16="http://schemas.microsoft.com/office/drawing/2014/main" val="3519789542"/>
                  </a:ext>
                </a:extLst>
              </a:tr>
              <a:tr h="224364">
                <a:tc>
                  <a:txBody>
                    <a:bodyPr/>
                    <a:lstStyle/>
                    <a:p>
                      <a:r>
                        <a:rPr lang="en-US" sz="1400" dirty="0"/>
                        <a:t>q</a:t>
                      </a:r>
                    </a:p>
                  </a:txBody>
                  <a:tcPr marT="0" marB="18000"/>
                </a:tc>
                <a:tc>
                  <a:txBody>
                    <a:bodyPr/>
                    <a:lstStyle/>
                    <a:p>
                      <a:r>
                        <a:rPr lang="en-US" sz="1400" dirty="0">
                          <a:solidFill>
                            <a:schemeClr val="accent6"/>
                          </a:solidFill>
                        </a:rPr>
                        <a:t>6</a:t>
                      </a:r>
                    </a:p>
                  </a:txBody>
                  <a:tcPr marT="0" marB="18000"/>
                </a:tc>
                <a:extLst>
                  <a:ext uri="{0D108BD9-81ED-4DB2-BD59-A6C34878D82A}">
                    <a16:rowId xmlns:a16="http://schemas.microsoft.com/office/drawing/2014/main" val="95885907"/>
                  </a:ext>
                </a:extLst>
              </a:tr>
              <a:tr h="224364">
                <a:tc>
                  <a:txBody>
                    <a:bodyPr/>
                    <a:lstStyle/>
                    <a:p>
                      <a:r>
                        <a:rPr lang="en-US" sz="1400" dirty="0"/>
                        <a:t>r</a:t>
                      </a:r>
                    </a:p>
                  </a:txBody>
                  <a:tcPr marT="0" marB="18000"/>
                </a:tc>
                <a:tc>
                  <a:txBody>
                    <a:bodyPr/>
                    <a:lstStyle/>
                    <a:p>
                      <a:r>
                        <a:rPr lang="en-US" sz="1400" dirty="0">
                          <a:solidFill>
                            <a:schemeClr val="accent6"/>
                          </a:solidFill>
                        </a:rPr>
                        <a:t>7</a:t>
                      </a:r>
                    </a:p>
                  </a:txBody>
                  <a:tcPr marT="0" marB="18000"/>
                </a:tc>
                <a:extLst>
                  <a:ext uri="{0D108BD9-81ED-4DB2-BD59-A6C34878D82A}">
                    <a16:rowId xmlns:a16="http://schemas.microsoft.com/office/drawing/2014/main" val="3421191933"/>
                  </a:ext>
                </a:extLst>
              </a:tr>
              <a:tr h="224364">
                <a:tc>
                  <a:txBody>
                    <a:bodyPr/>
                    <a:lstStyle/>
                    <a:p>
                      <a:r>
                        <a:rPr lang="en-US" sz="1400" dirty="0"/>
                        <a:t>s</a:t>
                      </a:r>
                    </a:p>
                  </a:txBody>
                  <a:tcPr marT="0" marB="18000"/>
                </a:tc>
                <a:tc>
                  <a:txBody>
                    <a:bodyPr/>
                    <a:lstStyle/>
                    <a:p>
                      <a:r>
                        <a:rPr lang="en-US" sz="1400" dirty="0">
                          <a:solidFill>
                            <a:schemeClr val="accent6"/>
                          </a:solidFill>
                        </a:rPr>
                        <a:t>8</a:t>
                      </a:r>
                    </a:p>
                  </a:txBody>
                  <a:tcPr marT="0" marB="18000"/>
                </a:tc>
                <a:extLst>
                  <a:ext uri="{0D108BD9-81ED-4DB2-BD59-A6C34878D82A}">
                    <a16:rowId xmlns:a16="http://schemas.microsoft.com/office/drawing/2014/main" val="1400686728"/>
                  </a:ext>
                </a:extLst>
              </a:tr>
              <a:tr h="224364">
                <a:tc>
                  <a:txBody>
                    <a:bodyPr/>
                    <a:lstStyle/>
                    <a:p>
                      <a:r>
                        <a:rPr lang="en-US" sz="1400" dirty="0"/>
                        <a:t>t</a:t>
                      </a:r>
                    </a:p>
                  </a:txBody>
                  <a:tcPr marT="0" marB="18000"/>
                </a:tc>
                <a:tc>
                  <a:txBody>
                    <a:bodyPr/>
                    <a:lstStyle/>
                    <a:p>
                      <a:r>
                        <a:rPr lang="en-US" sz="1400" dirty="0">
                          <a:solidFill>
                            <a:schemeClr val="accent6"/>
                          </a:solidFill>
                        </a:rPr>
                        <a:t>9</a:t>
                      </a:r>
                    </a:p>
                  </a:txBody>
                  <a:tcPr marT="0" marB="18000"/>
                </a:tc>
                <a:extLst>
                  <a:ext uri="{0D108BD9-81ED-4DB2-BD59-A6C34878D82A}">
                    <a16:rowId xmlns:a16="http://schemas.microsoft.com/office/drawing/2014/main" val="627944975"/>
                  </a:ext>
                </a:extLst>
              </a:tr>
              <a:tr h="224364">
                <a:tc>
                  <a:txBody>
                    <a:bodyPr/>
                    <a:lstStyle/>
                    <a:p>
                      <a:r>
                        <a:rPr lang="en-US" sz="1400" dirty="0"/>
                        <a:t>u</a:t>
                      </a:r>
                    </a:p>
                  </a:txBody>
                  <a:tcPr marT="0" marB="18000"/>
                </a:tc>
                <a:tc>
                  <a:txBody>
                    <a:bodyPr/>
                    <a:lstStyle/>
                    <a:p>
                      <a:r>
                        <a:rPr lang="en-US" sz="1400" dirty="0">
                          <a:solidFill>
                            <a:schemeClr val="accent5"/>
                          </a:solidFill>
                        </a:rPr>
                        <a:t>0</a:t>
                      </a:r>
                    </a:p>
                  </a:txBody>
                  <a:tcPr marT="0" marB="18000"/>
                </a:tc>
                <a:extLst>
                  <a:ext uri="{0D108BD9-81ED-4DB2-BD59-A6C34878D82A}">
                    <a16:rowId xmlns:a16="http://schemas.microsoft.com/office/drawing/2014/main" val="2201480104"/>
                  </a:ext>
                </a:extLst>
              </a:tr>
              <a:tr h="224364">
                <a:tc>
                  <a:txBody>
                    <a:bodyPr/>
                    <a:lstStyle/>
                    <a:p>
                      <a:r>
                        <a:rPr lang="en-US" sz="1400" dirty="0"/>
                        <a:t>v</a:t>
                      </a:r>
                    </a:p>
                  </a:txBody>
                  <a:tcPr marT="0" marB="18000"/>
                </a:tc>
                <a:tc>
                  <a:txBody>
                    <a:bodyPr/>
                    <a:lstStyle/>
                    <a:p>
                      <a:r>
                        <a:rPr lang="en-US" sz="1400" dirty="0">
                          <a:solidFill>
                            <a:schemeClr val="accent5"/>
                          </a:solidFill>
                        </a:rPr>
                        <a:t>1</a:t>
                      </a:r>
                    </a:p>
                  </a:txBody>
                  <a:tcPr marT="0" marB="18000"/>
                </a:tc>
                <a:extLst>
                  <a:ext uri="{0D108BD9-81ED-4DB2-BD59-A6C34878D82A}">
                    <a16:rowId xmlns:a16="http://schemas.microsoft.com/office/drawing/2014/main" val="3155037838"/>
                  </a:ext>
                </a:extLst>
              </a:tr>
              <a:tr h="224364">
                <a:tc>
                  <a:txBody>
                    <a:bodyPr/>
                    <a:lstStyle/>
                    <a:p>
                      <a:r>
                        <a:rPr lang="en-US" sz="1400" dirty="0"/>
                        <a:t>w</a:t>
                      </a:r>
                    </a:p>
                  </a:txBody>
                  <a:tcPr marT="0" marB="18000"/>
                </a:tc>
                <a:tc>
                  <a:txBody>
                    <a:bodyPr/>
                    <a:lstStyle/>
                    <a:p>
                      <a:r>
                        <a:rPr lang="en-US" sz="1400" dirty="0">
                          <a:solidFill>
                            <a:schemeClr val="accent5"/>
                          </a:solidFill>
                        </a:rPr>
                        <a:t>2</a:t>
                      </a:r>
                    </a:p>
                  </a:txBody>
                  <a:tcPr marT="0" marB="18000"/>
                </a:tc>
                <a:extLst>
                  <a:ext uri="{0D108BD9-81ED-4DB2-BD59-A6C34878D82A}">
                    <a16:rowId xmlns:a16="http://schemas.microsoft.com/office/drawing/2014/main" val="3336959291"/>
                  </a:ext>
                </a:extLst>
              </a:tr>
              <a:tr h="224364">
                <a:tc>
                  <a:txBody>
                    <a:bodyPr/>
                    <a:lstStyle/>
                    <a:p>
                      <a:r>
                        <a:rPr lang="en-US" sz="1400" dirty="0"/>
                        <a:t>x</a:t>
                      </a:r>
                    </a:p>
                  </a:txBody>
                  <a:tcPr marT="0" marB="18000"/>
                </a:tc>
                <a:tc>
                  <a:txBody>
                    <a:bodyPr/>
                    <a:lstStyle/>
                    <a:p>
                      <a:r>
                        <a:rPr lang="en-US" sz="1400" dirty="0">
                          <a:solidFill>
                            <a:schemeClr val="accent5"/>
                          </a:solidFill>
                        </a:rPr>
                        <a:t>3</a:t>
                      </a:r>
                    </a:p>
                  </a:txBody>
                  <a:tcPr marT="0" marB="18000"/>
                </a:tc>
                <a:extLst>
                  <a:ext uri="{0D108BD9-81ED-4DB2-BD59-A6C34878D82A}">
                    <a16:rowId xmlns:a16="http://schemas.microsoft.com/office/drawing/2014/main" val="1560928733"/>
                  </a:ext>
                </a:extLst>
              </a:tr>
              <a:tr h="224364">
                <a:tc>
                  <a:txBody>
                    <a:bodyPr/>
                    <a:lstStyle/>
                    <a:p>
                      <a:r>
                        <a:rPr lang="en-US" sz="1400" dirty="0"/>
                        <a:t>y</a:t>
                      </a:r>
                    </a:p>
                  </a:txBody>
                  <a:tcPr marT="0" marB="18000"/>
                </a:tc>
                <a:tc>
                  <a:txBody>
                    <a:bodyPr/>
                    <a:lstStyle/>
                    <a:p>
                      <a:r>
                        <a:rPr lang="en-US" sz="1400" dirty="0">
                          <a:solidFill>
                            <a:schemeClr val="accent5"/>
                          </a:solidFill>
                        </a:rPr>
                        <a:t>4</a:t>
                      </a:r>
                    </a:p>
                  </a:txBody>
                  <a:tcPr marT="0" marB="18000"/>
                </a:tc>
                <a:extLst>
                  <a:ext uri="{0D108BD9-81ED-4DB2-BD59-A6C34878D82A}">
                    <a16:rowId xmlns:a16="http://schemas.microsoft.com/office/drawing/2014/main" val="608849017"/>
                  </a:ext>
                </a:extLst>
              </a:tr>
              <a:tr h="224364">
                <a:tc>
                  <a:txBody>
                    <a:bodyPr/>
                    <a:lstStyle/>
                    <a:p>
                      <a:r>
                        <a:rPr lang="en-US" sz="1400" dirty="0"/>
                        <a:t>z</a:t>
                      </a:r>
                    </a:p>
                  </a:txBody>
                  <a:tcPr marT="0" marB="18000"/>
                </a:tc>
                <a:tc>
                  <a:txBody>
                    <a:bodyPr/>
                    <a:lstStyle/>
                    <a:p>
                      <a:r>
                        <a:rPr lang="en-US" sz="1400" dirty="0">
                          <a:solidFill>
                            <a:schemeClr val="accent5"/>
                          </a:solidFill>
                        </a:rPr>
                        <a:t>5</a:t>
                      </a:r>
                    </a:p>
                  </a:txBody>
                  <a:tcPr marT="0" marB="18000"/>
                </a:tc>
                <a:extLst>
                  <a:ext uri="{0D108BD9-81ED-4DB2-BD59-A6C34878D82A}">
                    <a16:rowId xmlns:a16="http://schemas.microsoft.com/office/drawing/2014/main" val="191301698"/>
                  </a:ext>
                </a:extLst>
              </a:tr>
            </a:tbl>
          </a:graphicData>
        </a:graphic>
      </p:graphicFrame>
    </p:spTree>
    <p:extLst>
      <p:ext uri="{BB962C8B-B14F-4D97-AF65-F5344CB8AC3E}">
        <p14:creationId xmlns:p14="http://schemas.microsoft.com/office/powerpoint/2010/main" val="55266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EB94-43CD-B8DC-F5F2-B9030197670A}"/>
              </a:ext>
            </a:extLst>
          </p:cNvPr>
          <p:cNvSpPr>
            <a:spLocks noGrp="1"/>
          </p:cNvSpPr>
          <p:nvPr>
            <p:ph type="title"/>
          </p:nvPr>
        </p:nvSpPr>
        <p:spPr/>
        <p:txBody>
          <a:bodyPr/>
          <a:lstStyle/>
          <a:p>
            <a:r>
              <a:rPr lang="en-US" dirty="0"/>
              <a:t>Collision Example</a:t>
            </a:r>
          </a:p>
        </p:txBody>
      </p:sp>
      <p:graphicFrame>
        <p:nvGraphicFramePr>
          <p:cNvPr id="4" name="Table 3">
            <a:extLst>
              <a:ext uri="{FF2B5EF4-FFF2-40B4-BE49-F238E27FC236}">
                <a16:creationId xmlns:a16="http://schemas.microsoft.com/office/drawing/2014/main" id="{71E79B5E-EE03-876F-DC47-24B8A5DEFB43}"/>
              </a:ext>
            </a:extLst>
          </p:cNvPr>
          <p:cNvGraphicFramePr>
            <a:graphicFrameLocks noGrp="1"/>
          </p:cNvGraphicFramePr>
          <p:nvPr>
            <p:extLst>
              <p:ext uri="{D42A27DB-BD31-4B8C-83A1-F6EECF244321}">
                <p14:modId xmlns:p14="http://schemas.microsoft.com/office/powerpoint/2010/main" val="3358963418"/>
              </p:ext>
            </p:extLst>
          </p:nvPr>
        </p:nvGraphicFramePr>
        <p:xfrm>
          <a:off x="8076498" y="246151"/>
          <a:ext cx="1316252" cy="6246720"/>
        </p:xfrm>
        <a:graphic>
          <a:graphicData uri="http://schemas.openxmlformats.org/drawingml/2006/table">
            <a:tbl>
              <a:tblPr firstRow="1" bandRow="1">
                <a:tableStyleId>{17292A2E-F333-43FB-9621-5CBBE7FDCDCB}</a:tableStyleId>
              </a:tblPr>
              <a:tblGrid>
                <a:gridCol w="658126">
                  <a:extLst>
                    <a:ext uri="{9D8B030D-6E8A-4147-A177-3AD203B41FA5}">
                      <a16:colId xmlns:a16="http://schemas.microsoft.com/office/drawing/2014/main" val="1500797133"/>
                    </a:ext>
                  </a:extLst>
                </a:gridCol>
                <a:gridCol w="658126">
                  <a:extLst>
                    <a:ext uri="{9D8B030D-6E8A-4147-A177-3AD203B41FA5}">
                      <a16:colId xmlns:a16="http://schemas.microsoft.com/office/drawing/2014/main" val="4258367212"/>
                    </a:ext>
                  </a:extLst>
                </a:gridCol>
              </a:tblGrid>
              <a:tr h="224364">
                <a:tc>
                  <a:txBody>
                    <a:bodyPr/>
                    <a:lstStyle/>
                    <a:p>
                      <a:r>
                        <a:rPr lang="en-US" sz="1400" b="1" dirty="0"/>
                        <a:t>x</a:t>
                      </a:r>
                    </a:p>
                  </a:txBody>
                  <a:tcPr marT="0" marB="18000"/>
                </a:tc>
                <a:tc>
                  <a:txBody>
                    <a:bodyPr/>
                    <a:lstStyle/>
                    <a:p>
                      <a:r>
                        <a:rPr lang="en-US" sz="1400" b="1" dirty="0"/>
                        <a:t>h(x)</a:t>
                      </a:r>
                    </a:p>
                  </a:txBody>
                  <a:tcPr marT="0" marB="18000"/>
                </a:tc>
                <a:extLst>
                  <a:ext uri="{0D108BD9-81ED-4DB2-BD59-A6C34878D82A}">
                    <a16:rowId xmlns:a16="http://schemas.microsoft.com/office/drawing/2014/main" val="2826415541"/>
                  </a:ext>
                </a:extLst>
              </a:tr>
              <a:tr h="224364">
                <a:tc>
                  <a:txBody>
                    <a:bodyPr/>
                    <a:lstStyle/>
                    <a:p>
                      <a:r>
                        <a:rPr lang="en-US" sz="1400" dirty="0"/>
                        <a:t>a</a:t>
                      </a:r>
                    </a:p>
                  </a:txBody>
                  <a:tcPr marT="0" marB="18000"/>
                </a:tc>
                <a:tc>
                  <a:txBody>
                    <a:bodyPr/>
                    <a:lstStyle/>
                    <a:p>
                      <a:r>
                        <a:rPr lang="en-US" sz="1400" dirty="0">
                          <a:solidFill>
                            <a:schemeClr val="accent2"/>
                          </a:solidFill>
                        </a:rPr>
                        <a:t>0</a:t>
                      </a:r>
                    </a:p>
                  </a:txBody>
                  <a:tcPr marT="0" marB="18000"/>
                </a:tc>
                <a:extLst>
                  <a:ext uri="{0D108BD9-81ED-4DB2-BD59-A6C34878D82A}">
                    <a16:rowId xmlns:a16="http://schemas.microsoft.com/office/drawing/2014/main" val="1504447364"/>
                  </a:ext>
                </a:extLst>
              </a:tr>
              <a:tr h="224364">
                <a:tc>
                  <a:txBody>
                    <a:bodyPr/>
                    <a:lstStyle/>
                    <a:p>
                      <a:r>
                        <a:rPr lang="en-US" sz="1400" dirty="0"/>
                        <a:t>b</a:t>
                      </a:r>
                    </a:p>
                  </a:txBody>
                  <a:tcPr marT="0" marB="18000"/>
                </a:tc>
                <a:tc>
                  <a:txBody>
                    <a:bodyPr/>
                    <a:lstStyle/>
                    <a:p>
                      <a:r>
                        <a:rPr lang="en-US" sz="1400" dirty="0">
                          <a:solidFill>
                            <a:schemeClr val="accent2"/>
                          </a:solidFill>
                        </a:rPr>
                        <a:t>1</a:t>
                      </a:r>
                    </a:p>
                  </a:txBody>
                  <a:tcPr marT="0" marB="18000"/>
                </a:tc>
                <a:extLst>
                  <a:ext uri="{0D108BD9-81ED-4DB2-BD59-A6C34878D82A}">
                    <a16:rowId xmlns:a16="http://schemas.microsoft.com/office/drawing/2014/main" val="4036690659"/>
                  </a:ext>
                </a:extLst>
              </a:tr>
              <a:tr h="224364">
                <a:tc>
                  <a:txBody>
                    <a:bodyPr/>
                    <a:lstStyle/>
                    <a:p>
                      <a:r>
                        <a:rPr lang="en-US" sz="1400" dirty="0"/>
                        <a:t>c</a:t>
                      </a:r>
                    </a:p>
                  </a:txBody>
                  <a:tcPr marT="0" marB="18000"/>
                </a:tc>
                <a:tc>
                  <a:txBody>
                    <a:bodyPr/>
                    <a:lstStyle/>
                    <a:p>
                      <a:r>
                        <a:rPr lang="en-US" sz="1200" dirty="0">
                          <a:solidFill>
                            <a:schemeClr val="accent2"/>
                          </a:solidFill>
                        </a:rPr>
                        <a:t>2</a:t>
                      </a:r>
                    </a:p>
                  </a:txBody>
                  <a:tcPr marT="0" marB="18000"/>
                </a:tc>
                <a:extLst>
                  <a:ext uri="{0D108BD9-81ED-4DB2-BD59-A6C34878D82A}">
                    <a16:rowId xmlns:a16="http://schemas.microsoft.com/office/drawing/2014/main" val="2610546179"/>
                  </a:ext>
                </a:extLst>
              </a:tr>
              <a:tr h="224364">
                <a:tc>
                  <a:txBody>
                    <a:bodyPr/>
                    <a:lstStyle/>
                    <a:p>
                      <a:r>
                        <a:rPr lang="en-US" sz="1400" dirty="0"/>
                        <a:t>d</a:t>
                      </a:r>
                    </a:p>
                  </a:txBody>
                  <a:tcPr marT="0" marB="18000"/>
                </a:tc>
                <a:tc>
                  <a:txBody>
                    <a:bodyPr/>
                    <a:lstStyle/>
                    <a:p>
                      <a:r>
                        <a:rPr lang="en-US" sz="1400" dirty="0">
                          <a:solidFill>
                            <a:schemeClr val="accent2"/>
                          </a:solidFill>
                        </a:rPr>
                        <a:t>3</a:t>
                      </a:r>
                    </a:p>
                  </a:txBody>
                  <a:tcPr marT="0" marB="18000"/>
                </a:tc>
                <a:extLst>
                  <a:ext uri="{0D108BD9-81ED-4DB2-BD59-A6C34878D82A}">
                    <a16:rowId xmlns:a16="http://schemas.microsoft.com/office/drawing/2014/main" val="3069750974"/>
                  </a:ext>
                </a:extLst>
              </a:tr>
              <a:tr h="224364">
                <a:tc>
                  <a:txBody>
                    <a:bodyPr/>
                    <a:lstStyle/>
                    <a:p>
                      <a:r>
                        <a:rPr lang="en-US" sz="1400" dirty="0"/>
                        <a:t>e</a:t>
                      </a:r>
                    </a:p>
                  </a:txBody>
                  <a:tcPr marT="0" marB="18000"/>
                </a:tc>
                <a:tc>
                  <a:txBody>
                    <a:bodyPr/>
                    <a:lstStyle/>
                    <a:p>
                      <a:r>
                        <a:rPr lang="en-US" sz="1400" dirty="0">
                          <a:solidFill>
                            <a:schemeClr val="accent2"/>
                          </a:solidFill>
                        </a:rPr>
                        <a:t>4</a:t>
                      </a:r>
                    </a:p>
                  </a:txBody>
                  <a:tcPr marT="0" marB="18000"/>
                </a:tc>
                <a:extLst>
                  <a:ext uri="{0D108BD9-81ED-4DB2-BD59-A6C34878D82A}">
                    <a16:rowId xmlns:a16="http://schemas.microsoft.com/office/drawing/2014/main" val="3900276480"/>
                  </a:ext>
                </a:extLst>
              </a:tr>
              <a:tr h="224364">
                <a:tc>
                  <a:txBody>
                    <a:bodyPr/>
                    <a:lstStyle/>
                    <a:p>
                      <a:r>
                        <a:rPr lang="en-US" sz="1400" dirty="0"/>
                        <a:t>f</a:t>
                      </a:r>
                    </a:p>
                  </a:txBody>
                  <a:tcPr marT="0" marB="18000"/>
                </a:tc>
                <a:tc>
                  <a:txBody>
                    <a:bodyPr/>
                    <a:lstStyle/>
                    <a:p>
                      <a:r>
                        <a:rPr lang="en-US" sz="1400" dirty="0">
                          <a:solidFill>
                            <a:schemeClr val="accent2"/>
                          </a:solidFill>
                        </a:rPr>
                        <a:t>5</a:t>
                      </a:r>
                    </a:p>
                  </a:txBody>
                  <a:tcPr marT="0" marB="18000"/>
                </a:tc>
                <a:extLst>
                  <a:ext uri="{0D108BD9-81ED-4DB2-BD59-A6C34878D82A}">
                    <a16:rowId xmlns:a16="http://schemas.microsoft.com/office/drawing/2014/main" val="859799659"/>
                  </a:ext>
                </a:extLst>
              </a:tr>
              <a:tr h="224364">
                <a:tc>
                  <a:txBody>
                    <a:bodyPr/>
                    <a:lstStyle/>
                    <a:p>
                      <a:r>
                        <a:rPr lang="en-US" sz="1400" dirty="0"/>
                        <a:t>g</a:t>
                      </a:r>
                    </a:p>
                  </a:txBody>
                  <a:tcPr marT="0" marB="18000"/>
                </a:tc>
                <a:tc>
                  <a:txBody>
                    <a:bodyPr/>
                    <a:lstStyle/>
                    <a:p>
                      <a:r>
                        <a:rPr lang="en-US" sz="1400" dirty="0">
                          <a:solidFill>
                            <a:schemeClr val="accent2"/>
                          </a:solidFill>
                        </a:rPr>
                        <a:t>6</a:t>
                      </a:r>
                    </a:p>
                  </a:txBody>
                  <a:tcPr marT="0" marB="18000"/>
                </a:tc>
                <a:extLst>
                  <a:ext uri="{0D108BD9-81ED-4DB2-BD59-A6C34878D82A}">
                    <a16:rowId xmlns:a16="http://schemas.microsoft.com/office/drawing/2014/main" val="2057095009"/>
                  </a:ext>
                </a:extLst>
              </a:tr>
              <a:tr h="224364">
                <a:tc>
                  <a:txBody>
                    <a:bodyPr/>
                    <a:lstStyle/>
                    <a:p>
                      <a:r>
                        <a:rPr lang="en-US" sz="1400" dirty="0"/>
                        <a:t>h</a:t>
                      </a:r>
                    </a:p>
                  </a:txBody>
                  <a:tcPr marT="0" marB="18000"/>
                </a:tc>
                <a:tc>
                  <a:txBody>
                    <a:bodyPr/>
                    <a:lstStyle/>
                    <a:p>
                      <a:r>
                        <a:rPr lang="en-US" sz="1400" dirty="0">
                          <a:solidFill>
                            <a:schemeClr val="accent2"/>
                          </a:solidFill>
                        </a:rPr>
                        <a:t>7</a:t>
                      </a:r>
                    </a:p>
                  </a:txBody>
                  <a:tcPr marT="0" marB="18000"/>
                </a:tc>
                <a:extLst>
                  <a:ext uri="{0D108BD9-81ED-4DB2-BD59-A6C34878D82A}">
                    <a16:rowId xmlns:a16="http://schemas.microsoft.com/office/drawing/2014/main" val="2918188361"/>
                  </a:ext>
                </a:extLst>
              </a:tr>
              <a:tr h="224364">
                <a:tc>
                  <a:txBody>
                    <a:bodyPr/>
                    <a:lstStyle/>
                    <a:p>
                      <a:r>
                        <a:rPr lang="en-US" sz="1400" dirty="0" err="1"/>
                        <a:t>i</a:t>
                      </a:r>
                      <a:endParaRPr lang="en-US" sz="1400" dirty="0"/>
                    </a:p>
                  </a:txBody>
                  <a:tcPr marT="0" marB="18000"/>
                </a:tc>
                <a:tc>
                  <a:txBody>
                    <a:bodyPr/>
                    <a:lstStyle/>
                    <a:p>
                      <a:r>
                        <a:rPr lang="en-US" sz="1400" dirty="0">
                          <a:solidFill>
                            <a:schemeClr val="accent2"/>
                          </a:solidFill>
                        </a:rPr>
                        <a:t>8</a:t>
                      </a:r>
                    </a:p>
                  </a:txBody>
                  <a:tcPr marT="0" marB="18000"/>
                </a:tc>
                <a:extLst>
                  <a:ext uri="{0D108BD9-81ED-4DB2-BD59-A6C34878D82A}">
                    <a16:rowId xmlns:a16="http://schemas.microsoft.com/office/drawing/2014/main" val="3261569902"/>
                  </a:ext>
                </a:extLst>
              </a:tr>
              <a:tr h="224364">
                <a:tc>
                  <a:txBody>
                    <a:bodyPr/>
                    <a:lstStyle/>
                    <a:p>
                      <a:r>
                        <a:rPr lang="en-US" sz="1400" dirty="0"/>
                        <a:t>j</a:t>
                      </a:r>
                    </a:p>
                  </a:txBody>
                  <a:tcPr marT="0" marB="18000"/>
                </a:tc>
                <a:tc>
                  <a:txBody>
                    <a:bodyPr/>
                    <a:lstStyle/>
                    <a:p>
                      <a:r>
                        <a:rPr lang="en-US" sz="1400" dirty="0">
                          <a:solidFill>
                            <a:schemeClr val="accent2"/>
                          </a:solidFill>
                        </a:rPr>
                        <a:t>9</a:t>
                      </a:r>
                    </a:p>
                  </a:txBody>
                  <a:tcPr marT="0" marB="18000"/>
                </a:tc>
                <a:extLst>
                  <a:ext uri="{0D108BD9-81ED-4DB2-BD59-A6C34878D82A}">
                    <a16:rowId xmlns:a16="http://schemas.microsoft.com/office/drawing/2014/main" val="2138835240"/>
                  </a:ext>
                </a:extLst>
              </a:tr>
              <a:tr h="224364">
                <a:tc>
                  <a:txBody>
                    <a:bodyPr/>
                    <a:lstStyle/>
                    <a:p>
                      <a:r>
                        <a:rPr lang="en-US" sz="1400" dirty="0"/>
                        <a:t>k</a:t>
                      </a:r>
                    </a:p>
                  </a:txBody>
                  <a:tcPr marT="0" marB="18000"/>
                </a:tc>
                <a:tc>
                  <a:txBody>
                    <a:bodyPr/>
                    <a:lstStyle/>
                    <a:p>
                      <a:r>
                        <a:rPr lang="en-US" sz="1400" dirty="0">
                          <a:solidFill>
                            <a:schemeClr val="accent6"/>
                          </a:solidFill>
                        </a:rPr>
                        <a:t>0</a:t>
                      </a:r>
                    </a:p>
                  </a:txBody>
                  <a:tcPr marT="0" marB="18000"/>
                </a:tc>
                <a:extLst>
                  <a:ext uri="{0D108BD9-81ED-4DB2-BD59-A6C34878D82A}">
                    <a16:rowId xmlns:a16="http://schemas.microsoft.com/office/drawing/2014/main" val="793189246"/>
                  </a:ext>
                </a:extLst>
              </a:tr>
              <a:tr h="224364">
                <a:tc>
                  <a:txBody>
                    <a:bodyPr/>
                    <a:lstStyle/>
                    <a:p>
                      <a:r>
                        <a:rPr lang="en-US" sz="1400" dirty="0"/>
                        <a:t>l</a:t>
                      </a:r>
                    </a:p>
                  </a:txBody>
                  <a:tcPr marT="0" marB="18000"/>
                </a:tc>
                <a:tc>
                  <a:txBody>
                    <a:bodyPr/>
                    <a:lstStyle/>
                    <a:p>
                      <a:r>
                        <a:rPr lang="en-US" sz="1400" dirty="0">
                          <a:solidFill>
                            <a:schemeClr val="accent6"/>
                          </a:solidFill>
                        </a:rPr>
                        <a:t>1</a:t>
                      </a:r>
                    </a:p>
                  </a:txBody>
                  <a:tcPr marT="0" marB="18000"/>
                </a:tc>
                <a:extLst>
                  <a:ext uri="{0D108BD9-81ED-4DB2-BD59-A6C34878D82A}">
                    <a16:rowId xmlns:a16="http://schemas.microsoft.com/office/drawing/2014/main" val="1515155514"/>
                  </a:ext>
                </a:extLst>
              </a:tr>
              <a:tr h="224364">
                <a:tc>
                  <a:txBody>
                    <a:bodyPr/>
                    <a:lstStyle/>
                    <a:p>
                      <a:r>
                        <a:rPr lang="en-US" sz="1400" dirty="0"/>
                        <a:t>m</a:t>
                      </a:r>
                    </a:p>
                  </a:txBody>
                  <a:tcPr marT="0" marB="18000"/>
                </a:tc>
                <a:tc>
                  <a:txBody>
                    <a:bodyPr/>
                    <a:lstStyle/>
                    <a:p>
                      <a:r>
                        <a:rPr lang="en-US" sz="1400" dirty="0">
                          <a:solidFill>
                            <a:schemeClr val="accent6"/>
                          </a:solidFill>
                        </a:rPr>
                        <a:t>2</a:t>
                      </a:r>
                    </a:p>
                  </a:txBody>
                  <a:tcPr marT="0" marB="18000"/>
                </a:tc>
                <a:extLst>
                  <a:ext uri="{0D108BD9-81ED-4DB2-BD59-A6C34878D82A}">
                    <a16:rowId xmlns:a16="http://schemas.microsoft.com/office/drawing/2014/main" val="4090282430"/>
                  </a:ext>
                </a:extLst>
              </a:tr>
              <a:tr h="224364">
                <a:tc>
                  <a:txBody>
                    <a:bodyPr/>
                    <a:lstStyle/>
                    <a:p>
                      <a:r>
                        <a:rPr lang="en-US" sz="1400" dirty="0"/>
                        <a:t>n</a:t>
                      </a:r>
                    </a:p>
                  </a:txBody>
                  <a:tcPr marT="0" marB="18000"/>
                </a:tc>
                <a:tc>
                  <a:txBody>
                    <a:bodyPr/>
                    <a:lstStyle/>
                    <a:p>
                      <a:r>
                        <a:rPr lang="en-US" sz="1400" dirty="0">
                          <a:solidFill>
                            <a:schemeClr val="accent6"/>
                          </a:solidFill>
                        </a:rPr>
                        <a:t>3</a:t>
                      </a:r>
                    </a:p>
                  </a:txBody>
                  <a:tcPr marT="0" marB="18000"/>
                </a:tc>
                <a:extLst>
                  <a:ext uri="{0D108BD9-81ED-4DB2-BD59-A6C34878D82A}">
                    <a16:rowId xmlns:a16="http://schemas.microsoft.com/office/drawing/2014/main" val="1515409969"/>
                  </a:ext>
                </a:extLst>
              </a:tr>
              <a:tr h="224364">
                <a:tc>
                  <a:txBody>
                    <a:bodyPr/>
                    <a:lstStyle/>
                    <a:p>
                      <a:r>
                        <a:rPr lang="en-US" sz="1400" dirty="0"/>
                        <a:t>o</a:t>
                      </a:r>
                    </a:p>
                  </a:txBody>
                  <a:tcPr marT="0" marB="18000"/>
                </a:tc>
                <a:tc>
                  <a:txBody>
                    <a:bodyPr/>
                    <a:lstStyle/>
                    <a:p>
                      <a:r>
                        <a:rPr lang="en-US" sz="1400" dirty="0">
                          <a:solidFill>
                            <a:schemeClr val="accent6"/>
                          </a:solidFill>
                        </a:rPr>
                        <a:t>4</a:t>
                      </a:r>
                    </a:p>
                  </a:txBody>
                  <a:tcPr marT="0" marB="18000"/>
                </a:tc>
                <a:extLst>
                  <a:ext uri="{0D108BD9-81ED-4DB2-BD59-A6C34878D82A}">
                    <a16:rowId xmlns:a16="http://schemas.microsoft.com/office/drawing/2014/main" val="2172774281"/>
                  </a:ext>
                </a:extLst>
              </a:tr>
              <a:tr h="224364">
                <a:tc>
                  <a:txBody>
                    <a:bodyPr/>
                    <a:lstStyle/>
                    <a:p>
                      <a:r>
                        <a:rPr lang="en-US" sz="1400" dirty="0"/>
                        <a:t>p</a:t>
                      </a:r>
                    </a:p>
                  </a:txBody>
                  <a:tcPr marT="0" marB="18000"/>
                </a:tc>
                <a:tc>
                  <a:txBody>
                    <a:bodyPr/>
                    <a:lstStyle/>
                    <a:p>
                      <a:r>
                        <a:rPr lang="en-US" sz="1400" dirty="0">
                          <a:solidFill>
                            <a:schemeClr val="accent6"/>
                          </a:solidFill>
                        </a:rPr>
                        <a:t>5</a:t>
                      </a:r>
                    </a:p>
                  </a:txBody>
                  <a:tcPr marT="0" marB="18000"/>
                </a:tc>
                <a:extLst>
                  <a:ext uri="{0D108BD9-81ED-4DB2-BD59-A6C34878D82A}">
                    <a16:rowId xmlns:a16="http://schemas.microsoft.com/office/drawing/2014/main" val="3519789542"/>
                  </a:ext>
                </a:extLst>
              </a:tr>
              <a:tr h="224364">
                <a:tc>
                  <a:txBody>
                    <a:bodyPr/>
                    <a:lstStyle/>
                    <a:p>
                      <a:r>
                        <a:rPr lang="en-US" sz="1400" dirty="0"/>
                        <a:t>q</a:t>
                      </a:r>
                    </a:p>
                  </a:txBody>
                  <a:tcPr marT="0" marB="18000"/>
                </a:tc>
                <a:tc>
                  <a:txBody>
                    <a:bodyPr/>
                    <a:lstStyle/>
                    <a:p>
                      <a:r>
                        <a:rPr lang="en-US" sz="1400" dirty="0">
                          <a:solidFill>
                            <a:schemeClr val="accent6"/>
                          </a:solidFill>
                        </a:rPr>
                        <a:t>6</a:t>
                      </a:r>
                    </a:p>
                  </a:txBody>
                  <a:tcPr marT="0" marB="18000"/>
                </a:tc>
                <a:extLst>
                  <a:ext uri="{0D108BD9-81ED-4DB2-BD59-A6C34878D82A}">
                    <a16:rowId xmlns:a16="http://schemas.microsoft.com/office/drawing/2014/main" val="95885907"/>
                  </a:ext>
                </a:extLst>
              </a:tr>
              <a:tr h="224364">
                <a:tc>
                  <a:txBody>
                    <a:bodyPr/>
                    <a:lstStyle/>
                    <a:p>
                      <a:r>
                        <a:rPr lang="en-US" sz="1400" dirty="0"/>
                        <a:t>r</a:t>
                      </a:r>
                    </a:p>
                  </a:txBody>
                  <a:tcPr marT="0" marB="18000"/>
                </a:tc>
                <a:tc>
                  <a:txBody>
                    <a:bodyPr/>
                    <a:lstStyle/>
                    <a:p>
                      <a:r>
                        <a:rPr lang="en-US" sz="1400" dirty="0">
                          <a:solidFill>
                            <a:schemeClr val="accent6"/>
                          </a:solidFill>
                        </a:rPr>
                        <a:t>7</a:t>
                      </a:r>
                    </a:p>
                  </a:txBody>
                  <a:tcPr marT="0" marB="18000"/>
                </a:tc>
                <a:extLst>
                  <a:ext uri="{0D108BD9-81ED-4DB2-BD59-A6C34878D82A}">
                    <a16:rowId xmlns:a16="http://schemas.microsoft.com/office/drawing/2014/main" val="3421191933"/>
                  </a:ext>
                </a:extLst>
              </a:tr>
              <a:tr h="224364">
                <a:tc>
                  <a:txBody>
                    <a:bodyPr/>
                    <a:lstStyle/>
                    <a:p>
                      <a:r>
                        <a:rPr lang="en-US" sz="1400" dirty="0"/>
                        <a:t>s</a:t>
                      </a:r>
                    </a:p>
                  </a:txBody>
                  <a:tcPr marT="0" marB="18000"/>
                </a:tc>
                <a:tc>
                  <a:txBody>
                    <a:bodyPr/>
                    <a:lstStyle/>
                    <a:p>
                      <a:r>
                        <a:rPr lang="en-US" sz="1400" dirty="0">
                          <a:solidFill>
                            <a:schemeClr val="accent6"/>
                          </a:solidFill>
                        </a:rPr>
                        <a:t>8</a:t>
                      </a:r>
                    </a:p>
                  </a:txBody>
                  <a:tcPr marT="0" marB="18000"/>
                </a:tc>
                <a:extLst>
                  <a:ext uri="{0D108BD9-81ED-4DB2-BD59-A6C34878D82A}">
                    <a16:rowId xmlns:a16="http://schemas.microsoft.com/office/drawing/2014/main" val="1400686728"/>
                  </a:ext>
                </a:extLst>
              </a:tr>
              <a:tr h="224364">
                <a:tc>
                  <a:txBody>
                    <a:bodyPr/>
                    <a:lstStyle/>
                    <a:p>
                      <a:r>
                        <a:rPr lang="en-US" sz="1400" dirty="0"/>
                        <a:t>t</a:t>
                      </a:r>
                    </a:p>
                  </a:txBody>
                  <a:tcPr marT="0" marB="18000"/>
                </a:tc>
                <a:tc>
                  <a:txBody>
                    <a:bodyPr/>
                    <a:lstStyle/>
                    <a:p>
                      <a:r>
                        <a:rPr lang="en-US" sz="1400" dirty="0">
                          <a:solidFill>
                            <a:schemeClr val="accent6"/>
                          </a:solidFill>
                        </a:rPr>
                        <a:t>9</a:t>
                      </a:r>
                    </a:p>
                  </a:txBody>
                  <a:tcPr marT="0" marB="18000"/>
                </a:tc>
                <a:extLst>
                  <a:ext uri="{0D108BD9-81ED-4DB2-BD59-A6C34878D82A}">
                    <a16:rowId xmlns:a16="http://schemas.microsoft.com/office/drawing/2014/main" val="627944975"/>
                  </a:ext>
                </a:extLst>
              </a:tr>
              <a:tr h="224364">
                <a:tc>
                  <a:txBody>
                    <a:bodyPr/>
                    <a:lstStyle/>
                    <a:p>
                      <a:r>
                        <a:rPr lang="en-US" sz="1400" dirty="0"/>
                        <a:t>u</a:t>
                      </a:r>
                    </a:p>
                  </a:txBody>
                  <a:tcPr marT="0" marB="18000"/>
                </a:tc>
                <a:tc>
                  <a:txBody>
                    <a:bodyPr/>
                    <a:lstStyle/>
                    <a:p>
                      <a:r>
                        <a:rPr lang="en-US" sz="1400" dirty="0">
                          <a:solidFill>
                            <a:schemeClr val="accent5"/>
                          </a:solidFill>
                        </a:rPr>
                        <a:t>0</a:t>
                      </a:r>
                    </a:p>
                  </a:txBody>
                  <a:tcPr marT="0" marB="18000"/>
                </a:tc>
                <a:extLst>
                  <a:ext uri="{0D108BD9-81ED-4DB2-BD59-A6C34878D82A}">
                    <a16:rowId xmlns:a16="http://schemas.microsoft.com/office/drawing/2014/main" val="2201480104"/>
                  </a:ext>
                </a:extLst>
              </a:tr>
              <a:tr h="224364">
                <a:tc>
                  <a:txBody>
                    <a:bodyPr/>
                    <a:lstStyle/>
                    <a:p>
                      <a:r>
                        <a:rPr lang="en-US" sz="1400" dirty="0"/>
                        <a:t>v</a:t>
                      </a:r>
                    </a:p>
                  </a:txBody>
                  <a:tcPr marT="0" marB="18000"/>
                </a:tc>
                <a:tc>
                  <a:txBody>
                    <a:bodyPr/>
                    <a:lstStyle/>
                    <a:p>
                      <a:r>
                        <a:rPr lang="en-US" sz="1400" dirty="0">
                          <a:solidFill>
                            <a:schemeClr val="accent5"/>
                          </a:solidFill>
                        </a:rPr>
                        <a:t>1</a:t>
                      </a:r>
                    </a:p>
                  </a:txBody>
                  <a:tcPr marT="0" marB="18000"/>
                </a:tc>
                <a:extLst>
                  <a:ext uri="{0D108BD9-81ED-4DB2-BD59-A6C34878D82A}">
                    <a16:rowId xmlns:a16="http://schemas.microsoft.com/office/drawing/2014/main" val="3155037838"/>
                  </a:ext>
                </a:extLst>
              </a:tr>
              <a:tr h="224364">
                <a:tc>
                  <a:txBody>
                    <a:bodyPr/>
                    <a:lstStyle/>
                    <a:p>
                      <a:r>
                        <a:rPr lang="en-US" sz="1400" dirty="0"/>
                        <a:t>w</a:t>
                      </a:r>
                    </a:p>
                  </a:txBody>
                  <a:tcPr marT="0" marB="18000"/>
                </a:tc>
                <a:tc>
                  <a:txBody>
                    <a:bodyPr/>
                    <a:lstStyle/>
                    <a:p>
                      <a:r>
                        <a:rPr lang="en-US" sz="1400" dirty="0">
                          <a:solidFill>
                            <a:schemeClr val="accent5"/>
                          </a:solidFill>
                        </a:rPr>
                        <a:t>2</a:t>
                      </a:r>
                    </a:p>
                  </a:txBody>
                  <a:tcPr marT="0" marB="18000"/>
                </a:tc>
                <a:extLst>
                  <a:ext uri="{0D108BD9-81ED-4DB2-BD59-A6C34878D82A}">
                    <a16:rowId xmlns:a16="http://schemas.microsoft.com/office/drawing/2014/main" val="3336959291"/>
                  </a:ext>
                </a:extLst>
              </a:tr>
              <a:tr h="224364">
                <a:tc>
                  <a:txBody>
                    <a:bodyPr/>
                    <a:lstStyle/>
                    <a:p>
                      <a:r>
                        <a:rPr lang="en-US" sz="1400" dirty="0"/>
                        <a:t>x</a:t>
                      </a:r>
                    </a:p>
                  </a:txBody>
                  <a:tcPr marT="0" marB="18000"/>
                </a:tc>
                <a:tc>
                  <a:txBody>
                    <a:bodyPr/>
                    <a:lstStyle/>
                    <a:p>
                      <a:r>
                        <a:rPr lang="en-US" sz="1400" dirty="0">
                          <a:solidFill>
                            <a:schemeClr val="accent5"/>
                          </a:solidFill>
                        </a:rPr>
                        <a:t>3</a:t>
                      </a:r>
                    </a:p>
                  </a:txBody>
                  <a:tcPr marT="0" marB="18000"/>
                </a:tc>
                <a:extLst>
                  <a:ext uri="{0D108BD9-81ED-4DB2-BD59-A6C34878D82A}">
                    <a16:rowId xmlns:a16="http://schemas.microsoft.com/office/drawing/2014/main" val="1560928733"/>
                  </a:ext>
                </a:extLst>
              </a:tr>
              <a:tr h="224364">
                <a:tc>
                  <a:txBody>
                    <a:bodyPr/>
                    <a:lstStyle/>
                    <a:p>
                      <a:r>
                        <a:rPr lang="en-US" sz="1400" dirty="0"/>
                        <a:t>y</a:t>
                      </a:r>
                    </a:p>
                  </a:txBody>
                  <a:tcPr marT="0" marB="18000"/>
                </a:tc>
                <a:tc>
                  <a:txBody>
                    <a:bodyPr/>
                    <a:lstStyle/>
                    <a:p>
                      <a:r>
                        <a:rPr lang="en-US" sz="1400" dirty="0">
                          <a:solidFill>
                            <a:schemeClr val="accent5"/>
                          </a:solidFill>
                        </a:rPr>
                        <a:t>4</a:t>
                      </a:r>
                    </a:p>
                  </a:txBody>
                  <a:tcPr marT="0" marB="18000"/>
                </a:tc>
                <a:extLst>
                  <a:ext uri="{0D108BD9-81ED-4DB2-BD59-A6C34878D82A}">
                    <a16:rowId xmlns:a16="http://schemas.microsoft.com/office/drawing/2014/main" val="608849017"/>
                  </a:ext>
                </a:extLst>
              </a:tr>
              <a:tr h="224364">
                <a:tc>
                  <a:txBody>
                    <a:bodyPr/>
                    <a:lstStyle/>
                    <a:p>
                      <a:r>
                        <a:rPr lang="en-US" sz="1400" dirty="0"/>
                        <a:t>z</a:t>
                      </a:r>
                    </a:p>
                  </a:txBody>
                  <a:tcPr marT="0" marB="18000"/>
                </a:tc>
                <a:tc>
                  <a:txBody>
                    <a:bodyPr/>
                    <a:lstStyle/>
                    <a:p>
                      <a:r>
                        <a:rPr lang="en-US" sz="1400" dirty="0">
                          <a:solidFill>
                            <a:schemeClr val="accent5"/>
                          </a:solidFill>
                        </a:rPr>
                        <a:t>5</a:t>
                      </a:r>
                    </a:p>
                  </a:txBody>
                  <a:tcPr marT="0" marB="18000"/>
                </a:tc>
                <a:extLst>
                  <a:ext uri="{0D108BD9-81ED-4DB2-BD59-A6C34878D82A}">
                    <a16:rowId xmlns:a16="http://schemas.microsoft.com/office/drawing/2014/main" val="191301698"/>
                  </a:ext>
                </a:extLst>
              </a:tr>
            </a:tbl>
          </a:graphicData>
        </a:graphic>
      </p:graphicFrame>
      <p:graphicFrame>
        <p:nvGraphicFramePr>
          <p:cNvPr id="6" name="Table 5">
            <a:extLst>
              <a:ext uri="{FF2B5EF4-FFF2-40B4-BE49-F238E27FC236}">
                <a16:creationId xmlns:a16="http://schemas.microsoft.com/office/drawing/2014/main" id="{1DE0E6B8-2659-9296-7581-4EDB6E35F181}"/>
              </a:ext>
            </a:extLst>
          </p:cNvPr>
          <p:cNvGraphicFramePr>
            <a:graphicFrameLocks noGrp="1"/>
          </p:cNvGraphicFramePr>
          <p:nvPr>
            <p:extLst>
              <p:ext uri="{D42A27DB-BD31-4B8C-83A1-F6EECF244321}">
                <p14:modId xmlns:p14="http://schemas.microsoft.com/office/powerpoint/2010/main" val="3383149550"/>
              </p:ext>
            </p:extLst>
          </p:nvPr>
        </p:nvGraphicFramePr>
        <p:xfrm>
          <a:off x="2067090" y="1430200"/>
          <a:ext cx="3086190"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7" name="Speech Bubble: Rectangle with Corners Rounded 6">
            <a:extLst>
              <a:ext uri="{FF2B5EF4-FFF2-40B4-BE49-F238E27FC236}">
                <a16:creationId xmlns:a16="http://schemas.microsoft.com/office/drawing/2014/main" id="{772E7C41-5169-ACEC-8584-30969E80DEEE}"/>
              </a:ext>
            </a:extLst>
          </p:cNvPr>
          <p:cNvSpPr/>
          <p:nvPr/>
        </p:nvSpPr>
        <p:spPr>
          <a:xfrm>
            <a:off x="5753752" y="983875"/>
            <a:ext cx="1796051" cy="493438"/>
          </a:xfrm>
          <a:prstGeom prst="wedgeRoundRectCallout">
            <a:avLst>
              <a:gd name="adj1" fmla="val -78258"/>
              <a:gd name="adj2" fmla="val 7505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Since h(x) is 0..9, we only need T[0] .. T[9]</a:t>
            </a:r>
          </a:p>
        </p:txBody>
      </p:sp>
      <p:graphicFrame>
        <p:nvGraphicFramePr>
          <p:cNvPr id="8" name="Table 7">
            <a:extLst>
              <a:ext uri="{FF2B5EF4-FFF2-40B4-BE49-F238E27FC236}">
                <a16:creationId xmlns:a16="http://schemas.microsoft.com/office/drawing/2014/main" id="{F8A15963-CEBF-E6A2-9190-C75245D0C943}"/>
              </a:ext>
            </a:extLst>
          </p:cNvPr>
          <p:cNvGraphicFramePr>
            <a:graphicFrameLocks noGrp="1"/>
          </p:cNvGraphicFramePr>
          <p:nvPr>
            <p:extLst>
              <p:ext uri="{D42A27DB-BD31-4B8C-83A1-F6EECF244321}">
                <p14:modId xmlns:p14="http://schemas.microsoft.com/office/powerpoint/2010/main" val="3359490563"/>
              </p:ext>
            </p:extLst>
          </p:nvPr>
        </p:nvGraphicFramePr>
        <p:xfrm>
          <a:off x="2067090" y="2264156"/>
          <a:ext cx="3086190"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9" name="TextBox 8">
            <a:extLst>
              <a:ext uri="{FF2B5EF4-FFF2-40B4-BE49-F238E27FC236}">
                <a16:creationId xmlns:a16="http://schemas.microsoft.com/office/drawing/2014/main" id="{3631F854-EA8A-D169-C2DE-8DB41EDC2948}"/>
              </a:ext>
            </a:extLst>
          </p:cNvPr>
          <p:cNvSpPr txBox="1"/>
          <p:nvPr/>
        </p:nvSpPr>
        <p:spPr>
          <a:xfrm>
            <a:off x="5820208" y="2579996"/>
            <a:ext cx="1342030" cy="400110"/>
          </a:xfrm>
          <a:prstGeom prst="rect">
            <a:avLst/>
          </a:prstGeom>
          <a:noFill/>
        </p:spPr>
        <p:txBody>
          <a:bodyPr wrap="square" rtlCol="0">
            <a:spAutoFit/>
          </a:bodyPr>
          <a:lstStyle/>
          <a:p>
            <a:r>
              <a:rPr lang="en-US" sz="2000" dirty="0"/>
              <a:t>Add ‘k’</a:t>
            </a:r>
          </a:p>
        </p:txBody>
      </p:sp>
      <p:sp>
        <p:nvSpPr>
          <p:cNvPr id="10" name="TextBox 9">
            <a:extLst>
              <a:ext uri="{FF2B5EF4-FFF2-40B4-BE49-F238E27FC236}">
                <a16:creationId xmlns:a16="http://schemas.microsoft.com/office/drawing/2014/main" id="{22CD6E74-1A17-B4D5-EB45-2ADC19B6204C}"/>
              </a:ext>
            </a:extLst>
          </p:cNvPr>
          <p:cNvSpPr txBox="1"/>
          <p:nvPr/>
        </p:nvSpPr>
        <p:spPr>
          <a:xfrm>
            <a:off x="5820208" y="3498191"/>
            <a:ext cx="1342030" cy="400110"/>
          </a:xfrm>
          <a:prstGeom prst="rect">
            <a:avLst/>
          </a:prstGeom>
          <a:noFill/>
        </p:spPr>
        <p:txBody>
          <a:bodyPr wrap="square" rtlCol="0">
            <a:spAutoFit/>
          </a:bodyPr>
          <a:lstStyle/>
          <a:p>
            <a:r>
              <a:rPr lang="en-US" sz="2000" dirty="0"/>
              <a:t>Add ‘w’</a:t>
            </a:r>
          </a:p>
        </p:txBody>
      </p:sp>
      <p:graphicFrame>
        <p:nvGraphicFramePr>
          <p:cNvPr id="11" name="Table 10">
            <a:extLst>
              <a:ext uri="{FF2B5EF4-FFF2-40B4-BE49-F238E27FC236}">
                <a16:creationId xmlns:a16="http://schemas.microsoft.com/office/drawing/2014/main" id="{24AF5547-487E-418E-79B4-6B57B753C0EC}"/>
              </a:ext>
            </a:extLst>
          </p:cNvPr>
          <p:cNvGraphicFramePr>
            <a:graphicFrameLocks noGrp="1"/>
          </p:cNvGraphicFramePr>
          <p:nvPr>
            <p:extLst>
              <p:ext uri="{D42A27DB-BD31-4B8C-83A1-F6EECF244321}">
                <p14:modId xmlns:p14="http://schemas.microsoft.com/office/powerpoint/2010/main" val="2078221878"/>
              </p:ext>
            </p:extLst>
          </p:nvPr>
        </p:nvGraphicFramePr>
        <p:xfrm>
          <a:off x="2067090" y="3187003"/>
          <a:ext cx="3086190"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b="1" dirty="0"/>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12" name="Speech Bubble: Rectangle with Corners Rounded 11">
            <a:extLst>
              <a:ext uri="{FF2B5EF4-FFF2-40B4-BE49-F238E27FC236}">
                <a16:creationId xmlns:a16="http://schemas.microsoft.com/office/drawing/2014/main" id="{558B6051-1C70-11A6-96C6-C8DB5BFC0E04}"/>
              </a:ext>
            </a:extLst>
          </p:cNvPr>
          <p:cNvSpPr/>
          <p:nvPr/>
        </p:nvSpPr>
        <p:spPr>
          <a:xfrm>
            <a:off x="184157" y="3498191"/>
            <a:ext cx="1584638" cy="743813"/>
          </a:xfrm>
          <a:prstGeom prst="wedgeRoundRectCallout">
            <a:avLst>
              <a:gd name="adj1" fmla="val 108632"/>
              <a:gd name="adj2" fmla="val 5426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We don’t have ‘m’ but T[h(‘m’)] is marked TRUE</a:t>
            </a:r>
          </a:p>
        </p:txBody>
      </p:sp>
      <p:sp>
        <p:nvSpPr>
          <p:cNvPr id="13" name="TextBox 12">
            <a:extLst>
              <a:ext uri="{FF2B5EF4-FFF2-40B4-BE49-F238E27FC236}">
                <a16:creationId xmlns:a16="http://schemas.microsoft.com/office/drawing/2014/main" id="{D901AAAC-3857-5D4F-430D-FB0B78214998}"/>
              </a:ext>
            </a:extLst>
          </p:cNvPr>
          <p:cNvSpPr txBox="1"/>
          <p:nvPr/>
        </p:nvSpPr>
        <p:spPr>
          <a:xfrm>
            <a:off x="5826950" y="4507069"/>
            <a:ext cx="1413522" cy="400110"/>
          </a:xfrm>
          <a:prstGeom prst="rect">
            <a:avLst/>
          </a:prstGeom>
          <a:noFill/>
        </p:spPr>
        <p:txBody>
          <a:bodyPr wrap="square" rtlCol="0">
            <a:spAutoFit/>
          </a:bodyPr>
          <a:lstStyle/>
          <a:p>
            <a:r>
              <a:rPr lang="en-US" sz="2000" dirty="0"/>
              <a:t>find ‘m’</a:t>
            </a:r>
          </a:p>
        </p:txBody>
      </p:sp>
      <p:graphicFrame>
        <p:nvGraphicFramePr>
          <p:cNvPr id="14" name="Table 13">
            <a:extLst>
              <a:ext uri="{FF2B5EF4-FFF2-40B4-BE49-F238E27FC236}">
                <a16:creationId xmlns:a16="http://schemas.microsoft.com/office/drawing/2014/main" id="{19A596E5-7F73-CF0E-F52A-D21E6FDDE8B0}"/>
              </a:ext>
            </a:extLst>
          </p:cNvPr>
          <p:cNvGraphicFramePr>
            <a:graphicFrameLocks noGrp="1"/>
          </p:cNvGraphicFramePr>
          <p:nvPr>
            <p:extLst>
              <p:ext uri="{D42A27DB-BD31-4B8C-83A1-F6EECF244321}">
                <p14:modId xmlns:p14="http://schemas.microsoft.com/office/powerpoint/2010/main" val="2398494459"/>
              </p:ext>
            </p:extLst>
          </p:nvPr>
        </p:nvGraphicFramePr>
        <p:xfrm>
          <a:off x="2067090" y="4191229"/>
          <a:ext cx="3086190"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b="1" dirty="0"/>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15" name="TextBox 14">
            <a:extLst>
              <a:ext uri="{FF2B5EF4-FFF2-40B4-BE49-F238E27FC236}">
                <a16:creationId xmlns:a16="http://schemas.microsoft.com/office/drawing/2014/main" id="{4F2A10CC-F4DD-1507-AA01-F880EA818999}"/>
              </a:ext>
            </a:extLst>
          </p:cNvPr>
          <p:cNvSpPr txBox="1"/>
          <p:nvPr/>
        </p:nvSpPr>
        <p:spPr>
          <a:xfrm>
            <a:off x="5820208" y="5487873"/>
            <a:ext cx="1413522" cy="400110"/>
          </a:xfrm>
          <a:prstGeom prst="rect">
            <a:avLst/>
          </a:prstGeom>
          <a:noFill/>
        </p:spPr>
        <p:txBody>
          <a:bodyPr wrap="square" rtlCol="0">
            <a:spAutoFit/>
          </a:bodyPr>
          <a:lstStyle/>
          <a:p>
            <a:r>
              <a:rPr lang="en-US" sz="2000" dirty="0"/>
              <a:t>add ‘a’</a:t>
            </a:r>
          </a:p>
        </p:txBody>
      </p:sp>
      <p:graphicFrame>
        <p:nvGraphicFramePr>
          <p:cNvPr id="16" name="Table 15">
            <a:extLst>
              <a:ext uri="{FF2B5EF4-FFF2-40B4-BE49-F238E27FC236}">
                <a16:creationId xmlns:a16="http://schemas.microsoft.com/office/drawing/2014/main" id="{26545387-2CB2-B450-AE81-D2C7822C9411}"/>
              </a:ext>
            </a:extLst>
          </p:cNvPr>
          <p:cNvGraphicFramePr>
            <a:graphicFrameLocks noGrp="1"/>
          </p:cNvGraphicFramePr>
          <p:nvPr>
            <p:extLst>
              <p:ext uri="{D42A27DB-BD31-4B8C-83A1-F6EECF244321}">
                <p14:modId xmlns:p14="http://schemas.microsoft.com/office/powerpoint/2010/main" val="2398494459"/>
              </p:ext>
            </p:extLst>
          </p:nvPr>
        </p:nvGraphicFramePr>
        <p:xfrm>
          <a:off x="2067090" y="5172033"/>
          <a:ext cx="3086190" cy="631680"/>
        </p:xfrm>
        <a:graphic>
          <a:graphicData uri="http://schemas.openxmlformats.org/drawingml/2006/table">
            <a:tbl>
              <a:tblPr firstRow="1" bandRow="1">
                <a:tableStyleId>{E8B1032C-EA38-4F05-BA0D-38AFFFC7BED3}</a:tableStyleId>
              </a:tblPr>
              <a:tblGrid>
                <a:gridCol w="308619">
                  <a:extLst>
                    <a:ext uri="{9D8B030D-6E8A-4147-A177-3AD203B41FA5}">
                      <a16:colId xmlns:a16="http://schemas.microsoft.com/office/drawing/2014/main" val="2431925760"/>
                    </a:ext>
                  </a:extLst>
                </a:gridCol>
                <a:gridCol w="308619">
                  <a:extLst>
                    <a:ext uri="{9D8B030D-6E8A-4147-A177-3AD203B41FA5}">
                      <a16:colId xmlns:a16="http://schemas.microsoft.com/office/drawing/2014/main" val="2788890793"/>
                    </a:ext>
                  </a:extLst>
                </a:gridCol>
                <a:gridCol w="308619">
                  <a:extLst>
                    <a:ext uri="{9D8B030D-6E8A-4147-A177-3AD203B41FA5}">
                      <a16:colId xmlns:a16="http://schemas.microsoft.com/office/drawing/2014/main" val="4204188436"/>
                    </a:ext>
                  </a:extLst>
                </a:gridCol>
                <a:gridCol w="308619">
                  <a:extLst>
                    <a:ext uri="{9D8B030D-6E8A-4147-A177-3AD203B41FA5}">
                      <a16:colId xmlns:a16="http://schemas.microsoft.com/office/drawing/2014/main" val="3149246360"/>
                    </a:ext>
                  </a:extLst>
                </a:gridCol>
                <a:gridCol w="308619">
                  <a:extLst>
                    <a:ext uri="{9D8B030D-6E8A-4147-A177-3AD203B41FA5}">
                      <a16:colId xmlns:a16="http://schemas.microsoft.com/office/drawing/2014/main" val="29750842"/>
                    </a:ext>
                  </a:extLst>
                </a:gridCol>
                <a:gridCol w="308619">
                  <a:extLst>
                    <a:ext uri="{9D8B030D-6E8A-4147-A177-3AD203B41FA5}">
                      <a16:colId xmlns:a16="http://schemas.microsoft.com/office/drawing/2014/main" val="3424601522"/>
                    </a:ext>
                  </a:extLst>
                </a:gridCol>
                <a:gridCol w="308619">
                  <a:extLst>
                    <a:ext uri="{9D8B030D-6E8A-4147-A177-3AD203B41FA5}">
                      <a16:colId xmlns:a16="http://schemas.microsoft.com/office/drawing/2014/main" val="982321321"/>
                    </a:ext>
                  </a:extLst>
                </a:gridCol>
                <a:gridCol w="308619">
                  <a:extLst>
                    <a:ext uri="{9D8B030D-6E8A-4147-A177-3AD203B41FA5}">
                      <a16:colId xmlns:a16="http://schemas.microsoft.com/office/drawing/2014/main" val="3681052910"/>
                    </a:ext>
                  </a:extLst>
                </a:gridCol>
                <a:gridCol w="308619">
                  <a:extLst>
                    <a:ext uri="{9D8B030D-6E8A-4147-A177-3AD203B41FA5}">
                      <a16:colId xmlns:a16="http://schemas.microsoft.com/office/drawing/2014/main" val="4181970598"/>
                    </a:ext>
                  </a:extLst>
                </a:gridCol>
                <a:gridCol w="308619">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b="1" dirty="0"/>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17" name="Speech Bubble: Rectangle with Corners Rounded 16">
            <a:extLst>
              <a:ext uri="{FF2B5EF4-FFF2-40B4-BE49-F238E27FC236}">
                <a16:creationId xmlns:a16="http://schemas.microsoft.com/office/drawing/2014/main" id="{51AE5E42-527F-6CCE-4DCE-599EEAB3A023}"/>
              </a:ext>
            </a:extLst>
          </p:cNvPr>
          <p:cNvSpPr/>
          <p:nvPr/>
        </p:nvSpPr>
        <p:spPr>
          <a:xfrm>
            <a:off x="148988" y="5728149"/>
            <a:ext cx="1584638" cy="989174"/>
          </a:xfrm>
          <a:prstGeom prst="wedgeRoundRectCallout">
            <a:avLst>
              <a:gd name="adj1" fmla="val 65354"/>
              <a:gd name="adj2" fmla="val -35567"/>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We can’t add ‘a’ because T[h(‘a’)] is marked TRUE by ‘k’</a:t>
            </a:r>
          </a:p>
        </p:txBody>
      </p:sp>
    </p:spTree>
    <p:extLst>
      <p:ext uri="{BB962C8B-B14F-4D97-AF65-F5344CB8AC3E}">
        <p14:creationId xmlns:p14="http://schemas.microsoft.com/office/powerpoint/2010/main" val="2424729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animBg="1"/>
      <p:bldP spid="13" grpId="0"/>
      <p:bldP spid="15" grpId="0"/>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B2FB8-AF51-DC25-B22B-44B5A8C4507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EC9CF2D2-6428-12A8-A93E-5E7479312C49}"/>
              </a:ext>
            </a:extLst>
          </p:cNvPr>
          <p:cNvSpPr>
            <a:spLocks noGrp="1"/>
          </p:cNvSpPr>
          <p:nvPr>
            <p:ph idx="1"/>
          </p:nvPr>
        </p:nvSpPr>
        <p:spPr/>
        <p:txBody>
          <a:bodyPr/>
          <a:lstStyle/>
          <a:p>
            <a:r>
              <a:rPr lang="en-US" dirty="0"/>
              <a:t>How we fix </a:t>
            </a:r>
            <a:r>
              <a:rPr lang="en-US" dirty="0">
                <a:solidFill>
                  <a:schemeClr val="accent5"/>
                </a:solidFill>
              </a:rPr>
              <a:t>collision</a:t>
            </a:r>
            <a:r>
              <a:rPr lang="en-US" dirty="0"/>
              <a:t> problem?</a:t>
            </a:r>
          </a:p>
          <a:p>
            <a:pPr lvl="1"/>
            <a:r>
              <a:rPr lang="en-US" dirty="0"/>
              <a:t>Separate chaining technique</a:t>
            </a:r>
          </a:p>
          <a:p>
            <a:pPr lvl="1"/>
            <a:r>
              <a:rPr lang="en-US" dirty="0"/>
              <a:t>Open Addressing technique</a:t>
            </a:r>
          </a:p>
          <a:p>
            <a:r>
              <a:rPr lang="en-US" dirty="0"/>
              <a:t>How we create a hash function in practice?</a:t>
            </a:r>
          </a:p>
          <a:p>
            <a:r>
              <a:rPr lang="en-US" dirty="0"/>
              <a:t>Implementation</a:t>
            </a:r>
          </a:p>
        </p:txBody>
      </p:sp>
    </p:spTree>
    <p:extLst>
      <p:ext uri="{BB962C8B-B14F-4D97-AF65-F5344CB8AC3E}">
        <p14:creationId xmlns:p14="http://schemas.microsoft.com/office/powerpoint/2010/main" val="2858994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B0E24B-1156-8A60-8E32-CA5A0138B2D8}"/>
              </a:ext>
            </a:extLst>
          </p:cNvPr>
          <p:cNvSpPr>
            <a:spLocks noGrp="1"/>
          </p:cNvSpPr>
          <p:nvPr>
            <p:ph type="title"/>
          </p:nvPr>
        </p:nvSpPr>
        <p:spPr/>
        <p:txBody>
          <a:bodyPr/>
          <a:lstStyle/>
          <a:p>
            <a:r>
              <a:rPr lang="en-US" dirty="0"/>
              <a:t>Separate Chaining</a:t>
            </a:r>
          </a:p>
        </p:txBody>
      </p:sp>
      <p:sp>
        <p:nvSpPr>
          <p:cNvPr id="5" name="Text Placeholder 4">
            <a:extLst>
              <a:ext uri="{FF2B5EF4-FFF2-40B4-BE49-F238E27FC236}">
                <a16:creationId xmlns:a16="http://schemas.microsoft.com/office/drawing/2014/main" id="{01F598A6-B586-021A-366D-C630BBB0941E}"/>
              </a:ext>
            </a:extLst>
          </p:cNvPr>
          <p:cNvSpPr>
            <a:spLocks noGrp="1"/>
          </p:cNvSpPr>
          <p:nvPr>
            <p:ph type="body" idx="1"/>
          </p:nvPr>
        </p:nvSpPr>
        <p:spPr/>
        <p:txBody>
          <a:bodyPr/>
          <a:lstStyle/>
          <a:p>
            <a:r>
              <a:rPr lang="en-US" dirty="0"/>
              <a:t>Collision Handling in Hash Table</a:t>
            </a:r>
          </a:p>
        </p:txBody>
      </p:sp>
    </p:spTree>
    <p:extLst>
      <p:ext uri="{BB962C8B-B14F-4D97-AF65-F5344CB8AC3E}">
        <p14:creationId xmlns:p14="http://schemas.microsoft.com/office/powerpoint/2010/main" val="891128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97B64-5042-BBB3-31B6-532A66F61096}"/>
              </a:ext>
            </a:extLst>
          </p:cNvPr>
          <p:cNvSpPr>
            <a:spLocks noGrp="1"/>
          </p:cNvSpPr>
          <p:nvPr>
            <p:ph type="title"/>
          </p:nvPr>
        </p:nvSpPr>
        <p:spPr/>
        <p:txBody>
          <a:bodyPr/>
          <a:lstStyle/>
          <a:p>
            <a:r>
              <a:rPr lang="en-US" dirty="0"/>
              <a:t>Separate Chaining Overview</a:t>
            </a:r>
          </a:p>
        </p:txBody>
      </p:sp>
      <p:sp>
        <p:nvSpPr>
          <p:cNvPr id="5" name="Content Placeholder 4">
            <a:extLst>
              <a:ext uri="{FF2B5EF4-FFF2-40B4-BE49-F238E27FC236}">
                <a16:creationId xmlns:a16="http://schemas.microsoft.com/office/drawing/2014/main" id="{4CF5C875-30FC-DF34-AFC8-14858ADDF10D}"/>
              </a:ext>
            </a:extLst>
          </p:cNvPr>
          <p:cNvSpPr>
            <a:spLocks noGrp="1"/>
          </p:cNvSpPr>
          <p:nvPr>
            <p:ph idx="1"/>
          </p:nvPr>
        </p:nvSpPr>
        <p:spPr>
          <a:xfrm>
            <a:off x="8022980" y="1358781"/>
            <a:ext cx="4031273" cy="3855057"/>
          </a:xfrm>
        </p:spPr>
        <p:txBody>
          <a:bodyPr>
            <a:normAutofit fontScale="85000" lnSpcReduction="20000"/>
          </a:bodyPr>
          <a:lstStyle/>
          <a:p>
            <a:r>
              <a:rPr lang="en-US" dirty="0"/>
              <a:t>Instead of having T[x] stores a true/false value to indicates whether we have x, we </a:t>
            </a:r>
            <a:r>
              <a:rPr lang="en-US" dirty="0">
                <a:solidFill>
                  <a:schemeClr val="accent4"/>
                </a:solidFill>
              </a:rPr>
              <a:t>let T[x] stores another data structure </a:t>
            </a:r>
            <a:r>
              <a:rPr lang="en-US" dirty="0"/>
              <a:t>that can hold multiple value of x</a:t>
            </a:r>
          </a:p>
          <a:p>
            <a:pPr lvl="1"/>
            <a:r>
              <a:rPr lang="en-US" dirty="0"/>
              <a:t>For example, T[x] can be a vector of type of x instead of a Boolean</a:t>
            </a:r>
          </a:p>
        </p:txBody>
      </p:sp>
      <p:graphicFrame>
        <p:nvGraphicFramePr>
          <p:cNvPr id="6" name="Table 5">
            <a:extLst>
              <a:ext uri="{FF2B5EF4-FFF2-40B4-BE49-F238E27FC236}">
                <a16:creationId xmlns:a16="http://schemas.microsoft.com/office/drawing/2014/main" id="{8FD3F35D-B29A-5F09-E86D-5F172D46FEDC}"/>
              </a:ext>
            </a:extLst>
          </p:cNvPr>
          <p:cNvGraphicFramePr>
            <a:graphicFrameLocks noGrp="1"/>
          </p:cNvGraphicFramePr>
          <p:nvPr>
            <p:extLst>
              <p:ext uri="{D42A27DB-BD31-4B8C-83A1-F6EECF244321}">
                <p14:modId xmlns:p14="http://schemas.microsoft.com/office/powerpoint/2010/main" val="2602208082"/>
              </p:ext>
            </p:extLst>
          </p:nvPr>
        </p:nvGraphicFramePr>
        <p:xfrm>
          <a:off x="1570839" y="1539902"/>
          <a:ext cx="5015110"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gridCol w="501511">
                  <a:extLst>
                    <a:ext uri="{9D8B030D-6E8A-4147-A177-3AD203B41FA5}">
                      <a16:colId xmlns:a16="http://schemas.microsoft.com/office/drawing/2014/main" val="4181970598"/>
                    </a:ext>
                  </a:extLst>
                </a:gridCol>
                <a:gridCol w="501511">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8" name="TextBox 7">
            <a:extLst>
              <a:ext uri="{FF2B5EF4-FFF2-40B4-BE49-F238E27FC236}">
                <a16:creationId xmlns:a16="http://schemas.microsoft.com/office/drawing/2014/main" id="{160DCC96-8AED-A843-729D-BE3C272ED8D9}"/>
              </a:ext>
            </a:extLst>
          </p:cNvPr>
          <p:cNvSpPr txBox="1"/>
          <p:nvPr/>
        </p:nvSpPr>
        <p:spPr>
          <a:xfrm>
            <a:off x="6870890" y="2755842"/>
            <a:ext cx="1342030" cy="400110"/>
          </a:xfrm>
          <a:prstGeom prst="rect">
            <a:avLst/>
          </a:prstGeom>
          <a:noFill/>
        </p:spPr>
        <p:txBody>
          <a:bodyPr wrap="square" rtlCol="0">
            <a:spAutoFit/>
          </a:bodyPr>
          <a:lstStyle/>
          <a:p>
            <a:r>
              <a:rPr lang="en-US" sz="2000" dirty="0"/>
              <a:t>add ‘k’</a:t>
            </a:r>
          </a:p>
        </p:txBody>
      </p:sp>
      <p:sp>
        <p:nvSpPr>
          <p:cNvPr id="9" name="TextBox 8">
            <a:extLst>
              <a:ext uri="{FF2B5EF4-FFF2-40B4-BE49-F238E27FC236}">
                <a16:creationId xmlns:a16="http://schemas.microsoft.com/office/drawing/2014/main" id="{7F1F7822-EEBA-5D34-E924-118829BC7E53}"/>
              </a:ext>
            </a:extLst>
          </p:cNvPr>
          <p:cNvSpPr txBox="1"/>
          <p:nvPr/>
        </p:nvSpPr>
        <p:spPr>
          <a:xfrm>
            <a:off x="6870890" y="3674037"/>
            <a:ext cx="1342030" cy="400110"/>
          </a:xfrm>
          <a:prstGeom prst="rect">
            <a:avLst/>
          </a:prstGeom>
          <a:noFill/>
        </p:spPr>
        <p:txBody>
          <a:bodyPr wrap="square" rtlCol="0">
            <a:spAutoFit/>
          </a:bodyPr>
          <a:lstStyle/>
          <a:p>
            <a:r>
              <a:rPr lang="en-US" sz="2000" dirty="0"/>
              <a:t>add ‘w’</a:t>
            </a:r>
          </a:p>
        </p:txBody>
      </p:sp>
      <p:sp>
        <p:nvSpPr>
          <p:cNvPr id="11" name="TextBox 10">
            <a:extLst>
              <a:ext uri="{FF2B5EF4-FFF2-40B4-BE49-F238E27FC236}">
                <a16:creationId xmlns:a16="http://schemas.microsoft.com/office/drawing/2014/main" id="{27C2E844-A725-8786-6720-40FB8FDA1448}"/>
              </a:ext>
            </a:extLst>
          </p:cNvPr>
          <p:cNvSpPr txBox="1"/>
          <p:nvPr/>
        </p:nvSpPr>
        <p:spPr>
          <a:xfrm>
            <a:off x="6877632" y="4682915"/>
            <a:ext cx="1413522" cy="400110"/>
          </a:xfrm>
          <a:prstGeom prst="rect">
            <a:avLst/>
          </a:prstGeom>
          <a:noFill/>
        </p:spPr>
        <p:txBody>
          <a:bodyPr wrap="square" rtlCol="0">
            <a:spAutoFit/>
          </a:bodyPr>
          <a:lstStyle/>
          <a:p>
            <a:r>
              <a:rPr lang="en-US" sz="2000" dirty="0"/>
              <a:t>find ‘m’</a:t>
            </a:r>
          </a:p>
        </p:txBody>
      </p:sp>
      <p:sp>
        <p:nvSpPr>
          <p:cNvPr id="13" name="TextBox 12">
            <a:extLst>
              <a:ext uri="{FF2B5EF4-FFF2-40B4-BE49-F238E27FC236}">
                <a16:creationId xmlns:a16="http://schemas.microsoft.com/office/drawing/2014/main" id="{E40D2BE8-556D-A5F5-2460-2C0D7B0B6562}"/>
              </a:ext>
            </a:extLst>
          </p:cNvPr>
          <p:cNvSpPr txBox="1"/>
          <p:nvPr/>
        </p:nvSpPr>
        <p:spPr>
          <a:xfrm>
            <a:off x="6870890" y="5663719"/>
            <a:ext cx="1413522" cy="400110"/>
          </a:xfrm>
          <a:prstGeom prst="rect">
            <a:avLst/>
          </a:prstGeom>
          <a:noFill/>
        </p:spPr>
        <p:txBody>
          <a:bodyPr wrap="square" rtlCol="0">
            <a:spAutoFit/>
          </a:bodyPr>
          <a:lstStyle/>
          <a:p>
            <a:r>
              <a:rPr lang="en-US" sz="2000" dirty="0"/>
              <a:t>add ‘a’</a:t>
            </a:r>
          </a:p>
        </p:txBody>
      </p:sp>
      <p:graphicFrame>
        <p:nvGraphicFramePr>
          <p:cNvPr id="15" name="Table 14">
            <a:extLst>
              <a:ext uri="{FF2B5EF4-FFF2-40B4-BE49-F238E27FC236}">
                <a16:creationId xmlns:a16="http://schemas.microsoft.com/office/drawing/2014/main" id="{77284565-AD71-D5E6-BB6F-6012E886F2FF}"/>
              </a:ext>
            </a:extLst>
          </p:cNvPr>
          <p:cNvGraphicFramePr>
            <a:graphicFrameLocks noGrp="1"/>
          </p:cNvGraphicFramePr>
          <p:nvPr>
            <p:extLst>
              <p:ext uri="{D42A27DB-BD31-4B8C-83A1-F6EECF244321}">
                <p14:modId xmlns:p14="http://schemas.microsoft.com/office/powerpoint/2010/main" val="1319958906"/>
              </p:ext>
            </p:extLst>
          </p:nvPr>
        </p:nvGraphicFramePr>
        <p:xfrm>
          <a:off x="1570839" y="2458128"/>
          <a:ext cx="5015110"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gridCol w="501511">
                  <a:extLst>
                    <a:ext uri="{9D8B030D-6E8A-4147-A177-3AD203B41FA5}">
                      <a16:colId xmlns:a16="http://schemas.microsoft.com/office/drawing/2014/main" val="4181970598"/>
                    </a:ext>
                  </a:extLst>
                </a:gridCol>
                <a:gridCol w="501511">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k</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16" name="Table 15">
            <a:extLst>
              <a:ext uri="{FF2B5EF4-FFF2-40B4-BE49-F238E27FC236}">
                <a16:creationId xmlns:a16="http://schemas.microsoft.com/office/drawing/2014/main" id="{0A3CB13D-6F48-BF6C-24F1-1133F6D5E9A5}"/>
              </a:ext>
            </a:extLst>
          </p:cNvPr>
          <p:cNvGraphicFramePr>
            <a:graphicFrameLocks noGrp="1"/>
          </p:cNvGraphicFramePr>
          <p:nvPr>
            <p:extLst>
              <p:ext uri="{D42A27DB-BD31-4B8C-83A1-F6EECF244321}">
                <p14:modId xmlns:p14="http://schemas.microsoft.com/office/powerpoint/2010/main" val="1366145993"/>
              </p:ext>
            </p:extLst>
          </p:nvPr>
        </p:nvGraphicFramePr>
        <p:xfrm>
          <a:off x="1570839" y="3376354"/>
          <a:ext cx="5015110"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gridCol w="501511">
                  <a:extLst>
                    <a:ext uri="{9D8B030D-6E8A-4147-A177-3AD203B41FA5}">
                      <a16:colId xmlns:a16="http://schemas.microsoft.com/office/drawing/2014/main" val="4181970598"/>
                    </a:ext>
                  </a:extLst>
                </a:gridCol>
                <a:gridCol w="501511">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k</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w</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17" name="Table 16">
            <a:extLst>
              <a:ext uri="{FF2B5EF4-FFF2-40B4-BE49-F238E27FC236}">
                <a16:creationId xmlns:a16="http://schemas.microsoft.com/office/drawing/2014/main" id="{54E2CB91-4601-9DE6-C755-586FB88B6008}"/>
              </a:ext>
            </a:extLst>
          </p:cNvPr>
          <p:cNvGraphicFramePr>
            <a:graphicFrameLocks noGrp="1"/>
          </p:cNvGraphicFramePr>
          <p:nvPr>
            <p:extLst>
              <p:ext uri="{D42A27DB-BD31-4B8C-83A1-F6EECF244321}">
                <p14:modId xmlns:p14="http://schemas.microsoft.com/office/powerpoint/2010/main" val="1064316317"/>
              </p:ext>
            </p:extLst>
          </p:nvPr>
        </p:nvGraphicFramePr>
        <p:xfrm>
          <a:off x="1570839" y="4385201"/>
          <a:ext cx="5015110"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gridCol w="501511">
                  <a:extLst>
                    <a:ext uri="{9D8B030D-6E8A-4147-A177-3AD203B41FA5}">
                      <a16:colId xmlns:a16="http://schemas.microsoft.com/office/drawing/2014/main" val="4181970598"/>
                    </a:ext>
                  </a:extLst>
                </a:gridCol>
                <a:gridCol w="501511">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k</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w</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18" name="Table 17">
            <a:extLst>
              <a:ext uri="{FF2B5EF4-FFF2-40B4-BE49-F238E27FC236}">
                <a16:creationId xmlns:a16="http://schemas.microsoft.com/office/drawing/2014/main" id="{E6E605B7-4CE9-494A-6CF1-C27FD235BD8D}"/>
              </a:ext>
            </a:extLst>
          </p:cNvPr>
          <p:cNvGraphicFramePr>
            <a:graphicFrameLocks noGrp="1"/>
          </p:cNvGraphicFramePr>
          <p:nvPr>
            <p:extLst>
              <p:ext uri="{D42A27DB-BD31-4B8C-83A1-F6EECF244321}">
                <p14:modId xmlns:p14="http://schemas.microsoft.com/office/powerpoint/2010/main" val="1830695334"/>
              </p:ext>
            </p:extLst>
          </p:nvPr>
        </p:nvGraphicFramePr>
        <p:xfrm>
          <a:off x="1570839" y="5366005"/>
          <a:ext cx="5015110"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gridCol w="501511">
                  <a:extLst>
                    <a:ext uri="{9D8B030D-6E8A-4147-A177-3AD203B41FA5}">
                      <a16:colId xmlns:a16="http://schemas.microsoft.com/office/drawing/2014/main" val="4181970598"/>
                    </a:ext>
                  </a:extLst>
                </a:gridCol>
                <a:gridCol w="501511">
                  <a:extLst>
                    <a:ext uri="{9D8B030D-6E8A-4147-A177-3AD203B41FA5}">
                      <a16:colId xmlns:a16="http://schemas.microsoft.com/office/drawing/2014/main" val="1665246077"/>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8</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9</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err="1">
                          <a:ln>
                            <a:noFill/>
                          </a:ln>
                          <a:solidFill>
                            <a:schemeClr val="accent3"/>
                          </a:solidFill>
                          <a:effectLst/>
                          <a:uLnTx/>
                          <a:uFillTx/>
                          <a:latin typeface="Sarabun ExtraLight"/>
                          <a:ea typeface="+mn-ea"/>
                          <a:cs typeface="Sarabun ExtraLight"/>
                        </a:rPr>
                        <a:t>k,a</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19" name="Speech Bubble: Rectangle with Corners Rounded 18">
            <a:extLst>
              <a:ext uri="{FF2B5EF4-FFF2-40B4-BE49-F238E27FC236}">
                <a16:creationId xmlns:a16="http://schemas.microsoft.com/office/drawing/2014/main" id="{B156CBB7-EEBA-DCD3-4778-F0DC2ED7D198}"/>
              </a:ext>
            </a:extLst>
          </p:cNvPr>
          <p:cNvSpPr/>
          <p:nvPr/>
        </p:nvSpPr>
        <p:spPr>
          <a:xfrm>
            <a:off x="6870890" y="1292637"/>
            <a:ext cx="902026" cy="518651"/>
          </a:xfrm>
          <a:prstGeom prst="wedgeRoundRectCallout">
            <a:avLst>
              <a:gd name="adj1" fmla="val -91417"/>
              <a:gd name="adj2" fmla="val 7251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T[x] is a vector</a:t>
            </a:r>
          </a:p>
        </p:txBody>
      </p:sp>
      <p:sp>
        <p:nvSpPr>
          <p:cNvPr id="20" name="Speech Bubble: Rectangle with Corners Rounded 19">
            <a:extLst>
              <a:ext uri="{FF2B5EF4-FFF2-40B4-BE49-F238E27FC236}">
                <a16:creationId xmlns:a16="http://schemas.microsoft.com/office/drawing/2014/main" id="{09C8CFA8-2D25-182C-1417-D6FAA75D1799}"/>
              </a:ext>
            </a:extLst>
          </p:cNvPr>
          <p:cNvSpPr/>
          <p:nvPr/>
        </p:nvSpPr>
        <p:spPr>
          <a:xfrm>
            <a:off x="219923" y="1751638"/>
            <a:ext cx="1091596" cy="713009"/>
          </a:xfrm>
          <a:prstGeom prst="wedgeRoundRectCallout">
            <a:avLst>
              <a:gd name="adj1" fmla="val 66976"/>
              <a:gd name="adj2" fmla="val 8014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Insert ‘k’  to the vector T[0]</a:t>
            </a:r>
          </a:p>
        </p:txBody>
      </p:sp>
      <p:sp>
        <p:nvSpPr>
          <p:cNvPr id="21" name="Speech Bubble: Rectangle with Corners Rounded 20">
            <a:extLst>
              <a:ext uri="{FF2B5EF4-FFF2-40B4-BE49-F238E27FC236}">
                <a16:creationId xmlns:a16="http://schemas.microsoft.com/office/drawing/2014/main" id="{F80D4FE5-2929-849E-7BAC-29F98BAC07DC}"/>
              </a:ext>
            </a:extLst>
          </p:cNvPr>
          <p:cNvSpPr/>
          <p:nvPr/>
        </p:nvSpPr>
        <p:spPr>
          <a:xfrm>
            <a:off x="137746" y="3540611"/>
            <a:ext cx="1173773" cy="938349"/>
          </a:xfrm>
          <a:prstGeom prst="wedgeRoundRectCallout">
            <a:avLst>
              <a:gd name="adj1" fmla="val 154976"/>
              <a:gd name="adj2" fmla="val 5086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Find ‘m’  in the vector T[2], give not found</a:t>
            </a:r>
          </a:p>
        </p:txBody>
      </p:sp>
      <p:sp>
        <p:nvSpPr>
          <p:cNvPr id="22" name="Speech Bubble: Rectangle with Corners Rounded 21">
            <a:extLst>
              <a:ext uri="{FF2B5EF4-FFF2-40B4-BE49-F238E27FC236}">
                <a16:creationId xmlns:a16="http://schemas.microsoft.com/office/drawing/2014/main" id="{FB8E9CD8-7854-A193-1D04-D7D3A0D66543}"/>
              </a:ext>
            </a:extLst>
          </p:cNvPr>
          <p:cNvSpPr/>
          <p:nvPr/>
        </p:nvSpPr>
        <p:spPr>
          <a:xfrm>
            <a:off x="47977" y="5760435"/>
            <a:ext cx="1345604" cy="938349"/>
          </a:xfrm>
          <a:prstGeom prst="wedgeRoundRectCallout">
            <a:avLst>
              <a:gd name="adj1" fmla="val 60207"/>
              <a:gd name="adj2" fmla="val -3346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Insert ‘a’  in the vector T[0]. Now T[0] has 2 value</a:t>
            </a:r>
          </a:p>
        </p:txBody>
      </p:sp>
    </p:spTree>
    <p:extLst>
      <p:ext uri="{BB962C8B-B14F-4D97-AF65-F5344CB8AC3E}">
        <p14:creationId xmlns:p14="http://schemas.microsoft.com/office/powerpoint/2010/main" val="37895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3" grpId="0"/>
      <p:bldP spid="19" grpId="0" animBg="1"/>
      <p:bldP spid="20" grpId="0" animBg="1"/>
      <p:bldP spid="21"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AA8FC-A225-711B-75E8-55960C499715}"/>
              </a:ext>
            </a:extLst>
          </p:cNvPr>
          <p:cNvSpPr>
            <a:spLocks noGrp="1"/>
          </p:cNvSpPr>
          <p:nvPr>
            <p:ph type="title"/>
          </p:nvPr>
        </p:nvSpPr>
        <p:spPr/>
        <p:txBody>
          <a:bodyPr/>
          <a:lstStyle/>
          <a:p>
            <a:r>
              <a:rPr lang="en-US" dirty="0"/>
              <a:t>Coding </a:t>
            </a:r>
            <a:r>
              <a:rPr lang="en-US" dirty="0" err="1"/>
              <a:t>ver</a:t>
            </a:r>
            <a:r>
              <a:rPr lang="en-US" dirty="0"/>
              <a:t> 0.1: overview</a:t>
            </a:r>
          </a:p>
        </p:txBody>
      </p:sp>
      <p:sp>
        <p:nvSpPr>
          <p:cNvPr id="3" name="Content Placeholder 2">
            <a:extLst>
              <a:ext uri="{FF2B5EF4-FFF2-40B4-BE49-F238E27FC236}">
                <a16:creationId xmlns:a16="http://schemas.microsoft.com/office/drawing/2014/main" id="{FED2ED30-F453-3FE5-B935-C3F24D83E9F1}"/>
              </a:ext>
            </a:extLst>
          </p:cNvPr>
          <p:cNvSpPr>
            <a:spLocks noGrp="1"/>
          </p:cNvSpPr>
          <p:nvPr>
            <p:ph idx="1"/>
          </p:nvPr>
        </p:nvSpPr>
        <p:spPr>
          <a:xfrm>
            <a:off x="6031523" y="1358780"/>
            <a:ext cx="5785339" cy="4826608"/>
          </a:xfrm>
        </p:spPr>
        <p:txBody>
          <a:bodyPr>
            <a:normAutofit fontScale="62500" lnSpcReduction="20000"/>
          </a:bodyPr>
          <a:lstStyle/>
          <a:p>
            <a:r>
              <a:rPr lang="en-US" dirty="0"/>
              <a:t>Minimal version, no iterator</a:t>
            </a:r>
          </a:p>
          <a:p>
            <a:r>
              <a:rPr lang="en-US" dirty="0"/>
              <a:t>The table T is </a:t>
            </a:r>
            <a:r>
              <a:rPr lang="en-US" sz="2800" b="0" dirty="0" err="1">
                <a:solidFill>
                  <a:srgbClr val="9CDCFE"/>
                </a:solidFill>
                <a:effectLst/>
                <a:latin typeface="Monaspace Neon" pitchFamily="50" charset="0"/>
              </a:rPr>
              <a:t>mBuckets</a:t>
            </a:r>
            <a:endParaRPr lang="en-US" sz="2800" b="0" dirty="0">
              <a:solidFill>
                <a:srgbClr val="9CDCFE"/>
              </a:solidFill>
              <a:effectLst/>
              <a:latin typeface="Monaspace Neon" pitchFamily="50" charset="0"/>
            </a:endParaRPr>
          </a:p>
          <a:p>
            <a:pPr lvl="1"/>
            <a:r>
              <a:rPr lang="en-US" dirty="0"/>
              <a:t>Each slot is called a </a:t>
            </a:r>
            <a:r>
              <a:rPr lang="en-US" dirty="0">
                <a:solidFill>
                  <a:schemeClr val="accent5"/>
                </a:solidFill>
              </a:rPr>
              <a:t>bucket</a:t>
            </a:r>
            <a:r>
              <a:rPr lang="en-US" dirty="0"/>
              <a:t> and is a </a:t>
            </a:r>
            <a:r>
              <a:rPr lang="en-US" sz="2400" b="0" dirty="0">
                <a:solidFill>
                  <a:srgbClr val="4EC9B0"/>
                </a:solidFill>
                <a:effectLst/>
                <a:latin typeface="Monaspace Neon" pitchFamily="50" charset="0"/>
              </a:rPr>
              <a:t>std</a:t>
            </a:r>
            <a:r>
              <a:rPr lang="en-US" sz="2400" b="0" dirty="0">
                <a:solidFill>
                  <a:srgbClr val="D4D4D4"/>
                </a:solidFill>
                <a:effectLst/>
                <a:latin typeface="Monaspace Neon" pitchFamily="50" charset="0"/>
              </a:rPr>
              <a:t>::</a:t>
            </a:r>
            <a:r>
              <a:rPr lang="en-US" sz="2400" b="0" dirty="0">
                <a:solidFill>
                  <a:srgbClr val="4EC9B0"/>
                </a:solidFill>
                <a:effectLst/>
                <a:latin typeface="Monaspace Neon" pitchFamily="50" charset="0"/>
              </a:rPr>
              <a:t>vector</a:t>
            </a:r>
            <a:r>
              <a:rPr lang="en-US" sz="2400" b="0" dirty="0">
                <a:solidFill>
                  <a:srgbClr val="D4D4D4"/>
                </a:solidFill>
                <a:effectLst/>
                <a:latin typeface="Monaspace Neon" pitchFamily="50" charset="0"/>
              </a:rPr>
              <a:t>&lt;</a:t>
            </a:r>
            <a:r>
              <a:rPr lang="en-US" sz="2400" b="0" dirty="0" err="1">
                <a:solidFill>
                  <a:srgbClr val="4EC9B0"/>
                </a:solidFill>
                <a:effectLst/>
                <a:latin typeface="Monaspace Neon" pitchFamily="50" charset="0"/>
              </a:rPr>
              <a:t>KeyT</a:t>
            </a:r>
            <a:r>
              <a:rPr lang="en-US" sz="2400" b="0" dirty="0">
                <a:solidFill>
                  <a:srgbClr val="D4D4D4"/>
                </a:solidFill>
                <a:effectLst/>
                <a:latin typeface="Monaspace Neon" pitchFamily="50" charset="0"/>
              </a:rPr>
              <a:t>&gt;</a:t>
            </a:r>
          </a:p>
          <a:p>
            <a:r>
              <a:rPr lang="en-US" dirty="0"/>
              <a:t>The size of the table is fixed arbitrarily at 97 (no special reason, just some random fixed number)</a:t>
            </a:r>
          </a:p>
          <a:p>
            <a:r>
              <a:rPr lang="en-US" dirty="0"/>
              <a:t>C++ provides a kind of hash function as a class </a:t>
            </a:r>
            <a:r>
              <a:rPr lang="en-US" sz="2800" b="0" dirty="0">
                <a:solidFill>
                  <a:srgbClr val="4EC9B0"/>
                </a:solidFill>
                <a:effectLst/>
                <a:latin typeface="Monaspace Neon" pitchFamily="50" charset="0"/>
              </a:rPr>
              <a:t>std</a:t>
            </a:r>
            <a:r>
              <a:rPr lang="en-US" sz="2800" b="0" dirty="0">
                <a:solidFill>
                  <a:srgbClr val="D4D4D4"/>
                </a:solidFill>
                <a:effectLst/>
                <a:latin typeface="Monaspace Neon" pitchFamily="50" charset="0"/>
              </a:rPr>
              <a:t>::</a:t>
            </a:r>
            <a:r>
              <a:rPr lang="en-US" sz="2800" b="0" dirty="0">
                <a:solidFill>
                  <a:srgbClr val="4EC9B0"/>
                </a:solidFill>
                <a:effectLst/>
                <a:latin typeface="Monaspace Neon" pitchFamily="50" charset="0"/>
              </a:rPr>
              <a:t>hash </a:t>
            </a:r>
            <a:r>
              <a:rPr lang="en-US" dirty="0"/>
              <a:t>which can be used to convert a value of most basic types to a value in the range of </a:t>
            </a:r>
            <a:r>
              <a:rPr lang="en-US" dirty="0" err="1">
                <a:solidFill>
                  <a:srgbClr val="4EC9B0"/>
                </a:solidFill>
                <a:latin typeface="Monaspace Neon" pitchFamily="50" charset="0"/>
              </a:rPr>
              <a:t>size_t</a:t>
            </a:r>
            <a:endParaRPr lang="en-US" dirty="0">
              <a:solidFill>
                <a:srgbClr val="4EC9B0"/>
              </a:solidFill>
              <a:latin typeface="Monaspace Neon" pitchFamily="50" charset="0"/>
            </a:endParaRPr>
          </a:p>
          <a:p>
            <a:r>
              <a:rPr lang="en-US" dirty="0"/>
              <a:t>Our actual hash function is </a:t>
            </a:r>
            <a:r>
              <a:rPr lang="en-US" sz="2800" b="0" dirty="0" err="1">
                <a:solidFill>
                  <a:srgbClr val="DCDCAA"/>
                </a:solidFill>
                <a:effectLst/>
                <a:latin typeface="Monaspace Neon" pitchFamily="50" charset="0"/>
              </a:rPr>
              <a:t>hash_to_bucket</a:t>
            </a:r>
            <a:r>
              <a:rPr lang="en-US" sz="2800" b="0" dirty="0">
                <a:solidFill>
                  <a:srgbClr val="DCDCAA"/>
                </a:solidFill>
                <a:effectLst/>
                <a:latin typeface="Monaspace Neon" pitchFamily="50" charset="0"/>
              </a:rPr>
              <a:t>  </a:t>
            </a:r>
            <a:r>
              <a:rPr lang="en-US" dirty="0"/>
              <a:t>which convert </a:t>
            </a:r>
            <a:r>
              <a:rPr lang="en-US" sz="2800" b="0" dirty="0" err="1">
                <a:solidFill>
                  <a:srgbClr val="4EC9B0"/>
                </a:solidFill>
                <a:effectLst/>
                <a:latin typeface="Monaspace Neon" pitchFamily="50" charset="0"/>
              </a:rPr>
              <a:t>KeyT</a:t>
            </a:r>
            <a:r>
              <a:rPr lang="en-US" dirty="0"/>
              <a:t> to 0..96</a:t>
            </a:r>
          </a:p>
          <a:p>
            <a:r>
              <a:rPr lang="en-US" sz="2800" b="0" dirty="0">
                <a:solidFill>
                  <a:srgbClr val="DCDCAA"/>
                </a:solidFill>
                <a:effectLst/>
                <a:latin typeface="Monaspace Neon" pitchFamily="50" charset="0"/>
              </a:rPr>
              <a:t>empty </a:t>
            </a:r>
            <a:r>
              <a:rPr lang="en-US" dirty="0"/>
              <a:t>and </a:t>
            </a:r>
            <a:r>
              <a:rPr lang="en-US" sz="2800" b="0" dirty="0">
                <a:solidFill>
                  <a:srgbClr val="DCDCAA"/>
                </a:solidFill>
                <a:effectLst/>
                <a:latin typeface="Monaspace Neon" pitchFamily="50" charset="0"/>
              </a:rPr>
              <a:t>size </a:t>
            </a:r>
            <a:r>
              <a:rPr lang="en-US" dirty="0"/>
              <a:t>operate as usual</a:t>
            </a:r>
          </a:p>
          <a:p>
            <a:endParaRPr lang="en-US" dirty="0"/>
          </a:p>
        </p:txBody>
      </p:sp>
      <p:sp>
        <p:nvSpPr>
          <p:cNvPr id="5" name="TextBox 4">
            <a:extLst>
              <a:ext uri="{FF2B5EF4-FFF2-40B4-BE49-F238E27FC236}">
                <a16:creationId xmlns:a16="http://schemas.microsoft.com/office/drawing/2014/main" id="{5B2C05C1-AA6B-C531-5DAA-BAD8F4C2EA66}"/>
              </a:ext>
            </a:extLst>
          </p:cNvPr>
          <p:cNvSpPr txBox="1"/>
          <p:nvPr/>
        </p:nvSpPr>
        <p:spPr>
          <a:xfrm>
            <a:off x="662355" y="1296850"/>
            <a:ext cx="4771292" cy="5262979"/>
          </a:xfrm>
          <a:prstGeom prst="rect">
            <a:avLst/>
          </a:prstGeom>
          <a:solidFill>
            <a:schemeClr val="bg1"/>
          </a:solidFill>
          <a:ln>
            <a:solidFill>
              <a:schemeClr val="accent6"/>
            </a:solidFill>
          </a:ln>
        </p:spPr>
        <p:txBody>
          <a:bodyPr wrap="square">
            <a:spAutoFit/>
          </a:bodyPr>
          <a:lstStyle/>
          <a:p>
            <a:r>
              <a:rPr lang="en-US" sz="1200" b="0" dirty="0">
                <a:solidFill>
                  <a:srgbClr val="569CD6"/>
                </a:solidFill>
                <a:effectLst/>
                <a:latin typeface="Monaspace Neon" pitchFamily="50" charset="0"/>
              </a:rPr>
              <a:t>template</a:t>
            </a:r>
            <a:r>
              <a:rPr lang="en-US" sz="1200" b="0" dirty="0">
                <a:solidFill>
                  <a:srgbClr val="D4D4D4"/>
                </a:solidFill>
                <a:effectLst/>
                <a:latin typeface="Monaspace Neon" pitchFamily="50" charset="0"/>
              </a:rPr>
              <a:t> &lt;</a:t>
            </a:r>
            <a:r>
              <a:rPr lang="en-US" sz="1200" b="0" dirty="0" err="1">
                <a:solidFill>
                  <a:srgbClr val="569CD6"/>
                </a:solidFill>
                <a:effectLst/>
                <a:latin typeface="Monaspace Neon" pitchFamily="50" charset="0"/>
              </a:rPr>
              <a:t>typename</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569CD6"/>
                </a:solidFill>
                <a:effectLst/>
                <a:latin typeface="Monaspace Neon" pitchFamily="50" charset="0"/>
              </a:rPr>
              <a:t>typename</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HasherT</a:t>
            </a:r>
            <a:r>
              <a:rPr lang="en-US" sz="1200" b="0" dirty="0">
                <a:solidFill>
                  <a:srgbClr val="D4D4D4"/>
                </a:solidFill>
                <a:effectLst/>
                <a:latin typeface="Monaspace Neon" pitchFamily="50" charset="0"/>
              </a:rPr>
              <a:t> =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hash</a:t>
            </a:r>
            <a:r>
              <a:rPr lang="en-US" sz="1200" b="0" dirty="0">
                <a:solidFill>
                  <a:srgbClr val="D4D4D4"/>
                </a:solidFill>
                <a:effectLst/>
                <a:latin typeface="Monaspace Neon" pitchFamily="50" charset="0"/>
              </a:rPr>
              <a:t>&lt;</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&gt;&gt;</a:t>
            </a:r>
          </a:p>
          <a:p>
            <a:r>
              <a:rPr lang="en-US" sz="1200" b="0" dirty="0">
                <a:solidFill>
                  <a:srgbClr val="569CD6"/>
                </a:solidFill>
                <a:effectLst/>
                <a:latin typeface="Monaspace Neon" pitchFamily="50" charset="0"/>
              </a:rPr>
              <a:t>class</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hash_set_sp</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protected:</a:t>
            </a:r>
            <a:endParaRPr lang="en-US" sz="1200" b="0" dirty="0">
              <a:solidFill>
                <a:srgbClr val="D4D4D4"/>
              </a:solidFill>
              <a:effectLst/>
              <a:latin typeface="Monaspace Neon" pitchFamily="50" charset="0"/>
            </a:endParaRP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typedef</a:t>
            </a:r>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vector</a:t>
            </a:r>
            <a:r>
              <a:rPr lang="en-US" sz="1200" b="0" dirty="0">
                <a:solidFill>
                  <a:srgbClr val="D4D4D4"/>
                </a:solidFill>
                <a:effectLst/>
                <a:latin typeface="Monaspace Neon" pitchFamily="50" charset="0"/>
              </a:rPr>
              <a:t>&lt;</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&gt;      </a:t>
            </a:r>
            <a:r>
              <a:rPr lang="en-US" sz="1200" b="0" dirty="0" err="1">
                <a:solidFill>
                  <a:srgbClr val="4EC9B0"/>
                </a:solidFill>
                <a:effectLst/>
                <a:latin typeface="Monaspace Neon" pitchFamily="50" charset="0"/>
              </a:rPr>
              <a:t>BucketT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vector</a:t>
            </a:r>
            <a:r>
              <a:rPr lang="en-US" sz="1200" b="0" dirty="0">
                <a:solidFill>
                  <a:srgbClr val="D4D4D4"/>
                </a:solidFill>
                <a:effectLst/>
                <a:latin typeface="Monaspace Neon" pitchFamily="50" charset="0"/>
              </a:rPr>
              <a:t>&lt;</a:t>
            </a:r>
            <a:r>
              <a:rPr lang="en-US" sz="1200" b="0" dirty="0" err="1">
                <a:solidFill>
                  <a:srgbClr val="4EC9B0"/>
                </a:solidFill>
                <a:effectLst/>
                <a:latin typeface="Monaspace Neon" pitchFamily="50" charset="0"/>
              </a:rPr>
              <a:t>BucketT</a:t>
            </a:r>
            <a:r>
              <a:rPr lang="en-US" sz="1200" b="0" dirty="0">
                <a:solidFill>
                  <a:srgbClr val="D4D4D4"/>
                </a:solidFill>
                <a:effectLst/>
                <a:latin typeface="Monaspace Neon" pitchFamily="50" charset="0"/>
              </a:rPr>
              <a:t>&gt; </a:t>
            </a:r>
            <a:r>
              <a:rPr lang="en-US" sz="1200" b="0" dirty="0" err="1">
                <a:solidFill>
                  <a:srgbClr val="9CDCFE"/>
                </a:solidFill>
                <a:effectLst/>
                <a:latin typeface="Monaspace Neon" pitchFamily="50" charset="0"/>
              </a:rPr>
              <a:t>mBuckets</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mSize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HasherT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mHasher</a:t>
            </a:r>
            <a:r>
              <a:rPr lang="en-US" sz="1200" b="0" dirty="0">
                <a:solidFill>
                  <a:srgbClr val="D4D4D4"/>
                </a:solidFill>
                <a:effectLst/>
                <a:latin typeface="Monaspace Neon" pitchFamily="50" charset="0"/>
              </a:rPr>
              <a:t>;</a:t>
            </a:r>
          </a:p>
          <a:p>
            <a:br>
              <a:rPr lang="en-US" sz="1200" b="0" dirty="0">
                <a:solidFill>
                  <a:srgbClr val="D4D4D4"/>
                </a:solidFill>
                <a:effectLst/>
                <a:latin typeface="Monaspace Neon" pitchFamily="50" charset="0"/>
              </a:rPr>
            </a:b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hash_to_bucket</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KeyT</a:t>
            </a:r>
            <a:r>
              <a:rPr lang="en-US" sz="1200" b="0" dirty="0">
                <a:solidFill>
                  <a:srgbClr val="569CD6"/>
                </a:solidFill>
                <a:effectLst/>
                <a:latin typeface="Monaspace Neon" pitchFamily="50" charset="0"/>
              </a:rPr>
              <a:t>&amp;</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mHasher</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 </a:t>
            </a:r>
            <a:r>
              <a:rPr lang="en-US" sz="1200" b="0" dirty="0" err="1">
                <a:solidFill>
                  <a:srgbClr val="9CDCFE"/>
                </a:solidFill>
                <a:effectLst/>
                <a:latin typeface="Monaspace Neon" pitchFamily="50" charset="0"/>
              </a:rPr>
              <a:t>mBuckets</a:t>
            </a:r>
            <a:r>
              <a:rPr lang="en-US" sz="1200" b="0" dirty="0" err="1">
                <a:solidFill>
                  <a:srgbClr val="D4D4D4"/>
                </a:solidFill>
                <a:effectLst/>
                <a:latin typeface="Monaspace Neon" pitchFamily="50" charset="0"/>
              </a:rPr>
              <a:t>.</a:t>
            </a:r>
            <a:r>
              <a:rPr lang="en-US" sz="1200" b="0" dirty="0" err="1">
                <a:solidFill>
                  <a:srgbClr val="DCDCAA"/>
                </a:solidFill>
                <a:effectLst/>
                <a:latin typeface="Monaspace Neon" pitchFamily="50" charset="0"/>
              </a:rPr>
              <a:t>size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br>
              <a:rPr lang="en-US" sz="1200" b="0" dirty="0">
                <a:solidFill>
                  <a:srgbClr val="D4D4D4"/>
                </a:solidFill>
                <a:effectLst/>
                <a:latin typeface="Monaspace Neon" pitchFamily="50" charset="0"/>
              </a:rPr>
            </a:b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public:</a:t>
            </a:r>
            <a:endParaRPr lang="en-US" sz="1200" b="0" dirty="0">
              <a:solidFill>
                <a:srgbClr val="D4D4D4"/>
              </a:solidFill>
              <a:effectLst/>
              <a:latin typeface="Monaspace Neon" pitchFamily="50" charset="0"/>
            </a:endParaRPr>
          </a:p>
          <a:p>
            <a:r>
              <a:rPr lang="en-US" sz="1200" b="0" dirty="0">
                <a:solidFill>
                  <a:srgbClr val="D4D4D4"/>
                </a:solidFill>
                <a:effectLst/>
                <a:latin typeface="Monaspace Neon" pitchFamily="50" charset="0"/>
              </a:rPr>
              <a:t>    </a:t>
            </a:r>
            <a:r>
              <a:rPr lang="en-US" sz="1200" b="0" dirty="0">
                <a:solidFill>
                  <a:srgbClr val="6A9955"/>
                </a:solidFill>
                <a:effectLst/>
                <a:latin typeface="Monaspace Neon" pitchFamily="50" charset="0"/>
              </a:rPr>
              <a:t>// default constructor</a:t>
            </a:r>
            <a:endParaRPr lang="en-US" sz="1200" b="0" dirty="0">
              <a:solidFill>
                <a:srgbClr val="D4D4D4"/>
              </a:solidFill>
              <a:effectLst/>
              <a:latin typeface="Monaspace Neon" pitchFamily="50" charset="0"/>
            </a:endParaRPr>
          </a:p>
          <a:p>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hash_set_sp</a:t>
            </a:r>
            <a:r>
              <a:rPr lang="en-US" sz="1200" b="0" dirty="0">
                <a:solidFill>
                  <a:srgbClr val="D4D4D4"/>
                </a:solidFill>
                <a:effectLst/>
                <a:latin typeface="Monaspace Neon" pitchFamily="50" charset="0"/>
              </a:rPr>
              <a:t>() : </a:t>
            </a:r>
          </a:p>
          <a:p>
            <a:r>
              <a:rPr lang="en-US" sz="1200" dirty="0">
                <a:solidFill>
                  <a:srgbClr val="D4D4D4"/>
                </a:solidFill>
                <a:latin typeface="Monaspace Neon" pitchFamily="50" charset="0"/>
              </a:rPr>
              <a:t>      </a:t>
            </a:r>
            <a:r>
              <a:rPr lang="en-US" sz="1200" b="0" dirty="0" err="1">
                <a:solidFill>
                  <a:srgbClr val="9CDCFE"/>
                </a:solidFill>
                <a:effectLst/>
                <a:latin typeface="Monaspace Neon" pitchFamily="50" charset="0"/>
              </a:rPr>
              <a:t>mBuckets</a:t>
            </a:r>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vector</a:t>
            </a:r>
            <a:r>
              <a:rPr lang="en-US" sz="1200" b="0" dirty="0">
                <a:solidFill>
                  <a:srgbClr val="D4D4D4"/>
                </a:solidFill>
                <a:effectLst/>
                <a:latin typeface="Monaspace Neon" pitchFamily="50" charset="0"/>
              </a:rPr>
              <a:t>&lt;</a:t>
            </a:r>
            <a:r>
              <a:rPr lang="en-US" sz="1200" b="0" dirty="0" err="1">
                <a:solidFill>
                  <a:srgbClr val="4EC9B0"/>
                </a:solidFill>
                <a:effectLst/>
                <a:latin typeface="Monaspace Neon" pitchFamily="50" charset="0"/>
              </a:rPr>
              <a:t>BucketT</a:t>
            </a:r>
            <a:r>
              <a:rPr lang="en-US" sz="1200" b="0" dirty="0">
                <a:solidFill>
                  <a:srgbClr val="D4D4D4"/>
                </a:solidFill>
                <a:effectLst/>
                <a:latin typeface="Monaspace Neon" pitchFamily="50" charset="0"/>
              </a:rPr>
              <a:t>&gt;(</a:t>
            </a:r>
            <a:r>
              <a:rPr lang="en-US" sz="1200" b="0" dirty="0">
                <a:solidFill>
                  <a:srgbClr val="B5CEA8"/>
                </a:solidFill>
                <a:effectLst/>
                <a:latin typeface="Monaspace Neon" pitchFamily="50" charset="0"/>
              </a:rPr>
              <a:t>97</a:t>
            </a:r>
            <a:r>
              <a:rPr lang="en-US" sz="1200" b="0" dirty="0">
                <a:solidFill>
                  <a:srgbClr val="D4D4D4"/>
                </a:solidFill>
                <a:effectLst/>
                <a:latin typeface="Monaspace Neon" pitchFamily="50" charset="0"/>
              </a:rPr>
              <a:t>) ), </a:t>
            </a:r>
          </a:p>
          <a:p>
            <a:r>
              <a:rPr lang="en-US" sz="1200" dirty="0">
                <a:solidFill>
                  <a:srgbClr val="D4D4D4"/>
                </a:solidFill>
                <a:latin typeface="Monaspace Neon" pitchFamily="50" charset="0"/>
              </a:rPr>
              <a:t>      </a:t>
            </a:r>
            <a:r>
              <a:rPr lang="en-US" sz="1200" b="0" dirty="0" err="1">
                <a:solidFill>
                  <a:srgbClr val="9CDCFE"/>
                </a:solidFill>
                <a:effectLst/>
                <a:latin typeface="Monaspace Neon" pitchFamily="50" charset="0"/>
              </a:rPr>
              <a:t>mSize</a:t>
            </a:r>
            <a:r>
              <a:rPr lang="en-US" sz="1200" b="0" dirty="0">
                <a:solidFill>
                  <a:srgbClr val="D4D4D4"/>
                </a:solidFill>
                <a:effectLst/>
                <a:latin typeface="Monaspace Neon" pitchFamily="50" charset="0"/>
              </a:rPr>
              <a:t>(</a:t>
            </a:r>
            <a:r>
              <a:rPr lang="en-US" sz="1200" b="0" dirty="0">
                <a:solidFill>
                  <a:srgbClr val="B5CEA8"/>
                </a:solidFill>
                <a:effectLst/>
                <a:latin typeface="Monaspace Neon" pitchFamily="50" charset="0"/>
              </a:rPr>
              <a:t>0</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mHasher</a:t>
            </a:r>
            <a:r>
              <a:rPr lang="en-US" sz="1200" b="0" dirty="0">
                <a:solidFill>
                  <a:srgbClr val="D4D4D4"/>
                </a:solidFill>
                <a:effectLst/>
                <a:latin typeface="Monaspace Neon" pitchFamily="50" charset="0"/>
              </a:rPr>
              <a:t>(</a:t>
            </a:r>
            <a:r>
              <a:rPr lang="en-US" sz="1200" b="0" dirty="0" err="1">
                <a:solidFill>
                  <a:srgbClr val="4EC9B0"/>
                </a:solidFill>
                <a:effectLst/>
                <a:latin typeface="Monaspace Neon" pitchFamily="50" charset="0"/>
              </a:rPr>
              <a:t>HasherT</a:t>
            </a:r>
            <a:r>
              <a:rPr lang="en-US" sz="1200" b="0" dirty="0">
                <a:solidFill>
                  <a:srgbClr val="D4D4D4"/>
                </a:solidFill>
                <a:effectLst/>
                <a:latin typeface="Monaspace Neon" pitchFamily="50" charset="0"/>
              </a:rPr>
              <a:t>()) { }</a:t>
            </a:r>
          </a:p>
          <a:p>
            <a:endParaRPr lang="en-US" sz="1200" b="0" dirty="0">
              <a:solidFill>
                <a:srgbClr val="D4D4D4"/>
              </a:solidFill>
              <a:effectLst/>
              <a:latin typeface="Monaspace Neon" pitchFamily="50" charset="0"/>
            </a:endParaRPr>
          </a:p>
          <a:p>
            <a:r>
              <a:rPr lang="en-US" sz="1200" b="0" dirty="0">
                <a:solidFill>
                  <a:srgbClr val="D4D4D4"/>
                </a:solidFill>
                <a:effectLst/>
                <a:latin typeface="Monaspace Neon" pitchFamily="50" charset="0"/>
              </a:rPr>
              <a:t>    </a:t>
            </a:r>
            <a:r>
              <a:rPr lang="en-US" sz="1200" b="0" dirty="0">
                <a:solidFill>
                  <a:srgbClr val="6A9955"/>
                </a:solidFill>
                <a:effectLst/>
                <a:latin typeface="Monaspace Neon" pitchFamily="50" charset="0"/>
              </a:rPr>
              <a:t>// basic functions</a:t>
            </a:r>
            <a:endParaRPr lang="en-US" sz="1200" b="0" dirty="0">
              <a:solidFill>
                <a:srgbClr val="D4D4D4"/>
              </a:solidFill>
              <a:effectLst/>
              <a:latin typeface="Monaspace Neon" pitchFamily="50" charset="0"/>
            </a:endParaRP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bool</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empty</a:t>
            </a:r>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mSize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0</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size</a:t>
            </a:r>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mSize</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bool</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has</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&amp;</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 … }</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bool</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insert</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&amp;</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 … }</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bool</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erase</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&amp;</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 … }</a:t>
            </a:r>
          </a:p>
          <a:p>
            <a:r>
              <a:rPr lang="en-US" sz="1200" b="0" dirty="0">
                <a:solidFill>
                  <a:srgbClr val="D4D4D4"/>
                </a:solidFill>
                <a:effectLst/>
                <a:latin typeface="Monaspace Neon" pitchFamily="50" charset="0"/>
              </a:rPr>
              <a:t>};</a:t>
            </a:r>
          </a:p>
        </p:txBody>
      </p:sp>
      <p:sp>
        <p:nvSpPr>
          <p:cNvPr id="6" name="Speech Bubble: Rectangle with Corners Rounded 5">
            <a:extLst>
              <a:ext uri="{FF2B5EF4-FFF2-40B4-BE49-F238E27FC236}">
                <a16:creationId xmlns:a16="http://schemas.microsoft.com/office/drawing/2014/main" id="{7C237EBF-B5BC-B01C-05CD-C3FFEE105D5E}"/>
              </a:ext>
            </a:extLst>
          </p:cNvPr>
          <p:cNvSpPr/>
          <p:nvPr/>
        </p:nvSpPr>
        <p:spPr>
          <a:xfrm>
            <a:off x="3583843" y="3736733"/>
            <a:ext cx="1335454" cy="637514"/>
          </a:xfrm>
          <a:prstGeom prst="wedgeRoundRectCallout">
            <a:avLst>
              <a:gd name="adj1" fmla="val -72495"/>
              <a:gd name="adj2" fmla="val -8000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Need to mod by table’s size</a:t>
            </a:r>
          </a:p>
        </p:txBody>
      </p:sp>
    </p:spTree>
    <p:extLst>
      <p:ext uri="{BB962C8B-B14F-4D97-AF65-F5344CB8AC3E}">
        <p14:creationId xmlns:p14="http://schemas.microsoft.com/office/powerpoint/2010/main" val="287634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66C6D-2B82-5FF9-5151-0E2EBBB6A692}"/>
              </a:ext>
            </a:extLst>
          </p:cNvPr>
          <p:cNvSpPr>
            <a:spLocks noGrp="1"/>
          </p:cNvSpPr>
          <p:nvPr>
            <p:ph type="title"/>
          </p:nvPr>
        </p:nvSpPr>
        <p:spPr/>
        <p:txBody>
          <a:bodyPr/>
          <a:lstStyle/>
          <a:p>
            <a:r>
              <a:rPr lang="en-US" dirty="0"/>
              <a:t>What is </a:t>
            </a:r>
            <a:r>
              <a:rPr lang="en-US" sz="3600" b="0" dirty="0">
                <a:solidFill>
                  <a:srgbClr val="4EC9B0"/>
                </a:solidFill>
                <a:effectLst/>
                <a:latin typeface="Monaspace Neon" pitchFamily="50" charset="0"/>
              </a:rPr>
              <a:t>std</a:t>
            </a:r>
            <a:r>
              <a:rPr lang="en-US" sz="3600" b="0" dirty="0">
                <a:solidFill>
                  <a:srgbClr val="D4D4D4"/>
                </a:solidFill>
                <a:effectLst/>
                <a:latin typeface="Monaspace Neon" pitchFamily="50" charset="0"/>
              </a:rPr>
              <a:t>::</a:t>
            </a:r>
            <a:r>
              <a:rPr lang="en-US" sz="3600" b="0" dirty="0">
                <a:solidFill>
                  <a:srgbClr val="4EC9B0"/>
                </a:solidFill>
                <a:effectLst/>
                <a:latin typeface="Monaspace Neon" pitchFamily="50" charset="0"/>
              </a:rPr>
              <a:t>hash</a:t>
            </a:r>
            <a:r>
              <a:rPr lang="en-US" dirty="0"/>
              <a:t> </a:t>
            </a:r>
          </a:p>
        </p:txBody>
      </p:sp>
      <p:sp>
        <p:nvSpPr>
          <p:cNvPr id="3" name="Content Placeholder 2">
            <a:extLst>
              <a:ext uri="{FF2B5EF4-FFF2-40B4-BE49-F238E27FC236}">
                <a16:creationId xmlns:a16="http://schemas.microsoft.com/office/drawing/2014/main" id="{5DC3D104-6B08-DEF5-54DC-1C8D3D42B418}"/>
              </a:ext>
            </a:extLst>
          </p:cNvPr>
          <p:cNvSpPr>
            <a:spLocks noGrp="1"/>
          </p:cNvSpPr>
          <p:nvPr>
            <p:ph idx="1"/>
          </p:nvPr>
        </p:nvSpPr>
        <p:spPr>
          <a:xfrm>
            <a:off x="838200" y="1230594"/>
            <a:ext cx="10515600" cy="5016382"/>
          </a:xfrm>
        </p:spPr>
        <p:txBody>
          <a:bodyPr/>
          <a:lstStyle/>
          <a:p>
            <a:r>
              <a:rPr lang="en-US" dirty="0"/>
              <a:t>A class that converts basic types to a number </a:t>
            </a:r>
          </a:p>
          <a:p>
            <a:r>
              <a:rPr lang="en-US" dirty="0"/>
              <a:t>Is used by default in C++ hash</a:t>
            </a:r>
          </a:p>
        </p:txBody>
      </p:sp>
      <p:sp>
        <p:nvSpPr>
          <p:cNvPr id="5" name="TextBox 4">
            <a:extLst>
              <a:ext uri="{FF2B5EF4-FFF2-40B4-BE49-F238E27FC236}">
                <a16:creationId xmlns:a16="http://schemas.microsoft.com/office/drawing/2014/main" id="{684D25FA-85BB-7AD6-456E-E42F4333B2DC}"/>
              </a:ext>
            </a:extLst>
          </p:cNvPr>
          <p:cNvSpPr txBox="1"/>
          <p:nvPr/>
        </p:nvSpPr>
        <p:spPr>
          <a:xfrm>
            <a:off x="8248285" y="220305"/>
            <a:ext cx="2755289" cy="5816977"/>
          </a:xfrm>
          <a:prstGeom prst="rect">
            <a:avLst/>
          </a:prstGeom>
          <a:solidFill>
            <a:schemeClr val="tx1"/>
          </a:solidFill>
        </p:spPr>
        <p:txBody>
          <a:bodyPr wrap="square">
            <a:spAutoFit/>
          </a:bodyPr>
          <a:lstStyle/>
          <a:p>
            <a:r>
              <a:rPr lang="en-US" sz="1200" dirty="0">
                <a:solidFill>
                  <a:sysClr val="windowText" lastClr="000000"/>
                </a:solidFill>
                <a:latin typeface="Consolas" panose="020B0609020204030204" pitchFamily="49" charset="0"/>
              </a:rPr>
              <a:t>-- int --</a:t>
            </a:r>
          </a:p>
          <a:p>
            <a:r>
              <a:rPr lang="en-US" sz="1200" dirty="0">
                <a:solidFill>
                  <a:sysClr val="windowText" lastClr="000000"/>
                </a:solidFill>
                <a:latin typeface="Consolas" panose="020B0609020204030204" pitchFamily="49" charset="0"/>
              </a:rPr>
              <a:t>-5: 18446744073709551611</a:t>
            </a:r>
          </a:p>
          <a:p>
            <a:r>
              <a:rPr lang="en-US" sz="1200" dirty="0">
                <a:solidFill>
                  <a:sysClr val="windowText" lastClr="000000"/>
                </a:solidFill>
                <a:latin typeface="Consolas" panose="020B0609020204030204" pitchFamily="49" charset="0"/>
              </a:rPr>
              <a:t>-4: 18446744073709551612</a:t>
            </a:r>
          </a:p>
          <a:p>
            <a:r>
              <a:rPr lang="en-US" sz="1200" dirty="0">
                <a:solidFill>
                  <a:sysClr val="windowText" lastClr="000000"/>
                </a:solidFill>
                <a:latin typeface="Consolas" panose="020B0609020204030204" pitchFamily="49" charset="0"/>
              </a:rPr>
              <a:t>-3: 18446744073709551613</a:t>
            </a:r>
          </a:p>
          <a:p>
            <a:r>
              <a:rPr lang="en-US" sz="1200" dirty="0">
                <a:solidFill>
                  <a:sysClr val="windowText" lastClr="000000"/>
                </a:solidFill>
                <a:latin typeface="Consolas" panose="020B0609020204030204" pitchFamily="49" charset="0"/>
              </a:rPr>
              <a:t>-2: 18446744073709551614</a:t>
            </a:r>
          </a:p>
          <a:p>
            <a:r>
              <a:rPr lang="en-US" sz="1200" dirty="0">
                <a:solidFill>
                  <a:sysClr val="windowText" lastClr="000000"/>
                </a:solidFill>
                <a:latin typeface="Consolas" panose="020B0609020204030204" pitchFamily="49" charset="0"/>
              </a:rPr>
              <a:t>-1: 18446744073709551615</a:t>
            </a:r>
          </a:p>
          <a:p>
            <a:r>
              <a:rPr lang="en-US" sz="1200" dirty="0">
                <a:solidFill>
                  <a:sysClr val="windowText" lastClr="000000"/>
                </a:solidFill>
                <a:latin typeface="Consolas" panose="020B0609020204030204" pitchFamily="49" charset="0"/>
              </a:rPr>
              <a:t>0: 0</a:t>
            </a:r>
          </a:p>
          <a:p>
            <a:r>
              <a:rPr lang="en-US" sz="1200" dirty="0">
                <a:solidFill>
                  <a:sysClr val="windowText" lastClr="000000"/>
                </a:solidFill>
                <a:latin typeface="Consolas" panose="020B0609020204030204" pitchFamily="49" charset="0"/>
              </a:rPr>
              <a:t>1: 1</a:t>
            </a:r>
          </a:p>
          <a:p>
            <a:r>
              <a:rPr lang="en-US" sz="1200" dirty="0">
                <a:solidFill>
                  <a:sysClr val="windowText" lastClr="000000"/>
                </a:solidFill>
                <a:latin typeface="Consolas" panose="020B0609020204030204" pitchFamily="49" charset="0"/>
              </a:rPr>
              <a:t>2: 2</a:t>
            </a:r>
          </a:p>
          <a:p>
            <a:r>
              <a:rPr lang="en-US" sz="1200" dirty="0">
                <a:solidFill>
                  <a:sysClr val="windowText" lastClr="000000"/>
                </a:solidFill>
                <a:latin typeface="Consolas" panose="020B0609020204030204" pitchFamily="49" charset="0"/>
              </a:rPr>
              <a:t>3: 3</a:t>
            </a:r>
          </a:p>
          <a:p>
            <a:r>
              <a:rPr lang="en-US" sz="1200" dirty="0">
                <a:solidFill>
                  <a:sysClr val="windowText" lastClr="000000"/>
                </a:solidFill>
                <a:latin typeface="Consolas" panose="020B0609020204030204" pitchFamily="49" charset="0"/>
              </a:rPr>
              <a:t>4: 4</a:t>
            </a:r>
          </a:p>
          <a:p>
            <a:endParaRPr lang="en-US" sz="1200" dirty="0">
              <a:solidFill>
                <a:sysClr val="windowText" lastClr="000000"/>
              </a:solidFill>
              <a:latin typeface="Consolas" panose="020B0609020204030204" pitchFamily="49" charset="0"/>
            </a:endParaRPr>
          </a:p>
          <a:p>
            <a:r>
              <a:rPr lang="en-US" sz="1200" dirty="0">
                <a:solidFill>
                  <a:sysClr val="windowText" lastClr="000000"/>
                </a:solidFill>
                <a:latin typeface="Consolas" panose="020B0609020204030204" pitchFamily="49" charset="0"/>
              </a:rPr>
              <a:t>-- string --</a:t>
            </a:r>
          </a:p>
          <a:p>
            <a:r>
              <a:rPr lang="en-US" sz="1200" dirty="0">
                <a:solidFill>
                  <a:sysClr val="windowText" lastClr="000000"/>
                </a:solidFill>
                <a:latin typeface="Consolas" panose="020B0609020204030204" pitchFamily="49" charset="0"/>
              </a:rPr>
              <a:t>a:       4993892634952068459</a:t>
            </a:r>
          </a:p>
          <a:p>
            <a:r>
              <a:rPr lang="en-US" sz="1200" dirty="0">
                <a:solidFill>
                  <a:sysClr val="windowText" lastClr="000000"/>
                </a:solidFill>
                <a:latin typeface="Consolas" panose="020B0609020204030204" pitchFamily="49" charset="0"/>
              </a:rPr>
              <a:t>aa:      468926534229516570</a:t>
            </a:r>
          </a:p>
          <a:p>
            <a:r>
              <a:rPr lang="en-US" sz="1200" dirty="0" err="1">
                <a:solidFill>
                  <a:sysClr val="windowText" lastClr="000000"/>
                </a:solidFill>
                <a:latin typeface="Consolas" panose="020B0609020204030204" pitchFamily="49" charset="0"/>
              </a:rPr>
              <a:t>aaa</a:t>
            </a:r>
            <a:r>
              <a:rPr lang="en-US" sz="1200" dirty="0">
                <a:solidFill>
                  <a:sysClr val="windowText" lastClr="000000"/>
                </a:solidFill>
                <a:latin typeface="Consolas" panose="020B0609020204030204" pitchFamily="49" charset="0"/>
              </a:rPr>
              <a:t>:     16343632196508755401</a:t>
            </a:r>
          </a:p>
          <a:p>
            <a:r>
              <a:rPr lang="en-US" sz="1200" dirty="0" err="1">
                <a:solidFill>
                  <a:sysClr val="windowText" lastClr="000000"/>
                </a:solidFill>
                <a:latin typeface="Consolas" panose="020B0609020204030204" pitchFamily="49" charset="0"/>
              </a:rPr>
              <a:t>somchai</a:t>
            </a:r>
            <a:r>
              <a:rPr lang="en-US" sz="1200" dirty="0">
                <a:solidFill>
                  <a:sysClr val="windowText" lastClr="000000"/>
                </a:solidFill>
                <a:latin typeface="Consolas" panose="020B0609020204030204" pitchFamily="49" charset="0"/>
              </a:rPr>
              <a:t>: 17001615847932193163</a:t>
            </a:r>
          </a:p>
          <a:p>
            <a:r>
              <a:rPr lang="en-US" sz="1200" dirty="0" err="1">
                <a:solidFill>
                  <a:sysClr val="windowText" lastClr="000000"/>
                </a:solidFill>
                <a:latin typeface="Consolas" panose="020B0609020204030204" pitchFamily="49" charset="0"/>
              </a:rPr>
              <a:t>xyz</a:t>
            </a:r>
            <a:r>
              <a:rPr lang="en-US" sz="1200" dirty="0">
                <a:solidFill>
                  <a:sysClr val="windowText" lastClr="000000"/>
                </a:solidFill>
                <a:latin typeface="Consolas" panose="020B0609020204030204" pitchFamily="49" charset="0"/>
              </a:rPr>
              <a:t>:     10512747046380093913</a:t>
            </a:r>
          </a:p>
          <a:p>
            <a:r>
              <a:rPr lang="en-US" sz="1200" dirty="0">
                <a:solidFill>
                  <a:sysClr val="windowText" lastClr="000000"/>
                </a:solidFill>
                <a:latin typeface="Consolas" panose="020B0609020204030204" pitchFamily="49" charset="0"/>
              </a:rPr>
              <a:t>(empty): 6142509188972423790</a:t>
            </a:r>
          </a:p>
          <a:p>
            <a:endParaRPr lang="en-US" sz="1200" dirty="0">
              <a:solidFill>
                <a:sysClr val="windowText" lastClr="000000"/>
              </a:solidFill>
              <a:latin typeface="Consolas" panose="020B0609020204030204" pitchFamily="49" charset="0"/>
            </a:endParaRPr>
          </a:p>
          <a:p>
            <a:r>
              <a:rPr lang="en-US" sz="1200" dirty="0">
                <a:solidFill>
                  <a:sysClr val="windowText" lastClr="000000"/>
                </a:solidFill>
                <a:latin typeface="Consolas" panose="020B0609020204030204" pitchFamily="49" charset="0"/>
              </a:rPr>
              <a:t>-- float --</a:t>
            </a:r>
          </a:p>
          <a:p>
            <a:r>
              <a:rPr lang="en-US" sz="1200" dirty="0">
                <a:solidFill>
                  <a:sysClr val="windowText" lastClr="000000"/>
                </a:solidFill>
                <a:latin typeface="Consolas" panose="020B0609020204030204" pitchFamily="49" charset="0"/>
              </a:rPr>
              <a:t>-5: 4236386057441319064</a:t>
            </a:r>
          </a:p>
          <a:p>
            <a:r>
              <a:rPr lang="en-US" sz="1200" dirty="0">
                <a:solidFill>
                  <a:sysClr val="windowText" lastClr="000000"/>
                </a:solidFill>
                <a:latin typeface="Consolas" panose="020B0609020204030204" pitchFamily="49" charset="0"/>
              </a:rPr>
              <a:t>-4: 2393625642355595807</a:t>
            </a:r>
          </a:p>
          <a:p>
            <a:r>
              <a:rPr lang="en-US" sz="1200" dirty="0">
                <a:solidFill>
                  <a:sysClr val="windowText" lastClr="000000"/>
                </a:solidFill>
                <a:latin typeface="Consolas" panose="020B0609020204030204" pitchFamily="49" charset="0"/>
              </a:rPr>
              <a:t>-3: 9509289860528194733</a:t>
            </a:r>
          </a:p>
          <a:p>
            <a:r>
              <a:rPr lang="en-US" sz="1200" dirty="0">
                <a:solidFill>
                  <a:sysClr val="windowText" lastClr="000000"/>
                </a:solidFill>
                <a:latin typeface="Consolas" panose="020B0609020204030204" pitchFamily="49" charset="0"/>
              </a:rPr>
              <a:t>-2: 10014322907686782376</a:t>
            </a:r>
          </a:p>
          <a:p>
            <a:r>
              <a:rPr lang="en-US" sz="1200" dirty="0">
                <a:solidFill>
                  <a:sysClr val="windowText" lastClr="000000"/>
                </a:solidFill>
                <a:latin typeface="Consolas" panose="020B0609020204030204" pitchFamily="49" charset="0"/>
              </a:rPr>
              <a:t>-1: 6045349164495482701</a:t>
            </a:r>
          </a:p>
          <a:p>
            <a:r>
              <a:rPr lang="en-US" sz="1200" dirty="0">
                <a:solidFill>
                  <a:sysClr val="windowText" lastClr="000000"/>
                </a:solidFill>
                <a:latin typeface="Consolas" panose="020B0609020204030204" pitchFamily="49" charset="0"/>
              </a:rPr>
              <a:t>0: 0</a:t>
            </a:r>
          </a:p>
          <a:p>
            <a:r>
              <a:rPr lang="en-US" sz="1200" dirty="0">
                <a:solidFill>
                  <a:sysClr val="windowText" lastClr="000000"/>
                </a:solidFill>
                <a:latin typeface="Consolas" panose="020B0609020204030204" pitchFamily="49" charset="0"/>
              </a:rPr>
              <a:t>1: 8126086649191387050</a:t>
            </a:r>
          </a:p>
          <a:p>
            <a:r>
              <a:rPr lang="en-US" sz="1200" dirty="0">
                <a:solidFill>
                  <a:sysClr val="windowText" lastClr="000000"/>
                </a:solidFill>
                <a:latin typeface="Consolas" panose="020B0609020204030204" pitchFamily="49" charset="0"/>
              </a:rPr>
              <a:t>2: 11634374135363760669</a:t>
            </a:r>
          </a:p>
          <a:p>
            <a:r>
              <a:rPr lang="en-US" sz="1200" dirty="0">
                <a:solidFill>
                  <a:sysClr val="windowText" lastClr="000000"/>
                </a:solidFill>
                <a:latin typeface="Consolas" panose="020B0609020204030204" pitchFamily="49" charset="0"/>
              </a:rPr>
              <a:t>3: 7062608420545188058</a:t>
            </a:r>
          </a:p>
          <a:p>
            <a:r>
              <a:rPr lang="en-US" sz="1200" dirty="0">
                <a:solidFill>
                  <a:sysClr val="windowText" lastClr="000000"/>
                </a:solidFill>
                <a:latin typeface="Consolas" panose="020B0609020204030204" pitchFamily="49" charset="0"/>
              </a:rPr>
              <a:t>4: 10177811019412989047</a:t>
            </a:r>
          </a:p>
        </p:txBody>
      </p:sp>
      <p:sp>
        <p:nvSpPr>
          <p:cNvPr id="7" name="TextBox 6">
            <a:extLst>
              <a:ext uri="{FF2B5EF4-FFF2-40B4-BE49-F238E27FC236}">
                <a16:creationId xmlns:a16="http://schemas.microsoft.com/office/drawing/2014/main" id="{97EA87A5-DD50-C3EA-5551-2FB836EEDF53}"/>
              </a:ext>
            </a:extLst>
          </p:cNvPr>
          <p:cNvSpPr txBox="1"/>
          <p:nvPr/>
        </p:nvSpPr>
        <p:spPr>
          <a:xfrm>
            <a:off x="981440" y="2646506"/>
            <a:ext cx="4759936" cy="4154984"/>
          </a:xfrm>
          <a:prstGeom prst="rect">
            <a:avLst/>
          </a:prstGeom>
          <a:solidFill>
            <a:schemeClr val="bg1"/>
          </a:solidFill>
          <a:ln>
            <a:solidFill>
              <a:schemeClr val="accent4"/>
            </a:solidFill>
          </a:ln>
        </p:spPr>
        <p:txBody>
          <a:bodyPr wrap="square">
            <a:spAutoFit/>
          </a:bodyPr>
          <a:lstStyle/>
          <a:p>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main</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 int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hash</a:t>
            </a:r>
            <a:r>
              <a:rPr lang="en-US" sz="1200" b="0" dirty="0">
                <a:solidFill>
                  <a:srgbClr val="D4D4D4"/>
                </a:solidFill>
                <a:effectLst/>
                <a:latin typeface="Monaspace Neon" pitchFamily="50" charset="0"/>
              </a:rPr>
              <a:t>&lt;</a:t>
            </a:r>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&gt; </a:t>
            </a:r>
            <a:r>
              <a:rPr lang="en-US" sz="1200" b="0" dirty="0">
                <a:solidFill>
                  <a:srgbClr val="9CDCFE"/>
                </a:solidFill>
                <a:effectLst/>
                <a:latin typeface="Monaspace Neon" pitchFamily="50" charset="0"/>
              </a:rPr>
              <a:t>h1</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for</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i</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5</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i</a:t>
            </a:r>
            <a:r>
              <a:rPr lang="en-US" sz="1200" b="0" dirty="0">
                <a:solidFill>
                  <a:srgbClr val="D4D4D4"/>
                </a:solidFill>
                <a:effectLst/>
                <a:latin typeface="Monaspace Neon" pitchFamily="50" charset="0"/>
              </a:rPr>
              <a:t> &lt; </a:t>
            </a:r>
            <a:r>
              <a:rPr lang="en-US" sz="1200" b="0" dirty="0">
                <a:solidFill>
                  <a:srgbClr val="B5CEA8"/>
                </a:solidFill>
                <a:effectLst/>
                <a:latin typeface="Monaspace Neon" pitchFamily="50" charset="0"/>
              </a:rPr>
              <a:t>5</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i</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i</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h1</a:t>
            </a:r>
            <a:r>
              <a:rPr lang="en-US" sz="1200" b="0" dirty="0">
                <a:solidFill>
                  <a:srgbClr val="DCDCAA"/>
                </a:solidFill>
                <a:effectLst/>
                <a:latin typeface="Monaspace Neon" pitchFamily="50" charset="0"/>
              </a:rPr>
              <a:t>(</a:t>
            </a:r>
            <a:r>
              <a:rPr lang="en-US" sz="1200" b="0" dirty="0" err="1">
                <a:solidFill>
                  <a:srgbClr val="9CDCFE"/>
                </a:solidFill>
                <a:effectLst/>
                <a:latin typeface="Monaspace Neon" pitchFamily="50" charset="0"/>
              </a:rPr>
              <a:t>i</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br>
              <a:rPr lang="en-US" sz="1200" b="0" dirty="0">
                <a:solidFill>
                  <a:srgbClr val="D4D4D4"/>
                </a:solidFill>
                <a:effectLst/>
                <a:latin typeface="Monaspace Neon" pitchFamily="50" charset="0"/>
              </a:rPr>
            </a:b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 string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hash</a:t>
            </a:r>
            <a:r>
              <a:rPr lang="en-US" sz="1200" b="0" dirty="0">
                <a:solidFill>
                  <a:srgbClr val="D4D4D4"/>
                </a:solidFill>
                <a:effectLst/>
                <a:latin typeface="Monaspace Neon" pitchFamily="50" charset="0"/>
              </a:rPr>
              <a:t>&lt;</a:t>
            </a:r>
            <a:r>
              <a:rPr lang="en-US" sz="1200" b="0" dirty="0">
                <a:solidFill>
                  <a:srgbClr val="4EC9B0"/>
                </a:solidFill>
                <a:effectLst/>
                <a:latin typeface="Monaspace Neon" pitchFamily="50" charset="0"/>
              </a:rPr>
              <a:t>string</a:t>
            </a:r>
            <a:r>
              <a:rPr lang="en-US" sz="1200" b="0" dirty="0">
                <a:solidFill>
                  <a:srgbClr val="D4D4D4"/>
                </a:solidFill>
                <a:effectLst/>
                <a:latin typeface="Monaspace Neon" pitchFamily="50" charset="0"/>
              </a:rPr>
              <a:t>&gt; </a:t>
            </a:r>
            <a:r>
              <a:rPr lang="en-US" sz="1200" b="0" dirty="0">
                <a:solidFill>
                  <a:srgbClr val="9CDCFE"/>
                </a:solidFill>
                <a:effectLst/>
                <a:latin typeface="Monaspace Neon" pitchFamily="50" charset="0"/>
              </a:rPr>
              <a:t>h2</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"a: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h2</a:t>
            </a:r>
            <a:r>
              <a:rPr lang="en-US" sz="1200" b="0" dirty="0">
                <a:solidFill>
                  <a:srgbClr val="DCDCAA"/>
                </a:solidFill>
                <a:effectLst/>
                <a:latin typeface="Monaspace Neon" pitchFamily="50" charset="0"/>
              </a:rPr>
              <a:t>(</a:t>
            </a:r>
            <a:r>
              <a:rPr lang="en-US" sz="1200" b="0" dirty="0">
                <a:solidFill>
                  <a:srgbClr val="CE9178"/>
                </a:solidFill>
                <a:effectLst/>
                <a:latin typeface="Monaspace Neon" pitchFamily="50" charset="0"/>
              </a:rPr>
              <a:t>"a"</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"aa: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h2</a:t>
            </a:r>
            <a:r>
              <a:rPr lang="en-US" sz="1200" b="0" dirty="0">
                <a:solidFill>
                  <a:srgbClr val="DCDCAA"/>
                </a:solidFill>
                <a:effectLst/>
                <a:latin typeface="Monaspace Neon" pitchFamily="50" charset="0"/>
              </a:rPr>
              <a:t>(</a:t>
            </a:r>
            <a:r>
              <a:rPr lang="en-US" sz="1200" b="0" dirty="0">
                <a:solidFill>
                  <a:srgbClr val="CE9178"/>
                </a:solidFill>
                <a:effectLst/>
                <a:latin typeface="Monaspace Neon" pitchFamily="50" charset="0"/>
              </a:rPr>
              <a:t>"aa"</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a:t>
            </a:r>
            <a:r>
              <a:rPr lang="en-US" sz="1200" b="0" dirty="0" err="1">
                <a:solidFill>
                  <a:srgbClr val="CE9178"/>
                </a:solidFill>
                <a:effectLst/>
                <a:latin typeface="Monaspace Neon" pitchFamily="50" charset="0"/>
              </a:rPr>
              <a:t>aaa</a:t>
            </a:r>
            <a:r>
              <a:rPr lang="en-US" sz="1200" b="0" dirty="0">
                <a:solidFill>
                  <a:srgbClr val="CE9178"/>
                </a:solidFill>
                <a:effectLst/>
                <a:latin typeface="Monaspace Neon" pitchFamily="50" charset="0"/>
              </a:rPr>
              <a:t>: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h2</a:t>
            </a:r>
            <a:r>
              <a:rPr lang="en-US" sz="1200" b="0" dirty="0">
                <a:solidFill>
                  <a:srgbClr val="DCDCAA"/>
                </a:solidFill>
                <a:effectLst/>
                <a:latin typeface="Monaspace Neon" pitchFamily="50" charset="0"/>
              </a:rPr>
              <a:t>(</a:t>
            </a:r>
            <a:r>
              <a:rPr lang="en-US" sz="1200" b="0" dirty="0">
                <a:solidFill>
                  <a:srgbClr val="CE9178"/>
                </a:solidFill>
                <a:effectLst/>
                <a:latin typeface="Monaspace Neon" pitchFamily="50" charset="0"/>
              </a:rPr>
              <a:t>"</a:t>
            </a:r>
            <a:r>
              <a:rPr lang="en-US" sz="1200" b="0" dirty="0" err="1">
                <a:solidFill>
                  <a:srgbClr val="CE9178"/>
                </a:solidFill>
                <a:effectLst/>
                <a:latin typeface="Monaspace Neon" pitchFamily="50" charset="0"/>
              </a:rPr>
              <a:t>aaa</a:t>
            </a:r>
            <a:r>
              <a:rPr lang="en-US" sz="1200" b="0" dirty="0">
                <a:solidFill>
                  <a:srgbClr val="CE9178"/>
                </a:solidFill>
                <a:effectLst/>
                <a:latin typeface="Monaspace Neon" pitchFamily="50" charset="0"/>
              </a:rPr>
              <a:t>"</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a:t>
            </a:r>
            <a:r>
              <a:rPr lang="en-US" sz="1200" b="0" dirty="0" err="1">
                <a:solidFill>
                  <a:srgbClr val="CE9178"/>
                </a:solidFill>
                <a:effectLst/>
                <a:latin typeface="Monaspace Neon" pitchFamily="50" charset="0"/>
              </a:rPr>
              <a:t>somchai</a:t>
            </a:r>
            <a:r>
              <a:rPr lang="en-US" sz="1200" b="0" dirty="0">
                <a:solidFill>
                  <a:srgbClr val="CE9178"/>
                </a:solidFill>
                <a:effectLst/>
                <a:latin typeface="Monaspace Neon" pitchFamily="50" charset="0"/>
              </a:rPr>
              <a:t>: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h2</a:t>
            </a:r>
            <a:r>
              <a:rPr lang="en-US" sz="1200" b="0" dirty="0">
                <a:solidFill>
                  <a:srgbClr val="DCDCAA"/>
                </a:solidFill>
                <a:effectLst/>
                <a:latin typeface="Monaspace Neon" pitchFamily="50" charset="0"/>
              </a:rPr>
              <a:t>(</a:t>
            </a:r>
            <a:r>
              <a:rPr lang="en-US" sz="1200" b="0" dirty="0">
                <a:solidFill>
                  <a:srgbClr val="CE9178"/>
                </a:solidFill>
                <a:effectLst/>
                <a:latin typeface="Monaspace Neon" pitchFamily="50" charset="0"/>
              </a:rPr>
              <a:t>"</a:t>
            </a:r>
            <a:r>
              <a:rPr lang="en-US" sz="1200" b="0" dirty="0" err="1">
                <a:solidFill>
                  <a:srgbClr val="CE9178"/>
                </a:solidFill>
                <a:effectLst/>
                <a:latin typeface="Monaspace Neon" pitchFamily="50" charset="0"/>
              </a:rPr>
              <a:t>somchai</a:t>
            </a:r>
            <a:r>
              <a:rPr lang="en-US" sz="1200" b="0" dirty="0">
                <a:solidFill>
                  <a:srgbClr val="CE9178"/>
                </a:solidFill>
                <a:effectLst/>
                <a:latin typeface="Monaspace Neon" pitchFamily="50" charset="0"/>
              </a:rPr>
              <a:t>"</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a:t>
            </a:r>
            <a:r>
              <a:rPr lang="en-US" sz="1200" b="0" dirty="0" err="1">
                <a:solidFill>
                  <a:srgbClr val="CE9178"/>
                </a:solidFill>
                <a:effectLst/>
                <a:latin typeface="Monaspace Neon" pitchFamily="50" charset="0"/>
              </a:rPr>
              <a:t>xyz</a:t>
            </a:r>
            <a:r>
              <a:rPr lang="en-US" sz="1200" b="0" dirty="0">
                <a:solidFill>
                  <a:srgbClr val="CE9178"/>
                </a:solidFill>
                <a:effectLst/>
                <a:latin typeface="Monaspace Neon" pitchFamily="50" charset="0"/>
              </a:rPr>
              <a:t>: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h2</a:t>
            </a:r>
            <a:r>
              <a:rPr lang="en-US" sz="1200" b="0" dirty="0">
                <a:solidFill>
                  <a:srgbClr val="DCDCAA"/>
                </a:solidFill>
                <a:effectLst/>
                <a:latin typeface="Monaspace Neon" pitchFamily="50" charset="0"/>
              </a:rPr>
              <a:t>(</a:t>
            </a:r>
            <a:r>
              <a:rPr lang="en-US" sz="1200" b="0" dirty="0">
                <a:solidFill>
                  <a:srgbClr val="CE9178"/>
                </a:solidFill>
                <a:effectLst/>
                <a:latin typeface="Monaspace Neon" pitchFamily="50" charset="0"/>
              </a:rPr>
              <a:t>"</a:t>
            </a:r>
            <a:r>
              <a:rPr lang="en-US" sz="1200" b="0" dirty="0" err="1">
                <a:solidFill>
                  <a:srgbClr val="CE9178"/>
                </a:solidFill>
                <a:effectLst/>
                <a:latin typeface="Monaspace Neon" pitchFamily="50" charset="0"/>
              </a:rPr>
              <a:t>xyz</a:t>
            </a:r>
            <a:r>
              <a:rPr lang="en-US" sz="1200" b="0" dirty="0">
                <a:solidFill>
                  <a:srgbClr val="CE9178"/>
                </a:solidFill>
                <a:effectLst/>
                <a:latin typeface="Monaspace Neon" pitchFamily="50" charset="0"/>
              </a:rPr>
              <a:t>"</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"(empty):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h2</a:t>
            </a:r>
            <a:r>
              <a:rPr lang="en-US" sz="1200" b="0" dirty="0">
                <a:solidFill>
                  <a:srgbClr val="DCDCAA"/>
                </a:solidFill>
                <a:effectLst/>
                <a:latin typeface="Monaspace Neon" pitchFamily="50" charset="0"/>
              </a:rPr>
              <a:t>(</a:t>
            </a:r>
            <a:r>
              <a:rPr lang="en-US" sz="1200" b="0" dirty="0">
                <a:solidFill>
                  <a:srgbClr val="CE9178"/>
                </a:solidFill>
                <a:effectLst/>
                <a:latin typeface="Monaspace Neon" pitchFamily="50" charset="0"/>
              </a:rPr>
              <a:t>""</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br>
              <a:rPr lang="en-US" sz="1200" b="0" dirty="0">
                <a:solidFill>
                  <a:srgbClr val="D4D4D4"/>
                </a:solidFill>
                <a:effectLst/>
                <a:latin typeface="Monaspace Neon" pitchFamily="50" charset="0"/>
              </a:rPr>
            </a:b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 float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hash</a:t>
            </a:r>
            <a:r>
              <a:rPr lang="en-US" sz="1200" b="0" dirty="0">
                <a:solidFill>
                  <a:srgbClr val="D4D4D4"/>
                </a:solidFill>
                <a:effectLst/>
                <a:latin typeface="Monaspace Neon" pitchFamily="50" charset="0"/>
              </a:rPr>
              <a:t>&lt;</a:t>
            </a:r>
            <a:r>
              <a:rPr lang="en-US" sz="1200" b="0" dirty="0">
                <a:solidFill>
                  <a:srgbClr val="569CD6"/>
                </a:solidFill>
                <a:effectLst/>
                <a:latin typeface="Monaspace Neon" pitchFamily="50" charset="0"/>
              </a:rPr>
              <a:t>float</a:t>
            </a:r>
            <a:r>
              <a:rPr lang="en-US" sz="1200" b="0" dirty="0">
                <a:solidFill>
                  <a:srgbClr val="D4D4D4"/>
                </a:solidFill>
                <a:effectLst/>
                <a:latin typeface="Monaspace Neon" pitchFamily="50" charset="0"/>
              </a:rPr>
              <a:t>&gt; </a:t>
            </a:r>
            <a:r>
              <a:rPr lang="en-US" sz="1200" b="0" dirty="0">
                <a:solidFill>
                  <a:srgbClr val="9CDCFE"/>
                </a:solidFill>
                <a:effectLst/>
                <a:latin typeface="Monaspace Neon" pitchFamily="50" charset="0"/>
              </a:rPr>
              <a:t>h3</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for</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i</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5</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i</a:t>
            </a:r>
            <a:r>
              <a:rPr lang="en-US" sz="1200" b="0" dirty="0">
                <a:solidFill>
                  <a:srgbClr val="D4D4D4"/>
                </a:solidFill>
                <a:effectLst/>
                <a:latin typeface="Monaspace Neon" pitchFamily="50" charset="0"/>
              </a:rPr>
              <a:t> &lt; </a:t>
            </a:r>
            <a:r>
              <a:rPr lang="en-US" sz="1200" b="0" dirty="0">
                <a:solidFill>
                  <a:srgbClr val="B5CEA8"/>
                </a:solidFill>
                <a:effectLst/>
                <a:latin typeface="Monaspace Neon" pitchFamily="50" charset="0"/>
              </a:rPr>
              <a:t>5</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i</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cout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i</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CE9178"/>
                </a:solidFill>
                <a:effectLst/>
                <a:latin typeface="Monaspace Neon" pitchFamily="50" charset="0"/>
              </a:rPr>
              <a:t>": "</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h3</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i</a:t>
            </a:r>
            <a:r>
              <a:rPr lang="en-US" sz="1200" b="0" dirty="0">
                <a:solidFill>
                  <a:srgbClr val="DCDCAA"/>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&lt;&lt;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endl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a:t>
            </a:r>
          </a:p>
        </p:txBody>
      </p:sp>
    </p:spTree>
    <p:extLst>
      <p:ext uri="{BB962C8B-B14F-4D97-AF65-F5344CB8AC3E}">
        <p14:creationId xmlns:p14="http://schemas.microsoft.com/office/powerpoint/2010/main" val="1969290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AA8FC-A225-711B-75E8-55960C499715}"/>
              </a:ext>
            </a:extLst>
          </p:cNvPr>
          <p:cNvSpPr>
            <a:spLocks noGrp="1"/>
          </p:cNvSpPr>
          <p:nvPr>
            <p:ph type="title"/>
          </p:nvPr>
        </p:nvSpPr>
        <p:spPr/>
        <p:txBody>
          <a:bodyPr/>
          <a:lstStyle/>
          <a:p>
            <a:r>
              <a:rPr lang="en-US" dirty="0"/>
              <a:t>Coding </a:t>
            </a:r>
            <a:r>
              <a:rPr lang="en-US" dirty="0" err="1"/>
              <a:t>ver</a:t>
            </a:r>
            <a:r>
              <a:rPr lang="en-US" dirty="0"/>
              <a:t> 0.1: basic operations</a:t>
            </a:r>
          </a:p>
        </p:txBody>
      </p:sp>
      <p:sp>
        <p:nvSpPr>
          <p:cNvPr id="3" name="Content Placeholder 2">
            <a:extLst>
              <a:ext uri="{FF2B5EF4-FFF2-40B4-BE49-F238E27FC236}">
                <a16:creationId xmlns:a16="http://schemas.microsoft.com/office/drawing/2014/main" id="{FED2ED30-F453-3FE5-B935-C3F24D83E9F1}"/>
              </a:ext>
            </a:extLst>
          </p:cNvPr>
          <p:cNvSpPr>
            <a:spLocks noGrp="1"/>
          </p:cNvSpPr>
          <p:nvPr>
            <p:ph idx="1"/>
          </p:nvPr>
        </p:nvSpPr>
        <p:spPr>
          <a:xfrm>
            <a:off x="5732585" y="1358780"/>
            <a:ext cx="5621215" cy="4826608"/>
          </a:xfrm>
        </p:spPr>
        <p:txBody>
          <a:bodyPr>
            <a:normAutofit/>
          </a:bodyPr>
          <a:lstStyle/>
          <a:p>
            <a:r>
              <a:rPr lang="en-US" sz="2800" b="0" dirty="0">
                <a:solidFill>
                  <a:srgbClr val="DCDCAA"/>
                </a:solidFill>
                <a:effectLst/>
                <a:latin typeface="Monaspace Neon" pitchFamily="50" charset="0"/>
              </a:rPr>
              <a:t>find, insert, erase </a:t>
            </a:r>
            <a:r>
              <a:rPr lang="en-US" dirty="0"/>
              <a:t>are delegates to the vector</a:t>
            </a:r>
          </a:p>
          <a:p>
            <a:pPr lvl="1"/>
            <a:r>
              <a:rPr lang="en-US" dirty="0"/>
              <a:t>Notice that insert and erase use find</a:t>
            </a:r>
          </a:p>
          <a:p>
            <a:r>
              <a:rPr lang="en-US" sz="2800" b="0" dirty="0" err="1">
                <a:solidFill>
                  <a:srgbClr val="DCDCAA"/>
                </a:solidFill>
                <a:effectLst/>
                <a:latin typeface="Monaspace Neon" pitchFamily="50" charset="0"/>
              </a:rPr>
              <a:t>hash_to_bucket</a:t>
            </a:r>
            <a:r>
              <a:rPr lang="en-US" sz="2800" b="0" dirty="0">
                <a:solidFill>
                  <a:srgbClr val="DCDCAA"/>
                </a:solidFill>
                <a:effectLst/>
                <a:latin typeface="Monaspace Neon" pitchFamily="50" charset="0"/>
              </a:rPr>
              <a:t> </a:t>
            </a:r>
            <a:r>
              <a:rPr lang="en-US" dirty="0"/>
              <a:t>tells us which vector we should operate on</a:t>
            </a:r>
          </a:p>
        </p:txBody>
      </p:sp>
      <p:sp>
        <p:nvSpPr>
          <p:cNvPr id="5" name="TextBox 4">
            <a:extLst>
              <a:ext uri="{FF2B5EF4-FFF2-40B4-BE49-F238E27FC236}">
                <a16:creationId xmlns:a16="http://schemas.microsoft.com/office/drawing/2014/main" id="{5B2C05C1-AA6B-C531-5DAA-BAD8F4C2EA66}"/>
              </a:ext>
            </a:extLst>
          </p:cNvPr>
          <p:cNvSpPr txBox="1"/>
          <p:nvPr/>
        </p:nvSpPr>
        <p:spPr>
          <a:xfrm>
            <a:off x="662355" y="1296850"/>
            <a:ext cx="4771292" cy="4778231"/>
          </a:xfrm>
          <a:prstGeom prst="rect">
            <a:avLst/>
          </a:prstGeom>
          <a:solidFill>
            <a:schemeClr val="bg1"/>
          </a:solidFill>
          <a:ln>
            <a:solidFill>
              <a:schemeClr val="accent6"/>
            </a:solidFill>
          </a:ln>
        </p:spPr>
        <p:txBody>
          <a:bodyPr wrap="square">
            <a:spAutoFit/>
          </a:bodyPr>
          <a:lstStyle/>
          <a:p>
            <a:r>
              <a:rPr lang="en-US" sz="1050" b="0" dirty="0">
                <a:solidFill>
                  <a:srgbClr val="569CD6"/>
                </a:solidFill>
                <a:effectLst/>
                <a:latin typeface="Monaspace Neon" pitchFamily="50" charset="0"/>
              </a:rPr>
              <a:t>bool</a:t>
            </a:r>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find</a:t>
            </a:r>
            <a:r>
              <a:rPr lang="en-US" sz="1050" b="0" dirty="0">
                <a:solidFill>
                  <a:srgbClr val="D4D4D4"/>
                </a:solidFill>
                <a:effectLst/>
                <a:latin typeface="Monaspace Neon" pitchFamily="50" charset="0"/>
              </a:rPr>
              <a:t>(</a:t>
            </a:r>
            <a:r>
              <a:rPr lang="en-US" sz="1050" b="0" dirty="0">
                <a:solidFill>
                  <a:srgbClr val="569CD6"/>
                </a:solidFill>
                <a:effectLst/>
                <a:latin typeface="Monaspace Neon" pitchFamily="50" charset="0"/>
              </a:rPr>
              <a:t>const</a:t>
            </a:r>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KeyT</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&amp;</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size_t</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 = </a:t>
            </a:r>
            <a:r>
              <a:rPr lang="en-US" sz="1050" b="0" dirty="0" err="1">
                <a:solidFill>
                  <a:srgbClr val="DCDCAA"/>
                </a:solidFill>
                <a:effectLst/>
                <a:latin typeface="Monaspace Neon" pitchFamily="50" charset="0"/>
              </a:rPr>
              <a:t>hash_to_bucket</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auto</a:t>
            </a:r>
            <a:r>
              <a:rPr lang="en-US" sz="1050" b="0" dirty="0">
                <a:solidFill>
                  <a:srgbClr val="D4D4D4"/>
                </a:solidFill>
                <a:effectLst/>
                <a:latin typeface="Monaspace Neon" pitchFamily="50" charset="0"/>
              </a:rPr>
              <a:t> &amp;</a:t>
            </a:r>
            <a:r>
              <a:rPr lang="en-US" sz="1050" b="0" dirty="0">
                <a:solidFill>
                  <a:srgbClr val="9CDCFE"/>
                </a:solidFill>
                <a:effectLst/>
                <a:latin typeface="Monaspace Neon" pitchFamily="50" charset="0"/>
              </a:rPr>
              <a:t>b</a:t>
            </a:r>
            <a:r>
              <a:rPr lang="en-US" sz="1050" b="0" dirty="0">
                <a:solidFill>
                  <a:srgbClr val="D4D4D4"/>
                </a:solidFill>
                <a:effectLst/>
                <a:latin typeface="Monaspace Neon" pitchFamily="50" charset="0"/>
              </a:rPr>
              <a:t> =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4EC9B0"/>
                </a:solidFill>
                <a:effectLst/>
                <a:latin typeface="Monaspace Neon" pitchFamily="50" charset="0"/>
              </a:rPr>
              <a:t>std</a:t>
            </a:r>
            <a:r>
              <a:rPr lang="en-US" sz="1050" b="0" dirty="0">
                <a:solidFill>
                  <a:srgbClr val="D4D4D4"/>
                </a:solidFill>
                <a:effectLst/>
                <a:latin typeface="Monaspace Neon" pitchFamily="50" charset="0"/>
              </a:rPr>
              <a:t>::</a:t>
            </a:r>
            <a:r>
              <a:rPr lang="en-US" sz="1050" b="0" dirty="0">
                <a:solidFill>
                  <a:srgbClr val="DCDCAA"/>
                </a:solidFill>
                <a:effectLst/>
                <a:latin typeface="Monaspace Neon" pitchFamily="50" charset="0"/>
              </a:rPr>
              <a:t>find</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begin</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end</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 </a:t>
            </a:r>
            <a:r>
              <a:rPr lang="en-US" sz="1050" b="0" dirty="0" err="1">
                <a:solidFill>
                  <a:srgbClr val="9CDCFE"/>
                </a:solidFill>
                <a:effectLst/>
                <a:latin typeface="Monaspace Neon" pitchFamily="50" charset="0"/>
              </a:rPr>
              <a:t>b</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end</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a:t>
            </a:r>
          </a:p>
          <a:p>
            <a:br>
              <a:rPr lang="en-US" sz="1050" b="0" dirty="0">
                <a:solidFill>
                  <a:srgbClr val="D4D4D4"/>
                </a:solidFill>
                <a:effectLst/>
                <a:latin typeface="Monaspace Neon" pitchFamily="50" charset="0"/>
              </a:rPr>
            </a:br>
            <a:r>
              <a:rPr lang="en-US" sz="1050" b="0" dirty="0">
                <a:solidFill>
                  <a:srgbClr val="569CD6"/>
                </a:solidFill>
                <a:effectLst/>
                <a:latin typeface="Monaspace Neon" pitchFamily="50" charset="0"/>
              </a:rPr>
              <a:t>bool</a:t>
            </a:r>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insert</a:t>
            </a:r>
            <a:r>
              <a:rPr lang="en-US" sz="1050" b="0" dirty="0">
                <a:solidFill>
                  <a:srgbClr val="D4D4D4"/>
                </a:solidFill>
                <a:effectLst/>
                <a:latin typeface="Monaspace Neon" pitchFamily="50" charset="0"/>
              </a:rPr>
              <a:t>(</a:t>
            </a:r>
            <a:r>
              <a:rPr lang="en-US" sz="1050" b="0" dirty="0">
                <a:solidFill>
                  <a:srgbClr val="569CD6"/>
                </a:solidFill>
                <a:effectLst/>
                <a:latin typeface="Monaspace Neon" pitchFamily="50" charset="0"/>
              </a:rPr>
              <a:t>const</a:t>
            </a:r>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KeyT</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&amp;</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if</a:t>
            </a:r>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find</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false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 </a:t>
            </a:r>
            <a:r>
              <a:rPr lang="en-US" sz="1050" b="0" dirty="0">
                <a:solidFill>
                  <a:srgbClr val="C586C0"/>
                </a:solidFill>
                <a:effectLst/>
                <a:latin typeface="Monaspace Neon" pitchFamily="50" charset="0"/>
              </a:rPr>
              <a:t>else</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size_t</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 = </a:t>
            </a:r>
            <a:r>
              <a:rPr lang="en-US" sz="1050" b="0" dirty="0" err="1">
                <a:solidFill>
                  <a:srgbClr val="DCDCAA"/>
                </a:solidFill>
                <a:effectLst/>
                <a:latin typeface="Monaspace Neon" pitchFamily="50" charset="0"/>
              </a:rPr>
              <a:t>hash_to_bucket</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a:t>
            </a:r>
            <a:r>
              <a:rPr lang="en-US" sz="1050" b="0" dirty="0" err="1">
                <a:solidFill>
                  <a:srgbClr val="DCDCAA"/>
                </a:solidFill>
                <a:effectLst/>
                <a:latin typeface="Monaspace Neon" pitchFamily="50" charset="0"/>
              </a:rPr>
              <a:t>push_back</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mSize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true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a:t>
            </a:r>
          </a:p>
          <a:p>
            <a:br>
              <a:rPr lang="en-US" sz="1050" b="0" dirty="0">
                <a:solidFill>
                  <a:srgbClr val="D4D4D4"/>
                </a:solidFill>
                <a:effectLst/>
                <a:latin typeface="Monaspace Neon" pitchFamily="50" charset="0"/>
              </a:rPr>
            </a:br>
            <a:r>
              <a:rPr lang="en-US" sz="1050" b="0" dirty="0">
                <a:solidFill>
                  <a:srgbClr val="569CD6"/>
                </a:solidFill>
                <a:effectLst/>
                <a:latin typeface="Monaspace Neon" pitchFamily="50" charset="0"/>
              </a:rPr>
              <a:t>bool</a:t>
            </a:r>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erase</a:t>
            </a:r>
            <a:r>
              <a:rPr lang="en-US" sz="1050" b="0" dirty="0">
                <a:solidFill>
                  <a:srgbClr val="D4D4D4"/>
                </a:solidFill>
                <a:effectLst/>
                <a:latin typeface="Monaspace Neon" pitchFamily="50" charset="0"/>
              </a:rPr>
              <a:t>(</a:t>
            </a:r>
            <a:r>
              <a:rPr lang="en-US" sz="1050" b="0" dirty="0">
                <a:solidFill>
                  <a:srgbClr val="569CD6"/>
                </a:solidFill>
                <a:effectLst/>
                <a:latin typeface="Monaspace Neon" pitchFamily="50" charset="0"/>
              </a:rPr>
              <a:t>const</a:t>
            </a:r>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KeyT</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&amp;</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if</a:t>
            </a:r>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find</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size_t</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 = </a:t>
            </a:r>
            <a:r>
              <a:rPr lang="en-US" sz="1050" b="0" dirty="0" err="1">
                <a:solidFill>
                  <a:srgbClr val="DCDCAA"/>
                </a:solidFill>
                <a:effectLst/>
                <a:latin typeface="Monaspace Neon" pitchFamily="50" charset="0"/>
              </a:rPr>
              <a:t>hash_to_bucket</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auto</a:t>
            </a:r>
            <a:r>
              <a:rPr lang="en-US" sz="1050" b="0" dirty="0">
                <a:solidFill>
                  <a:srgbClr val="D4D4D4"/>
                </a:solidFill>
                <a:effectLst/>
                <a:latin typeface="Monaspace Neon" pitchFamily="50" charset="0"/>
              </a:rPr>
              <a:t> &amp;</a:t>
            </a:r>
            <a:r>
              <a:rPr lang="en-US" sz="1050" b="0" dirty="0">
                <a:solidFill>
                  <a:srgbClr val="9CDCFE"/>
                </a:solidFill>
                <a:effectLst/>
                <a:latin typeface="Monaspace Neon" pitchFamily="50" charset="0"/>
              </a:rPr>
              <a:t>b</a:t>
            </a:r>
            <a:r>
              <a:rPr lang="en-US" sz="1050" b="0" dirty="0">
                <a:solidFill>
                  <a:srgbClr val="D4D4D4"/>
                </a:solidFill>
                <a:effectLst/>
                <a:latin typeface="Monaspace Neon" pitchFamily="50" charset="0"/>
              </a:rPr>
              <a:t> =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auto</a:t>
            </a:r>
            <a:r>
              <a:rPr lang="en-US" sz="1050" b="0" dirty="0">
                <a:solidFill>
                  <a:srgbClr val="D4D4D4"/>
                </a:solidFill>
                <a:effectLst/>
                <a:latin typeface="Monaspace Neon" pitchFamily="50" charset="0"/>
              </a:rPr>
              <a:t> </a:t>
            </a:r>
            <a:r>
              <a:rPr lang="en-US" sz="1050" b="0" dirty="0">
                <a:solidFill>
                  <a:srgbClr val="9CDCFE"/>
                </a:solidFill>
                <a:effectLst/>
                <a:latin typeface="Monaspace Neon" pitchFamily="50" charset="0"/>
              </a:rPr>
              <a:t>it</a:t>
            </a:r>
            <a:r>
              <a:rPr lang="en-US" sz="1050" b="0" dirty="0">
                <a:solidFill>
                  <a:srgbClr val="D4D4D4"/>
                </a:solidFill>
                <a:effectLst/>
                <a:latin typeface="Monaspace Neon" pitchFamily="50" charset="0"/>
              </a:rPr>
              <a:t> = </a:t>
            </a:r>
            <a:r>
              <a:rPr lang="en-US" sz="1050" b="0" dirty="0">
                <a:solidFill>
                  <a:srgbClr val="4EC9B0"/>
                </a:solidFill>
                <a:effectLst/>
                <a:latin typeface="Monaspace Neon" pitchFamily="50" charset="0"/>
              </a:rPr>
              <a:t>std</a:t>
            </a:r>
            <a:r>
              <a:rPr lang="en-US" sz="1050" b="0" dirty="0">
                <a:solidFill>
                  <a:srgbClr val="D4D4D4"/>
                </a:solidFill>
                <a:effectLst/>
                <a:latin typeface="Monaspace Neon" pitchFamily="50" charset="0"/>
              </a:rPr>
              <a:t>::</a:t>
            </a:r>
            <a:r>
              <a:rPr lang="en-US" sz="1050" b="0" dirty="0">
                <a:solidFill>
                  <a:srgbClr val="DCDCAA"/>
                </a:solidFill>
                <a:effectLst/>
                <a:latin typeface="Monaspace Neon" pitchFamily="50" charset="0"/>
              </a:rPr>
              <a:t>find</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begin</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end</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erase</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it</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mSize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true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 </a:t>
            </a:r>
            <a:r>
              <a:rPr lang="en-US" sz="1050" b="0" dirty="0">
                <a:solidFill>
                  <a:srgbClr val="C586C0"/>
                </a:solidFill>
                <a:effectLst/>
                <a:latin typeface="Monaspace Neon" pitchFamily="50" charset="0"/>
              </a:rPr>
              <a:t>else</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false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a:t>
            </a:r>
          </a:p>
        </p:txBody>
      </p:sp>
    </p:spTree>
    <p:extLst>
      <p:ext uri="{BB962C8B-B14F-4D97-AF65-F5344CB8AC3E}">
        <p14:creationId xmlns:p14="http://schemas.microsoft.com/office/powerpoint/2010/main" val="953210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7B27F-2A82-31B2-7910-452C03071E6B}"/>
              </a:ext>
            </a:extLst>
          </p:cNvPr>
          <p:cNvSpPr>
            <a:spLocks noGrp="1"/>
          </p:cNvSpPr>
          <p:nvPr>
            <p:ph type="title"/>
          </p:nvPr>
        </p:nvSpPr>
        <p:spPr/>
        <p:txBody>
          <a:bodyPr/>
          <a:lstStyle/>
          <a:p>
            <a:r>
              <a:rPr lang="en-US" dirty="0"/>
              <a:t>Basic Analysis</a:t>
            </a:r>
          </a:p>
        </p:txBody>
      </p:sp>
      <p:sp>
        <p:nvSpPr>
          <p:cNvPr id="3" name="Content Placeholder 2">
            <a:extLst>
              <a:ext uri="{FF2B5EF4-FFF2-40B4-BE49-F238E27FC236}">
                <a16:creationId xmlns:a16="http://schemas.microsoft.com/office/drawing/2014/main" id="{17D35FE5-1369-8E21-FBE7-43D9B73B607D}"/>
              </a:ext>
            </a:extLst>
          </p:cNvPr>
          <p:cNvSpPr>
            <a:spLocks noGrp="1"/>
          </p:cNvSpPr>
          <p:nvPr>
            <p:ph idx="1"/>
          </p:nvPr>
        </p:nvSpPr>
        <p:spPr/>
        <p:txBody>
          <a:bodyPr>
            <a:normAutofit fontScale="77500" lnSpcReduction="20000"/>
          </a:bodyPr>
          <a:lstStyle/>
          <a:p>
            <a:r>
              <a:rPr lang="en-US" dirty="0"/>
              <a:t>Theoretically, since our hash function </a:t>
            </a:r>
            <a:r>
              <a:rPr lang="en-US" dirty="0">
                <a:solidFill>
                  <a:schemeClr val="accent4"/>
                </a:solidFill>
              </a:rPr>
              <a:t>might</a:t>
            </a:r>
            <a:r>
              <a:rPr lang="en-US" dirty="0">
                <a:solidFill>
                  <a:schemeClr val="accent2"/>
                </a:solidFill>
              </a:rPr>
              <a:t> map everything to the same bucket</a:t>
            </a:r>
            <a:r>
              <a:rPr lang="en-US" dirty="0"/>
              <a:t>, it is possible that every data is stored in only one single bucket. </a:t>
            </a:r>
          </a:p>
          <a:p>
            <a:pPr lvl="1"/>
            <a:r>
              <a:rPr lang="en-US" dirty="0"/>
              <a:t>Find will takes O(N), which also make insert and erase also O(N)</a:t>
            </a:r>
          </a:p>
          <a:p>
            <a:pPr lvl="1"/>
            <a:r>
              <a:rPr lang="en-US" dirty="0"/>
              <a:t>This is the same as storing every data in just a simple vector</a:t>
            </a:r>
          </a:p>
          <a:p>
            <a:r>
              <a:rPr lang="en-US" dirty="0"/>
              <a:t>In practice, assume that the data are distributed into each buckets equally.</a:t>
            </a:r>
          </a:p>
          <a:p>
            <a:pPr lvl="1"/>
            <a:r>
              <a:rPr lang="en-US" dirty="0"/>
              <a:t>Find will takes O(N / 97), which is the same as O(N) but 97 times faster in practice</a:t>
            </a:r>
          </a:p>
          <a:p>
            <a:pPr lvl="1"/>
            <a:r>
              <a:rPr lang="en-US" dirty="0"/>
              <a:t>If we instead use 1,000,000 buckets instead of 97 and assume that we never insert more than 1,000,000 data into our hash table, the practical run time is O(1)</a:t>
            </a:r>
          </a:p>
          <a:p>
            <a:r>
              <a:rPr lang="en-US" dirty="0"/>
              <a:t>This is very crude analysis, but it gives main points of a </a:t>
            </a:r>
            <a:r>
              <a:rPr lang="en-US" dirty="0">
                <a:solidFill>
                  <a:schemeClr val="accent3"/>
                </a:solidFill>
              </a:rPr>
              <a:t>separate chaining </a:t>
            </a:r>
            <a:r>
              <a:rPr lang="en-US" dirty="0"/>
              <a:t>hash table</a:t>
            </a:r>
          </a:p>
          <a:p>
            <a:pPr lvl="1"/>
            <a:r>
              <a:rPr lang="en-US" dirty="0"/>
              <a:t>Speed depends on </a:t>
            </a:r>
            <a:r>
              <a:rPr lang="en-US" dirty="0">
                <a:solidFill>
                  <a:schemeClr val="accent5"/>
                </a:solidFill>
              </a:rPr>
              <a:t>the number of data </a:t>
            </a:r>
            <a:r>
              <a:rPr lang="en-US" dirty="0"/>
              <a:t>/ </a:t>
            </a:r>
            <a:r>
              <a:rPr lang="en-US" dirty="0">
                <a:solidFill>
                  <a:schemeClr val="accent4"/>
                </a:solidFill>
              </a:rPr>
              <a:t>the number of buckets </a:t>
            </a:r>
            <a:r>
              <a:rPr lang="en-US" dirty="0"/>
              <a:t>and uniform distribution of the hash function</a:t>
            </a:r>
          </a:p>
          <a:p>
            <a:pPr lvl="1"/>
            <a:r>
              <a:rPr lang="en-US" dirty="0"/>
              <a:t>Memory Usage depends on </a:t>
            </a:r>
            <a:r>
              <a:rPr lang="en-US" dirty="0">
                <a:solidFill>
                  <a:schemeClr val="accent4"/>
                </a:solidFill>
              </a:rPr>
              <a:t>the number of buckets</a:t>
            </a:r>
          </a:p>
          <a:p>
            <a:pPr lvl="1"/>
            <a:endParaRPr lang="en-US" dirty="0"/>
          </a:p>
        </p:txBody>
      </p:sp>
    </p:spTree>
    <p:extLst>
      <p:ext uri="{BB962C8B-B14F-4D97-AF65-F5344CB8AC3E}">
        <p14:creationId xmlns:p14="http://schemas.microsoft.com/office/powerpoint/2010/main" val="3043523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9E546-F139-CA82-2445-A512A7A27C36}"/>
              </a:ext>
            </a:extLst>
          </p:cNvPr>
          <p:cNvSpPr>
            <a:spLocks noGrp="1"/>
          </p:cNvSpPr>
          <p:nvPr>
            <p:ph type="title"/>
          </p:nvPr>
        </p:nvSpPr>
        <p:spPr/>
        <p:txBody>
          <a:bodyPr/>
          <a:lstStyle/>
          <a:p>
            <a:r>
              <a:rPr lang="en-US" dirty="0"/>
              <a:t>Load Factor and Trade Off between Time and Space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55D19B-4415-E074-2AAF-4EE7EB78A53C}"/>
                  </a:ext>
                </a:extLst>
              </p:cNvPr>
              <p:cNvSpPr>
                <a:spLocks noGrp="1"/>
              </p:cNvSpPr>
              <p:nvPr>
                <p:ph idx="1"/>
              </p:nvPr>
            </p:nvSpPr>
            <p:spPr/>
            <p:txBody>
              <a:bodyPr>
                <a:normAutofit fontScale="92500" lnSpcReduction="10000"/>
              </a:bodyPr>
              <a:lstStyle/>
              <a:p>
                <a:r>
                  <a:rPr lang="en-US" dirty="0"/>
                  <a:t>We define </a:t>
                </a:r>
                <a:r>
                  <a:rPr lang="en-US" dirty="0">
                    <a:solidFill>
                      <a:schemeClr val="accent3"/>
                    </a:solidFill>
                  </a:rPr>
                  <a:t>Load Factor (</a:t>
                </a:r>
                <a14:m>
                  <m:oMath xmlns:m="http://schemas.openxmlformats.org/officeDocument/2006/math">
                    <m:r>
                      <a:rPr lang="en-US" b="0" i="1" smtClean="0">
                        <a:solidFill>
                          <a:schemeClr val="accent3"/>
                        </a:solidFill>
                        <a:latin typeface="Cambria Math" panose="02040503050406030204" pitchFamily="18" charset="0"/>
                      </a:rPr>
                      <m:t>𝜆</m:t>
                    </m:r>
                  </m:oMath>
                </a14:m>
                <a:r>
                  <a:rPr lang="en-US" dirty="0">
                    <a:solidFill>
                      <a:schemeClr val="accent3"/>
                    </a:solidFill>
                  </a:rPr>
                  <a:t>) </a:t>
                </a:r>
                <a:r>
                  <a:rPr lang="en-US" dirty="0"/>
                  <a:t>as </a:t>
                </a:r>
                <a:r>
                  <a:rPr lang="en-US" dirty="0">
                    <a:solidFill>
                      <a:schemeClr val="accent5"/>
                    </a:solidFill>
                  </a:rPr>
                  <a:t>the number of data </a:t>
                </a:r>
                <a:r>
                  <a:rPr lang="en-US" dirty="0"/>
                  <a:t>/ </a:t>
                </a:r>
                <a:r>
                  <a:rPr lang="en-US" dirty="0">
                    <a:solidFill>
                      <a:schemeClr val="accent4"/>
                    </a:solidFill>
                  </a:rPr>
                  <a:t>the number of buckets</a:t>
                </a:r>
              </a:p>
              <a:p>
                <a:pPr lvl="1"/>
                <a:r>
                  <a:rPr lang="en-US" dirty="0"/>
                  <a:t>A hash table with 3 data and 5 buckets has a load factor of 3/5 = 0.6</a:t>
                </a:r>
              </a:p>
              <a:p>
                <a:r>
                  <a:rPr lang="en-US" dirty="0">
                    <a:solidFill>
                      <a:schemeClr val="accent3"/>
                    </a:solidFill>
                  </a:rPr>
                  <a:t>Load factor </a:t>
                </a:r>
                <a:r>
                  <a:rPr lang="en-US" dirty="0"/>
                  <a:t>is the expected time it takes to find a key</a:t>
                </a:r>
              </a:p>
              <a:p>
                <a:r>
                  <a:rPr lang="en-US" dirty="0">
                    <a:solidFill>
                      <a:schemeClr val="accent6"/>
                    </a:solidFill>
                  </a:rPr>
                  <a:t>Small</a:t>
                </a:r>
                <a:r>
                  <a:rPr lang="en-US" dirty="0"/>
                  <a:t> </a:t>
                </a:r>
                <a:r>
                  <a:rPr lang="en-US" dirty="0">
                    <a:solidFill>
                      <a:schemeClr val="accent3"/>
                    </a:solidFill>
                  </a:rPr>
                  <a:t>load factor </a:t>
                </a:r>
                <a:r>
                  <a:rPr lang="en-US" dirty="0"/>
                  <a:t>means </a:t>
                </a:r>
                <a:r>
                  <a:rPr lang="en-US" dirty="0">
                    <a:solidFill>
                      <a:schemeClr val="accent6"/>
                    </a:solidFill>
                  </a:rPr>
                  <a:t>faster</a:t>
                </a:r>
                <a:r>
                  <a:rPr lang="en-US" dirty="0"/>
                  <a:t> operation</a:t>
                </a:r>
              </a:p>
              <a:p>
                <a:pPr lvl="1"/>
                <a:r>
                  <a:rPr lang="en-US" dirty="0"/>
                  <a:t>To have small load factor we need large number of buckets which is wasteful of space when we store small number of data</a:t>
                </a:r>
              </a:p>
              <a:p>
                <a:r>
                  <a:rPr lang="en-US" dirty="0">
                    <a:solidFill>
                      <a:schemeClr val="accent2"/>
                    </a:solidFill>
                  </a:rPr>
                  <a:t>Large</a:t>
                </a:r>
                <a:r>
                  <a:rPr lang="en-US" dirty="0"/>
                  <a:t> </a:t>
                </a:r>
                <a:r>
                  <a:rPr lang="en-US" dirty="0">
                    <a:solidFill>
                      <a:schemeClr val="accent3"/>
                    </a:solidFill>
                  </a:rPr>
                  <a:t>load factor </a:t>
                </a:r>
                <a:r>
                  <a:rPr lang="en-US" dirty="0"/>
                  <a:t>means </a:t>
                </a:r>
                <a:r>
                  <a:rPr lang="en-US" dirty="0">
                    <a:solidFill>
                      <a:schemeClr val="accent6"/>
                    </a:solidFill>
                  </a:rPr>
                  <a:t>smaller memory usage</a:t>
                </a:r>
              </a:p>
              <a:p>
                <a:pPr lvl="1"/>
                <a:r>
                  <a:rPr lang="en-US" dirty="0"/>
                  <a:t>But it makes operations use longer time</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8B55D19B-4415-E074-2AAF-4EE7EB78A53C}"/>
                  </a:ext>
                </a:extLst>
              </p:cNvPr>
              <p:cNvSpPr>
                <a:spLocks noGrp="1" noRot="1" noChangeAspect="1" noMove="1" noResize="1" noEditPoints="1" noAdjustHandles="1" noChangeArrowheads="1" noChangeShapeType="1" noTextEdit="1"/>
              </p:cNvSpPr>
              <p:nvPr>
                <p:ph idx="1"/>
              </p:nvPr>
            </p:nvSpPr>
            <p:spPr>
              <a:blipFill>
                <a:blip r:embed="rId2"/>
                <a:stretch>
                  <a:fillRect l="-928" t="-122"/>
                </a:stretch>
              </a:blipFill>
            </p:spPr>
            <p:txBody>
              <a:bodyPr/>
              <a:lstStyle/>
              <a:p>
                <a:r>
                  <a:rPr lang="en-US">
                    <a:noFill/>
                  </a:rPr>
                  <a:t> </a:t>
                </a:r>
              </a:p>
            </p:txBody>
          </p:sp>
        </mc:Fallback>
      </mc:AlternateContent>
    </p:spTree>
    <p:extLst>
      <p:ext uri="{BB962C8B-B14F-4D97-AF65-F5344CB8AC3E}">
        <p14:creationId xmlns:p14="http://schemas.microsoft.com/office/powerpoint/2010/main" val="3069901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8A3BB-E75B-72ED-EEBC-939C19F621EE}"/>
              </a:ext>
            </a:extLst>
          </p:cNvPr>
          <p:cNvSpPr>
            <a:spLocks noGrp="1"/>
          </p:cNvSpPr>
          <p:nvPr>
            <p:ph type="title"/>
          </p:nvPr>
        </p:nvSpPr>
        <p:spPr/>
        <p:txBody>
          <a:bodyPr/>
          <a:lstStyle/>
          <a:p>
            <a:r>
              <a:rPr lang="en-US" dirty="0"/>
              <a:t>Adaptive Bucket Size with Rehash</a:t>
            </a:r>
          </a:p>
        </p:txBody>
      </p:sp>
      <p:sp>
        <p:nvSpPr>
          <p:cNvPr id="3" name="Content Placeholder 2">
            <a:extLst>
              <a:ext uri="{FF2B5EF4-FFF2-40B4-BE49-F238E27FC236}">
                <a16:creationId xmlns:a16="http://schemas.microsoft.com/office/drawing/2014/main" id="{D3ED7EF3-71FA-E2DB-91AB-47306E5CAC5C}"/>
              </a:ext>
            </a:extLst>
          </p:cNvPr>
          <p:cNvSpPr>
            <a:spLocks noGrp="1"/>
          </p:cNvSpPr>
          <p:nvPr>
            <p:ph idx="1"/>
          </p:nvPr>
        </p:nvSpPr>
        <p:spPr>
          <a:xfrm>
            <a:off x="434145" y="1358781"/>
            <a:ext cx="6570663" cy="5016382"/>
          </a:xfrm>
        </p:spPr>
        <p:txBody>
          <a:bodyPr>
            <a:normAutofit fontScale="62500" lnSpcReduction="20000"/>
          </a:bodyPr>
          <a:lstStyle/>
          <a:p>
            <a:r>
              <a:rPr lang="en-US" dirty="0"/>
              <a:t>We can maintain small load factor with small memory usage by using rehash which is similar to expansion of </a:t>
            </a:r>
            <a:r>
              <a:rPr lang="en-US" sz="2800" b="0" dirty="0" err="1">
                <a:solidFill>
                  <a:srgbClr val="DCDCAA"/>
                </a:solidFill>
                <a:effectLst/>
                <a:latin typeface="Monaspace Neon" pitchFamily="50" charset="0"/>
              </a:rPr>
              <a:t>mData</a:t>
            </a:r>
            <a:r>
              <a:rPr lang="en-US" dirty="0"/>
              <a:t> in vector</a:t>
            </a:r>
          </a:p>
          <a:p>
            <a:r>
              <a:rPr lang="en-US" dirty="0"/>
              <a:t>Start with small number of buckets</a:t>
            </a:r>
          </a:p>
          <a:p>
            <a:pPr lvl="1"/>
            <a:r>
              <a:rPr lang="en-US" dirty="0"/>
              <a:t>So that it does not take too much space when we have small number of data</a:t>
            </a:r>
          </a:p>
          <a:p>
            <a:r>
              <a:rPr lang="en-US" dirty="0"/>
              <a:t>When load factor goes above limiting value, we </a:t>
            </a:r>
            <a:r>
              <a:rPr lang="en-US" dirty="0">
                <a:solidFill>
                  <a:schemeClr val="accent5"/>
                </a:solidFill>
              </a:rPr>
              <a:t>expand</a:t>
            </a:r>
            <a:r>
              <a:rPr lang="en-US" dirty="0"/>
              <a:t>, usually by </a:t>
            </a:r>
            <a:r>
              <a:rPr lang="en-US" dirty="0">
                <a:solidFill>
                  <a:schemeClr val="accent5"/>
                </a:solidFill>
              </a:rPr>
              <a:t>doubling the size </a:t>
            </a:r>
            <a:r>
              <a:rPr lang="en-US" dirty="0"/>
              <a:t>of the </a:t>
            </a:r>
            <a:r>
              <a:rPr lang="en-US" sz="2900" dirty="0" err="1">
                <a:solidFill>
                  <a:srgbClr val="DCDCAA"/>
                </a:solidFill>
                <a:latin typeface="Monaspace Neon" pitchFamily="50" charset="0"/>
              </a:rPr>
              <a:t>mBuckets</a:t>
            </a:r>
            <a:r>
              <a:rPr lang="en-US" dirty="0"/>
              <a:t>, and </a:t>
            </a:r>
            <a:r>
              <a:rPr lang="en-US" dirty="0">
                <a:solidFill>
                  <a:schemeClr val="accent6"/>
                </a:solidFill>
              </a:rPr>
              <a:t>re-insert </a:t>
            </a:r>
            <a:r>
              <a:rPr lang="en-US" dirty="0"/>
              <a:t>everything</a:t>
            </a:r>
          </a:p>
          <a:p>
            <a:pPr lvl="1"/>
            <a:r>
              <a:rPr lang="en-US" dirty="0"/>
              <a:t>This effectively </a:t>
            </a:r>
            <a:r>
              <a:rPr lang="en-US" dirty="0">
                <a:solidFill>
                  <a:schemeClr val="accent6"/>
                </a:solidFill>
              </a:rPr>
              <a:t>reduce load factor by half</a:t>
            </a:r>
          </a:p>
          <a:p>
            <a:pPr lvl="1"/>
            <a:r>
              <a:rPr lang="en-US" dirty="0"/>
              <a:t>We have to re-insert because </a:t>
            </a:r>
            <a:r>
              <a:rPr lang="en-US" sz="2400" b="0" dirty="0" err="1">
                <a:solidFill>
                  <a:srgbClr val="DCDCAA"/>
                </a:solidFill>
                <a:effectLst/>
                <a:latin typeface="Monaspace Neon" pitchFamily="50" charset="0"/>
              </a:rPr>
              <a:t>hash_to_bucket</a:t>
            </a:r>
            <a:r>
              <a:rPr lang="en-US" sz="2400" b="0" dirty="0">
                <a:solidFill>
                  <a:srgbClr val="DCDCAA"/>
                </a:solidFill>
                <a:effectLst/>
                <a:latin typeface="Monaspace Neon" pitchFamily="50" charset="0"/>
              </a:rPr>
              <a:t> </a:t>
            </a:r>
            <a:r>
              <a:rPr lang="en-US" dirty="0"/>
              <a:t>use the size of the table</a:t>
            </a:r>
          </a:p>
          <a:p>
            <a:r>
              <a:rPr lang="en-US" dirty="0"/>
              <a:t>This make some insertions take very long time, but it happens infrequently</a:t>
            </a:r>
          </a:p>
          <a:p>
            <a:pPr lvl="1"/>
            <a:r>
              <a:rPr lang="en-US" dirty="0"/>
              <a:t>Using the same analysis as the expansion of vector</a:t>
            </a:r>
          </a:p>
        </p:txBody>
      </p:sp>
      <p:graphicFrame>
        <p:nvGraphicFramePr>
          <p:cNvPr id="4" name="Table 3">
            <a:extLst>
              <a:ext uri="{FF2B5EF4-FFF2-40B4-BE49-F238E27FC236}">
                <a16:creationId xmlns:a16="http://schemas.microsoft.com/office/drawing/2014/main" id="{3B2CDD6F-1B74-6528-FF21-C3DC736CC70F}"/>
              </a:ext>
            </a:extLst>
          </p:cNvPr>
          <p:cNvGraphicFramePr>
            <a:graphicFrameLocks noGrp="1"/>
          </p:cNvGraphicFramePr>
          <p:nvPr>
            <p:extLst>
              <p:ext uri="{D42A27DB-BD31-4B8C-83A1-F6EECF244321}">
                <p14:modId xmlns:p14="http://schemas.microsoft.com/office/powerpoint/2010/main" val="4282330226"/>
              </p:ext>
            </p:extLst>
          </p:nvPr>
        </p:nvGraphicFramePr>
        <p:xfrm>
          <a:off x="7802658" y="1589586"/>
          <a:ext cx="2006044"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err="1">
                          <a:ln>
                            <a:noFill/>
                          </a:ln>
                          <a:solidFill>
                            <a:schemeClr val="accent3"/>
                          </a:solidFill>
                          <a:effectLst/>
                          <a:uLnTx/>
                          <a:uFillTx/>
                          <a:latin typeface="Sarabun ExtraLight"/>
                          <a:ea typeface="+mn-ea"/>
                          <a:cs typeface="Sarabun ExtraLight"/>
                        </a:rPr>
                        <a:t>a</a:t>
                      </a:r>
                      <a:r>
                        <a:rPr kumimoji="0" lang="en-US" sz="1600" b="0" i="0" u="none" strike="noStrike" kern="1200" cap="none" spc="0" normalizeH="0" baseline="0" noProof="0" dirty="0" err="1">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err="1">
                          <a:ln>
                            <a:noFill/>
                          </a:ln>
                          <a:solidFill>
                            <a:schemeClr val="accent3"/>
                          </a:solidFill>
                          <a:effectLst/>
                          <a:uLnTx/>
                          <a:uFillTx/>
                          <a:latin typeface="Sarabun ExtraLight"/>
                          <a:ea typeface="+mn-ea"/>
                          <a:cs typeface="Sarabun ExtraLight"/>
                        </a:rPr>
                        <a:t>e</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g</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l</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5" name="Table 4">
            <a:extLst>
              <a:ext uri="{FF2B5EF4-FFF2-40B4-BE49-F238E27FC236}">
                <a16:creationId xmlns:a16="http://schemas.microsoft.com/office/drawing/2014/main" id="{332E1D95-3219-7DC7-D59E-7426EFB8CCC2}"/>
              </a:ext>
            </a:extLst>
          </p:cNvPr>
          <p:cNvGraphicFramePr>
            <a:graphicFrameLocks noGrp="1"/>
          </p:cNvGraphicFramePr>
          <p:nvPr>
            <p:extLst>
              <p:ext uri="{D42A27DB-BD31-4B8C-83A1-F6EECF244321}">
                <p14:modId xmlns:p14="http://schemas.microsoft.com/office/powerpoint/2010/main" val="601968948"/>
              </p:ext>
            </p:extLst>
          </p:nvPr>
        </p:nvGraphicFramePr>
        <p:xfrm>
          <a:off x="7080989" y="4658878"/>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a</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l</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e</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5"/>
                          </a:solidFill>
                          <a:effectLst/>
                          <a:uLnTx/>
                          <a:uFillTx/>
                          <a:latin typeface="Sarabun ExtraLight"/>
                          <a:ea typeface="+mn-ea"/>
                          <a:cs typeface="Sarabun ExtraLight"/>
                        </a:rPr>
                        <a:t>f</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g</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6" name="Speech Bubble: Rectangle with Corners Rounded 5">
            <a:extLst>
              <a:ext uri="{FF2B5EF4-FFF2-40B4-BE49-F238E27FC236}">
                <a16:creationId xmlns:a16="http://schemas.microsoft.com/office/drawing/2014/main" id="{B20AD6C6-3D54-BC8D-378D-4765E8F543AE}"/>
              </a:ext>
            </a:extLst>
          </p:cNvPr>
          <p:cNvSpPr/>
          <p:nvPr/>
        </p:nvSpPr>
        <p:spPr>
          <a:xfrm>
            <a:off x="10062719" y="374295"/>
            <a:ext cx="1619631" cy="1017110"/>
          </a:xfrm>
          <a:prstGeom prst="wedgeRoundRectCallout">
            <a:avLst>
              <a:gd name="adj1" fmla="val -77989"/>
              <a:gd name="adj2" fmla="val 7428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Assume that we limit load factor to be 1 and we wish to add ‘’f’</a:t>
            </a:r>
          </a:p>
        </p:txBody>
      </p:sp>
      <p:graphicFrame>
        <p:nvGraphicFramePr>
          <p:cNvPr id="7" name="Table 6">
            <a:extLst>
              <a:ext uri="{FF2B5EF4-FFF2-40B4-BE49-F238E27FC236}">
                <a16:creationId xmlns:a16="http://schemas.microsoft.com/office/drawing/2014/main" id="{27A4AFD3-3F08-3250-88AD-96417FD02A18}"/>
              </a:ext>
            </a:extLst>
          </p:cNvPr>
          <p:cNvGraphicFramePr>
            <a:graphicFrameLocks noGrp="1"/>
          </p:cNvGraphicFramePr>
          <p:nvPr>
            <p:extLst>
              <p:ext uri="{D42A27DB-BD31-4B8C-83A1-F6EECF244321}">
                <p14:modId xmlns:p14="http://schemas.microsoft.com/office/powerpoint/2010/main" val="3383223996"/>
              </p:ext>
            </p:extLst>
          </p:nvPr>
        </p:nvGraphicFramePr>
        <p:xfrm>
          <a:off x="7080989" y="3331528"/>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a</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l</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e</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g</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8" name="Speech Bubble: Rectangle with Corners Rounded 7">
            <a:extLst>
              <a:ext uri="{FF2B5EF4-FFF2-40B4-BE49-F238E27FC236}">
                <a16:creationId xmlns:a16="http://schemas.microsoft.com/office/drawing/2014/main" id="{7C07CDA7-809F-E10A-DCDC-B8B30B1E3DD3}"/>
              </a:ext>
            </a:extLst>
          </p:cNvPr>
          <p:cNvSpPr/>
          <p:nvPr/>
        </p:nvSpPr>
        <p:spPr>
          <a:xfrm>
            <a:off x="10073169" y="2140854"/>
            <a:ext cx="2039816" cy="1132328"/>
          </a:xfrm>
          <a:prstGeom prst="wedgeRoundRectCallout">
            <a:avLst>
              <a:gd name="adj1" fmla="val -77446"/>
              <a:gd name="adj2" fmla="val 5138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First, we doubling the bucket from 4 to 8 and re-insert everything. Now the LF is 0.5</a:t>
            </a:r>
          </a:p>
        </p:txBody>
      </p:sp>
      <p:sp>
        <p:nvSpPr>
          <p:cNvPr id="9" name="Speech Bubble: Rectangle with Corners Rounded 8">
            <a:extLst>
              <a:ext uri="{FF2B5EF4-FFF2-40B4-BE49-F238E27FC236}">
                <a16:creationId xmlns:a16="http://schemas.microsoft.com/office/drawing/2014/main" id="{20391856-B0B1-F5D8-E59A-EE8D288CF539}"/>
              </a:ext>
            </a:extLst>
          </p:cNvPr>
          <p:cNvSpPr/>
          <p:nvPr/>
        </p:nvSpPr>
        <p:spPr>
          <a:xfrm>
            <a:off x="6474890" y="5643523"/>
            <a:ext cx="1387204" cy="813690"/>
          </a:xfrm>
          <a:prstGeom prst="wedgeRoundRectCallout">
            <a:avLst>
              <a:gd name="adj1" fmla="val 95654"/>
              <a:gd name="adj2" fmla="val -7979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Finally, we insert ‘f’. The LF is now 5/8</a:t>
            </a:r>
          </a:p>
        </p:txBody>
      </p:sp>
    </p:spTree>
    <p:extLst>
      <p:ext uri="{BB962C8B-B14F-4D97-AF65-F5344CB8AC3E}">
        <p14:creationId xmlns:p14="http://schemas.microsoft.com/office/powerpoint/2010/main" val="225834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4B570-1EF2-C522-5C43-738ABFEA79A5}"/>
              </a:ext>
            </a:extLst>
          </p:cNvPr>
          <p:cNvSpPr>
            <a:spLocks noGrp="1"/>
          </p:cNvSpPr>
          <p:nvPr>
            <p:ph type="title"/>
          </p:nvPr>
        </p:nvSpPr>
        <p:spPr/>
        <p:txBody>
          <a:bodyPr/>
          <a:lstStyle/>
          <a:p>
            <a:r>
              <a:rPr lang="en-US" dirty="0"/>
              <a:t>Code </a:t>
            </a:r>
            <a:r>
              <a:rPr lang="en-US" dirty="0" err="1"/>
              <a:t>ver</a:t>
            </a:r>
            <a:r>
              <a:rPr lang="en-US" dirty="0"/>
              <a:t> 0.2: load factor and rehash</a:t>
            </a:r>
          </a:p>
        </p:txBody>
      </p:sp>
      <p:sp>
        <p:nvSpPr>
          <p:cNvPr id="3" name="Content Placeholder 2">
            <a:extLst>
              <a:ext uri="{FF2B5EF4-FFF2-40B4-BE49-F238E27FC236}">
                <a16:creationId xmlns:a16="http://schemas.microsoft.com/office/drawing/2014/main" id="{AD2101AA-7A53-8C06-B63E-8248A5DD01D1}"/>
              </a:ext>
            </a:extLst>
          </p:cNvPr>
          <p:cNvSpPr>
            <a:spLocks noGrp="1"/>
          </p:cNvSpPr>
          <p:nvPr>
            <p:ph idx="1"/>
          </p:nvPr>
        </p:nvSpPr>
        <p:spPr>
          <a:xfrm>
            <a:off x="6606990" y="1156559"/>
            <a:ext cx="5255298" cy="3500606"/>
          </a:xfrm>
        </p:spPr>
        <p:txBody>
          <a:bodyPr>
            <a:normAutofit fontScale="70000" lnSpcReduction="20000"/>
          </a:bodyPr>
          <a:lstStyle/>
          <a:p>
            <a:r>
              <a:rPr lang="en-US" dirty="0"/>
              <a:t>More public function</a:t>
            </a:r>
          </a:p>
          <a:p>
            <a:pPr lvl="1"/>
            <a:r>
              <a:rPr lang="en-US" dirty="0"/>
              <a:t>Some for get/set load factor and its limit</a:t>
            </a:r>
          </a:p>
          <a:p>
            <a:r>
              <a:rPr lang="en-US" sz="2800" b="0" dirty="0" err="1">
                <a:solidFill>
                  <a:srgbClr val="9CDCFE"/>
                </a:solidFill>
                <a:effectLst/>
                <a:latin typeface="Monaspace Neon" pitchFamily="50" charset="0"/>
              </a:rPr>
              <a:t>mMaxLoadFactor</a:t>
            </a:r>
            <a:r>
              <a:rPr lang="en-US" sz="2800" b="0" dirty="0">
                <a:solidFill>
                  <a:srgbClr val="9CDCFE"/>
                </a:solidFill>
                <a:effectLst/>
                <a:latin typeface="Monaspace Neon" pitchFamily="50" charset="0"/>
              </a:rPr>
              <a:t> </a:t>
            </a:r>
            <a:r>
              <a:rPr lang="en-US" dirty="0"/>
              <a:t>is a protected float</a:t>
            </a:r>
          </a:p>
          <a:p>
            <a:r>
              <a:rPr lang="en-US" sz="2800" b="0" dirty="0">
                <a:solidFill>
                  <a:srgbClr val="DCDCAA"/>
                </a:solidFill>
                <a:effectLst/>
                <a:latin typeface="Monaspace Neon" pitchFamily="50" charset="0"/>
              </a:rPr>
              <a:t>rehash </a:t>
            </a:r>
            <a:r>
              <a:rPr lang="en-US" dirty="0"/>
              <a:t>works like</a:t>
            </a:r>
            <a:r>
              <a:rPr lang="en-US" sz="2800" b="0" dirty="0">
                <a:solidFill>
                  <a:srgbClr val="DCDCAA"/>
                </a:solidFill>
                <a:effectLst/>
                <a:latin typeface="Monaspace Neon" pitchFamily="50" charset="0"/>
              </a:rPr>
              <a:t> resize </a:t>
            </a:r>
            <a:r>
              <a:rPr lang="en-US" dirty="0"/>
              <a:t>in vector</a:t>
            </a:r>
            <a:endParaRPr lang="en-US" sz="2800" b="0" dirty="0">
              <a:solidFill>
                <a:srgbClr val="DCDCAA"/>
              </a:solidFill>
              <a:effectLst/>
              <a:latin typeface="Monaspace Neon" pitchFamily="50" charset="0"/>
            </a:endParaRPr>
          </a:p>
          <a:p>
            <a:pPr lvl="1"/>
            <a:r>
              <a:rPr lang="en-US" dirty="0"/>
              <a:t>It expands at least a double in size</a:t>
            </a:r>
          </a:p>
          <a:p>
            <a:pPr lvl="1"/>
            <a:r>
              <a:rPr lang="en-US" dirty="0"/>
              <a:t>This take O(n) to read and another O(n) * insertion</a:t>
            </a:r>
          </a:p>
          <a:p>
            <a:r>
              <a:rPr lang="en-US" dirty="0">
                <a:solidFill>
                  <a:srgbClr val="DCDCAA"/>
                </a:solidFill>
                <a:latin typeface="Monaspace Neon" pitchFamily="50" charset="0"/>
              </a:rPr>
              <a:t>insert</a:t>
            </a:r>
            <a:r>
              <a:rPr lang="en-US" dirty="0"/>
              <a:t> has to be modified as well</a:t>
            </a:r>
          </a:p>
        </p:txBody>
      </p:sp>
      <p:sp>
        <p:nvSpPr>
          <p:cNvPr id="5" name="TextBox 4">
            <a:extLst>
              <a:ext uri="{FF2B5EF4-FFF2-40B4-BE49-F238E27FC236}">
                <a16:creationId xmlns:a16="http://schemas.microsoft.com/office/drawing/2014/main" id="{CBB8AB97-3F60-3BB1-43A0-E367E1845E28}"/>
              </a:ext>
            </a:extLst>
          </p:cNvPr>
          <p:cNvSpPr txBox="1"/>
          <p:nvPr/>
        </p:nvSpPr>
        <p:spPr>
          <a:xfrm>
            <a:off x="329712" y="1156559"/>
            <a:ext cx="5931152" cy="4893647"/>
          </a:xfrm>
          <a:prstGeom prst="rect">
            <a:avLst/>
          </a:prstGeom>
          <a:solidFill>
            <a:schemeClr val="bg1"/>
          </a:solidFill>
          <a:ln>
            <a:solidFill>
              <a:schemeClr val="accent5"/>
            </a:solidFill>
          </a:ln>
        </p:spPr>
        <p:txBody>
          <a:bodyPr wrap="square">
            <a:spAutoFit/>
          </a:bodyPr>
          <a:lstStyle/>
          <a:p>
            <a:r>
              <a:rPr lang="en-US" sz="1200" b="0" dirty="0">
                <a:solidFill>
                  <a:srgbClr val="569CD6"/>
                </a:solidFill>
                <a:effectLst/>
                <a:latin typeface="Monaspace Neon" pitchFamily="50" charset="0"/>
              </a:rPr>
              <a:t>float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load_factor</a:t>
            </a:r>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mSize</a:t>
            </a:r>
            <a:r>
              <a:rPr lang="en-US" sz="1200" b="0" dirty="0">
                <a:solidFill>
                  <a:srgbClr val="D4D4D4"/>
                </a:solidFill>
                <a:effectLst/>
                <a:latin typeface="Monaspace Neon" pitchFamily="50" charset="0"/>
              </a:rPr>
              <a:t>/(</a:t>
            </a:r>
            <a:r>
              <a:rPr lang="en-US" sz="1200" b="0" dirty="0">
                <a:solidFill>
                  <a:srgbClr val="B5CEA8"/>
                </a:solidFill>
                <a:effectLst/>
                <a:latin typeface="Monaspace Neon" pitchFamily="50" charset="0"/>
              </a:rPr>
              <a:t>0.0</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mBuckets</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size</a:t>
            </a:r>
            <a:r>
              <a:rPr lang="en-US" sz="1200" b="0" dirty="0">
                <a:solidFill>
                  <a:srgbClr val="D4D4D4"/>
                </a:solidFill>
                <a:effectLst/>
                <a:latin typeface="Monaspace Neon" pitchFamily="50" charset="0"/>
              </a:rPr>
              <a:t>()); }</a:t>
            </a:r>
          </a:p>
          <a:p>
            <a:endParaRPr lang="en-US" sz="1200" b="0" dirty="0">
              <a:solidFill>
                <a:srgbClr val="569CD6"/>
              </a:solidFill>
              <a:effectLst/>
              <a:latin typeface="Monaspace Neon" pitchFamily="50" charset="0"/>
            </a:endParaRPr>
          </a:p>
          <a:p>
            <a:r>
              <a:rPr lang="en-US" sz="1200" b="0" dirty="0">
                <a:solidFill>
                  <a:srgbClr val="569CD6"/>
                </a:solidFill>
                <a:effectLst/>
                <a:latin typeface="Monaspace Neon" pitchFamily="50" charset="0"/>
              </a:rPr>
              <a:t>float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max_load_factor</a:t>
            </a:r>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mMaxLoadFactor</a:t>
            </a:r>
            <a:r>
              <a:rPr lang="en-US" sz="1200" b="0" dirty="0">
                <a:solidFill>
                  <a:srgbClr val="D4D4D4"/>
                </a:solidFill>
                <a:effectLst/>
                <a:latin typeface="Monaspace Neon" pitchFamily="50" charset="0"/>
              </a:rPr>
              <a:t>; }</a:t>
            </a:r>
          </a:p>
          <a:p>
            <a:br>
              <a:rPr lang="en-US" sz="1200" b="0" dirty="0">
                <a:solidFill>
                  <a:srgbClr val="D4D4D4"/>
                </a:solidFill>
                <a:effectLst/>
                <a:latin typeface="Monaspace Neon" pitchFamily="50" charset="0"/>
              </a:rPr>
            </a:br>
            <a:r>
              <a:rPr lang="en-US" sz="1200" b="0" dirty="0">
                <a:solidFill>
                  <a:srgbClr val="6A9955"/>
                </a:solidFill>
                <a:effectLst/>
                <a:latin typeface="Monaspace Neon" pitchFamily="50" charset="0"/>
              </a:rPr>
              <a:t>// setting the max load factor</a:t>
            </a:r>
            <a:endParaRPr lang="en-US" sz="1200" b="0" dirty="0">
              <a:solidFill>
                <a:srgbClr val="D4D4D4"/>
              </a:solidFill>
              <a:effectLst/>
              <a:latin typeface="Monaspace Neon" pitchFamily="50" charset="0"/>
            </a:endParaRPr>
          </a:p>
          <a:p>
            <a:r>
              <a:rPr lang="en-US" sz="1200" b="0" dirty="0">
                <a:solidFill>
                  <a:srgbClr val="569CD6"/>
                </a:solidFill>
                <a:effectLst/>
                <a:latin typeface="Monaspace Neon" pitchFamily="50" charset="0"/>
              </a:rPr>
              <a:t>void</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max_load_factor</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float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z</a:t>
            </a:r>
            <a:r>
              <a:rPr lang="en-US" sz="1200" b="0" dirty="0">
                <a:solidFill>
                  <a:srgbClr val="D4D4D4"/>
                </a:solidFill>
                <a:effectLst/>
                <a:latin typeface="Monaspace Neon" pitchFamily="50" charset="0"/>
              </a:rPr>
              <a:t>) { </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mMaxLoadFactor</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z</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rehash</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mBuckets</a:t>
            </a:r>
            <a:r>
              <a:rPr lang="en-US" sz="1200" b="0" dirty="0" err="1">
                <a:solidFill>
                  <a:srgbClr val="D4D4D4"/>
                </a:solidFill>
                <a:effectLst/>
                <a:latin typeface="Monaspace Neon" pitchFamily="50" charset="0"/>
              </a:rPr>
              <a:t>.</a:t>
            </a:r>
            <a:r>
              <a:rPr lang="en-US" sz="1200" b="0" dirty="0" err="1">
                <a:solidFill>
                  <a:srgbClr val="DCDCAA"/>
                </a:solidFill>
                <a:effectLst/>
                <a:latin typeface="Monaspace Neon" pitchFamily="50" charset="0"/>
              </a:rPr>
              <a:t>size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br>
              <a:rPr lang="en-US" sz="1200" b="0" dirty="0">
                <a:solidFill>
                  <a:srgbClr val="D4D4D4"/>
                </a:solidFill>
                <a:effectLst/>
                <a:latin typeface="Monaspace Neon" pitchFamily="50" charset="0"/>
              </a:rPr>
            </a:br>
            <a:r>
              <a:rPr lang="en-US" sz="1200" b="0" dirty="0">
                <a:solidFill>
                  <a:srgbClr val="6A9955"/>
                </a:solidFill>
                <a:effectLst/>
                <a:latin typeface="Monaspace Neon" pitchFamily="50" charset="0"/>
              </a:rPr>
              <a:t>// try to resize the </a:t>
            </a:r>
            <a:r>
              <a:rPr lang="en-US" sz="1200" b="0" dirty="0" err="1">
                <a:solidFill>
                  <a:srgbClr val="6A9955"/>
                </a:solidFill>
                <a:effectLst/>
                <a:latin typeface="Monaspace Neon" pitchFamily="50" charset="0"/>
              </a:rPr>
              <a:t>mBuckets</a:t>
            </a:r>
            <a:r>
              <a:rPr lang="en-US" sz="1200" b="0" dirty="0">
                <a:solidFill>
                  <a:srgbClr val="6A9955"/>
                </a:solidFill>
                <a:effectLst/>
                <a:latin typeface="Monaspace Neon" pitchFamily="50" charset="0"/>
              </a:rPr>
              <a:t> to n</a:t>
            </a:r>
            <a:endParaRPr lang="en-US" sz="1200" b="0" dirty="0">
              <a:solidFill>
                <a:srgbClr val="D4D4D4"/>
              </a:solidFill>
              <a:effectLst/>
              <a:latin typeface="Monaspace Neon" pitchFamily="50" charset="0"/>
            </a:endParaRPr>
          </a:p>
          <a:p>
            <a:r>
              <a:rPr lang="en-US" sz="1200" b="0" dirty="0">
                <a:solidFill>
                  <a:srgbClr val="569CD6"/>
                </a:solidFill>
                <a:effectLst/>
                <a:latin typeface="Monaspace Neon" pitchFamily="50" charset="0"/>
              </a:rPr>
              <a:t>void</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rehash</a:t>
            </a:r>
            <a:r>
              <a:rPr lang="en-US" sz="1200" b="0" dirty="0">
                <a:solidFill>
                  <a:srgbClr val="D4D4D4"/>
                </a:solidFill>
                <a:effectLst/>
                <a:latin typeface="Monaspace Neon" pitchFamily="50" charset="0"/>
              </a:rPr>
              <a:t>(</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n</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load_factor</a:t>
            </a:r>
            <a:r>
              <a:rPr lang="en-US" sz="1200" b="0" dirty="0">
                <a:solidFill>
                  <a:srgbClr val="D4D4D4"/>
                </a:solidFill>
                <a:effectLst/>
                <a:latin typeface="Monaspace Neon" pitchFamily="50" charset="0"/>
              </a:rPr>
              <a:t>() &lt; </a:t>
            </a:r>
            <a:r>
              <a:rPr lang="en-US" sz="1200" b="0" dirty="0" err="1">
                <a:solidFill>
                  <a:srgbClr val="DCDCAA"/>
                </a:solidFill>
                <a:effectLst/>
                <a:latin typeface="Monaspace Neon" pitchFamily="50" charset="0"/>
              </a:rPr>
              <a:t>max_load_factor</a:t>
            </a:r>
            <a:r>
              <a:rPr lang="en-US" sz="1200" b="0" dirty="0">
                <a:solidFill>
                  <a:srgbClr val="D4D4D4"/>
                </a:solidFill>
                <a:effectLst/>
                <a:latin typeface="Monaspace Neon" pitchFamily="50" charset="0"/>
              </a:rPr>
              <a:t>() </a:t>
            </a:r>
            <a:br>
              <a:rPr lang="en-US" sz="1200" b="0" dirty="0">
                <a:solidFill>
                  <a:srgbClr val="D4D4D4"/>
                </a:solidFill>
                <a:effectLst/>
                <a:latin typeface="Monaspace Neon" pitchFamily="50" charset="0"/>
              </a:rPr>
            </a:br>
            <a:r>
              <a:rPr lang="en-US" sz="1200" b="0" dirty="0">
                <a:solidFill>
                  <a:srgbClr val="D4D4D4"/>
                </a:solidFill>
                <a:effectLst/>
                <a:latin typeface="Monaspace Neon" pitchFamily="50" charset="0"/>
              </a:rPr>
              <a:t>      &amp;&amp; </a:t>
            </a:r>
            <a:r>
              <a:rPr lang="en-US" sz="1200" b="0" dirty="0">
                <a:solidFill>
                  <a:srgbClr val="9CDCFE"/>
                </a:solidFill>
                <a:effectLst/>
                <a:latin typeface="Monaspace Neon" pitchFamily="50" charset="0"/>
              </a:rPr>
              <a:t>n</a:t>
            </a:r>
            <a:r>
              <a:rPr lang="en-US" sz="1200" b="0" dirty="0">
                <a:solidFill>
                  <a:srgbClr val="D4D4D4"/>
                </a:solidFill>
                <a:effectLst/>
                <a:latin typeface="Monaspace Neon" pitchFamily="50" charset="0"/>
              </a:rPr>
              <a:t> &lt;= </a:t>
            </a:r>
            <a:r>
              <a:rPr lang="en-US" sz="1200" b="0" dirty="0" err="1">
                <a:solidFill>
                  <a:srgbClr val="9CDCFE"/>
                </a:solidFill>
                <a:effectLst/>
                <a:latin typeface="Monaspace Neon" pitchFamily="50" charset="0"/>
              </a:rPr>
              <a:t>mBuckets</a:t>
            </a:r>
            <a:r>
              <a:rPr lang="en-US" sz="1200" b="0" dirty="0" err="1">
                <a:solidFill>
                  <a:srgbClr val="D4D4D4"/>
                </a:solidFill>
                <a:effectLst/>
                <a:latin typeface="Monaspace Neon" pitchFamily="50" charset="0"/>
              </a:rPr>
              <a:t>.</a:t>
            </a:r>
            <a:r>
              <a:rPr lang="en-US" sz="1200" b="0" dirty="0" err="1">
                <a:solidFill>
                  <a:srgbClr val="DCDCAA"/>
                </a:solidFill>
                <a:effectLst/>
                <a:latin typeface="Monaspace Neon" pitchFamily="50" charset="0"/>
              </a:rPr>
              <a:t>size</a:t>
            </a:r>
            <a:r>
              <a:rPr lang="en-US" sz="1200" b="0" dirty="0">
                <a:solidFill>
                  <a:srgbClr val="D4D4D4"/>
                </a:solidFill>
                <a:effectLst/>
                <a:latin typeface="Monaspace Neon" pitchFamily="50" charset="0"/>
              </a:rPr>
              <a:t>()) </a:t>
            </a:r>
          </a:p>
          <a:p>
            <a:r>
              <a:rPr lang="en-US" sz="1200" dirty="0">
                <a:solidFill>
                  <a:srgbClr val="D4D4D4"/>
                </a:solidFill>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n</a:t>
            </a:r>
            <a:r>
              <a:rPr lang="en-US" sz="1200" b="0" dirty="0">
                <a:solidFill>
                  <a:srgbClr val="D4D4D4"/>
                </a:solidFill>
                <a:effectLst/>
                <a:latin typeface="Monaspace Neon" pitchFamily="50" charset="0"/>
              </a:rPr>
              <a:t> =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max</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mBuckets</a:t>
            </a:r>
            <a:r>
              <a:rPr lang="en-US" sz="1200" b="0" dirty="0" err="1">
                <a:solidFill>
                  <a:srgbClr val="D4D4D4"/>
                </a:solidFill>
                <a:effectLst/>
                <a:latin typeface="Monaspace Neon" pitchFamily="50" charset="0"/>
              </a:rPr>
              <a:t>.</a:t>
            </a:r>
            <a:r>
              <a:rPr lang="en-US" sz="1200" b="0" dirty="0" err="1">
                <a:solidFill>
                  <a:srgbClr val="DCDCAA"/>
                </a:solidFill>
                <a:effectLst/>
                <a:latin typeface="Monaspace Neon" pitchFamily="50" charset="0"/>
              </a:rPr>
              <a:t>size</a:t>
            </a:r>
            <a:r>
              <a:rPr lang="en-US" sz="1200" b="0" dirty="0">
                <a:solidFill>
                  <a:srgbClr val="D4D4D4"/>
                </a:solidFill>
                <a:effectLst/>
                <a:latin typeface="Monaspace Neon" pitchFamily="50" charset="0"/>
              </a:rPr>
              <a:t>()*</a:t>
            </a:r>
            <a:r>
              <a:rPr lang="en-US" sz="1200" b="0" dirty="0">
                <a:solidFill>
                  <a:srgbClr val="B5CEA8"/>
                </a:solidFill>
                <a:effectLst/>
                <a:latin typeface="Monaspace Neon" pitchFamily="50" charset="0"/>
              </a:rPr>
              <a:t>2</a:t>
            </a:r>
            <a:r>
              <a:rPr lang="en-US" sz="1200" b="0" dirty="0">
                <a:solidFill>
                  <a:srgbClr val="D4D4D4"/>
                </a:solidFill>
                <a:effectLst/>
                <a:latin typeface="Monaspace Neon" pitchFamily="50" charset="0"/>
              </a:rPr>
              <a:t>);</a:t>
            </a:r>
          </a:p>
          <a:p>
            <a:br>
              <a:rPr lang="en-US" sz="1200" b="0" dirty="0">
                <a:solidFill>
                  <a:srgbClr val="D4D4D4"/>
                </a:solidFill>
                <a:effectLst/>
                <a:latin typeface="Monaspace Neon" pitchFamily="50" charset="0"/>
              </a:rPr>
            </a:br>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vector</a:t>
            </a:r>
            <a:r>
              <a:rPr lang="en-US" sz="1200" b="0" dirty="0">
                <a:solidFill>
                  <a:srgbClr val="D4D4D4"/>
                </a:solidFill>
                <a:effectLst/>
                <a:latin typeface="Monaspace Neon" pitchFamily="50" charset="0"/>
              </a:rPr>
              <a:t>&lt;</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&gt; </a:t>
            </a:r>
            <a:r>
              <a:rPr lang="en-US" sz="1200" b="0" dirty="0" err="1">
                <a:solidFill>
                  <a:srgbClr val="9CDCFE"/>
                </a:solidFill>
                <a:effectLst/>
                <a:latin typeface="Monaspace Neon" pitchFamily="50" charset="0"/>
              </a:rPr>
              <a:t>tmp</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for</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auto</a:t>
            </a:r>
            <a:r>
              <a:rPr lang="en-US" sz="1200" b="0" dirty="0">
                <a:solidFill>
                  <a:srgbClr val="D4D4D4"/>
                </a:solidFill>
                <a:effectLst/>
                <a:latin typeface="Monaspace Neon" pitchFamily="50" charset="0"/>
              </a:rPr>
              <a:t>&amp; </a:t>
            </a:r>
            <a:r>
              <a:rPr lang="en-US" sz="1200" b="0" dirty="0">
                <a:solidFill>
                  <a:srgbClr val="9CDCFE"/>
                </a:solidFill>
                <a:effectLst/>
                <a:latin typeface="Monaspace Neon" pitchFamily="50" charset="0"/>
              </a:rPr>
              <a:t>b</a:t>
            </a:r>
            <a:r>
              <a:rPr lang="en-US" sz="1200" b="0" dirty="0">
                <a:solidFill>
                  <a:srgbClr val="D4D4D4"/>
                </a:solidFill>
                <a:effectLst/>
                <a:latin typeface="Monaspace Neon" pitchFamily="50" charset="0"/>
              </a:rPr>
              <a:t> : </a:t>
            </a:r>
            <a:r>
              <a:rPr lang="en-US" sz="1200" b="0" dirty="0" err="1">
                <a:solidFill>
                  <a:srgbClr val="9CDCFE"/>
                </a:solidFill>
                <a:effectLst/>
                <a:latin typeface="Monaspace Neon" pitchFamily="50" charset="0"/>
              </a:rPr>
              <a:t>mBuckets</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for</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auto</a:t>
            </a:r>
            <a:r>
              <a:rPr lang="en-US" sz="1200" b="0" dirty="0">
                <a:solidFill>
                  <a:srgbClr val="D4D4D4"/>
                </a:solidFill>
                <a:effectLst/>
                <a:latin typeface="Monaspace Neon" pitchFamily="50" charset="0"/>
              </a:rPr>
              <a:t> &amp;</a:t>
            </a:r>
            <a:r>
              <a:rPr lang="en-US" sz="1200" b="0" dirty="0">
                <a:solidFill>
                  <a:srgbClr val="9CDCFE"/>
                </a:solidFill>
                <a:effectLst/>
                <a:latin typeface="Monaspace Neon" pitchFamily="50" charset="0"/>
              </a:rPr>
              <a:t>k</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b</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tmp</a:t>
            </a:r>
            <a:r>
              <a:rPr lang="en-US" sz="1200" b="0" dirty="0" err="1">
                <a:solidFill>
                  <a:srgbClr val="D4D4D4"/>
                </a:solidFill>
                <a:effectLst/>
                <a:latin typeface="Monaspace Neon" pitchFamily="50" charset="0"/>
              </a:rPr>
              <a:t>.</a:t>
            </a:r>
            <a:r>
              <a:rPr lang="en-US" sz="1200" b="0" dirty="0" err="1">
                <a:solidFill>
                  <a:srgbClr val="DCDCAA"/>
                </a:solidFill>
                <a:effectLst/>
                <a:latin typeface="Monaspace Neon" pitchFamily="50" charset="0"/>
              </a:rPr>
              <a:t>push_back</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mBuckets</a:t>
            </a:r>
            <a:r>
              <a:rPr lang="en-US" sz="1200" b="0" dirty="0">
                <a:solidFill>
                  <a:srgbClr val="D4D4D4"/>
                </a:solidFill>
                <a:effectLst/>
                <a:latin typeface="Monaspace Neon" pitchFamily="50" charset="0"/>
              </a:rPr>
              <a:t> =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vector</a:t>
            </a:r>
            <a:r>
              <a:rPr lang="en-US" sz="1200" b="0" dirty="0">
                <a:solidFill>
                  <a:srgbClr val="D4D4D4"/>
                </a:solidFill>
                <a:effectLst/>
                <a:latin typeface="Monaspace Neon" pitchFamily="50" charset="0"/>
              </a:rPr>
              <a:t>&lt;</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n</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for</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auto</a:t>
            </a:r>
            <a:r>
              <a:rPr lang="en-US" sz="1200" b="0" dirty="0">
                <a:solidFill>
                  <a:srgbClr val="D4D4D4"/>
                </a:solidFill>
                <a:effectLst/>
                <a:latin typeface="Monaspace Neon" pitchFamily="50" charset="0"/>
              </a:rPr>
              <a:t>&amp; </a:t>
            </a:r>
            <a:r>
              <a:rPr lang="en-US" sz="1200" b="0" dirty="0">
                <a:solidFill>
                  <a:srgbClr val="9CDCFE"/>
                </a:solidFill>
                <a:effectLst/>
                <a:latin typeface="Monaspace Neon" pitchFamily="50" charset="0"/>
              </a:rPr>
              <a:t>k</a:t>
            </a:r>
            <a:r>
              <a:rPr lang="en-US" sz="1200" b="0" dirty="0">
                <a:solidFill>
                  <a:srgbClr val="D4D4D4"/>
                </a:solidFill>
                <a:effectLst/>
                <a:latin typeface="Monaspace Neon" pitchFamily="50" charset="0"/>
              </a:rPr>
              <a:t> : </a:t>
            </a:r>
            <a:r>
              <a:rPr lang="en-US" sz="1200" b="0" dirty="0" err="1">
                <a:solidFill>
                  <a:srgbClr val="9CDCFE"/>
                </a:solidFill>
                <a:effectLst/>
                <a:latin typeface="Monaspace Neon" pitchFamily="50" charset="0"/>
              </a:rPr>
              <a:t>tmp</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insert</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a:t>
            </a:r>
          </a:p>
        </p:txBody>
      </p:sp>
      <p:sp>
        <p:nvSpPr>
          <p:cNvPr id="7" name="TextBox 6">
            <a:extLst>
              <a:ext uri="{FF2B5EF4-FFF2-40B4-BE49-F238E27FC236}">
                <a16:creationId xmlns:a16="http://schemas.microsoft.com/office/drawing/2014/main" id="{813F89D5-0B9F-1D93-4434-BECD612E454B}"/>
              </a:ext>
            </a:extLst>
          </p:cNvPr>
          <p:cNvSpPr txBox="1"/>
          <p:nvPr/>
        </p:nvSpPr>
        <p:spPr>
          <a:xfrm>
            <a:off x="3793256" y="4412853"/>
            <a:ext cx="4310062" cy="2308324"/>
          </a:xfrm>
          <a:prstGeom prst="rect">
            <a:avLst/>
          </a:prstGeom>
          <a:solidFill>
            <a:schemeClr val="bg1"/>
          </a:solidFill>
          <a:ln>
            <a:solidFill>
              <a:schemeClr val="accent4"/>
            </a:solidFill>
          </a:ln>
        </p:spPr>
        <p:txBody>
          <a:bodyPr wrap="square">
            <a:spAutoFit/>
          </a:bodyPr>
          <a:lstStyle/>
          <a:p>
            <a:r>
              <a:rPr lang="en-US" sz="1200" b="0" dirty="0">
                <a:solidFill>
                  <a:srgbClr val="569CD6"/>
                </a:solidFill>
                <a:effectLst/>
                <a:latin typeface="Monaspace Neon" pitchFamily="50" charset="0"/>
              </a:rPr>
              <a:t>bool</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insert</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&amp;</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find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false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load_factor</a:t>
            </a:r>
            <a:r>
              <a:rPr lang="en-US" sz="1200" b="0" dirty="0">
                <a:solidFill>
                  <a:srgbClr val="D4D4D4"/>
                </a:solidFill>
                <a:effectLst/>
                <a:latin typeface="Monaspace Neon" pitchFamily="50" charset="0"/>
              </a:rPr>
              <a:t>() &gt; </a:t>
            </a:r>
            <a:r>
              <a:rPr lang="en-US" sz="1200" b="0" dirty="0" err="1">
                <a:solidFill>
                  <a:srgbClr val="DCDCAA"/>
                </a:solidFill>
                <a:effectLst/>
                <a:latin typeface="Monaspace Neon" pitchFamily="50" charset="0"/>
              </a:rPr>
              <a:t>max_load_factor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rehash</a:t>
            </a:r>
            <a:r>
              <a:rPr lang="en-US" sz="1200" b="0" dirty="0">
                <a:solidFill>
                  <a:srgbClr val="D4D4D4"/>
                </a:solidFill>
                <a:effectLst/>
                <a:latin typeface="Monaspace Neon" pitchFamily="50" charset="0"/>
              </a:rPr>
              <a:t>(</a:t>
            </a:r>
            <a:r>
              <a:rPr lang="en-US" sz="1200" b="0" dirty="0">
                <a:solidFill>
                  <a:srgbClr val="B5CEA8"/>
                </a:solidFill>
                <a:effectLst/>
                <a:latin typeface="Monaspace Neon" pitchFamily="50" charset="0"/>
              </a:rPr>
              <a:t>2</a:t>
            </a:r>
            <a:r>
              <a:rPr lang="en-US" sz="1200" b="0" dirty="0">
                <a:solidFill>
                  <a:srgbClr val="D4D4D4"/>
                </a:solidFill>
                <a:effectLst/>
                <a:latin typeface="Monaspace Neon" pitchFamily="50" charset="0"/>
              </a:rPr>
              <a:t>*</a:t>
            </a:r>
            <a:r>
              <a:rPr lang="en-US" sz="1200" b="0" dirty="0" err="1">
                <a:solidFill>
                  <a:srgbClr val="DCDCAA"/>
                </a:solidFill>
                <a:effectLst/>
                <a:latin typeface="Monaspace Neon" pitchFamily="50" charset="0"/>
              </a:rPr>
              <a:t>bucket_count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bucketIdx</a:t>
            </a:r>
            <a:r>
              <a:rPr lang="en-US" sz="1200" b="0" dirty="0">
                <a:solidFill>
                  <a:srgbClr val="D4D4D4"/>
                </a:solidFill>
                <a:effectLst/>
                <a:latin typeface="Monaspace Neon" pitchFamily="50" charset="0"/>
              </a:rPr>
              <a:t> = </a:t>
            </a:r>
            <a:r>
              <a:rPr lang="en-US" sz="1200" b="0" dirty="0" err="1">
                <a:solidFill>
                  <a:srgbClr val="DCDCAA"/>
                </a:solidFill>
                <a:effectLst/>
                <a:latin typeface="Monaspace Neon" pitchFamily="50" charset="0"/>
              </a:rPr>
              <a:t>hash_to_bucket</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mBuckets</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bucketIdx</a:t>
            </a:r>
            <a:r>
              <a:rPr lang="en-US" sz="1200" b="0" dirty="0">
                <a:solidFill>
                  <a:srgbClr val="D4D4D4"/>
                </a:solidFill>
                <a:effectLst/>
                <a:latin typeface="Monaspace Neon" pitchFamily="50" charset="0"/>
              </a:rPr>
              <a:t>].</a:t>
            </a:r>
            <a:r>
              <a:rPr lang="en-US" sz="1200" b="0" dirty="0" err="1">
                <a:solidFill>
                  <a:srgbClr val="DCDCAA"/>
                </a:solidFill>
                <a:effectLst/>
                <a:latin typeface="Monaspace Neon" pitchFamily="50" charset="0"/>
              </a:rPr>
              <a:t>push_back</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mSize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true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a:t>
            </a:r>
          </a:p>
        </p:txBody>
      </p:sp>
      <p:sp>
        <p:nvSpPr>
          <p:cNvPr id="8" name="Speech Bubble: Rectangle with Corners Rounded 7">
            <a:extLst>
              <a:ext uri="{FF2B5EF4-FFF2-40B4-BE49-F238E27FC236}">
                <a16:creationId xmlns:a16="http://schemas.microsoft.com/office/drawing/2014/main" id="{88AFB894-C226-45DE-0255-11E54B930717}"/>
              </a:ext>
            </a:extLst>
          </p:cNvPr>
          <p:cNvSpPr/>
          <p:nvPr/>
        </p:nvSpPr>
        <p:spPr>
          <a:xfrm>
            <a:off x="1521069" y="5908206"/>
            <a:ext cx="1618992" cy="812972"/>
          </a:xfrm>
          <a:prstGeom prst="wedgeRoundRectCallout">
            <a:avLst>
              <a:gd name="adj1" fmla="val 100936"/>
              <a:gd name="adj2" fmla="val -9863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Check load factor and rehash before insert</a:t>
            </a:r>
          </a:p>
        </p:txBody>
      </p:sp>
      <p:sp>
        <p:nvSpPr>
          <p:cNvPr id="9" name="Rectangle: Rounded Corners 8">
            <a:extLst>
              <a:ext uri="{FF2B5EF4-FFF2-40B4-BE49-F238E27FC236}">
                <a16:creationId xmlns:a16="http://schemas.microsoft.com/office/drawing/2014/main" id="{7E9A990E-0A11-544B-9544-9B5300FC5245}"/>
              </a:ext>
            </a:extLst>
          </p:cNvPr>
          <p:cNvSpPr/>
          <p:nvPr/>
        </p:nvSpPr>
        <p:spPr>
          <a:xfrm>
            <a:off x="3856634" y="5185220"/>
            <a:ext cx="4171950" cy="382466"/>
          </a:xfrm>
          <a:prstGeom prst="roundRect">
            <a:avLst/>
          </a:prstGeom>
          <a:solidFill>
            <a:schemeClr val="accent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700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00C59-120C-4EB3-C294-79D8F961199B}"/>
              </a:ext>
            </a:extLst>
          </p:cNvPr>
          <p:cNvSpPr>
            <a:spLocks noGrp="1"/>
          </p:cNvSpPr>
          <p:nvPr>
            <p:ph type="title"/>
          </p:nvPr>
        </p:nvSpPr>
        <p:spPr/>
        <p:txBody>
          <a:bodyPr/>
          <a:lstStyle/>
          <a:p>
            <a:r>
              <a:rPr lang="en-US" dirty="0"/>
              <a:t>Analysis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8EB26BA-17DD-079E-3037-DEE08EC18E51}"/>
                  </a:ext>
                </a:extLst>
              </p:cNvPr>
              <p:cNvSpPr>
                <a:spLocks noGrp="1"/>
              </p:cNvSpPr>
              <p:nvPr>
                <p:ph idx="1"/>
              </p:nvPr>
            </p:nvSpPr>
            <p:spPr/>
            <p:txBody>
              <a:bodyPr>
                <a:normAutofit lnSpcReduction="10000"/>
              </a:bodyPr>
              <a:lstStyle/>
              <a:p>
                <a:r>
                  <a:rPr lang="en-US" dirty="0">
                    <a:solidFill>
                      <a:srgbClr val="DCDCAA"/>
                    </a:solidFill>
                    <a:latin typeface="Monaspace Neon" pitchFamily="50" charset="0"/>
                  </a:rPr>
                  <a:t>insert</a:t>
                </a:r>
                <a:r>
                  <a:rPr lang="en-US" dirty="0"/>
                  <a:t> and </a:t>
                </a:r>
                <a:r>
                  <a:rPr lang="en-US" dirty="0">
                    <a:solidFill>
                      <a:srgbClr val="DCDCAA"/>
                    </a:solidFill>
                    <a:latin typeface="Monaspace Neon" pitchFamily="50" charset="0"/>
                  </a:rPr>
                  <a:t>erase</a:t>
                </a:r>
                <a:r>
                  <a:rPr lang="en-US" dirty="0"/>
                  <a:t> depend on </a:t>
                </a:r>
                <a:r>
                  <a:rPr lang="en-US" dirty="0">
                    <a:solidFill>
                      <a:srgbClr val="DCDCAA"/>
                    </a:solidFill>
                    <a:latin typeface="Monaspace Neon" pitchFamily="50" charset="0"/>
                  </a:rPr>
                  <a:t>find</a:t>
                </a:r>
              </a:p>
              <a:p>
                <a:r>
                  <a:rPr lang="en-US" dirty="0">
                    <a:solidFill>
                      <a:srgbClr val="DCDCAA"/>
                    </a:solidFill>
                    <a:latin typeface="Monaspace Neon" pitchFamily="50" charset="0"/>
                  </a:rPr>
                  <a:t>find</a:t>
                </a:r>
                <a:r>
                  <a:rPr lang="en-US" dirty="0"/>
                  <a:t> is O(n)</a:t>
                </a:r>
              </a:p>
              <a:p>
                <a:pPr lvl="1"/>
                <a:r>
                  <a:rPr lang="en-US" dirty="0"/>
                  <a:t>However, if we assume that the hash function distributes the data into each bucket uniformly, we expect that find is O(</a:t>
                </a:r>
                <a14:m>
                  <m:oMath xmlns:m="http://schemas.openxmlformats.org/officeDocument/2006/math">
                    <m:r>
                      <a:rPr lang="en-US" b="0" i="1" smtClean="0">
                        <a:latin typeface="Cambria Math" panose="02040503050406030204" pitchFamily="18" charset="0"/>
                      </a:rPr>
                      <m:t>𝜆</m:t>
                    </m:r>
                  </m:oMath>
                </a14:m>
                <a:r>
                  <a:rPr lang="en-US" dirty="0"/>
                  <a:t>), or the load factor</a:t>
                </a:r>
              </a:p>
              <a:p>
                <a:pPr lvl="1"/>
                <a:r>
                  <a:rPr lang="en-US" dirty="0"/>
                  <a:t>If we maintain </a:t>
                </a:r>
                <a14:m>
                  <m:oMath xmlns:m="http://schemas.openxmlformats.org/officeDocument/2006/math">
                    <m:r>
                      <a:rPr lang="en-US" b="0" i="1" smtClean="0">
                        <a:latin typeface="Cambria Math" panose="02040503050406030204" pitchFamily="18" charset="0"/>
                      </a:rPr>
                      <m:t>𝜆</m:t>
                    </m:r>
                  </m:oMath>
                </a14:m>
                <a:r>
                  <a:rPr lang="en-US" dirty="0"/>
                  <a:t> to be 1, we expect that, </a:t>
                </a:r>
                <a:r>
                  <a:rPr lang="en-US" dirty="0">
                    <a:solidFill>
                      <a:schemeClr val="accent6"/>
                    </a:solidFill>
                  </a:rPr>
                  <a:t>on average</a:t>
                </a:r>
                <a:r>
                  <a:rPr lang="en-US" dirty="0"/>
                  <a:t>, each operation to takes a constant time, or</a:t>
                </a:r>
                <a:r>
                  <a:rPr lang="en-US" dirty="0">
                    <a:solidFill>
                      <a:schemeClr val="accent6"/>
                    </a:solidFill>
                  </a:rPr>
                  <a:t> O(1)</a:t>
                </a:r>
              </a:p>
              <a:p>
                <a:r>
                  <a:rPr lang="en-US" dirty="0"/>
                  <a:t>Obviously, we have to do </a:t>
                </a:r>
                <a:r>
                  <a:rPr lang="en-US" dirty="0">
                    <a:solidFill>
                      <a:schemeClr val="accent2"/>
                    </a:solidFill>
                  </a:rPr>
                  <a:t>re-hashing</a:t>
                </a:r>
                <a:r>
                  <a:rPr lang="en-US" dirty="0"/>
                  <a:t>. By doubling the size every time we rehash, we can use the same argument as the expand of vector to show that the cost of rehash is constant over a long run</a:t>
                </a:r>
              </a:p>
            </p:txBody>
          </p:sp>
        </mc:Choice>
        <mc:Fallback>
          <p:sp>
            <p:nvSpPr>
              <p:cNvPr id="3" name="Content Placeholder 2">
                <a:extLst>
                  <a:ext uri="{FF2B5EF4-FFF2-40B4-BE49-F238E27FC236}">
                    <a16:creationId xmlns:a16="http://schemas.microsoft.com/office/drawing/2014/main" id="{58EB26BA-17DD-079E-3037-DEE08EC18E51}"/>
                  </a:ext>
                </a:extLst>
              </p:cNvPr>
              <p:cNvSpPr>
                <a:spLocks noGrp="1" noRot="1" noChangeAspect="1" noMove="1" noResize="1" noEditPoints="1" noAdjustHandles="1" noChangeArrowheads="1" noChangeShapeType="1" noTextEdit="1"/>
              </p:cNvSpPr>
              <p:nvPr>
                <p:ph idx="1"/>
              </p:nvPr>
            </p:nvSpPr>
            <p:spPr>
              <a:blipFill>
                <a:blip r:embed="rId2"/>
                <a:stretch>
                  <a:fillRect l="-1043" t="-365" b="-1215"/>
                </a:stretch>
              </a:blipFill>
            </p:spPr>
            <p:txBody>
              <a:bodyPr/>
              <a:lstStyle/>
              <a:p>
                <a:r>
                  <a:rPr lang="en-US">
                    <a:noFill/>
                  </a:rPr>
                  <a:t> </a:t>
                </a:r>
              </a:p>
            </p:txBody>
          </p:sp>
        </mc:Fallback>
      </mc:AlternateContent>
    </p:spTree>
    <p:extLst>
      <p:ext uri="{BB962C8B-B14F-4D97-AF65-F5344CB8AC3E}">
        <p14:creationId xmlns:p14="http://schemas.microsoft.com/office/powerpoint/2010/main" val="4106773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C0C6D-9AC6-38AA-C249-EC57F6056696}"/>
              </a:ext>
            </a:extLst>
          </p:cNvPr>
          <p:cNvSpPr>
            <a:spLocks noGrp="1"/>
          </p:cNvSpPr>
          <p:nvPr>
            <p:ph type="title"/>
          </p:nvPr>
        </p:nvSpPr>
        <p:spPr/>
        <p:txBody>
          <a:bodyPr/>
          <a:lstStyle/>
          <a:p>
            <a:r>
              <a:rPr lang="en-US" dirty="0"/>
              <a:t>What’s remain?</a:t>
            </a:r>
          </a:p>
        </p:txBody>
      </p:sp>
      <p:sp>
        <p:nvSpPr>
          <p:cNvPr id="3" name="Content Placeholder 2">
            <a:extLst>
              <a:ext uri="{FF2B5EF4-FFF2-40B4-BE49-F238E27FC236}">
                <a16:creationId xmlns:a16="http://schemas.microsoft.com/office/drawing/2014/main" id="{AE8F7E62-0237-C68B-BC10-0981DE931C38}"/>
              </a:ext>
            </a:extLst>
          </p:cNvPr>
          <p:cNvSpPr>
            <a:spLocks noGrp="1"/>
          </p:cNvSpPr>
          <p:nvPr>
            <p:ph idx="1"/>
          </p:nvPr>
        </p:nvSpPr>
        <p:spPr/>
        <p:txBody>
          <a:bodyPr/>
          <a:lstStyle/>
          <a:p>
            <a:r>
              <a:rPr lang="en-US" dirty="0"/>
              <a:t>Iterator</a:t>
            </a:r>
          </a:p>
          <a:p>
            <a:r>
              <a:rPr lang="en-US" dirty="0"/>
              <a:t>Adjust the hash to actual </a:t>
            </a:r>
            <a:r>
              <a:rPr lang="en-US" dirty="0" err="1">
                <a:solidFill>
                  <a:srgbClr val="DCDCAA"/>
                </a:solidFill>
                <a:latin typeface="Monaspace Neon" pitchFamily="50" charset="0"/>
              </a:rPr>
              <a:t>unordered_map</a:t>
            </a:r>
            <a:r>
              <a:rPr lang="en-US" dirty="0"/>
              <a:t> where both the key and associated data is stored</a:t>
            </a:r>
          </a:p>
          <a:p>
            <a:r>
              <a:rPr lang="en-US" dirty="0"/>
              <a:t>We will skip all of these for now, moving on to another collision handling strategy first.</a:t>
            </a:r>
          </a:p>
        </p:txBody>
      </p:sp>
    </p:spTree>
    <p:extLst>
      <p:ext uri="{BB962C8B-B14F-4D97-AF65-F5344CB8AC3E}">
        <p14:creationId xmlns:p14="http://schemas.microsoft.com/office/powerpoint/2010/main" val="379731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0F8BA4-C25C-3052-70D2-8B02E14EA6A9}"/>
              </a:ext>
            </a:extLst>
          </p:cNvPr>
          <p:cNvSpPr>
            <a:spLocks noGrp="1"/>
          </p:cNvSpPr>
          <p:nvPr>
            <p:ph type="title"/>
          </p:nvPr>
        </p:nvSpPr>
        <p:spPr/>
        <p:txBody>
          <a:bodyPr/>
          <a:lstStyle/>
          <a:p>
            <a:r>
              <a:rPr lang="en-US" dirty="0"/>
              <a:t>Open Addressing</a:t>
            </a:r>
          </a:p>
        </p:txBody>
      </p:sp>
      <p:sp>
        <p:nvSpPr>
          <p:cNvPr id="5" name="Text Placeholder 4">
            <a:extLst>
              <a:ext uri="{FF2B5EF4-FFF2-40B4-BE49-F238E27FC236}">
                <a16:creationId xmlns:a16="http://schemas.microsoft.com/office/drawing/2014/main" id="{804E8280-7969-65F3-2BFC-6331F803AE0E}"/>
              </a:ext>
            </a:extLst>
          </p:cNvPr>
          <p:cNvSpPr>
            <a:spLocks noGrp="1"/>
          </p:cNvSpPr>
          <p:nvPr>
            <p:ph type="body" idx="1"/>
          </p:nvPr>
        </p:nvSpPr>
        <p:spPr/>
        <p:txBody>
          <a:bodyPr/>
          <a:lstStyle/>
          <a:p>
            <a:r>
              <a:rPr lang="en-US" dirty="0"/>
              <a:t>Another Collision Handling in Hash Table</a:t>
            </a:r>
          </a:p>
          <a:p>
            <a:endParaRPr lang="en-US" dirty="0"/>
          </a:p>
        </p:txBody>
      </p:sp>
    </p:spTree>
    <p:extLst>
      <p:ext uri="{BB962C8B-B14F-4D97-AF65-F5344CB8AC3E}">
        <p14:creationId xmlns:p14="http://schemas.microsoft.com/office/powerpoint/2010/main" val="3829711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4EA06A-C4D1-9D6F-3EFC-C7587E6B0EAE}"/>
              </a:ext>
            </a:extLst>
          </p:cNvPr>
          <p:cNvSpPr>
            <a:spLocks noGrp="1"/>
          </p:cNvSpPr>
          <p:nvPr>
            <p:ph type="title"/>
          </p:nvPr>
        </p:nvSpPr>
        <p:spPr/>
        <p:txBody>
          <a:bodyPr/>
          <a:lstStyle/>
          <a:p>
            <a:r>
              <a:rPr lang="en-US" dirty="0"/>
              <a:t>X can be in different bucket other than h(x)</a:t>
            </a:r>
          </a:p>
        </p:txBody>
      </p:sp>
      <p:sp>
        <p:nvSpPr>
          <p:cNvPr id="5" name="Content Placeholder 4">
            <a:extLst>
              <a:ext uri="{FF2B5EF4-FFF2-40B4-BE49-F238E27FC236}">
                <a16:creationId xmlns:a16="http://schemas.microsoft.com/office/drawing/2014/main" id="{F6DEE604-51B8-7556-82C2-E1C92172B939}"/>
              </a:ext>
            </a:extLst>
          </p:cNvPr>
          <p:cNvSpPr>
            <a:spLocks noGrp="1"/>
          </p:cNvSpPr>
          <p:nvPr>
            <p:ph idx="1"/>
          </p:nvPr>
        </p:nvSpPr>
        <p:spPr/>
        <p:txBody>
          <a:bodyPr/>
          <a:lstStyle/>
          <a:p>
            <a:r>
              <a:rPr lang="en-US" dirty="0"/>
              <a:t>Instead of allowing multiple data to be stored in the same location, </a:t>
            </a:r>
            <a:r>
              <a:rPr lang="en-US" dirty="0">
                <a:solidFill>
                  <a:schemeClr val="accent6"/>
                </a:solidFill>
              </a:rPr>
              <a:t>open addressing only permit one single data to be stored in each position in the table</a:t>
            </a:r>
          </a:p>
          <a:p>
            <a:pPr lvl="1"/>
            <a:r>
              <a:rPr lang="en-US" dirty="0"/>
              <a:t>This will always make the </a:t>
            </a:r>
            <a:r>
              <a:rPr lang="en-US" dirty="0">
                <a:solidFill>
                  <a:schemeClr val="accent3"/>
                </a:solidFill>
              </a:rPr>
              <a:t>load factor </a:t>
            </a:r>
            <a:r>
              <a:rPr lang="en-US" dirty="0">
                <a:solidFill>
                  <a:schemeClr val="accent5"/>
                </a:solidFill>
              </a:rPr>
              <a:t>not be more than 1.0</a:t>
            </a:r>
          </a:p>
          <a:p>
            <a:r>
              <a:rPr lang="en-US" dirty="0"/>
              <a:t>But it will give precise alternate positions to be used when collision occur</a:t>
            </a:r>
          </a:p>
          <a:p>
            <a:pPr lvl="1"/>
            <a:r>
              <a:rPr lang="en-US" dirty="0"/>
              <a:t>There are several strategy for calculating alternate positions: linear probing, quadratic probing and double hashing</a:t>
            </a:r>
          </a:p>
        </p:txBody>
      </p:sp>
    </p:spTree>
    <p:extLst>
      <p:ext uri="{BB962C8B-B14F-4D97-AF65-F5344CB8AC3E}">
        <p14:creationId xmlns:p14="http://schemas.microsoft.com/office/powerpoint/2010/main" val="147492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EA41F-AFD1-6E11-3E50-DBB729E10B8D}"/>
              </a:ext>
            </a:extLst>
          </p:cNvPr>
          <p:cNvSpPr>
            <a:spLocks noGrp="1"/>
          </p:cNvSpPr>
          <p:nvPr>
            <p:ph type="title"/>
          </p:nvPr>
        </p:nvSpPr>
        <p:spPr/>
        <p:txBody>
          <a:bodyPr/>
          <a:lstStyle/>
          <a:p>
            <a:r>
              <a:rPr lang="en-US" dirty="0"/>
              <a:t>Example: Linear Probing</a:t>
            </a:r>
          </a:p>
        </p:txBody>
      </p:sp>
      <p:sp>
        <p:nvSpPr>
          <p:cNvPr id="3" name="Content Placeholder 2">
            <a:extLst>
              <a:ext uri="{FF2B5EF4-FFF2-40B4-BE49-F238E27FC236}">
                <a16:creationId xmlns:a16="http://schemas.microsoft.com/office/drawing/2014/main" id="{BF1C5462-8A7B-D691-07F1-ED5D7D4779FA}"/>
              </a:ext>
            </a:extLst>
          </p:cNvPr>
          <p:cNvSpPr>
            <a:spLocks noGrp="1"/>
          </p:cNvSpPr>
          <p:nvPr>
            <p:ph idx="1"/>
          </p:nvPr>
        </p:nvSpPr>
        <p:spPr>
          <a:xfrm>
            <a:off x="838200" y="1358781"/>
            <a:ext cx="6129704" cy="5016382"/>
          </a:xfrm>
        </p:spPr>
        <p:txBody>
          <a:bodyPr>
            <a:normAutofit fontScale="85000" lnSpcReduction="10000"/>
          </a:bodyPr>
          <a:lstStyle/>
          <a:p>
            <a:r>
              <a:rPr lang="en-US" dirty="0"/>
              <a:t>If </a:t>
            </a:r>
            <a:r>
              <a:rPr lang="en-US" dirty="0">
                <a:solidFill>
                  <a:schemeClr val="accent3"/>
                </a:solidFill>
              </a:rPr>
              <a:t>T[</a:t>
            </a:r>
            <a:r>
              <a:rPr lang="en-US" dirty="0">
                <a:solidFill>
                  <a:schemeClr val="accent4"/>
                </a:solidFill>
              </a:rPr>
              <a:t>h(x)</a:t>
            </a:r>
            <a:r>
              <a:rPr lang="en-US" dirty="0">
                <a:solidFill>
                  <a:schemeClr val="accent3"/>
                </a:solidFill>
              </a:rPr>
              <a:t>]</a:t>
            </a:r>
            <a:r>
              <a:rPr lang="en-US" dirty="0"/>
              <a:t> is occupied (because some other data </a:t>
            </a:r>
            <a:r>
              <a:rPr lang="en-US" dirty="0">
                <a:solidFill>
                  <a:schemeClr val="accent5"/>
                </a:solidFill>
              </a:rPr>
              <a:t>y</a:t>
            </a:r>
            <a:r>
              <a:rPr lang="en-US" dirty="0"/>
              <a:t> where </a:t>
            </a:r>
            <a:r>
              <a:rPr lang="en-US" dirty="0">
                <a:solidFill>
                  <a:schemeClr val="accent4"/>
                </a:solidFill>
              </a:rPr>
              <a:t>h(</a:t>
            </a:r>
            <a:r>
              <a:rPr lang="en-US" dirty="0">
                <a:solidFill>
                  <a:schemeClr val="accent5"/>
                </a:solidFill>
              </a:rPr>
              <a:t>y</a:t>
            </a:r>
            <a:r>
              <a:rPr lang="en-US" dirty="0">
                <a:solidFill>
                  <a:schemeClr val="accent4"/>
                </a:solidFill>
              </a:rPr>
              <a:t>)</a:t>
            </a:r>
            <a:r>
              <a:rPr lang="en-US" dirty="0"/>
              <a:t> == </a:t>
            </a:r>
            <a:r>
              <a:rPr lang="en-US" dirty="0">
                <a:solidFill>
                  <a:schemeClr val="accent4"/>
                </a:solidFill>
              </a:rPr>
              <a:t>h(x)</a:t>
            </a:r>
            <a:r>
              <a:rPr lang="en-US" dirty="0"/>
              <a:t> is already inserted into </a:t>
            </a:r>
            <a:r>
              <a:rPr lang="en-US" dirty="0">
                <a:solidFill>
                  <a:schemeClr val="accent3"/>
                </a:solidFill>
              </a:rPr>
              <a:t>T[</a:t>
            </a:r>
            <a:r>
              <a:rPr lang="en-US" dirty="0">
                <a:solidFill>
                  <a:schemeClr val="accent4"/>
                </a:solidFill>
              </a:rPr>
              <a:t>h(x)</a:t>
            </a:r>
            <a:r>
              <a:rPr lang="en-US" dirty="0">
                <a:solidFill>
                  <a:schemeClr val="accent3"/>
                </a:solidFill>
              </a:rPr>
              <a:t>]</a:t>
            </a:r>
          </a:p>
          <a:p>
            <a:pPr lvl="1"/>
            <a:r>
              <a:rPr lang="en-US" dirty="0"/>
              <a:t>Check </a:t>
            </a:r>
            <a:r>
              <a:rPr lang="en-US" dirty="0">
                <a:solidFill>
                  <a:schemeClr val="accent3"/>
                </a:solidFill>
              </a:rPr>
              <a:t>T[</a:t>
            </a:r>
            <a:r>
              <a:rPr lang="en-US" dirty="0">
                <a:solidFill>
                  <a:schemeClr val="accent4"/>
                </a:solidFill>
              </a:rPr>
              <a:t>h(x) </a:t>
            </a:r>
            <a:r>
              <a:rPr lang="en-US" dirty="0"/>
              <a:t>+ 1</a:t>
            </a:r>
            <a:r>
              <a:rPr lang="en-US" dirty="0">
                <a:solidFill>
                  <a:schemeClr val="accent3"/>
                </a:solidFill>
              </a:rPr>
              <a:t>]</a:t>
            </a:r>
            <a:r>
              <a:rPr lang="en-US" dirty="0"/>
              <a:t> instead</a:t>
            </a:r>
          </a:p>
          <a:p>
            <a:pPr lvl="1"/>
            <a:r>
              <a:rPr lang="en-US" dirty="0"/>
              <a:t>If it is also occupied, check </a:t>
            </a:r>
            <a:r>
              <a:rPr lang="en-US" dirty="0">
                <a:solidFill>
                  <a:schemeClr val="accent3"/>
                </a:solidFill>
              </a:rPr>
              <a:t>T[</a:t>
            </a:r>
            <a:r>
              <a:rPr lang="en-US" dirty="0">
                <a:solidFill>
                  <a:schemeClr val="accent4"/>
                </a:solidFill>
              </a:rPr>
              <a:t>h(x)</a:t>
            </a:r>
            <a:r>
              <a:rPr lang="en-US" dirty="0"/>
              <a:t> + 2</a:t>
            </a:r>
            <a:r>
              <a:rPr lang="en-US" dirty="0">
                <a:solidFill>
                  <a:schemeClr val="accent3"/>
                </a:solidFill>
              </a:rPr>
              <a:t>]</a:t>
            </a:r>
            <a:r>
              <a:rPr lang="en-US" dirty="0"/>
              <a:t> instead</a:t>
            </a:r>
          </a:p>
          <a:p>
            <a:pPr lvl="1"/>
            <a:r>
              <a:rPr lang="en-US" dirty="0"/>
              <a:t>Repeat (circularly) until we found empty bucket</a:t>
            </a:r>
          </a:p>
          <a:p>
            <a:r>
              <a:rPr lang="en-US" dirty="0"/>
              <a:t>Obviously, if load factor less than 1.0, we can always find an empty bucket</a:t>
            </a:r>
          </a:p>
          <a:p>
            <a:pPr lvl="1"/>
            <a:r>
              <a:rPr lang="en-US" dirty="0"/>
              <a:t>Must rehash when load factor is 1.0</a:t>
            </a:r>
          </a:p>
          <a:p>
            <a:pPr lvl="2"/>
            <a:r>
              <a:rPr lang="en-US" dirty="0"/>
              <a:t>In practice, we rehash way sooner than that, e.g., rehash when LF is 0.5</a:t>
            </a:r>
          </a:p>
        </p:txBody>
      </p:sp>
      <p:graphicFrame>
        <p:nvGraphicFramePr>
          <p:cNvPr id="4" name="Table 3">
            <a:extLst>
              <a:ext uri="{FF2B5EF4-FFF2-40B4-BE49-F238E27FC236}">
                <a16:creationId xmlns:a16="http://schemas.microsoft.com/office/drawing/2014/main" id="{8A0EFC81-BE17-8075-2DE6-BDA0F40FD1D5}"/>
              </a:ext>
            </a:extLst>
          </p:cNvPr>
          <p:cNvGraphicFramePr>
            <a:graphicFrameLocks noGrp="1"/>
          </p:cNvGraphicFramePr>
          <p:nvPr>
            <p:extLst>
              <p:ext uri="{D42A27DB-BD31-4B8C-83A1-F6EECF244321}">
                <p14:modId xmlns:p14="http://schemas.microsoft.com/office/powerpoint/2010/main" val="2159142826"/>
              </p:ext>
            </p:extLst>
          </p:nvPr>
        </p:nvGraphicFramePr>
        <p:xfrm>
          <a:off x="7255065" y="792727"/>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5" name="Speech Bubble: Rectangle with Corners Rounded 4">
            <a:extLst>
              <a:ext uri="{FF2B5EF4-FFF2-40B4-BE49-F238E27FC236}">
                <a16:creationId xmlns:a16="http://schemas.microsoft.com/office/drawing/2014/main" id="{BD5C6353-C8BB-91A9-399B-FAAF43F94566}"/>
              </a:ext>
            </a:extLst>
          </p:cNvPr>
          <p:cNvSpPr/>
          <p:nvPr/>
        </p:nvSpPr>
        <p:spPr>
          <a:xfrm>
            <a:off x="9425355" y="106706"/>
            <a:ext cx="1543050" cy="546834"/>
          </a:xfrm>
          <a:prstGeom prst="wedgeRoundRectCallout">
            <a:avLst>
              <a:gd name="adj1" fmla="val 20860"/>
              <a:gd name="adj2" fmla="val 8868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Trying to insert x where h(x) = 6</a:t>
            </a:r>
          </a:p>
        </p:txBody>
      </p:sp>
      <p:sp>
        <p:nvSpPr>
          <p:cNvPr id="6" name="Arrow: Down 5">
            <a:extLst>
              <a:ext uri="{FF2B5EF4-FFF2-40B4-BE49-F238E27FC236}">
                <a16:creationId xmlns:a16="http://schemas.microsoft.com/office/drawing/2014/main" id="{CBA73ADA-E97F-5BD8-BE96-B0032ABAB580}"/>
              </a:ext>
            </a:extLst>
          </p:cNvPr>
          <p:cNvSpPr/>
          <p:nvPr/>
        </p:nvSpPr>
        <p:spPr>
          <a:xfrm rot="10800000">
            <a:off x="10370527" y="1543052"/>
            <a:ext cx="303335" cy="386862"/>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9DAC85F7-BCF3-F9EB-6865-DD214909AB8A}"/>
              </a:ext>
            </a:extLst>
          </p:cNvPr>
          <p:cNvGraphicFramePr>
            <a:graphicFrameLocks noGrp="1"/>
          </p:cNvGraphicFramePr>
          <p:nvPr>
            <p:extLst>
              <p:ext uri="{D42A27DB-BD31-4B8C-83A1-F6EECF244321}">
                <p14:modId xmlns:p14="http://schemas.microsoft.com/office/powerpoint/2010/main" val="130152880"/>
              </p:ext>
            </p:extLst>
          </p:nvPr>
        </p:nvGraphicFramePr>
        <p:xfrm>
          <a:off x="7255065" y="2208288"/>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lang="en-US" sz="1600" dirty="0"/>
                        <a:t>x</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8" name="Speech Bubble: Rectangle with Corners Rounded 7">
            <a:extLst>
              <a:ext uri="{FF2B5EF4-FFF2-40B4-BE49-F238E27FC236}">
                <a16:creationId xmlns:a16="http://schemas.microsoft.com/office/drawing/2014/main" id="{3C1372C7-4622-B500-25FC-1427DC85C284}"/>
              </a:ext>
            </a:extLst>
          </p:cNvPr>
          <p:cNvSpPr/>
          <p:nvPr/>
        </p:nvSpPr>
        <p:spPr>
          <a:xfrm>
            <a:off x="8691197" y="1522267"/>
            <a:ext cx="1543050" cy="546834"/>
          </a:xfrm>
          <a:prstGeom prst="wedgeRoundRectCallout">
            <a:avLst>
              <a:gd name="adj1" fmla="val 31971"/>
              <a:gd name="adj2" fmla="val 7984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Trying to insert y where h(y) = 5</a:t>
            </a:r>
          </a:p>
        </p:txBody>
      </p:sp>
      <p:graphicFrame>
        <p:nvGraphicFramePr>
          <p:cNvPr id="9" name="Table 8">
            <a:extLst>
              <a:ext uri="{FF2B5EF4-FFF2-40B4-BE49-F238E27FC236}">
                <a16:creationId xmlns:a16="http://schemas.microsoft.com/office/drawing/2014/main" id="{ECB5DBB6-D406-A3F8-2296-601EEB0C166C}"/>
              </a:ext>
            </a:extLst>
          </p:cNvPr>
          <p:cNvGraphicFramePr>
            <a:graphicFrameLocks noGrp="1"/>
          </p:cNvGraphicFramePr>
          <p:nvPr>
            <p:extLst>
              <p:ext uri="{D42A27DB-BD31-4B8C-83A1-F6EECF244321}">
                <p14:modId xmlns:p14="http://schemas.microsoft.com/office/powerpoint/2010/main" val="735768529"/>
              </p:ext>
            </p:extLst>
          </p:nvPr>
        </p:nvGraphicFramePr>
        <p:xfrm>
          <a:off x="7255065" y="3623849"/>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lang="en-US" sz="1600" dirty="0"/>
                        <a:t>x</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y</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10" name="Speech Bubble: Rectangle with Corners Rounded 9">
            <a:extLst>
              <a:ext uri="{FF2B5EF4-FFF2-40B4-BE49-F238E27FC236}">
                <a16:creationId xmlns:a16="http://schemas.microsoft.com/office/drawing/2014/main" id="{C11E2910-C887-C4AF-D823-0A30244EA3B9}"/>
              </a:ext>
            </a:extLst>
          </p:cNvPr>
          <p:cNvSpPr/>
          <p:nvPr/>
        </p:nvSpPr>
        <p:spPr>
          <a:xfrm>
            <a:off x="10234247" y="2958491"/>
            <a:ext cx="1543050" cy="546834"/>
          </a:xfrm>
          <a:prstGeom prst="wedgeRoundRectCallout">
            <a:avLst>
              <a:gd name="adj1" fmla="val -91676"/>
              <a:gd name="adj2" fmla="val 7582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Trying to insert z where h(z) = 4</a:t>
            </a:r>
          </a:p>
        </p:txBody>
      </p:sp>
      <p:sp>
        <p:nvSpPr>
          <p:cNvPr id="11" name="Arrow: Down 10">
            <a:extLst>
              <a:ext uri="{FF2B5EF4-FFF2-40B4-BE49-F238E27FC236}">
                <a16:creationId xmlns:a16="http://schemas.microsoft.com/office/drawing/2014/main" id="{57B70DD9-7DF7-227C-6F78-D25BE98D69BD}"/>
              </a:ext>
            </a:extLst>
          </p:cNvPr>
          <p:cNvSpPr/>
          <p:nvPr/>
        </p:nvSpPr>
        <p:spPr>
          <a:xfrm rot="10800000">
            <a:off x="9362343" y="4374053"/>
            <a:ext cx="303335" cy="386862"/>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B676154B-DC63-EAA9-C3B8-D6D27A6C3F3B}"/>
              </a:ext>
            </a:extLst>
          </p:cNvPr>
          <p:cNvGraphicFramePr>
            <a:graphicFrameLocks noGrp="1"/>
          </p:cNvGraphicFramePr>
          <p:nvPr>
            <p:extLst>
              <p:ext uri="{D42A27DB-BD31-4B8C-83A1-F6EECF244321}">
                <p14:modId xmlns:p14="http://schemas.microsoft.com/office/powerpoint/2010/main" val="275323351"/>
              </p:ext>
            </p:extLst>
          </p:nvPr>
        </p:nvGraphicFramePr>
        <p:xfrm>
          <a:off x="7255065" y="4933902"/>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lang="en-US" sz="1600" dirty="0"/>
                        <a:t>x</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z</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y</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Tree>
    <p:extLst>
      <p:ext uri="{BB962C8B-B14F-4D97-AF65-F5344CB8AC3E}">
        <p14:creationId xmlns:p14="http://schemas.microsoft.com/office/powerpoint/2010/main" val="425138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2"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7" presetClass="path" presetSubtype="0" accel="50000" decel="50000" fill="hold" grpId="0" nodeType="clickEffect">
                                  <p:stCondLst>
                                    <p:cond delay="0"/>
                                  </p:stCondLst>
                                  <p:childTnLst>
                                    <p:animMotion origin="layout" path="M -8.33333E-7 -7.40741E-7 L 0.01081 0.02083 C 0.01302 0.0257 0.01641 0.02824 0.01992 0.02824 C 0.02396 0.02824 0.02721 0.0257 0.02943 0.02083 L 0.04037 -7.40741E-7 " pathEditMode="relative" rAng="0" ptsTypes="AAAAA">
                                      <p:cBhvr>
                                        <p:cTn id="21" dur="700" fill="hold"/>
                                        <p:tgtEl>
                                          <p:spTgt spid="6"/>
                                        </p:tgtEl>
                                        <p:attrNameLst>
                                          <p:attrName>ppt_x</p:attrName>
                                          <p:attrName>ppt_y</p:attrName>
                                        </p:attrNameLst>
                                      </p:cBhvr>
                                      <p:rCtr x="2018" y="1412"/>
                                    </p:animMotion>
                                  </p:childTnLst>
                                </p:cTn>
                              </p:par>
                            </p:childTnLst>
                          </p:cTn>
                        </p:par>
                      </p:childTnLst>
                    </p:cTn>
                  </p:par>
                  <p:par>
                    <p:cTn id="22" fill="hold">
                      <p:stCondLst>
                        <p:cond delay="indefinite"/>
                      </p:stCondLst>
                      <p:childTnLst>
                        <p:par>
                          <p:cTn id="23" fill="hold">
                            <p:stCondLst>
                              <p:cond delay="0"/>
                            </p:stCondLst>
                            <p:childTnLst>
                              <p:par>
                                <p:cTn id="24" presetID="37" presetClass="path" presetSubtype="0" accel="50000" decel="50000" fill="hold" grpId="1" nodeType="clickEffect">
                                  <p:stCondLst>
                                    <p:cond delay="0"/>
                                  </p:stCondLst>
                                  <p:childTnLst>
                                    <p:animMotion origin="layout" path="M 0.04037 -7.40741E-7 L -0.03698 0.04005 C -0.05286 0.04907 -0.07708 0.05394 -0.1026 0.05394 C -0.13151 0.05394 -0.15456 0.04907 -0.17057 0.04005 L -0.24792 -7.40741E-7 " pathEditMode="relative" rAng="0" ptsTypes="AAAAA">
                                      <p:cBhvr>
                                        <p:cTn id="25" dur="700" fill="hold"/>
                                        <p:tgtEl>
                                          <p:spTgt spid="6"/>
                                        </p:tgtEl>
                                        <p:attrNameLst>
                                          <p:attrName>ppt_x</p:attrName>
                                          <p:attrName>ppt_y</p:attrName>
                                        </p:attrNameLst>
                                      </p:cBhvr>
                                      <p:rCtr x="-14414" y="2685"/>
                                    </p:animMotion>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2"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37" presetClass="path" presetSubtype="0" accel="50000" decel="50000" fill="hold" grpId="0" nodeType="clickEffect">
                                  <p:stCondLst>
                                    <p:cond delay="0"/>
                                  </p:stCondLst>
                                  <p:childTnLst>
                                    <p:animMotion origin="layout" path="M 1.45833E-6 -2.22222E-6 L 0.01081 0.02547 C 0.01302 0.03148 0.0164 0.03472 0.01992 0.03472 C 0.02396 0.03472 0.02721 0.03148 0.02943 0.02547 L 0.04036 -2.22222E-6 " pathEditMode="relative" rAng="0" ptsTypes="AAAAA">
                                      <p:cBhvr>
                                        <p:cTn id="54" dur="700" fill="hold"/>
                                        <p:tgtEl>
                                          <p:spTgt spid="11"/>
                                        </p:tgtEl>
                                        <p:attrNameLst>
                                          <p:attrName>ppt_x</p:attrName>
                                          <p:attrName>ppt_y</p:attrName>
                                        </p:attrNameLst>
                                      </p:cBhvr>
                                      <p:rCtr x="2018" y="1736"/>
                                    </p:animMotion>
                                  </p:childTnLst>
                                </p:cTn>
                              </p:par>
                            </p:childTnLst>
                          </p:cTn>
                        </p:par>
                      </p:childTnLst>
                    </p:cTn>
                  </p:par>
                  <p:par>
                    <p:cTn id="55" fill="hold">
                      <p:stCondLst>
                        <p:cond delay="indefinite"/>
                      </p:stCondLst>
                      <p:childTnLst>
                        <p:par>
                          <p:cTn id="56" fill="hold">
                            <p:stCondLst>
                              <p:cond delay="0"/>
                            </p:stCondLst>
                            <p:childTnLst>
                              <p:par>
                                <p:cTn id="57" presetID="37" presetClass="path" presetSubtype="0" accel="50000" decel="50000" fill="hold" grpId="3" nodeType="clickEffect">
                                  <p:stCondLst>
                                    <p:cond delay="0"/>
                                  </p:stCondLst>
                                  <p:childTnLst>
                                    <p:animMotion origin="layout" path="M 0.04036 -2.22222E-6 L 0.05221 0.0257 C 0.05482 0.03148 0.05846 0.03472 0.0625 0.03472 C 0.06693 0.03472 0.07057 0.03148 0.07305 0.0257 L 0.08515 -2.22222E-6 " pathEditMode="relative" rAng="0" ptsTypes="AAAAA">
                                      <p:cBhvr>
                                        <p:cTn id="58" dur="700" fill="hold"/>
                                        <p:tgtEl>
                                          <p:spTgt spid="11"/>
                                        </p:tgtEl>
                                        <p:attrNameLst>
                                          <p:attrName>ppt_x</p:attrName>
                                          <p:attrName>ppt_y</p:attrName>
                                        </p:attrNameLst>
                                      </p:cBhvr>
                                      <p:rCtr x="2240" y="1736"/>
                                    </p:animMotion>
                                  </p:childTnLst>
                                </p:cTn>
                              </p:par>
                            </p:childTnLst>
                          </p:cTn>
                        </p:par>
                      </p:childTnLst>
                    </p:cTn>
                  </p:par>
                  <p:par>
                    <p:cTn id="59" fill="hold">
                      <p:stCondLst>
                        <p:cond delay="indefinite"/>
                      </p:stCondLst>
                      <p:childTnLst>
                        <p:par>
                          <p:cTn id="60" fill="hold">
                            <p:stCondLst>
                              <p:cond delay="0"/>
                            </p:stCondLst>
                            <p:childTnLst>
                              <p:par>
                                <p:cTn id="61" presetID="37" presetClass="path" presetSubtype="0" accel="50000" decel="50000" fill="hold" grpId="4" nodeType="clickEffect">
                                  <p:stCondLst>
                                    <p:cond delay="0"/>
                                  </p:stCondLst>
                                  <p:childTnLst>
                                    <p:animMotion origin="layout" path="M 0.08515 -2.22222E-6 L 0.09531 0.0257 C 0.09752 0.03148 0.10078 0.03472 0.10417 0.03472 C 0.10794 0.03472 0.11107 0.03148 0.11315 0.0257 L 0.12357 -2.22222E-6 " pathEditMode="relative" rAng="0" ptsTypes="AAAAA">
                                      <p:cBhvr>
                                        <p:cTn id="62" dur="700" fill="hold"/>
                                        <p:tgtEl>
                                          <p:spTgt spid="11"/>
                                        </p:tgtEl>
                                        <p:attrNameLst>
                                          <p:attrName>ppt_x</p:attrName>
                                          <p:attrName>ppt_y</p:attrName>
                                        </p:attrNameLst>
                                      </p:cBhvr>
                                      <p:rCtr x="1914" y="1736"/>
                                    </p:animMotion>
                                  </p:childTnLst>
                                </p:cTn>
                              </p:par>
                            </p:childTnLst>
                          </p:cTn>
                        </p:par>
                      </p:childTnLst>
                    </p:cTn>
                  </p:par>
                  <p:par>
                    <p:cTn id="63" fill="hold">
                      <p:stCondLst>
                        <p:cond delay="indefinite"/>
                      </p:stCondLst>
                      <p:childTnLst>
                        <p:par>
                          <p:cTn id="64" fill="hold">
                            <p:stCondLst>
                              <p:cond delay="0"/>
                            </p:stCondLst>
                            <p:childTnLst>
                              <p:par>
                                <p:cTn id="65" presetID="37" presetClass="path" presetSubtype="0" accel="50000" decel="50000" fill="hold" grpId="5" nodeType="clickEffect">
                                  <p:stCondLst>
                                    <p:cond delay="0"/>
                                  </p:stCondLst>
                                  <p:childTnLst>
                                    <p:animMotion origin="layout" path="M 0.12357 -2.22222E-6 L 0.04596 0.04005 C 0.02982 0.04908 0.00547 0.05394 -0.02005 0.05394 C -0.04883 0.05394 -0.07214 0.04908 -0.08828 0.04005 L -0.1655 -2.22222E-6 " pathEditMode="relative" rAng="0" ptsTypes="AAAAA">
                                      <p:cBhvr>
                                        <p:cTn id="66" dur="700" fill="hold"/>
                                        <p:tgtEl>
                                          <p:spTgt spid="11"/>
                                        </p:tgtEl>
                                        <p:attrNameLst>
                                          <p:attrName>ppt_x</p:attrName>
                                          <p:attrName>ppt_y</p:attrName>
                                        </p:attrNameLst>
                                      </p:cBhvr>
                                      <p:rCtr x="-14453" y="2685"/>
                                    </p:animMotion>
                                  </p:childTnLst>
                                </p:cTn>
                              </p:par>
                            </p:childTnLst>
                          </p:cTn>
                        </p:par>
                      </p:childTnLst>
                    </p:cTn>
                  </p:par>
                  <p:par>
                    <p:cTn id="67" fill="hold">
                      <p:stCondLst>
                        <p:cond delay="indefinite"/>
                      </p:stCondLst>
                      <p:childTnLst>
                        <p:par>
                          <p:cTn id="68" fill="hold">
                            <p:stCondLst>
                              <p:cond delay="0"/>
                            </p:stCondLst>
                            <p:childTnLst>
                              <p:par>
                                <p:cTn id="69" presetID="37" presetClass="path" presetSubtype="0" accel="50000" decel="50000" fill="hold" grpId="6" nodeType="clickEffect">
                                  <p:stCondLst>
                                    <p:cond delay="0"/>
                                  </p:stCondLst>
                                  <p:childTnLst>
                                    <p:animMotion origin="layout" path="M -0.1655 -2.22222E-6 L -0.1543 0.0257 C -0.15195 0.03148 -0.14831 0.03472 -0.14466 0.03472 C -0.14037 0.03472 -0.13711 0.03148 -0.13464 0.0257 L -0.12331 -2.22222E-6 " pathEditMode="relative" rAng="0" ptsTypes="AAAAA">
                                      <p:cBhvr>
                                        <p:cTn id="70" dur="700" fill="hold"/>
                                        <p:tgtEl>
                                          <p:spTgt spid="11"/>
                                        </p:tgtEl>
                                        <p:attrNameLst>
                                          <p:attrName>ppt_x</p:attrName>
                                          <p:attrName>ppt_y</p:attrName>
                                        </p:attrNameLst>
                                      </p:cBhvr>
                                      <p:rCtr x="2109" y="1736"/>
                                    </p:animMotion>
                                  </p:childTnLst>
                                </p:cTn>
                              </p:par>
                            </p:childTnLst>
                          </p:cTn>
                        </p:par>
                      </p:childTnLst>
                    </p:cTn>
                  </p:par>
                  <p:par>
                    <p:cTn id="71" fill="hold">
                      <p:stCondLst>
                        <p:cond delay="indefinite"/>
                      </p:stCondLst>
                      <p:childTnLst>
                        <p:par>
                          <p:cTn id="72" fill="hold">
                            <p:stCondLst>
                              <p:cond delay="0"/>
                            </p:stCondLst>
                            <p:childTnLst>
                              <p:par>
                                <p:cTn id="73" presetID="37" presetClass="path" presetSubtype="0" accel="50000" decel="50000" fill="hold" grpId="7" nodeType="clickEffect">
                                  <p:stCondLst>
                                    <p:cond delay="0"/>
                                  </p:stCondLst>
                                  <p:childTnLst>
                                    <p:animMotion origin="layout" path="M -0.12331 -2.22222E-6 L -0.1125 0.0257 C -0.11029 0.03148 -0.10677 0.03472 -0.10326 0.03472 C -0.09922 0.03472 -0.09596 0.03148 -0.09362 0.0257 L -0.08268 -2.22222E-6 " pathEditMode="relative" rAng="0" ptsTypes="AAAAA">
                                      <p:cBhvr>
                                        <p:cTn id="74" dur="700" fill="hold"/>
                                        <p:tgtEl>
                                          <p:spTgt spid="11"/>
                                        </p:tgtEl>
                                        <p:attrNameLst>
                                          <p:attrName>ppt_x</p:attrName>
                                          <p:attrName>ppt_y</p:attrName>
                                        </p:attrNameLst>
                                      </p:cBhvr>
                                      <p:rCtr x="2031" y="1736"/>
                                    </p:animMotion>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fade">
                                      <p:cBhvr>
                                        <p:cTn id="7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6" grpId="2" animBg="1"/>
      <p:bldP spid="8" grpId="0" animBg="1"/>
      <p:bldP spid="10" grpId="0" animBg="1"/>
      <p:bldP spid="11" grpId="0" animBg="1"/>
      <p:bldP spid="11" grpId="2" animBg="1"/>
      <p:bldP spid="11" grpId="3" animBg="1"/>
      <p:bldP spid="11" grpId="4" animBg="1"/>
      <p:bldP spid="11" grpId="5" animBg="1"/>
      <p:bldP spid="11" grpId="6" animBg="1"/>
      <p:bldP spid="11" grpId="7"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07765-6D5E-7D58-3EBA-B448CE8EC74E}"/>
              </a:ext>
            </a:extLst>
          </p:cNvPr>
          <p:cNvSpPr>
            <a:spLocks noGrp="1"/>
          </p:cNvSpPr>
          <p:nvPr>
            <p:ph type="title"/>
          </p:nvPr>
        </p:nvSpPr>
        <p:spPr/>
        <p:txBody>
          <a:bodyPr/>
          <a:lstStyle/>
          <a:p>
            <a:r>
              <a:rPr lang="en-US" dirty="0"/>
              <a:t>Probing Function</a:t>
            </a:r>
          </a:p>
        </p:txBody>
      </p:sp>
      <p:sp>
        <p:nvSpPr>
          <p:cNvPr id="3" name="Content Placeholder 2">
            <a:extLst>
              <a:ext uri="{FF2B5EF4-FFF2-40B4-BE49-F238E27FC236}">
                <a16:creationId xmlns:a16="http://schemas.microsoft.com/office/drawing/2014/main" id="{21499CCA-F650-489A-8863-CF2DB2A66A50}"/>
              </a:ext>
            </a:extLst>
          </p:cNvPr>
          <p:cNvSpPr>
            <a:spLocks noGrp="1"/>
          </p:cNvSpPr>
          <p:nvPr>
            <p:ph idx="1"/>
          </p:nvPr>
        </p:nvSpPr>
        <p:spPr/>
        <p:txBody>
          <a:bodyPr/>
          <a:lstStyle/>
          <a:p>
            <a:r>
              <a:rPr lang="pt-BR" dirty="0"/>
              <a:t>Define </a:t>
            </a:r>
            <a:r>
              <a:rPr lang="pt-BR" b="0" dirty="0">
                <a:solidFill>
                  <a:srgbClr val="DCDCAA"/>
                </a:solidFill>
                <a:effectLst/>
                <a:highlight>
                  <a:srgbClr val="000000"/>
                </a:highlight>
                <a:latin typeface="Monaspace Neon" pitchFamily="50" charset="0"/>
              </a:rPr>
              <a:t>P</a:t>
            </a:r>
            <a:r>
              <a:rPr lang="pt-BR" b="0" dirty="0">
                <a:solidFill>
                  <a:srgbClr val="D4D4D4"/>
                </a:solidFill>
                <a:effectLst/>
                <a:highlight>
                  <a:srgbClr val="000000"/>
                </a:highlight>
                <a:latin typeface="Monaspace Neon" pitchFamily="50" charset="0"/>
              </a:rPr>
              <a:t>(x, j)</a:t>
            </a:r>
            <a:r>
              <a:rPr lang="en-US" dirty="0"/>
              <a:t> as a position (index of bucket) to check for inserting x when we have collided </a:t>
            </a:r>
            <a:r>
              <a:rPr lang="en-US" dirty="0">
                <a:solidFill>
                  <a:schemeClr val="accent4"/>
                </a:solidFill>
              </a:rPr>
              <a:t>j</a:t>
            </a:r>
            <a:r>
              <a:rPr lang="en-US" dirty="0"/>
              <a:t> times</a:t>
            </a:r>
          </a:p>
          <a:p>
            <a:pPr lvl="1"/>
            <a:r>
              <a:rPr lang="en-US" dirty="0"/>
              <a:t>Define </a:t>
            </a:r>
            <a:r>
              <a:rPr lang="en-US" dirty="0">
                <a:solidFill>
                  <a:schemeClr val="accent4"/>
                </a:solidFill>
              </a:rPr>
              <a:t>P(x,0)</a:t>
            </a:r>
            <a:r>
              <a:rPr lang="en-US" dirty="0"/>
              <a:t> as </a:t>
            </a:r>
            <a:r>
              <a:rPr lang="en-US" dirty="0">
                <a:solidFill>
                  <a:schemeClr val="accent4"/>
                </a:solidFill>
              </a:rPr>
              <a:t>h(x)</a:t>
            </a:r>
          </a:p>
          <a:p>
            <a:pPr lvl="1"/>
            <a:r>
              <a:rPr lang="en-US" dirty="0"/>
              <a:t>Open Addressing is</a:t>
            </a:r>
          </a:p>
          <a:p>
            <a:pPr lvl="1"/>
            <a:endParaRPr lang="en-US" dirty="0"/>
          </a:p>
          <a:p>
            <a:r>
              <a:rPr lang="en-US" dirty="0"/>
              <a:t>For linear probing, </a:t>
            </a:r>
            <a:r>
              <a:rPr lang="pt-BR" b="0" dirty="0">
                <a:solidFill>
                  <a:srgbClr val="DCDCAA"/>
                </a:solidFill>
                <a:effectLst/>
                <a:highlight>
                  <a:srgbClr val="000000"/>
                </a:highlight>
                <a:latin typeface="Monaspace Neon" pitchFamily="50" charset="0"/>
              </a:rPr>
              <a:t>P</a:t>
            </a:r>
            <a:r>
              <a:rPr lang="pt-BR" b="0" dirty="0">
                <a:solidFill>
                  <a:srgbClr val="D4D4D4"/>
                </a:solidFill>
                <a:effectLst/>
                <a:highlight>
                  <a:srgbClr val="000000"/>
                </a:highlight>
                <a:latin typeface="Monaspace Neon" pitchFamily="50" charset="0"/>
              </a:rPr>
              <a:t>(x, j) = (</a:t>
            </a:r>
            <a:r>
              <a:rPr lang="pt-BR" b="0" dirty="0">
                <a:solidFill>
                  <a:srgbClr val="DCDCAA"/>
                </a:solidFill>
                <a:effectLst/>
                <a:highlight>
                  <a:srgbClr val="000000"/>
                </a:highlight>
                <a:latin typeface="Monaspace Neon" pitchFamily="50" charset="0"/>
              </a:rPr>
              <a:t>h</a:t>
            </a:r>
            <a:r>
              <a:rPr lang="pt-BR" b="0" dirty="0">
                <a:solidFill>
                  <a:srgbClr val="D4D4D4"/>
                </a:solidFill>
                <a:effectLst/>
                <a:highlight>
                  <a:srgbClr val="000000"/>
                </a:highlight>
                <a:latin typeface="Monaspace Neon" pitchFamily="50" charset="0"/>
              </a:rPr>
              <a:t>(x) + j) % </a:t>
            </a:r>
            <a:r>
              <a:rPr lang="pt-BR" b="0" dirty="0">
                <a:solidFill>
                  <a:srgbClr val="9CDCFE"/>
                </a:solidFill>
                <a:effectLst/>
                <a:highlight>
                  <a:srgbClr val="000000"/>
                </a:highlight>
                <a:latin typeface="Monaspace Neon" pitchFamily="50" charset="0"/>
              </a:rPr>
              <a:t>T</a:t>
            </a:r>
            <a:r>
              <a:rPr lang="pt-BR" b="0" dirty="0">
                <a:solidFill>
                  <a:srgbClr val="D4D4D4"/>
                </a:solidFill>
                <a:effectLst/>
                <a:highlight>
                  <a:srgbClr val="000000"/>
                </a:highlight>
                <a:latin typeface="Monaspace Neon" pitchFamily="50" charset="0"/>
              </a:rPr>
              <a:t>.</a:t>
            </a:r>
            <a:r>
              <a:rPr lang="pt-BR" b="0" dirty="0">
                <a:solidFill>
                  <a:srgbClr val="DCDCAA"/>
                </a:solidFill>
                <a:effectLst/>
                <a:highlight>
                  <a:srgbClr val="000000"/>
                </a:highlight>
                <a:latin typeface="Monaspace Neon" pitchFamily="50" charset="0"/>
              </a:rPr>
              <a:t>size</a:t>
            </a:r>
            <a:r>
              <a:rPr lang="pt-BR" b="0" dirty="0">
                <a:solidFill>
                  <a:srgbClr val="D4D4D4"/>
                </a:solidFill>
                <a:effectLst/>
                <a:highlight>
                  <a:srgbClr val="000000"/>
                </a:highlight>
                <a:latin typeface="Monaspace Neon" pitchFamily="50" charset="0"/>
              </a:rPr>
              <a:t>()</a:t>
            </a:r>
            <a:endParaRPr lang="en-US" dirty="0">
              <a:highlight>
                <a:srgbClr val="000000"/>
              </a:highlight>
            </a:endParaRPr>
          </a:p>
        </p:txBody>
      </p:sp>
      <p:sp>
        <p:nvSpPr>
          <p:cNvPr id="5" name="TextBox 4">
            <a:extLst>
              <a:ext uri="{FF2B5EF4-FFF2-40B4-BE49-F238E27FC236}">
                <a16:creationId xmlns:a16="http://schemas.microsoft.com/office/drawing/2014/main" id="{1B64A608-DD9D-EA65-92EC-9C699F12357A}"/>
              </a:ext>
            </a:extLst>
          </p:cNvPr>
          <p:cNvSpPr txBox="1"/>
          <p:nvPr/>
        </p:nvSpPr>
        <p:spPr>
          <a:xfrm>
            <a:off x="4555514" y="2967335"/>
            <a:ext cx="4368677" cy="923330"/>
          </a:xfrm>
          <a:prstGeom prst="rect">
            <a:avLst/>
          </a:prstGeom>
          <a:solidFill>
            <a:schemeClr val="bg1"/>
          </a:solidFill>
          <a:ln>
            <a:solidFill>
              <a:schemeClr val="accent2"/>
            </a:solidFill>
          </a:ln>
        </p:spPr>
        <p:txBody>
          <a:bodyPr wrap="square">
            <a:spAutoFit/>
          </a:bodyPr>
          <a:lstStyle/>
          <a:p>
            <a:r>
              <a:rPr lang="en-US" sz="1800" b="0" dirty="0">
                <a:solidFill>
                  <a:srgbClr val="9CDCFE"/>
                </a:solidFill>
                <a:effectLst/>
                <a:latin typeface="Monaspace Neon" pitchFamily="50" charset="0"/>
              </a:rPr>
              <a:t>j</a:t>
            </a:r>
            <a:r>
              <a:rPr lang="en-US" sz="1800" b="0" dirty="0">
                <a:solidFill>
                  <a:srgbClr val="D4D4D4"/>
                </a:solidFill>
                <a:effectLst/>
                <a:latin typeface="Monaspace Neon" pitchFamily="50" charset="0"/>
              </a:rPr>
              <a:t> = </a:t>
            </a:r>
            <a:r>
              <a:rPr lang="en-US" sz="1800" b="0" dirty="0">
                <a:solidFill>
                  <a:srgbClr val="B5CEA8"/>
                </a:solidFill>
                <a:effectLst/>
                <a:latin typeface="Monaspace Neon" pitchFamily="50" charset="0"/>
              </a:rPr>
              <a:t>0</a:t>
            </a:r>
            <a:endParaRPr lang="en-US" sz="1800" b="0" dirty="0">
              <a:solidFill>
                <a:srgbClr val="D4D4D4"/>
              </a:solidFill>
              <a:effectLst/>
              <a:latin typeface="Monaspace Neon" pitchFamily="50" charset="0"/>
            </a:endParaRPr>
          </a:p>
          <a:p>
            <a:r>
              <a:rPr lang="en-US" sz="1800" b="0" dirty="0">
                <a:solidFill>
                  <a:srgbClr val="C586C0"/>
                </a:solidFill>
                <a:effectLst/>
                <a:latin typeface="Monaspace Neon" pitchFamily="50" charset="0"/>
              </a:rPr>
              <a:t>while</a:t>
            </a:r>
            <a:r>
              <a:rPr lang="en-US" sz="1800" b="0" dirty="0">
                <a:solidFill>
                  <a:srgbClr val="D4D4D4"/>
                </a:solidFill>
                <a:effectLst/>
                <a:latin typeface="Monaspace Neon" pitchFamily="50" charset="0"/>
              </a:rPr>
              <a:t> T[</a:t>
            </a:r>
            <a:r>
              <a:rPr lang="en-US" sz="1800" b="0" dirty="0">
                <a:solidFill>
                  <a:srgbClr val="DCDCAA"/>
                </a:solidFill>
                <a:effectLst/>
                <a:latin typeface="Monaspace Neon" pitchFamily="50" charset="0"/>
              </a:rPr>
              <a:t>P</a:t>
            </a:r>
            <a:r>
              <a:rPr lang="en-US" sz="1800" b="0" dirty="0">
                <a:solidFill>
                  <a:srgbClr val="D4D4D4"/>
                </a:solidFill>
                <a:effectLst/>
                <a:latin typeface="Monaspace Neon" pitchFamily="50" charset="0"/>
              </a:rPr>
              <a:t>(</a:t>
            </a:r>
            <a:r>
              <a:rPr lang="en-US" sz="1800" b="0" dirty="0" err="1">
                <a:solidFill>
                  <a:srgbClr val="D4D4D4"/>
                </a:solidFill>
                <a:effectLst/>
                <a:latin typeface="Monaspace Neon" pitchFamily="50" charset="0"/>
              </a:rPr>
              <a:t>x,j</a:t>
            </a:r>
            <a:r>
              <a:rPr lang="en-US" sz="1800" b="0" dirty="0">
                <a:solidFill>
                  <a:srgbClr val="D4D4D4"/>
                </a:solidFill>
                <a:effectLst/>
                <a:latin typeface="Monaspace Neon" pitchFamily="50" charset="0"/>
              </a:rPr>
              <a:t>)] is occupied</a:t>
            </a:r>
          </a:p>
          <a:p>
            <a:r>
              <a:rPr lang="en-US" sz="1800" b="0" dirty="0">
                <a:solidFill>
                  <a:srgbClr val="D4D4D4"/>
                </a:solidFill>
                <a:effectLst/>
                <a:latin typeface="Monaspace Neon" pitchFamily="50" charset="0"/>
              </a:rPr>
              <a:t>  </a:t>
            </a:r>
            <a:r>
              <a:rPr lang="en-US" sz="1800" b="0" dirty="0" err="1">
                <a:solidFill>
                  <a:srgbClr val="D4D4D4"/>
                </a:solidFill>
                <a:effectLst/>
                <a:latin typeface="Monaspace Neon" pitchFamily="50" charset="0"/>
              </a:rPr>
              <a:t>j++</a:t>
            </a:r>
            <a:endParaRPr lang="en-US" sz="1800" b="0" dirty="0">
              <a:solidFill>
                <a:srgbClr val="D4D4D4"/>
              </a:solidFill>
              <a:effectLst/>
              <a:latin typeface="Monaspace Neon" pitchFamily="50" charset="0"/>
            </a:endParaRPr>
          </a:p>
        </p:txBody>
      </p:sp>
    </p:spTree>
    <p:extLst>
      <p:ext uri="{BB962C8B-B14F-4D97-AF65-F5344CB8AC3E}">
        <p14:creationId xmlns:p14="http://schemas.microsoft.com/office/powerpoint/2010/main" val="1440234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8E76F-5098-033B-A30F-CF9AA6AB37C2}"/>
              </a:ext>
            </a:extLst>
          </p:cNvPr>
          <p:cNvSpPr>
            <a:spLocks noGrp="1"/>
          </p:cNvSpPr>
          <p:nvPr>
            <p:ph type="title"/>
          </p:nvPr>
        </p:nvSpPr>
        <p:spPr/>
        <p:txBody>
          <a:bodyPr/>
          <a:lstStyle/>
          <a:p>
            <a:r>
              <a:rPr lang="en-US" dirty="0"/>
              <a:t>Find in Open Addressing</a:t>
            </a:r>
          </a:p>
        </p:txBody>
      </p:sp>
      <p:sp>
        <p:nvSpPr>
          <p:cNvPr id="3" name="Content Placeholder 2">
            <a:extLst>
              <a:ext uri="{FF2B5EF4-FFF2-40B4-BE49-F238E27FC236}">
                <a16:creationId xmlns:a16="http://schemas.microsoft.com/office/drawing/2014/main" id="{0BB9A137-FED9-A530-4B6F-3B2EE75A08D7}"/>
              </a:ext>
            </a:extLst>
          </p:cNvPr>
          <p:cNvSpPr>
            <a:spLocks noGrp="1"/>
          </p:cNvSpPr>
          <p:nvPr>
            <p:ph idx="1"/>
          </p:nvPr>
        </p:nvSpPr>
        <p:spPr>
          <a:xfrm>
            <a:off x="838200" y="1358781"/>
            <a:ext cx="5419987" cy="5016382"/>
          </a:xfrm>
        </p:spPr>
        <p:txBody>
          <a:bodyPr>
            <a:normAutofit fontScale="92500"/>
          </a:bodyPr>
          <a:lstStyle/>
          <a:p>
            <a:r>
              <a:rPr lang="en-US" dirty="0"/>
              <a:t>To find </a:t>
            </a:r>
            <a:r>
              <a:rPr lang="en-US" dirty="0">
                <a:solidFill>
                  <a:schemeClr val="accent4"/>
                </a:solidFill>
              </a:rPr>
              <a:t>x</a:t>
            </a:r>
            <a:r>
              <a:rPr lang="en-US" dirty="0"/>
              <a:t>, Start at </a:t>
            </a:r>
            <a:r>
              <a:rPr lang="en-US" dirty="0">
                <a:solidFill>
                  <a:schemeClr val="accent4"/>
                </a:solidFill>
              </a:rPr>
              <a:t>h(x)</a:t>
            </a:r>
            <a:r>
              <a:rPr lang="en-US" dirty="0"/>
              <a:t> and using the probing function until </a:t>
            </a:r>
          </a:p>
          <a:p>
            <a:pPr lvl="1"/>
            <a:r>
              <a:rPr lang="en-US" dirty="0"/>
              <a:t>we reach a bucket that has </a:t>
            </a:r>
            <a:r>
              <a:rPr lang="en-US" dirty="0">
                <a:solidFill>
                  <a:schemeClr val="accent4"/>
                </a:solidFill>
              </a:rPr>
              <a:t>x</a:t>
            </a:r>
            <a:r>
              <a:rPr lang="en-US" dirty="0"/>
              <a:t> (which means that we have found it)</a:t>
            </a:r>
          </a:p>
          <a:p>
            <a:pPr lvl="1"/>
            <a:r>
              <a:rPr lang="en-US" dirty="0"/>
              <a:t>We reach an empty bucket (which means that there is no </a:t>
            </a:r>
            <a:r>
              <a:rPr lang="en-US" dirty="0">
                <a:solidFill>
                  <a:schemeClr val="accent4"/>
                </a:solidFill>
              </a:rPr>
              <a:t>x</a:t>
            </a:r>
            <a:r>
              <a:rPr lang="en-US" dirty="0"/>
              <a:t>)</a:t>
            </a:r>
          </a:p>
          <a:p>
            <a:pPr lvl="2"/>
            <a:r>
              <a:rPr lang="en-US" dirty="0"/>
              <a:t>Since probing function works exactly the same in both insert and find, if we reach an empty bucket, it must mean that we have not insert this data before.</a:t>
            </a:r>
          </a:p>
        </p:txBody>
      </p:sp>
      <p:graphicFrame>
        <p:nvGraphicFramePr>
          <p:cNvPr id="5" name="Table 4">
            <a:extLst>
              <a:ext uri="{FF2B5EF4-FFF2-40B4-BE49-F238E27FC236}">
                <a16:creationId xmlns:a16="http://schemas.microsoft.com/office/drawing/2014/main" id="{D2D7B491-8D8D-0E80-0BCD-09B560A7F14B}"/>
              </a:ext>
            </a:extLst>
          </p:cNvPr>
          <p:cNvGraphicFramePr>
            <a:graphicFrameLocks noGrp="1"/>
          </p:cNvGraphicFramePr>
          <p:nvPr>
            <p:extLst>
              <p:ext uri="{D42A27DB-BD31-4B8C-83A1-F6EECF244321}">
                <p14:modId xmlns:p14="http://schemas.microsoft.com/office/powerpoint/2010/main" val="990484370"/>
              </p:ext>
            </p:extLst>
          </p:nvPr>
        </p:nvGraphicFramePr>
        <p:xfrm>
          <a:off x="7229898" y="1230594"/>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lang="en-US" sz="1600" dirty="0"/>
                        <a:t>x</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z</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y</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6" name="Arrow: Down 5">
            <a:extLst>
              <a:ext uri="{FF2B5EF4-FFF2-40B4-BE49-F238E27FC236}">
                <a16:creationId xmlns:a16="http://schemas.microsoft.com/office/drawing/2014/main" id="{FC7AD2AC-EE69-8093-E9F5-76B58C9D4242}"/>
              </a:ext>
            </a:extLst>
          </p:cNvPr>
          <p:cNvSpPr/>
          <p:nvPr/>
        </p:nvSpPr>
        <p:spPr>
          <a:xfrm rot="10800000">
            <a:off x="9337176" y="1980798"/>
            <a:ext cx="303335" cy="386862"/>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Speech Bubble: Rectangle with Corners Rounded 6">
            <a:extLst>
              <a:ext uri="{FF2B5EF4-FFF2-40B4-BE49-F238E27FC236}">
                <a16:creationId xmlns:a16="http://schemas.microsoft.com/office/drawing/2014/main" id="{D973B3F4-6177-7ABF-D08A-32BCEF9CE255}"/>
              </a:ext>
            </a:extLst>
          </p:cNvPr>
          <p:cNvSpPr/>
          <p:nvPr/>
        </p:nvSpPr>
        <p:spPr>
          <a:xfrm>
            <a:off x="8646011" y="516882"/>
            <a:ext cx="1543050" cy="546834"/>
          </a:xfrm>
          <a:prstGeom prst="wedgeRoundRectCallout">
            <a:avLst>
              <a:gd name="adj1" fmla="val 8086"/>
              <a:gd name="adj2" fmla="val 88093"/>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Trying to find z where h(z) = 4</a:t>
            </a:r>
          </a:p>
        </p:txBody>
      </p:sp>
      <p:sp>
        <p:nvSpPr>
          <p:cNvPr id="8" name="Speech Bubble: Rectangle with Corners Rounded 7">
            <a:extLst>
              <a:ext uri="{FF2B5EF4-FFF2-40B4-BE49-F238E27FC236}">
                <a16:creationId xmlns:a16="http://schemas.microsoft.com/office/drawing/2014/main" id="{566B7DBD-F427-37CB-8414-32A60455140A}"/>
              </a:ext>
            </a:extLst>
          </p:cNvPr>
          <p:cNvSpPr/>
          <p:nvPr/>
        </p:nvSpPr>
        <p:spPr>
          <a:xfrm>
            <a:off x="7308935" y="2649015"/>
            <a:ext cx="1051662" cy="546834"/>
          </a:xfrm>
          <a:prstGeom prst="wedgeRoundRectCallout">
            <a:avLst>
              <a:gd name="adj1" fmla="val 51433"/>
              <a:gd name="adj2" fmla="val -985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Found at bucket 2</a:t>
            </a:r>
          </a:p>
        </p:txBody>
      </p:sp>
      <p:graphicFrame>
        <p:nvGraphicFramePr>
          <p:cNvPr id="9" name="Table 8">
            <a:extLst>
              <a:ext uri="{FF2B5EF4-FFF2-40B4-BE49-F238E27FC236}">
                <a16:creationId xmlns:a16="http://schemas.microsoft.com/office/drawing/2014/main" id="{CEFA520D-C10B-5EDF-F75D-9CD9306C4992}"/>
              </a:ext>
            </a:extLst>
          </p:cNvPr>
          <p:cNvGraphicFramePr>
            <a:graphicFrameLocks noGrp="1"/>
          </p:cNvGraphicFramePr>
          <p:nvPr>
            <p:extLst>
              <p:ext uri="{D42A27DB-BD31-4B8C-83A1-F6EECF244321}">
                <p14:modId xmlns:p14="http://schemas.microsoft.com/office/powerpoint/2010/main" val="990484370"/>
              </p:ext>
            </p:extLst>
          </p:nvPr>
        </p:nvGraphicFramePr>
        <p:xfrm>
          <a:off x="7229898" y="3858661"/>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lang="en-US" sz="1600" dirty="0"/>
                        <a:t>x</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z</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y</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10" name="Arrow: Down 9">
            <a:extLst>
              <a:ext uri="{FF2B5EF4-FFF2-40B4-BE49-F238E27FC236}">
                <a16:creationId xmlns:a16="http://schemas.microsoft.com/office/drawing/2014/main" id="{DAF67AF6-EC96-DF39-CA86-13F4C0BF5128}"/>
              </a:ext>
            </a:extLst>
          </p:cNvPr>
          <p:cNvSpPr/>
          <p:nvPr/>
        </p:nvSpPr>
        <p:spPr>
          <a:xfrm rot="10800000">
            <a:off x="10339499" y="4608865"/>
            <a:ext cx="303335" cy="386862"/>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Speech Bubble: Rectangle with Corners Rounded 10">
            <a:extLst>
              <a:ext uri="{FF2B5EF4-FFF2-40B4-BE49-F238E27FC236}">
                <a16:creationId xmlns:a16="http://schemas.microsoft.com/office/drawing/2014/main" id="{A5145D1A-0319-F80A-11E5-E5BFA1112918}"/>
              </a:ext>
            </a:extLst>
          </p:cNvPr>
          <p:cNvSpPr/>
          <p:nvPr/>
        </p:nvSpPr>
        <p:spPr>
          <a:xfrm>
            <a:off x="9640511" y="3060103"/>
            <a:ext cx="1543050" cy="546834"/>
          </a:xfrm>
          <a:prstGeom prst="wedgeRoundRectCallout">
            <a:avLst>
              <a:gd name="adj1" fmla="val 8086"/>
              <a:gd name="adj2" fmla="val 8809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Trying to find w where h(w) = 6</a:t>
            </a:r>
          </a:p>
        </p:txBody>
      </p:sp>
      <p:sp>
        <p:nvSpPr>
          <p:cNvPr id="12" name="Speech Bubble: Rectangle with Corners Rounded 11">
            <a:extLst>
              <a:ext uri="{FF2B5EF4-FFF2-40B4-BE49-F238E27FC236}">
                <a16:creationId xmlns:a16="http://schemas.microsoft.com/office/drawing/2014/main" id="{B84191FB-2AA8-6FA5-44ED-3EAD1D7CBEA8}"/>
              </a:ext>
            </a:extLst>
          </p:cNvPr>
          <p:cNvSpPr/>
          <p:nvPr/>
        </p:nvSpPr>
        <p:spPr>
          <a:xfrm>
            <a:off x="7599296" y="5373082"/>
            <a:ext cx="1522601" cy="693651"/>
          </a:xfrm>
          <a:prstGeom prst="wedgeRoundRectCallout">
            <a:avLst>
              <a:gd name="adj1" fmla="val 34777"/>
              <a:gd name="adj2" fmla="val -7991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We reach empty bucket, meaning there is no w</a:t>
            </a:r>
          </a:p>
        </p:txBody>
      </p:sp>
    </p:spTree>
    <p:extLst>
      <p:ext uri="{BB962C8B-B14F-4D97-AF65-F5344CB8AC3E}">
        <p14:creationId xmlns:p14="http://schemas.microsoft.com/office/powerpoint/2010/main" val="335825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7" presetClass="path" presetSubtype="0" accel="50000" decel="50000" fill="hold" grpId="0" nodeType="clickEffect">
                                  <p:stCondLst>
                                    <p:cond delay="0"/>
                                  </p:stCondLst>
                                  <p:childTnLst>
                                    <p:animMotion origin="layout" path="M 1.45833E-6 -2.22222E-6 L 0.01081 0.02547 C 0.01302 0.03148 0.0164 0.03472 0.01992 0.03472 C 0.02396 0.03472 0.02721 0.03148 0.02943 0.02547 L 0.04036 -2.22222E-6 " pathEditMode="relative" rAng="0" ptsTypes="AAAAA">
                                      <p:cBhvr>
                                        <p:cTn id="21" dur="700" fill="hold"/>
                                        <p:tgtEl>
                                          <p:spTgt spid="6"/>
                                        </p:tgtEl>
                                        <p:attrNameLst>
                                          <p:attrName>ppt_x</p:attrName>
                                          <p:attrName>ppt_y</p:attrName>
                                        </p:attrNameLst>
                                      </p:cBhvr>
                                      <p:rCtr x="2018" y="1736"/>
                                    </p:animMotion>
                                  </p:childTnLst>
                                </p:cTn>
                              </p:par>
                            </p:childTnLst>
                          </p:cTn>
                        </p:par>
                      </p:childTnLst>
                    </p:cTn>
                  </p:par>
                  <p:par>
                    <p:cTn id="22" fill="hold">
                      <p:stCondLst>
                        <p:cond delay="indefinite"/>
                      </p:stCondLst>
                      <p:childTnLst>
                        <p:par>
                          <p:cTn id="23" fill="hold">
                            <p:stCondLst>
                              <p:cond delay="0"/>
                            </p:stCondLst>
                            <p:childTnLst>
                              <p:par>
                                <p:cTn id="24" presetID="37" presetClass="path" presetSubtype="0" accel="50000" decel="50000" fill="hold" grpId="2" nodeType="clickEffect">
                                  <p:stCondLst>
                                    <p:cond delay="0"/>
                                  </p:stCondLst>
                                  <p:childTnLst>
                                    <p:animMotion origin="layout" path="M 0.04036 -2.22222E-6 L 0.05221 0.0257 C 0.05482 0.03148 0.05846 0.03472 0.0625 0.03472 C 0.06693 0.03472 0.07057 0.03148 0.07305 0.0257 L 0.08515 -2.22222E-6 " pathEditMode="relative" rAng="0" ptsTypes="AAAAA">
                                      <p:cBhvr>
                                        <p:cTn id="25" dur="700" fill="hold"/>
                                        <p:tgtEl>
                                          <p:spTgt spid="6"/>
                                        </p:tgtEl>
                                        <p:attrNameLst>
                                          <p:attrName>ppt_x</p:attrName>
                                          <p:attrName>ppt_y</p:attrName>
                                        </p:attrNameLst>
                                      </p:cBhvr>
                                      <p:rCtr x="2240" y="1736"/>
                                    </p:animMotion>
                                  </p:childTnLst>
                                </p:cTn>
                              </p:par>
                            </p:childTnLst>
                          </p:cTn>
                        </p:par>
                      </p:childTnLst>
                    </p:cTn>
                  </p:par>
                  <p:par>
                    <p:cTn id="26" fill="hold">
                      <p:stCondLst>
                        <p:cond delay="indefinite"/>
                      </p:stCondLst>
                      <p:childTnLst>
                        <p:par>
                          <p:cTn id="27" fill="hold">
                            <p:stCondLst>
                              <p:cond delay="0"/>
                            </p:stCondLst>
                            <p:childTnLst>
                              <p:par>
                                <p:cTn id="28" presetID="37" presetClass="path" presetSubtype="0" accel="50000" decel="50000" fill="hold" grpId="3" nodeType="clickEffect">
                                  <p:stCondLst>
                                    <p:cond delay="0"/>
                                  </p:stCondLst>
                                  <p:childTnLst>
                                    <p:animMotion origin="layout" path="M 0.08515 -2.22222E-6 L 0.09531 0.0257 C 0.09752 0.03148 0.10078 0.03472 0.10417 0.03472 C 0.10794 0.03472 0.11107 0.03148 0.11315 0.0257 L 0.12357 -2.22222E-6 " pathEditMode="relative" rAng="0" ptsTypes="AAAAA">
                                      <p:cBhvr>
                                        <p:cTn id="29" dur="700" fill="hold"/>
                                        <p:tgtEl>
                                          <p:spTgt spid="6"/>
                                        </p:tgtEl>
                                        <p:attrNameLst>
                                          <p:attrName>ppt_x</p:attrName>
                                          <p:attrName>ppt_y</p:attrName>
                                        </p:attrNameLst>
                                      </p:cBhvr>
                                      <p:rCtr x="1914" y="1736"/>
                                    </p:animMotion>
                                  </p:childTnLst>
                                </p:cTn>
                              </p:par>
                            </p:childTnLst>
                          </p:cTn>
                        </p:par>
                      </p:childTnLst>
                    </p:cTn>
                  </p:par>
                  <p:par>
                    <p:cTn id="30" fill="hold">
                      <p:stCondLst>
                        <p:cond delay="indefinite"/>
                      </p:stCondLst>
                      <p:childTnLst>
                        <p:par>
                          <p:cTn id="31" fill="hold">
                            <p:stCondLst>
                              <p:cond delay="0"/>
                            </p:stCondLst>
                            <p:childTnLst>
                              <p:par>
                                <p:cTn id="32" presetID="37" presetClass="path" presetSubtype="0" accel="50000" decel="50000" fill="hold" grpId="4" nodeType="clickEffect">
                                  <p:stCondLst>
                                    <p:cond delay="0"/>
                                  </p:stCondLst>
                                  <p:childTnLst>
                                    <p:animMotion origin="layout" path="M 0.12357 -2.22222E-6 L 0.04596 0.04005 C 0.02982 0.04908 0.00547 0.05394 -0.02005 0.05394 C -0.04883 0.05394 -0.07214 0.04908 -0.08828 0.04005 L -0.1655 -2.22222E-6 " pathEditMode="relative" rAng="0" ptsTypes="AAAAA">
                                      <p:cBhvr>
                                        <p:cTn id="33" dur="700" fill="hold"/>
                                        <p:tgtEl>
                                          <p:spTgt spid="6"/>
                                        </p:tgtEl>
                                        <p:attrNameLst>
                                          <p:attrName>ppt_x</p:attrName>
                                          <p:attrName>ppt_y</p:attrName>
                                        </p:attrNameLst>
                                      </p:cBhvr>
                                      <p:rCtr x="-14453" y="2685"/>
                                    </p:animMotion>
                                  </p:childTnLst>
                                </p:cTn>
                              </p:par>
                            </p:childTnLst>
                          </p:cTn>
                        </p:par>
                      </p:childTnLst>
                    </p:cTn>
                  </p:par>
                  <p:par>
                    <p:cTn id="34" fill="hold">
                      <p:stCondLst>
                        <p:cond delay="indefinite"/>
                      </p:stCondLst>
                      <p:childTnLst>
                        <p:par>
                          <p:cTn id="35" fill="hold">
                            <p:stCondLst>
                              <p:cond delay="0"/>
                            </p:stCondLst>
                            <p:childTnLst>
                              <p:par>
                                <p:cTn id="36" presetID="37" presetClass="path" presetSubtype="0" accel="50000" decel="50000" fill="hold" grpId="5" nodeType="clickEffect">
                                  <p:stCondLst>
                                    <p:cond delay="0"/>
                                  </p:stCondLst>
                                  <p:childTnLst>
                                    <p:animMotion origin="layout" path="M -0.1655 -2.22222E-6 L -0.1543 0.0257 C -0.15195 0.03148 -0.14831 0.03472 -0.14466 0.03472 C -0.14037 0.03472 -0.13711 0.03148 -0.13464 0.0257 L -0.12331 -2.22222E-6 " pathEditMode="relative" rAng="0" ptsTypes="AAAAA">
                                      <p:cBhvr>
                                        <p:cTn id="37" dur="700" fill="hold"/>
                                        <p:tgtEl>
                                          <p:spTgt spid="6"/>
                                        </p:tgtEl>
                                        <p:attrNameLst>
                                          <p:attrName>ppt_x</p:attrName>
                                          <p:attrName>ppt_y</p:attrName>
                                        </p:attrNameLst>
                                      </p:cBhvr>
                                      <p:rCtr x="2109" y="1736"/>
                                    </p:animMotion>
                                  </p:childTnLst>
                                </p:cTn>
                              </p:par>
                            </p:childTnLst>
                          </p:cTn>
                        </p:par>
                      </p:childTnLst>
                    </p:cTn>
                  </p:par>
                  <p:par>
                    <p:cTn id="38" fill="hold">
                      <p:stCondLst>
                        <p:cond delay="indefinite"/>
                      </p:stCondLst>
                      <p:childTnLst>
                        <p:par>
                          <p:cTn id="39" fill="hold">
                            <p:stCondLst>
                              <p:cond delay="0"/>
                            </p:stCondLst>
                            <p:childTnLst>
                              <p:par>
                                <p:cTn id="40" presetID="37" presetClass="path" presetSubtype="0" accel="50000" decel="50000" fill="hold" grpId="6" nodeType="clickEffect">
                                  <p:stCondLst>
                                    <p:cond delay="0"/>
                                  </p:stCondLst>
                                  <p:childTnLst>
                                    <p:animMotion origin="layout" path="M -0.12331 -2.22222E-6 L -0.1125 0.0257 C -0.11029 0.03148 -0.10677 0.03472 -0.10326 0.03472 C -0.09922 0.03472 -0.09596 0.03148 -0.09362 0.0257 L -0.08268 -2.22222E-6 " pathEditMode="relative" rAng="0" ptsTypes="AAAAA">
                                      <p:cBhvr>
                                        <p:cTn id="41" dur="700" fill="hold"/>
                                        <p:tgtEl>
                                          <p:spTgt spid="6"/>
                                        </p:tgtEl>
                                        <p:attrNameLst>
                                          <p:attrName>ppt_x</p:attrName>
                                          <p:attrName>ppt_y</p:attrName>
                                        </p:attrNameLst>
                                      </p:cBhvr>
                                      <p:rCtr x="2031" y="1736"/>
                                    </p:animMotion>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1"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37" presetClass="path" presetSubtype="0" accel="50000" decel="50000" fill="hold" grpId="3" nodeType="clickEffect">
                                  <p:stCondLst>
                                    <p:cond delay="0"/>
                                  </p:stCondLst>
                                  <p:childTnLst>
                                    <p:animMotion origin="layout" path="M 2.08333E-7 -1.48148E-6 L 0.01016 0.0257 C 0.01237 0.03148 0.01562 0.03472 0.01901 0.03472 C 0.02279 0.03472 0.02591 0.03148 0.02799 0.0257 L 0.03841 -1.48148E-6 " pathEditMode="relative" rAng="0" ptsTypes="AAAAA">
                                      <p:cBhvr>
                                        <p:cTn id="65" dur="700" fill="hold"/>
                                        <p:tgtEl>
                                          <p:spTgt spid="10"/>
                                        </p:tgtEl>
                                        <p:attrNameLst>
                                          <p:attrName>ppt_x</p:attrName>
                                          <p:attrName>ppt_y</p:attrName>
                                        </p:attrNameLst>
                                      </p:cBhvr>
                                      <p:rCtr x="1914" y="1736"/>
                                    </p:animMotion>
                                  </p:childTnLst>
                                </p:cTn>
                              </p:par>
                            </p:childTnLst>
                          </p:cTn>
                        </p:par>
                      </p:childTnLst>
                    </p:cTn>
                  </p:par>
                  <p:par>
                    <p:cTn id="66" fill="hold">
                      <p:stCondLst>
                        <p:cond delay="indefinite"/>
                      </p:stCondLst>
                      <p:childTnLst>
                        <p:par>
                          <p:cTn id="67" fill="hold">
                            <p:stCondLst>
                              <p:cond delay="0"/>
                            </p:stCondLst>
                            <p:childTnLst>
                              <p:par>
                                <p:cTn id="68" presetID="37" presetClass="path" presetSubtype="0" accel="50000" decel="50000" fill="hold" grpId="4" nodeType="clickEffect">
                                  <p:stCondLst>
                                    <p:cond delay="0"/>
                                  </p:stCondLst>
                                  <p:childTnLst>
                                    <p:animMotion origin="layout" path="M 0.04036 -1.48148E-6 L -0.03724 0.04005 C -0.05339 0.04908 -0.07774 0.05394 -0.10326 0.05394 C -0.13203 0.05394 -0.15534 0.04908 -0.17149 0.04005 L -0.2487 -1.48148E-6 " pathEditMode="relative" rAng="0" ptsTypes="AAAAA">
                                      <p:cBhvr>
                                        <p:cTn id="69" dur="700" fill="hold"/>
                                        <p:tgtEl>
                                          <p:spTgt spid="10"/>
                                        </p:tgtEl>
                                        <p:attrNameLst>
                                          <p:attrName>ppt_x</p:attrName>
                                          <p:attrName>ppt_y</p:attrName>
                                        </p:attrNameLst>
                                      </p:cBhvr>
                                      <p:rCtr x="-14453" y="2685"/>
                                    </p:animMotion>
                                  </p:childTnLst>
                                </p:cTn>
                              </p:par>
                            </p:childTnLst>
                          </p:cTn>
                        </p:par>
                      </p:childTnLst>
                    </p:cTn>
                  </p:par>
                  <p:par>
                    <p:cTn id="70" fill="hold">
                      <p:stCondLst>
                        <p:cond delay="indefinite"/>
                      </p:stCondLst>
                      <p:childTnLst>
                        <p:par>
                          <p:cTn id="71" fill="hold">
                            <p:stCondLst>
                              <p:cond delay="0"/>
                            </p:stCondLst>
                            <p:childTnLst>
                              <p:par>
                                <p:cTn id="72" presetID="37" presetClass="path" presetSubtype="0" accel="50000" decel="50000" fill="hold" grpId="5" nodeType="clickEffect">
                                  <p:stCondLst>
                                    <p:cond delay="0"/>
                                  </p:stCondLst>
                                  <p:childTnLst>
                                    <p:animMotion origin="layout" path="M -0.2487 -1.48148E-6 L -0.2375 0.0257 C -0.23516 0.03148 -0.23151 0.03472 -0.22787 0.03472 C -0.22357 0.03472 -0.22032 0.03148 -0.21784 0.0257 L -0.20651 -1.48148E-6 " pathEditMode="relative" rAng="0" ptsTypes="AAAAA">
                                      <p:cBhvr>
                                        <p:cTn id="73" dur="700" fill="hold"/>
                                        <p:tgtEl>
                                          <p:spTgt spid="10"/>
                                        </p:tgtEl>
                                        <p:attrNameLst>
                                          <p:attrName>ppt_x</p:attrName>
                                          <p:attrName>ppt_y</p:attrName>
                                        </p:attrNameLst>
                                      </p:cBhvr>
                                      <p:rCtr x="2109" y="1736"/>
                                    </p:animMotion>
                                  </p:childTnLst>
                                </p:cTn>
                              </p:par>
                            </p:childTnLst>
                          </p:cTn>
                        </p:par>
                      </p:childTnLst>
                    </p:cTn>
                  </p:par>
                  <p:par>
                    <p:cTn id="74" fill="hold">
                      <p:stCondLst>
                        <p:cond delay="indefinite"/>
                      </p:stCondLst>
                      <p:childTnLst>
                        <p:par>
                          <p:cTn id="75" fill="hold">
                            <p:stCondLst>
                              <p:cond delay="0"/>
                            </p:stCondLst>
                            <p:childTnLst>
                              <p:par>
                                <p:cTn id="76" presetID="37" presetClass="path" presetSubtype="0" accel="50000" decel="50000" fill="hold" grpId="6" nodeType="clickEffect">
                                  <p:stCondLst>
                                    <p:cond delay="0"/>
                                  </p:stCondLst>
                                  <p:childTnLst>
                                    <p:animMotion origin="layout" path="M -0.20612 -1.48148E-6 L -0.19532 0.0257 C -0.1931 0.03148 -0.18959 0.03472 -0.18607 0.03472 C -0.18204 0.03472 -0.17878 0.03148 -0.17644 0.0257 L -0.1655 -1.48148E-6 " pathEditMode="relative" rAng="0" ptsTypes="AAAAA">
                                      <p:cBhvr>
                                        <p:cTn id="77" dur="700" fill="hold"/>
                                        <p:tgtEl>
                                          <p:spTgt spid="10"/>
                                        </p:tgtEl>
                                        <p:attrNameLst>
                                          <p:attrName>ppt_x</p:attrName>
                                          <p:attrName>ppt_y</p:attrName>
                                        </p:attrNameLst>
                                      </p:cBhvr>
                                      <p:rCtr x="2031" y="1736"/>
                                    </p:animMotion>
                                  </p:childTnLst>
                                </p:cTn>
                              </p:par>
                            </p:childTnLst>
                          </p:cTn>
                        </p:par>
                      </p:childTnLst>
                    </p:cTn>
                  </p:par>
                  <p:par>
                    <p:cTn id="78" fill="hold">
                      <p:stCondLst>
                        <p:cond delay="indefinite"/>
                      </p:stCondLst>
                      <p:childTnLst>
                        <p:par>
                          <p:cTn id="79" fill="hold">
                            <p:stCondLst>
                              <p:cond delay="0"/>
                            </p:stCondLst>
                            <p:childTnLst>
                              <p:par>
                                <p:cTn id="80" presetID="37" presetClass="path" presetSubtype="0" accel="50000" decel="50000" fill="hold" grpId="7" nodeType="clickEffect">
                                  <p:stCondLst>
                                    <p:cond delay="0"/>
                                  </p:stCondLst>
                                  <p:childTnLst>
                                    <p:animMotion origin="layout" path="M -0.1655 -1.48148E-6 L -0.15443 0.04005 C -0.15209 0.04908 -0.14857 0.05394 -0.14493 0.05394 C -0.14076 0.05394 -0.13737 0.04908 -0.13503 0.04005 L -0.12383 -1.48148E-6 " pathEditMode="relative" rAng="0" ptsTypes="AAAAA">
                                      <p:cBhvr>
                                        <p:cTn id="81" dur="700" fill="hold"/>
                                        <p:tgtEl>
                                          <p:spTgt spid="10"/>
                                        </p:tgtEl>
                                        <p:attrNameLst>
                                          <p:attrName>ppt_x</p:attrName>
                                          <p:attrName>ppt_y</p:attrName>
                                        </p:attrNameLst>
                                      </p:cBhvr>
                                      <p:rCtr x="2083" y="2685"/>
                                    </p:animMotion>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2"/>
                                        </p:tgtEl>
                                        <p:attrNameLst>
                                          <p:attrName>style.visibility</p:attrName>
                                        </p:attrNameLst>
                                      </p:cBhvr>
                                      <p:to>
                                        <p:strVal val="visible"/>
                                      </p:to>
                                    </p:set>
                                    <p:animEffect transition="in" filter="fade">
                                      <p:cBhvr>
                                        <p:cTn id="8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6" grpId="3" animBg="1"/>
      <p:bldP spid="6" grpId="4" animBg="1"/>
      <p:bldP spid="6" grpId="5" animBg="1"/>
      <p:bldP spid="6" grpId="6" animBg="1"/>
      <p:bldP spid="7" grpId="0" animBg="1"/>
      <p:bldP spid="8" grpId="0" animBg="1"/>
      <p:bldP spid="10" grpId="1" animBg="1"/>
      <p:bldP spid="10" grpId="3" animBg="1"/>
      <p:bldP spid="10" grpId="4" animBg="1"/>
      <p:bldP spid="10" grpId="5" animBg="1"/>
      <p:bldP spid="10" grpId="6" animBg="1"/>
      <p:bldP spid="10" grpId="7" animBg="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46090-64F7-6370-F94D-257549530A80}"/>
              </a:ext>
            </a:extLst>
          </p:cNvPr>
          <p:cNvSpPr>
            <a:spLocks noGrp="1"/>
          </p:cNvSpPr>
          <p:nvPr>
            <p:ph type="title"/>
          </p:nvPr>
        </p:nvSpPr>
        <p:spPr/>
        <p:txBody>
          <a:bodyPr/>
          <a:lstStyle/>
          <a:p>
            <a:r>
              <a:rPr lang="en-US" dirty="0"/>
              <a:t>Open Addressing v0.1 (LP)</a:t>
            </a:r>
          </a:p>
        </p:txBody>
      </p:sp>
      <p:sp>
        <p:nvSpPr>
          <p:cNvPr id="3" name="Content Placeholder 2">
            <a:extLst>
              <a:ext uri="{FF2B5EF4-FFF2-40B4-BE49-F238E27FC236}">
                <a16:creationId xmlns:a16="http://schemas.microsoft.com/office/drawing/2014/main" id="{0FAF9B0E-E476-64F1-B330-0116AA5D4916}"/>
              </a:ext>
            </a:extLst>
          </p:cNvPr>
          <p:cNvSpPr>
            <a:spLocks noGrp="1"/>
          </p:cNvSpPr>
          <p:nvPr>
            <p:ph idx="1"/>
          </p:nvPr>
        </p:nvSpPr>
        <p:spPr>
          <a:xfrm>
            <a:off x="838200" y="1358781"/>
            <a:ext cx="5004732" cy="5016382"/>
          </a:xfrm>
        </p:spPr>
        <p:txBody>
          <a:bodyPr/>
          <a:lstStyle/>
          <a:p>
            <a:r>
              <a:rPr lang="en-US" dirty="0"/>
              <a:t>This code does not really work because there are some issue in erasing data</a:t>
            </a:r>
          </a:p>
          <a:p>
            <a:r>
              <a:rPr lang="en-US" dirty="0"/>
              <a:t>Focus on linear probing first, </a:t>
            </a:r>
            <a:r>
              <a:rPr lang="en-US" dirty="0">
                <a:solidFill>
                  <a:schemeClr val="accent2"/>
                </a:solidFill>
              </a:rPr>
              <a:t>we will fix erase soon</a:t>
            </a:r>
          </a:p>
        </p:txBody>
      </p:sp>
      <p:sp>
        <p:nvSpPr>
          <p:cNvPr id="5" name="TextBox 4">
            <a:extLst>
              <a:ext uri="{FF2B5EF4-FFF2-40B4-BE49-F238E27FC236}">
                <a16:creationId xmlns:a16="http://schemas.microsoft.com/office/drawing/2014/main" id="{9B38D520-E9F8-57BD-C7CB-8BA2A1EFB2F6}"/>
              </a:ext>
            </a:extLst>
          </p:cNvPr>
          <p:cNvSpPr txBox="1"/>
          <p:nvPr/>
        </p:nvSpPr>
        <p:spPr>
          <a:xfrm>
            <a:off x="5842932" y="1150880"/>
            <a:ext cx="5877537" cy="5509200"/>
          </a:xfrm>
          <a:prstGeom prst="rect">
            <a:avLst/>
          </a:prstGeom>
          <a:solidFill>
            <a:schemeClr val="bg1"/>
          </a:solidFill>
          <a:ln>
            <a:solidFill>
              <a:schemeClr val="accent6"/>
            </a:solidFill>
          </a:ln>
        </p:spPr>
        <p:txBody>
          <a:bodyPr wrap="square">
            <a:spAutoFit/>
          </a:bodyPr>
          <a:lstStyle/>
          <a:p>
            <a:r>
              <a:rPr lang="en-US" sz="1100" b="0" dirty="0">
                <a:solidFill>
                  <a:srgbClr val="569CD6"/>
                </a:solidFill>
                <a:effectLst/>
                <a:latin typeface="Monaspace Neon" pitchFamily="50" charset="0"/>
              </a:rPr>
              <a:t>template</a:t>
            </a:r>
            <a:r>
              <a:rPr lang="en-US" sz="1100" b="0" dirty="0">
                <a:solidFill>
                  <a:srgbClr val="D4D4D4"/>
                </a:solidFill>
                <a:effectLst/>
                <a:latin typeface="Monaspace Neon" pitchFamily="50" charset="0"/>
              </a:rPr>
              <a:t> &lt;</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HasherT</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hash</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&gt;&gt;</a:t>
            </a:r>
          </a:p>
          <a:p>
            <a:r>
              <a:rPr lang="en-US" sz="1100" b="0" dirty="0">
                <a:solidFill>
                  <a:srgbClr val="6A9955"/>
                </a:solidFill>
                <a:effectLst/>
                <a:latin typeface="Monaspace Neon" pitchFamily="50" charset="0"/>
              </a:rPr>
              <a:t>// Hash as Set using Open Addressing with Linear Probing</a:t>
            </a:r>
            <a:endParaRPr lang="en-US" sz="1100" b="0" dirty="0">
              <a:solidFill>
                <a:srgbClr val="D4D4D4"/>
              </a:solidFill>
              <a:effectLst/>
              <a:latin typeface="Monaspace Neon" pitchFamily="50" charset="0"/>
            </a:endParaRPr>
          </a:p>
          <a:p>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hash_set_oa_lp</a:t>
            </a:r>
            <a:r>
              <a:rPr lang="en-US" sz="1100" b="0" dirty="0">
                <a:solidFill>
                  <a:srgbClr val="D4D4D4"/>
                </a:solidFill>
                <a:effectLst/>
                <a:latin typeface="Monaspace Neon" pitchFamily="50" charset="0"/>
              </a:rPr>
              <a:t> {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protected:</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typedef</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pair</a:t>
            </a:r>
            <a:r>
              <a:rPr lang="en-US" sz="1100" b="0" dirty="0">
                <a:solidFill>
                  <a:srgbClr val="D4D4D4"/>
                </a:solidFill>
                <a:effectLst/>
                <a:latin typeface="Monaspace Neon" pitchFamily="50" charset="0"/>
              </a:rPr>
              <a:t>&lt;</a:t>
            </a:r>
            <a:r>
              <a:rPr lang="en-US" sz="1100" b="0" dirty="0" err="1">
                <a:solidFill>
                  <a:srgbClr val="569CD6"/>
                </a:solidFill>
                <a:effectLst/>
                <a:latin typeface="Monaspace Neon" pitchFamily="50" charset="0"/>
              </a:rPr>
              <a:t>bool</a:t>
            </a:r>
            <a:r>
              <a:rPr lang="en-US" sz="1100" b="0" dirty="0" err="1">
                <a:solidFill>
                  <a:srgbClr val="D4D4D4"/>
                </a:solidFill>
                <a:effectLst/>
                <a:latin typeface="Monaspace Neon" pitchFamily="50" charset="0"/>
              </a:rPr>
              <a:t>,</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&gt;      </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&gt;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HasherT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mHasher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float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mMaxLoadFactor</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hash_to_bucket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mHasher</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size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linear_probing</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start_pos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col_count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start_pos</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col_count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start_pos</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hash_to_bucket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col_count</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0</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while</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true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pos</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linear_probing</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start_pos</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col_count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pos</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pos</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second</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pos</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public:</a:t>
            </a:r>
          </a:p>
          <a:p>
            <a:r>
              <a:rPr lang="en-US" sz="1100" dirty="0">
                <a:solidFill>
                  <a:srgbClr val="569CD6"/>
                </a:solidFill>
                <a:latin typeface="Monaspace Neon" pitchFamily="50" charset="0"/>
              </a:rPr>
              <a:t>    //…</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a:t>
            </a:r>
          </a:p>
        </p:txBody>
      </p:sp>
      <p:sp>
        <p:nvSpPr>
          <p:cNvPr id="6" name="Speech Bubble: Rectangle with Corners Rounded 5">
            <a:extLst>
              <a:ext uri="{FF2B5EF4-FFF2-40B4-BE49-F238E27FC236}">
                <a16:creationId xmlns:a16="http://schemas.microsoft.com/office/drawing/2014/main" id="{5757676D-7B9C-1771-206F-0B093F4751DB}"/>
              </a:ext>
            </a:extLst>
          </p:cNvPr>
          <p:cNvSpPr/>
          <p:nvPr/>
        </p:nvSpPr>
        <p:spPr>
          <a:xfrm>
            <a:off x="3365640" y="5462674"/>
            <a:ext cx="2268294" cy="1041929"/>
          </a:xfrm>
          <a:prstGeom prst="wedgeRoundRectCallout">
            <a:avLst>
              <a:gd name="adj1" fmla="val 77415"/>
              <a:gd name="adj2" fmla="val -61772"/>
              <a:gd name="adj3" fmla="val 16667"/>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err="1">
                <a:solidFill>
                  <a:srgbClr val="DCDCAA"/>
                </a:solidFill>
                <a:latin typeface="Monaspace Neon" pitchFamily="50" charset="0"/>
              </a:rPr>
              <a:t>find_bucket</a:t>
            </a:r>
            <a:r>
              <a:rPr lang="en-US" sz="1400" dirty="0">
                <a:solidFill>
                  <a:srgbClr val="DCDCAA"/>
                </a:solidFill>
                <a:latin typeface="Monaspace Neon" pitchFamily="50" charset="0"/>
              </a:rPr>
              <a:t> </a:t>
            </a:r>
            <a:r>
              <a:rPr lang="en-US" sz="1400" dirty="0"/>
              <a:t>is used in find, insert, erase to probe for a free bucket or bucket with the data</a:t>
            </a:r>
          </a:p>
        </p:txBody>
      </p:sp>
      <p:sp>
        <p:nvSpPr>
          <p:cNvPr id="7" name="Speech Bubble: Rectangle with Corners Rounded 6">
            <a:extLst>
              <a:ext uri="{FF2B5EF4-FFF2-40B4-BE49-F238E27FC236}">
                <a16:creationId xmlns:a16="http://schemas.microsoft.com/office/drawing/2014/main" id="{F8EF7D4C-72D5-8928-CB83-8972887FDAE6}"/>
              </a:ext>
            </a:extLst>
          </p:cNvPr>
          <p:cNvSpPr/>
          <p:nvPr/>
        </p:nvSpPr>
        <p:spPr>
          <a:xfrm>
            <a:off x="9974861" y="3207447"/>
            <a:ext cx="1828799" cy="707781"/>
          </a:xfrm>
          <a:prstGeom prst="wedgeRoundRectCallout">
            <a:avLst>
              <a:gd name="adj1" fmla="val -64172"/>
              <a:gd name="adj2" fmla="val 2020"/>
              <a:gd name="adj3" fmla="val 16667"/>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err="1">
                <a:solidFill>
                  <a:srgbClr val="DCDCAA"/>
                </a:solidFill>
                <a:latin typeface="Monaspace Neon" pitchFamily="50" charset="0"/>
              </a:rPr>
              <a:t>linear_probing</a:t>
            </a:r>
            <a:r>
              <a:rPr lang="en-US" sz="1400" dirty="0">
                <a:solidFill>
                  <a:srgbClr val="DCDCAA"/>
                </a:solidFill>
                <a:latin typeface="Monaspace Neon" pitchFamily="50" charset="0"/>
              </a:rPr>
              <a:t> </a:t>
            </a:r>
            <a:r>
              <a:rPr lang="en-US" sz="1400" dirty="0"/>
              <a:t>is the probing function</a:t>
            </a:r>
          </a:p>
        </p:txBody>
      </p:sp>
      <p:sp>
        <p:nvSpPr>
          <p:cNvPr id="8" name="Speech Bubble: Rectangle with Corners Rounded 7">
            <a:extLst>
              <a:ext uri="{FF2B5EF4-FFF2-40B4-BE49-F238E27FC236}">
                <a16:creationId xmlns:a16="http://schemas.microsoft.com/office/drawing/2014/main" id="{25AD12C8-DF44-6CF6-21D6-191870F74972}"/>
              </a:ext>
            </a:extLst>
          </p:cNvPr>
          <p:cNvSpPr/>
          <p:nvPr/>
        </p:nvSpPr>
        <p:spPr>
          <a:xfrm>
            <a:off x="9810402" y="2223782"/>
            <a:ext cx="1951662" cy="865465"/>
          </a:xfrm>
          <a:prstGeom prst="wedgeRoundRectCallout">
            <a:avLst>
              <a:gd name="adj1" fmla="val -102246"/>
              <a:gd name="adj2" fmla="val -48566"/>
              <a:gd name="adj3" fmla="val 16667"/>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a:t>Each bucket now contains a pair where bool indicate whether this bucket has data</a:t>
            </a:r>
          </a:p>
        </p:txBody>
      </p:sp>
    </p:spTree>
    <p:extLst>
      <p:ext uri="{BB962C8B-B14F-4D97-AF65-F5344CB8AC3E}">
        <p14:creationId xmlns:p14="http://schemas.microsoft.com/office/powerpoint/2010/main" val="132545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2BD06-EFF9-0666-8C39-C78A076494AE}"/>
              </a:ext>
            </a:extLst>
          </p:cNvPr>
          <p:cNvSpPr>
            <a:spLocks noGrp="1"/>
          </p:cNvSpPr>
          <p:nvPr>
            <p:ph type="title"/>
          </p:nvPr>
        </p:nvSpPr>
        <p:spPr/>
        <p:txBody>
          <a:bodyPr/>
          <a:lstStyle/>
          <a:p>
            <a:r>
              <a:rPr lang="en-US" dirty="0"/>
              <a:t>Open Addressing v0.1 (LP)</a:t>
            </a:r>
          </a:p>
        </p:txBody>
      </p:sp>
      <p:sp>
        <p:nvSpPr>
          <p:cNvPr id="3" name="Content Placeholder 2">
            <a:extLst>
              <a:ext uri="{FF2B5EF4-FFF2-40B4-BE49-F238E27FC236}">
                <a16:creationId xmlns:a16="http://schemas.microsoft.com/office/drawing/2014/main" id="{D1C8F8E4-F25D-1D82-0192-22FC0A0A90FD}"/>
              </a:ext>
            </a:extLst>
          </p:cNvPr>
          <p:cNvSpPr>
            <a:spLocks noGrp="1"/>
          </p:cNvSpPr>
          <p:nvPr>
            <p:ph idx="1"/>
          </p:nvPr>
        </p:nvSpPr>
        <p:spPr>
          <a:xfrm>
            <a:off x="6504214" y="1358781"/>
            <a:ext cx="4604238" cy="2810448"/>
          </a:xfrm>
        </p:spPr>
        <p:txBody>
          <a:bodyPr>
            <a:normAutofit fontScale="70000" lnSpcReduction="20000"/>
          </a:bodyPr>
          <a:lstStyle/>
          <a:p>
            <a:r>
              <a:rPr lang="en-US" dirty="0"/>
              <a:t>Again, the erase function, while might seen correct,  has issue</a:t>
            </a:r>
          </a:p>
          <a:p>
            <a:r>
              <a:rPr lang="en-US" dirty="0">
                <a:solidFill>
                  <a:srgbClr val="DCDCAA"/>
                </a:solidFill>
                <a:latin typeface="Monaspace Neon" pitchFamily="50" charset="0"/>
              </a:rPr>
              <a:t>e</a:t>
            </a:r>
            <a:r>
              <a:rPr lang="en-US" sz="2800" b="0" dirty="0">
                <a:solidFill>
                  <a:srgbClr val="DCDCAA"/>
                </a:solidFill>
                <a:effectLst/>
                <a:latin typeface="Monaspace Neon" pitchFamily="50" charset="0"/>
              </a:rPr>
              <a:t>mpty, size, </a:t>
            </a:r>
            <a:r>
              <a:rPr lang="en-US" sz="2800" b="0" dirty="0" err="1">
                <a:solidFill>
                  <a:srgbClr val="DCDCAA"/>
                </a:solidFill>
                <a:effectLst/>
                <a:latin typeface="Monaspace Neon" pitchFamily="50" charset="0"/>
              </a:rPr>
              <a:t>load_factor</a:t>
            </a:r>
            <a:r>
              <a:rPr lang="en-US" sz="2800" b="0" dirty="0">
                <a:solidFill>
                  <a:srgbClr val="DCDCAA"/>
                </a:solidFill>
                <a:effectLst/>
                <a:latin typeface="Monaspace Neon" pitchFamily="50" charset="0"/>
              </a:rPr>
              <a:t>, </a:t>
            </a:r>
            <a:r>
              <a:rPr lang="en-US" sz="2800" b="0" dirty="0" err="1">
                <a:solidFill>
                  <a:srgbClr val="DCDCAA"/>
                </a:solidFill>
                <a:effectLst/>
                <a:latin typeface="Monaspace Neon" pitchFamily="50" charset="0"/>
              </a:rPr>
              <a:t>max_load_factor</a:t>
            </a:r>
            <a:r>
              <a:rPr lang="en-US" sz="2800" b="0" dirty="0">
                <a:solidFill>
                  <a:srgbClr val="DCDCAA"/>
                </a:solidFill>
                <a:effectLst/>
                <a:latin typeface="Monaspace Neon" pitchFamily="50" charset="0"/>
              </a:rPr>
              <a:t> </a:t>
            </a:r>
            <a:r>
              <a:rPr lang="en-US" dirty="0"/>
              <a:t>and the constructor is the same as the separated chaining.</a:t>
            </a:r>
          </a:p>
        </p:txBody>
      </p:sp>
      <p:sp>
        <p:nvSpPr>
          <p:cNvPr id="7" name="TextBox 6">
            <a:extLst>
              <a:ext uri="{FF2B5EF4-FFF2-40B4-BE49-F238E27FC236}">
                <a16:creationId xmlns:a16="http://schemas.microsoft.com/office/drawing/2014/main" id="{C71BD4D5-EB25-EE21-9CF9-E45E37459E65}"/>
              </a:ext>
            </a:extLst>
          </p:cNvPr>
          <p:cNvSpPr txBox="1"/>
          <p:nvPr/>
        </p:nvSpPr>
        <p:spPr>
          <a:xfrm>
            <a:off x="838200" y="1247380"/>
            <a:ext cx="5470071" cy="5339923"/>
          </a:xfrm>
          <a:prstGeom prst="rect">
            <a:avLst/>
          </a:prstGeom>
          <a:solidFill>
            <a:schemeClr val="bg1"/>
          </a:solidFill>
          <a:ln>
            <a:solidFill>
              <a:schemeClr val="accent6"/>
            </a:solidFill>
          </a:ln>
        </p:spPr>
        <p:txBody>
          <a:bodyPr wrap="square">
            <a:spAutoFit/>
          </a:bodyPr>
          <a:lstStyle/>
          <a:p>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find</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insert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mSize</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1</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0.0</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a:solidFill>
                  <a:srgbClr val="DCDCAA"/>
                </a:solidFill>
                <a:effectLst/>
                <a:latin typeface="Monaspace Neon" pitchFamily="50" charset="0"/>
              </a:rPr>
              <a:t>size</a:t>
            </a:r>
            <a:r>
              <a:rPr lang="en-US" sz="1100" b="0" dirty="0">
                <a:solidFill>
                  <a:srgbClr val="D4D4D4"/>
                </a:solidFill>
                <a:effectLst/>
                <a:latin typeface="Monaspace Neon" pitchFamily="50" charset="0"/>
              </a:rPr>
              <a:t>()) &gt; </a:t>
            </a:r>
            <a:r>
              <a:rPr lang="en-US" sz="1100" b="0" dirty="0" err="1">
                <a:solidFill>
                  <a:srgbClr val="DCDCAA"/>
                </a:solidFill>
                <a:effectLst/>
                <a:latin typeface="Monaspace Neon" pitchFamily="50" charset="0"/>
              </a:rPr>
              <a:t>max_load_factor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rehash</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2</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a:t>
            </a:r>
          </a:p>
          <a:p>
            <a:r>
              <a:rPr lang="en-US" sz="1100" b="0" dirty="0">
                <a:solidFill>
                  <a:srgbClr val="6A9955"/>
                </a:solidFill>
                <a:effectLst/>
                <a:latin typeface="Monaspace Neon" pitchFamily="50" charset="0"/>
              </a:rPr>
              <a:t>    //found existing key, do nothing</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false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else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569CD6"/>
                </a:solidFill>
                <a:effectLst/>
                <a:latin typeface="Monaspace Neon" pitchFamily="50" charset="0"/>
              </a:rPr>
              <a:t>true</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true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erase</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a:t>
            </a:r>
          </a:p>
          <a:p>
            <a:r>
              <a:rPr lang="en-US" sz="1100" b="0" dirty="0">
                <a:solidFill>
                  <a:srgbClr val="6A9955"/>
                </a:solidFill>
                <a:effectLst/>
                <a:latin typeface="Monaspace Neon" pitchFamily="50" charset="0"/>
              </a:rPr>
              <a:t>    //found existing key, erase</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false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true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else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false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p:txBody>
      </p:sp>
      <p:sp>
        <p:nvSpPr>
          <p:cNvPr id="9" name="TextBox 8">
            <a:extLst>
              <a:ext uri="{FF2B5EF4-FFF2-40B4-BE49-F238E27FC236}">
                <a16:creationId xmlns:a16="http://schemas.microsoft.com/office/drawing/2014/main" id="{4C71608B-CC06-648C-4E07-3A7C202964BB}"/>
              </a:ext>
            </a:extLst>
          </p:cNvPr>
          <p:cNvSpPr txBox="1"/>
          <p:nvPr/>
        </p:nvSpPr>
        <p:spPr>
          <a:xfrm>
            <a:off x="4658666" y="4307157"/>
            <a:ext cx="6520962" cy="2462213"/>
          </a:xfrm>
          <a:prstGeom prst="rect">
            <a:avLst/>
          </a:prstGeom>
          <a:solidFill>
            <a:schemeClr val="bg1"/>
          </a:solidFill>
          <a:ln>
            <a:solidFill>
              <a:schemeClr val="accent6"/>
            </a:solidFill>
          </a:ln>
        </p:spPr>
        <p:txBody>
          <a:bodyPr wrap="square">
            <a:spAutoFit/>
          </a:bodyPr>
          <a:lstStyle/>
          <a:p>
            <a:r>
              <a:rPr lang="en-US" sz="1100" b="0" dirty="0">
                <a:solidFill>
                  <a:srgbClr val="569CD6"/>
                </a:solidFill>
                <a:effectLst/>
                <a:latin typeface="Monaspace Neon" pitchFamily="50" charset="0"/>
              </a:rPr>
              <a:t>void</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rehash</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load_factor</a:t>
            </a:r>
            <a:r>
              <a:rPr lang="en-US" sz="1100" b="0" dirty="0">
                <a:solidFill>
                  <a:srgbClr val="D4D4D4"/>
                </a:solidFill>
                <a:effectLst/>
                <a:latin typeface="Monaspace Neon" pitchFamily="50" charset="0"/>
              </a:rPr>
              <a:t>() &lt; </a:t>
            </a:r>
            <a:r>
              <a:rPr lang="en-US" sz="1100" b="0" dirty="0" err="1">
                <a:solidFill>
                  <a:srgbClr val="DCDCAA"/>
                </a:solidFill>
                <a:effectLst/>
                <a:latin typeface="Monaspace Neon" pitchFamily="50" charset="0"/>
              </a:rPr>
              <a:t>max_load_factor</a:t>
            </a:r>
            <a:r>
              <a:rPr lang="en-US" sz="1100" b="0" dirty="0">
                <a:solidFill>
                  <a:srgbClr val="D4D4D4"/>
                </a:solidFill>
                <a:effectLst/>
                <a:latin typeface="Monaspace Neon" pitchFamily="50" charset="0"/>
              </a:rPr>
              <a:t>() &amp;&amp;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&lt;=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size</a:t>
            </a:r>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DCDCAA"/>
                </a:solidFill>
                <a:effectLst/>
                <a:latin typeface="Monaspace Neon" pitchFamily="50" charset="0"/>
              </a:rPr>
              <a:t>max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size</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2</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&gt; </a:t>
            </a:r>
            <a:r>
              <a:rPr lang="en-US" sz="1100" b="0" dirty="0" err="1">
                <a:solidFill>
                  <a:srgbClr val="9CDCFE"/>
                </a:solidFill>
                <a:effectLst/>
                <a:latin typeface="Monaspace Neon" pitchFamily="50" charset="0"/>
              </a:rPr>
              <a:t>tmp</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for</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auto</a:t>
            </a:r>
            <a:r>
              <a:rPr lang="en-US" sz="1100" b="0" dirty="0">
                <a:solidFill>
                  <a:srgbClr val="D4D4D4"/>
                </a:solidFill>
                <a:effectLst/>
                <a:latin typeface="Monaspace Neon" pitchFamily="50" charset="0"/>
              </a:rPr>
              <a:t>&amp; </a:t>
            </a:r>
            <a:r>
              <a:rPr lang="en-US" sz="1100" b="0" dirty="0">
                <a:solidFill>
                  <a:srgbClr val="9CDCFE"/>
                </a:solidFill>
                <a:effectLst/>
                <a:latin typeface="Monaspace Neon" pitchFamily="50" charset="0"/>
              </a:rPr>
              <a:t>b</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first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tmp</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push_back</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second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0</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for</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auto</a:t>
            </a:r>
            <a:r>
              <a:rPr lang="en-US" sz="1100" b="0" dirty="0">
                <a:solidFill>
                  <a:srgbClr val="D4D4D4"/>
                </a:solidFill>
                <a:effectLst/>
                <a:latin typeface="Monaspace Neon" pitchFamily="50" charset="0"/>
              </a:rPr>
              <a:t>&amp; </a:t>
            </a:r>
            <a:r>
              <a:rPr lang="en-US" sz="1100" b="0" dirty="0">
                <a:solidFill>
                  <a:srgbClr val="9CDCFE"/>
                </a:solidFill>
                <a:effectLst/>
                <a:latin typeface="Monaspace Neon" pitchFamily="50" charset="0"/>
              </a:rPr>
              <a:t>k</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tmp</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insert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p:txBody>
      </p:sp>
    </p:spTree>
    <p:extLst>
      <p:ext uri="{BB962C8B-B14F-4D97-AF65-F5344CB8AC3E}">
        <p14:creationId xmlns:p14="http://schemas.microsoft.com/office/powerpoint/2010/main" val="3938852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4BF73-2D6A-742E-ADA7-435373237F23}"/>
              </a:ext>
            </a:extLst>
          </p:cNvPr>
          <p:cNvSpPr>
            <a:spLocks noGrp="1"/>
          </p:cNvSpPr>
          <p:nvPr>
            <p:ph type="title"/>
          </p:nvPr>
        </p:nvSpPr>
        <p:spPr/>
        <p:txBody>
          <a:bodyPr/>
          <a:lstStyle/>
          <a:p>
            <a:r>
              <a:rPr lang="en-US" dirty="0"/>
              <a:t>Erasing in Open Addressing</a:t>
            </a:r>
          </a:p>
        </p:txBody>
      </p:sp>
      <p:sp>
        <p:nvSpPr>
          <p:cNvPr id="3" name="Content Placeholder 2">
            <a:extLst>
              <a:ext uri="{FF2B5EF4-FFF2-40B4-BE49-F238E27FC236}">
                <a16:creationId xmlns:a16="http://schemas.microsoft.com/office/drawing/2014/main" id="{7575545A-D345-D359-A831-0C2B5952BF2E}"/>
              </a:ext>
            </a:extLst>
          </p:cNvPr>
          <p:cNvSpPr>
            <a:spLocks noGrp="1"/>
          </p:cNvSpPr>
          <p:nvPr>
            <p:ph idx="1"/>
          </p:nvPr>
        </p:nvSpPr>
        <p:spPr>
          <a:xfrm>
            <a:off x="838200" y="1358781"/>
            <a:ext cx="5589814" cy="5016382"/>
          </a:xfrm>
        </p:spPr>
        <p:txBody>
          <a:bodyPr>
            <a:normAutofit fontScale="92500" lnSpcReduction="20000"/>
          </a:bodyPr>
          <a:lstStyle/>
          <a:p>
            <a:r>
              <a:rPr lang="en-US" dirty="0"/>
              <a:t>Assume that we have add </a:t>
            </a:r>
            <a:r>
              <a:rPr lang="en-US" dirty="0">
                <a:solidFill>
                  <a:schemeClr val="accent4"/>
                </a:solidFill>
              </a:rPr>
              <a:t>x</a:t>
            </a:r>
            <a:r>
              <a:rPr lang="en-US" dirty="0"/>
              <a:t> and the probing function puts </a:t>
            </a:r>
            <a:r>
              <a:rPr lang="en-US" dirty="0">
                <a:solidFill>
                  <a:schemeClr val="accent4"/>
                </a:solidFill>
              </a:rPr>
              <a:t>x</a:t>
            </a:r>
            <a:r>
              <a:rPr lang="en-US" dirty="0"/>
              <a:t> at </a:t>
            </a:r>
            <a:r>
              <a:rPr lang="en-US" dirty="0">
                <a:solidFill>
                  <a:schemeClr val="accent4"/>
                </a:solidFill>
              </a:rPr>
              <a:t>h(x)</a:t>
            </a:r>
            <a:r>
              <a:rPr lang="en-US" dirty="0"/>
              <a:t> + </a:t>
            </a:r>
            <a:r>
              <a:rPr lang="en-US" dirty="0">
                <a:solidFill>
                  <a:schemeClr val="accent5"/>
                </a:solidFill>
              </a:rPr>
              <a:t>j</a:t>
            </a:r>
          </a:p>
          <a:p>
            <a:r>
              <a:rPr lang="en-US" dirty="0"/>
              <a:t>To find </a:t>
            </a:r>
            <a:r>
              <a:rPr lang="en-US" dirty="0">
                <a:solidFill>
                  <a:schemeClr val="accent4"/>
                </a:solidFill>
              </a:rPr>
              <a:t>x</a:t>
            </a:r>
            <a:r>
              <a:rPr lang="en-US" dirty="0"/>
              <a:t> later, every buckets between </a:t>
            </a:r>
            <a:r>
              <a:rPr lang="en-US" dirty="0">
                <a:solidFill>
                  <a:schemeClr val="accent4"/>
                </a:solidFill>
              </a:rPr>
              <a:t>h(x)</a:t>
            </a:r>
            <a:r>
              <a:rPr lang="en-US" dirty="0"/>
              <a:t> and </a:t>
            </a:r>
            <a:r>
              <a:rPr lang="en-US" dirty="0">
                <a:solidFill>
                  <a:schemeClr val="accent4"/>
                </a:solidFill>
              </a:rPr>
              <a:t>h(x)</a:t>
            </a:r>
            <a:r>
              <a:rPr lang="en-US" dirty="0"/>
              <a:t> + </a:t>
            </a:r>
            <a:r>
              <a:rPr lang="en-US" dirty="0">
                <a:solidFill>
                  <a:schemeClr val="accent5"/>
                </a:solidFill>
              </a:rPr>
              <a:t>j </a:t>
            </a:r>
            <a:r>
              <a:rPr lang="en-US" dirty="0"/>
              <a:t>must be occupied</a:t>
            </a:r>
          </a:p>
          <a:p>
            <a:pPr lvl="1"/>
            <a:r>
              <a:rPr lang="en-US" dirty="0"/>
              <a:t>Otherwise, the find function will report that we cannot find </a:t>
            </a:r>
            <a:r>
              <a:rPr lang="en-US" dirty="0">
                <a:solidFill>
                  <a:schemeClr val="accent4"/>
                </a:solidFill>
              </a:rPr>
              <a:t>x </a:t>
            </a:r>
          </a:p>
          <a:p>
            <a:pPr lvl="1"/>
            <a:r>
              <a:rPr lang="en-US" dirty="0"/>
              <a:t>because we start probing from </a:t>
            </a:r>
            <a:r>
              <a:rPr lang="en-US" dirty="0">
                <a:solidFill>
                  <a:schemeClr val="accent4"/>
                </a:solidFill>
              </a:rPr>
              <a:t>h(x)</a:t>
            </a:r>
            <a:r>
              <a:rPr lang="en-US" dirty="0"/>
              <a:t> and go to </a:t>
            </a:r>
            <a:r>
              <a:rPr lang="en-US" dirty="0">
                <a:solidFill>
                  <a:schemeClr val="accent4"/>
                </a:solidFill>
              </a:rPr>
              <a:t>h(x)</a:t>
            </a:r>
            <a:r>
              <a:rPr lang="en-US" dirty="0"/>
              <a:t> + </a:t>
            </a:r>
            <a:r>
              <a:rPr lang="en-US" dirty="0">
                <a:solidFill>
                  <a:schemeClr val="accent5"/>
                </a:solidFill>
              </a:rPr>
              <a:t>1</a:t>
            </a:r>
            <a:r>
              <a:rPr lang="en-US" dirty="0"/>
              <a:t>, </a:t>
            </a:r>
            <a:r>
              <a:rPr lang="en-US" dirty="0">
                <a:solidFill>
                  <a:schemeClr val="accent4"/>
                </a:solidFill>
              </a:rPr>
              <a:t>h(x)</a:t>
            </a:r>
            <a:r>
              <a:rPr lang="en-US" dirty="0"/>
              <a:t> + </a:t>
            </a:r>
            <a:r>
              <a:rPr lang="en-US" dirty="0">
                <a:solidFill>
                  <a:schemeClr val="accent5"/>
                </a:solidFill>
              </a:rPr>
              <a:t>2</a:t>
            </a:r>
            <a:r>
              <a:rPr lang="en-US" dirty="0"/>
              <a:t>, … until </a:t>
            </a:r>
            <a:r>
              <a:rPr lang="en-US" dirty="0">
                <a:solidFill>
                  <a:schemeClr val="accent4"/>
                </a:solidFill>
              </a:rPr>
              <a:t>h(x)</a:t>
            </a:r>
            <a:r>
              <a:rPr lang="en-US" dirty="0"/>
              <a:t> + </a:t>
            </a:r>
            <a:r>
              <a:rPr lang="en-US" dirty="0">
                <a:solidFill>
                  <a:schemeClr val="accent5"/>
                </a:solidFill>
              </a:rPr>
              <a:t>j</a:t>
            </a:r>
            <a:r>
              <a:rPr lang="en-US" dirty="0"/>
              <a:t> and if any of these buckets is empty, the find function will report not found</a:t>
            </a:r>
          </a:p>
        </p:txBody>
      </p:sp>
      <p:graphicFrame>
        <p:nvGraphicFramePr>
          <p:cNvPr id="4" name="Table 3">
            <a:extLst>
              <a:ext uri="{FF2B5EF4-FFF2-40B4-BE49-F238E27FC236}">
                <a16:creationId xmlns:a16="http://schemas.microsoft.com/office/drawing/2014/main" id="{BC051D22-6869-159F-0784-A4EA1B84B59B}"/>
              </a:ext>
            </a:extLst>
          </p:cNvPr>
          <p:cNvGraphicFramePr>
            <a:graphicFrameLocks noGrp="1"/>
          </p:cNvGraphicFramePr>
          <p:nvPr>
            <p:extLst>
              <p:ext uri="{D42A27DB-BD31-4B8C-83A1-F6EECF244321}">
                <p14:modId xmlns:p14="http://schemas.microsoft.com/office/powerpoint/2010/main" val="538697786"/>
              </p:ext>
            </p:extLst>
          </p:nvPr>
        </p:nvGraphicFramePr>
        <p:xfrm>
          <a:off x="7077498" y="1883737"/>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9</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2</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16</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1</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6" name="Speech Bubble: Rectangle with Corners Rounded 5">
            <a:extLst>
              <a:ext uri="{FF2B5EF4-FFF2-40B4-BE49-F238E27FC236}">
                <a16:creationId xmlns:a16="http://schemas.microsoft.com/office/drawing/2014/main" id="{A41F9FD0-29C3-AEEB-4031-27B6A0EED06A}"/>
              </a:ext>
            </a:extLst>
          </p:cNvPr>
          <p:cNvSpPr/>
          <p:nvPr/>
        </p:nvSpPr>
        <p:spPr>
          <a:xfrm>
            <a:off x="8170939" y="551659"/>
            <a:ext cx="2475289" cy="865464"/>
          </a:xfrm>
          <a:prstGeom prst="wedgeRoundRectCallout">
            <a:avLst>
              <a:gd name="adj1" fmla="val -7214"/>
              <a:gd name="adj2" fmla="val 10231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We have inserted 9, 2, 16, 1</a:t>
            </a:r>
          </a:p>
          <a:p>
            <a:pPr algn="ctr"/>
            <a:r>
              <a:rPr lang="en-US" sz="1400" dirty="0"/>
              <a:t>Where h(1) is 1 and linear probing  puts 1 at bucket 4</a:t>
            </a:r>
          </a:p>
        </p:txBody>
      </p:sp>
      <p:graphicFrame>
        <p:nvGraphicFramePr>
          <p:cNvPr id="7" name="Table 6">
            <a:extLst>
              <a:ext uri="{FF2B5EF4-FFF2-40B4-BE49-F238E27FC236}">
                <a16:creationId xmlns:a16="http://schemas.microsoft.com/office/drawing/2014/main" id="{2AFAFAEB-6B5A-4961-2A1B-1F312773994D}"/>
              </a:ext>
            </a:extLst>
          </p:cNvPr>
          <p:cNvGraphicFramePr>
            <a:graphicFrameLocks noGrp="1"/>
          </p:cNvGraphicFramePr>
          <p:nvPr>
            <p:extLst>
              <p:ext uri="{D42A27DB-BD31-4B8C-83A1-F6EECF244321}">
                <p14:modId xmlns:p14="http://schemas.microsoft.com/office/powerpoint/2010/main" val="2173691994"/>
              </p:ext>
            </p:extLst>
          </p:nvPr>
        </p:nvGraphicFramePr>
        <p:xfrm>
          <a:off x="7077498" y="3235292"/>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9</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2</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1</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8" name="Speech Bubble: Rectangle with Corners Rounded 7">
            <a:extLst>
              <a:ext uri="{FF2B5EF4-FFF2-40B4-BE49-F238E27FC236}">
                <a16:creationId xmlns:a16="http://schemas.microsoft.com/office/drawing/2014/main" id="{21601A7F-5BD4-B11A-409D-EF259C03BC29}"/>
              </a:ext>
            </a:extLst>
          </p:cNvPr>
          <p:cNvSpPr/>
          <p:nvPr/>
        </p:nvSpPr>
        <p:spPr>
          <a:xfrm>
            <a:off x="8902398" y="2642639"/>
            <a:ext cx="2094876" cy="339392"/>
          </a:xfrm>
          <a:prstGeom prst="wedgeRoundRectCallout">
            <a:avLst>
              <a:gd name="adj1" fmla="val -50495"/>
              <a:gd name="adj2" fmla="val 12500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After that, we erase 16</a:t>
            </a:r>
          </a:p>
        </p:txBody>
      </p:sp>
      <p:sp>
        <p:nvSpPr>
          <p:cNvPr id="9" name="Speech Bubble: Rectangle with Corners Rounded 8">
            <a:extLst>
              <a:ext uri="{FF2B5EF4-FFF2-40B4-BE49-F238E27FC236}">
                <a16:creationId xmlns:a16="http://schemas.microsoft.com/office/drawing/2014/main" id="{C3B8CB01-E523-EBB1-3C91-56725481EC7A}"/>
              </a:ext>
            </a:extLst>
          </p:cNvPr>
          <p:cNvSpPr/>
          <p:nvPr/>
        </p:nvSpPr>
        <p:spPr>
          <a:xfrm>
            <a:off x="6605511" y="4586847"/>
            <a:ext cx="2919490" cy="1891262"/>
          </a:xfrm>
          <a:prstGeom prst="wedgeRoundRectCallout">
            <a:avLst>
              <a:gd name="adj1" fmla="val 24826"/>
              <a:gd name="adj2" fmla="val -85901"/>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When trying to find 1</a:t>
            </a:r>
            <a:br>
              <a:rPr lang="en-US" sz="1400" dirty="0"/>
            </a:br>
            <a:r>
              <a:rPr lang="en-US" sz="1400" dirty="0"/>
              <a:t>h(1) is 1 but </a:t>
            </a:r>
            <a:r>
              <a:rPr lang="en-US" sz="1400" dirty="0" err="1"/>
              <a:t>mBuckets</a:t>
            </a:r>
            <a:r>
              <a:rPr lang="en-US" sz="1400" dirty="0"/>
              <a:t>[1] is not 1, so we look at h(1)+1  </a:t>
            </a:r>
            <a:br>
              <a:rPr lang="en-US" sz="1400" dirty="0"/>
            </a:br>
            <a:r>
              <a:rPr lang="en-US" sz="1400" dirty="0"/>
              <a:t>but </a:t>
            </a:r>
            <a:r>
              <a:rPr lang="en-US" sz="1400" dirty="0" err="1"/>
              <a:t>mBuckets</a:t>
            </a:r>
            <a:r>
              <a:rPr lang="en-US" sz="1400" dirty="0"/>
              <a:t>[h(1)+1] is not 1 as well, so we look at h(1)+2</a:t>
            </a:r>
            <a:br>
              <a:rPr lang="en-US" sz="1400" dirty="0"/>
            </a:br>
            <a:r>
              <a:rPr lang="en-US" sz="1400" dirty="0"/>
              <a:t>However, </a:t>
            </a:r>
            <a:r>
              <a:rPr lang="en-US" sz="1400" dirty="0" err="1"/>
              <a:t>mBuckets</a:t>
            </a:r>
            <a:r>
              <a:rPr lang="en-US" sz="1400" dirty="0"/>
              <a:t>[h(1)+2] is empty, so we report NOT FOUND which is wrong</a:t>
            </a:r>
          </a:p>
        </p:txBody>
      </p:sp>
    </p:spTree>
    <p:extLst>
      <p:ext uri="{BB962C8B-B14F-4D97-AF65-F5344CB8AC3E}">
        <p14:creationId xmlns:p14="http://schemas.microsoft.com/office/powerpoint/2010/main" val="36645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27CD8-143A-85E6-55FE-F270CBFF2EDA}"/>
              </a:ext>
            </a:extLst>
          </p:cNvPr>
          <p:cNvSpPr>
            <a:spLocks noGrp="1"/>
          </p:cNvSpPr>
          <p:nvPr>
            <p:ph type="title"/>
          </p:nvPr>
        </p:nvSpPr>
        <p:spPr/>
        <p:txBody>
          <a:bodyPr/>
          <a:lstStyle/>
          <a:p>
            <a:r>
              <a:rPr lang="en-US" dirty="0"/>
              <a:t>Fixing Erase in Open Addressing</a:t>
            </a:r>
          </a:p>
        </p:txBody>
      </p:sp>
      <p:sp>
        <p:nvSpPr>
          <p:cNvPr id="3" name="Content Placeholder 2">
            <a:extLst>
              <a:ext uri="{FF2B5EF4-FFF2-40B4-BE49-F238E27FC236}">
                <a16:creationId xmlns:a16="http://schemas.microsoft.com/office/drawing/2014/main" id="{E28D2625-31CB-C4D7-F9CF-2B2C10F7D413}"/>
              </a:ext>
            </a:extLst>
          </p:cNvPr>
          <p:cNvSpPr>
            <a:spLocks noGrp="1"/>
          </p:cNvSpPr>
          <p:nvPr>
            <p:ph idx="1"/>
          </p:nvPr>
        </p:nvSpPr>
        <p:spPr>
          <a:xfrm>
            <a:off x="6030686" y="1358781"/>
            <a:ext cx="5323114" cy="5016382"/>
          </a:xfrm>
        </p:spPr>
        <p:txBody>
          <a:bodyPr>
            <a:normAutofit fontScale="62500" lnSpcReduction="20000"/>
          </a:bodyPr>
          <a:lstStyle/>
          <a:p>
            <a:r>
              <a:rPr lang="en-US" dirty="0"/>
              <a:t>When </a:t>
            </a:r>
            <a:r>
              <a:rPr lang="en-US" dirty="0">
                <a:solidFill>
                  <a:schemeClr val="accent4"/>
                </a:solidFill>
              </a:rPr>
              <a:t>deleting</a:t>
            </a:r>
            <a:r>
              <a:rPr lang="en-US" dirty="0"/>
              <a:t> a data at a bucket, instead of marking the bucket as empty, we mark it as </a:t>
            </a:r>
            <a:r>
              <a:rPr lang="en-US" dirty="0">
                <a:solidFill>
                  <a:schemeClr val="accent5"/>
                </a:solidFill>
              </a:rPr>
              <a:t>erased</a:t>
            </a:r>
          </a:p>
          <a:p>
            <a:pPr lvl="1"/>
            <a:r>
              <a:rPr lang="en-US" dirty="0"/>
              <a:t>Each bucket has 3 stated, </a:t>
            </a:r>
            <a:r>
              <a:rPr lang="en-US" dirty="0">
                <a:solidFill>
                  <a:schemeClr val="accent2"/>
                </a:solidFill>
              </a:rPr>
              <a:t>EMPTY</a:t>
            </a:r>
            <a:r>
              <a:rPr lang="en-US" dirty="0"/>
              <a:t>, </a:t>
            </a:r>
            <a:r>
              <a:rPr lang="en-US" dirty="0">
                <a:solidFill>
                  <a:schemeClr val="accent5"/>
                </a:solidFill>
              </a:rPr>
              <a:t>ERASED</a:t>
            </a:r>
            <a:r>
              <a:rPr lang="en-US" dirty="0"/>
              <a:t>, </a:t>
            </a:r>
            <a:r>
              <a:rPr lang="en-US" dirty="0">
                <a:solidFill>
                  <a:schemeClr val="accent6"/>
                </a:solidFill>
              </a:rPr>
              <a:t>OCCUPIED</a:t>
            </a:r>
          </a:p>
          <a:p>
            <a:r>
              <a:rPr lang="en-US" dirty="0"/>
              <a:t>The probing works just like before, however, when it the data is not found, it should </a:t>
            </a:r>
            <a:r>
              <a:rPr lang="en-US" dirty="0">
                <a:solidFill>
                  <a:schemeClr val="accent4"/>
                </a:solidFill>
              </a:rPr>
              <a:t>return the first erased position </a:t>
            </a:r>
            <a:r>
              <a:rPr lang="en-US" dirty="0"/>
              <a:t>(or the empty position if the probing does not find any erased position)</a:t>
            </a:r>
          </a:p>
          <a:p>
            <a:pPr lvl="1"/>
            <a:r>
              <a:rPr lang="en-US" dirty="0"/>
              <a:t>We can’t stop when we find the erased position since we use Hash as a set (or map), which does not allow duplicate data</a:t>
            </a:r>
          </a:p>
          <a:p>
            <a:pPr lvl="1"/>
            <a:r>
              <a:rPr lang="en-US" dirty="0"/>
              <a:t>The probing must probe until it reaches an empty bucket or finds the searching data</a:t>
            </a:r>
          </a:p>
        </p:txBody>
      </p:sp>
      <p:graphicFrame>
        <p:nvGraphicFramePr>
          <p:cNvPr id="4" name="Table 3">
            <a:extLst>
              <a:ext uri="{FF2B5EF4-FFF2-40B4-BE49-F238E27FC236}">
                <a16:creationId xmlns:a16="http://schemas.microsoft.com/office/drawing/2014/main" id="{4564E0BE-9FA1-5FBA-0B31-03C21BB8E7A6}"/>
              </a:ext>
            </a:extLst>
          </p:cNvPr>
          <p:cNvGraphicFramePr>
            <a:graphicFrameLocks noGrp="1"/>
          </p:cNvGraphicFramePr>
          <p:nvPr>
            <p:extLst>
              <p:ext uri="{D42A27DB-BD31-4B8C-83A1-F6EECF244321}">
                <p14:modId xmlns:p14="http://schemas.microsoft.com/office/powerpoint/2010/main" val="3201295007"/>
              </p:ext>
            </p:extLst>
          </p:nvPr>
        </p:nvGraphicFramePr>
        <p:xfrm>
          <a:off x="1155669" y="2026977"/>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9</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2</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accent2"/>
                          </a:solidFill>
                        </a:rPr>
                        <a:t>■</a:t>
                      </a:r>
                      <a:endParaRPr lang="th-TH" sz="1600" b="1" dirty="0">
                        <a:solidFill>
                          <a:schemeClr val="accent2"/>
                        </a:solidFill>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1</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5" name="Speech Bubble: Rectangle with Corners Rounded 4">
            <a:extLst>
              <a:ext uri="{FF2B5EF4-FFF2-40B4-BE49-F238E27FC236}">
                <a16:creationId xmlns:a16="http://schemas.microsoft.com/office/drawing/2014/main" id="{5242D72E-D7F2-4416-6291-C72F1B9FDC66}"/>
              </a:ext>
            </a:extLst>
          </p:cNvPr>
          <p:cNvSpPr/>
          <p:nvPr/>
        </p:nvSpPr>
        <p:spPr>
          <a:xfrm>
            <a:off x="947057" y="1165282"/>
            <a:ext cx="2128157" cy="583987"/>
          </a:xfrm>
          <a:prstGeom prst="wedgeRoundRectCallout">
            <a:avLst>
              <a:gd name="adj1" fmla="val 35312"/>
              <a:gd name="adj2" fmla="val 8211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400" dirty="0"/>
              <a:t>Red block indicates that the bucket is erased</a:t>
            </a:r>
          </a:p>
        </p:txBody>
      </p:sp>
      <p:sp>
        <p:nvSpPr>
          <p:cNvPr id="6" name="Speech Bubble: Rectangle with Corners Rounded 5">
            <a:extLst>
              <a:ext uri="{FF2B5EF4-FFF2-40B4-BE49-F238E27FC236}">
                <a16:creationId xmlns:a16="http://schemas.microsoft.com/office/drawing/2014/main" id="{425B76E5-62C6-4416-25A4-DC27478BF70C}"/>
              </a:ext>
            </a:extLst>
          </p:cNvPr>
          <p:cNvSpPr/>
          <p:nvPr/>
        </p:nvSpPr>
        <p:spPr>
          <a:xfrm>
            <a:off x="3695700" y="3121422"/>
            <a:ext cx="2280557" cy="954104"/>
          </a:xfrm>
          <a:prstGeom prst="wedgeRoundRectCallout">
            <a:avLst>
              <a:gd name="adj1" fmla="val -53311"/>
              <a:gd name="adj2" fmla="val -6604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400" dirty="0"/>
              <a:t>When find(1), the probing function should go over bucket 1, 2, 3 then 4, not stopping at 3</a:t>
            </a:r>
          </a:p>
        </p:txBody>
      </p:sp>
      <p:graphicFrame>
        <p:nvGraphicFramePr>
          <p:cNvPr id="7" name="Table 6">
            <a:extLst>
              <a:ext uri="{FF2B5EF4-FFF2-40B4-BE49-F238E27FC236}">
                <a16:creationId xmlns:a16="http://schemas.microsoft.com/office/drawing/2014/main" id="{8B86620D-E451-C5C6-67B4-9E3C89F2A7B5}"/>
              </a:ext>
            </a:extLst>
          </p:cNvPr>
          <p:cNvGraphicFramePr>
            <a:graphicFrameLocks noGrp="1"/>
          </p:cNvGraphicFramePr>
          <p:nvPr>
            <p:extLst>
              <p:ext uri="{D42A27DB-BD31-4B8C-83A1-F6EECF244321}">
                <p14:modId xmlns:p14="http://schemas.microsoft.com/office/powerpoint/2010/main" val="3896890832"/>
              </p:ext>
            </p:extLst>
          </p:nvPr>
        </p:nvGraphicFramePr>
        <p:xfrm>
          <a:off x="1155669" y="4222451"/>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9</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2</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accent2"/>
                          </a:solidFill>
                        </a:rPr>
                        <a:t>■</a:t>
                      </a:r>
                      <a:endParaRPr lang="th-TH" sz="1600" b="1" dirty="0">
                        <a:solidFill>
                          <a:schemeClr val="accent2"/>
                        </a:solidFill>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1</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8" name="Arrow: Down 7">
            <a:extLst>
              <a:ext uri="{FF2B5EF4-FFF2-40B4-BE49-F238E27FC236}">
                <a16:creationId xmlns:a16="http://schemas.microsoft.com/office/drawing/2014/main" id="{769B498E-4799-FC9A-88C0-74655CE176D5}"/>
              </a:ext>
            </a:extLst>
          </p:cNvPr>
          <p:cNvSpPr/>
          <p:nvPr/>
        </p:nvSpPr>
        <p:spPr>
          <a:xfrm rot="10800000">
            <a:off x="2242457" y="5001056"/>
            <a:ext cx="303335" cy="386862"/>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 name="Speech Bubble: Rectangle with Corners Rounded 8">
            <a:extLst>
              <a:ext uri="{FF2B5EF4-FFF2-40B4-BE49-F238E27FC236}">
                <a16:creationId xmlns:a16="http://schemas.microsoft.com/office/drawing/2014/main" id="{BAFEAEB7-8DCB-0CE2-8460-DA9D5168F59F}"/>
              </a:ext>
            </a:extLst>
          </p:cNvPr>
          <p:cNvSpPr/>
          <p:nvPr/>
        </p:nvSpPr>
        <p:spPr>
          <a:xfrm>
            <a:off x="1025391" y="5692718"/>
            <a:ext cx="3816030" cy="1107677"/>
          </a:xfrm>
          <a:prstGeom prst="wedgeRoundRectCallout">
            <a:avLst>
              <a:gd name="adj1" fmla="val 24438"/>
              <a:gd name="adj2" fmla="val -71019"/>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400" dirty="0"/>
              <a:t>When inserting 10, where h(10) is 2, the probing function should locate the bucket 3 but it has to probe until an empty bucket as well to make sure that there is no 10</a:t>
            </a:r>
          </a:p>
        </p:txBody>
      </p:sp>
      <p:sp>
        <p:nvSpPr>
          <p:cNvPr id="10" name="Arrow: Down 9">
            <a:extLst>
              <a:ext uri="{FF2B5EF4-FFF2-40B4-BE49-F238E27FC236}">
                <a16:creationId xmlns:a16="http://schemas.microsoft.com/office/drawing/2014/main" id="{1A87290E-548C-290E-291A-0CBEE8B85DFA}"/>
              </a:ext>
            </a:extLst>
          </p:cNvPr>
          <p:cNvSpPr/>
          <p:nvPr/>
        </p:nvSpPr>
        <p:spPr>
          <a:xfrm rot="10800000">
            <a:off x="1762962" y="2833046"/>
            <a:ext cx="303335" cy="386862"/>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DFC68BF-1D1E-2402-C9EF-31BF59E83C17}"/>
              </a:ext>
            </a:extLst>
          </p:cNvPr>
          <p:cNvSpPr txBox="1"/>
          <p:nvPr/>
        </p:nvSpPr>
        <p:spPr>
          <a:xfrm>
            <a:off x="2699855" y="4567829"/>
            <a:ext cx="442850" cy="246221"/>
          </a:xfrm>
          <a:prstGeom prst="rect">
            <a:avLst/>
          </a:prstGeom>
          <a:solidFill>
            <a:srgbClr val="314C32"/>
          </a:solidFill>
        </p:spPr>
        <p:txBody>
          <a:bodyPr wrap="square" tIns="0" bIns="0" rtlCol="0">
            <a:spAutoFit/>
          </a:bodyPr>
          <a:lstStyle/>
          <a:p>
            <a:r>
              <a:rPr lang="en-US" sz="1600" dirty="0"/>
              <a:t>10</a:t>
            </a:r>
            <a:endParaRPr lang="en-US" dirty="0"/>
          </a:p>
        </p:txBody>
      </p:sp>
    </p:spTree>
    <p:extLst>
      <p:ext uri="{BB962C8B-B14F-4D97-AF65-F5344CB8AC3E}">
        <p14:creationId xmlns:p14="http://schemas.microsoft.com/office/powerpoint/2010/main" val="189789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path" presetSubtype="0" accel="50000" decel="50000" fill="hold" grpId="0" nodeType="clickEffect">
                                  <p:stCondLst>
                                    <p:cond delay="0"/>
                                  </p:stCondLst>
                                  <p:childTnLst>
                                    <p:animMotion origin="layout" path="M -1.25E-6 -3.7037E-6 L 0.01081 0.02547 C 0.01302 0.03149 0.01641 0.03473 0.01992 0.03473 C 0.02396 0.03473 0.02721 0.03149 0.02943 0.02547 L 0.04037 -3.7037E-6 " pathEditMode="relative" rAng="0" ptsTypes="AAAAA">
                                      <p:cBhvr>
                                        <p:cTn id="26" dur="700" fill="hold"/>
                                        <p:tgtEl>
                                          <p:spTgt spid="10"/>
                                        </p:tgtEl>
                                        <p:attrNameLst>
                                          <p:attrName>ppt_x</p:attrName>
                                          <p:attrName>ppt_y</p:attrName>
                                        </p:attrNameLst>
                                      </p:cBhvr>
                                      <p:rCtr x="2018" y="1736"/>
                                    </p:animMotion>
                                  </p:childTnLst>
                                </p:cTn>
                              </p:par>
                            </p:childTnLst>
                          </p:cTn>
                        </p:par>
                      </p:childTnLst>
                    </p:cTn>
                  </p:par>
                  <p:par>
                    <p:cTn id="27" fill="hold">
                      <p:stCondLst>
                        <p:cond delay="indefinite"/>
                      </p:stCondLst>
                      <p:childTnLst>
                        <p:par>
                          <p:cTn id="28" fill="hold">
                            <p:stCondLst>
                              <p:cond delay="0"/>
                            </p:stCondLst>
                            <p:childTnLst>
                              <p:par>
                                <p:cTn id="29" presetID="37" presetClass="path" presetSubtype="0" accel="50000" decel="50000" fill="hold" grpId="2" nodeType="clickEffect">
                                  <p:stCondLst>
                                    <p:cond delay="0"/>
                                  </p:stCondLst>
                                  <p:childTnLst>
                                    <p:animMotion origin="layout" path="M 0.04037 -3.7037E-6 L 0.05221 0.0257 C 0.05482 0.03149 0.05846 0.03473 0.0625 0.03473 C 0.06693 0.03473 0.07057 0.03149 0.07305 0.0257 L 0.08516 -3.7037E-6 " pathEditMode="relative" rAng="0" ptsTypes="AAAAA">
                                      <p:cBhvr>
                                        <p:cTn id="30" dur="700" fill="hold"/>
                                        <p:tgtEl>
                                          <p:spTgt spid="10"/>
                                        </p:tgtEl>
                                        <p:attrNameLst>
                                          <p:attrName>ppt_x</p:attrName>
                                          <p:attrName>ppt_y</p:attrName>
                                        </p:attrNameLst>
                                      </p:cBhvr>
                                      <p:rCtr x="2240" y="1736"/>
                                    </p:animMotion>
                                  </p:childTnLst>
                                </p:cTn>
                              </p:par>
                            </p:childTnLst>
                          </p:cTn>
                        </p:par>
                      </p:childTnLst>
                    </p:cTn>
                  </p:par>
                  <p:par>
                    <p:cTn id="31" fill="hold">
                      <p:stCondLst>
                        <p:cond delay="indefinite"/>
                      </p:stCondLst>
                      <p:childTnLst>
                        <p:par>
                          <p:cTn id="32" fill="hold">
                            <p:stCondLst>
                              <p:cond delay="0"/>
                            </p:stCondLst>
                            <p:childTnLst>
                              <p:par>
                                <p:cTn id="33" presetID="37" presetClass="path" presetSubtype="0" accel="50000" decel="50000" fill="hold" grpId="3" nodeType="clickEffect">
                                  <p:stCondLst>
                                    <p:cond delay="0"/>
                                  </p:stCondLst>
                                  <p:childTnLst>
                                    <p:animMotion origin="layout" path="M 0.08516 -3.7037E-6 L 0.09531 0.0257 C 0.09753 0.03149 0.10078 0.03473 0.10417 0.03473 C 0.10794 0.03473 0.11107 0.03149 0.11315 0.0257 L 0.12357 -3.7037E-6 " pathEditMode="relative" rAng="0" ptsTypes="AAAAA">
                                      <p:cBhvr>
                                        <p:cTn id="34" dur="700" fill="hold"/>
                                        <p:tgtEl>
                                          <p:spTgt spid="10"/>
                                        </p:tgtEl>
                                        <p:attrNameLst>
                                          <p:attrName>ppt_x</p:attrName>
                                          <p:attrName>ppt_y</p:attrName>
                                        </p:attrNameLst>
                                      </p:cBhvr>
                                      <p:rCtr x="1914" y="1736"/>
                                    </p:animMotion>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1"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37" presetClass="path" presetSubtype="0" accel="50000" decel="50000" fill="hold" grpId="0" nodeType="clickEffect">
                                  <p:stCondLst>
                                    <p:cond delay="0"/>
                                  </p:stCondLst>
                                  <p:childTnLst>
                                    <p:animMotion origin="layout" path="M -4.16667E-6 2.59259E-6 L 0.01081 0.02546 C 0.01303 0.03148 0.01641 0.03472 0.01993 0.03472 C 0.02396 0.03472 0.02722 0.03148 0.02943 0.02546 L 0.04037 2.59259E-6 " pathEditMode="relative" rAng="0" ptsTypes="AAAAA">
                                      <p:cBhvr>
                                        <p:cTn id="53" dur="700" fill="hold"/>
                                        <p:tgtEl>
                                          <p:spTgt spid="8"/>
                                        </p:tgtEl>
                                        <p:attrNameLst>
                                          <p:attrName>ppt_x</p:attrName>
                                          <p:attrName>ppt_y</p:attrName>
                                        </p:attrNameLst>
                                      </p:cBhvr>
                                      <p:rCtr x="2018" y="1736"/>
                                    </p:animMotion>
                                  </p:childTnLst>
                                </p:cTn>
                              </p:par>
                            </p:childTnLst>
                          </p:cTn>
                        </p:par>
                      </p:childTnLst>
                    </p:cTn>
                  </p:par>
                  <p:par>
                    <p:cTn id="54" fill="hold">
                      <p:stCondLst>
                        <p:cond delay="indefinite"/>
                      </p:stCondLst>
                      <p:childTnLst>
                        <p:par>
                          <p:cTn id="55" fill="hold">
                            <p:stCondLst>
                              <p:cond delay="0"/>
                            </p:stCondLst>
                            <p:childTnLst>
                              <p:par>
                                <p:cTn id="56" presetID="37" presetClass="path" presetSubtype="0" accel="50000" decel="50000" fill="hold" grpId="2" nodeType="clickEffect">
                                  <p:stCondLst>
                                    <p:cond delay="0"/>
                                  </p:stCondLst>
                                  <p:childTnLst>
                                    <p:animMotion origin="layout" path="M 0.04037 2.59259E-6 L 0.05222 0.02569 C 0.05482 0.03148 0.05847 0.03472 0.0625 0.03472 C 0.06693 0.03472 0.07058 0.03148 0.07305 0.02569 L 0.08516 2.59259E-6 " pathEditMode="relative" rAng="0" ptsTypes="AAAAA">
                                      <p:cBhvr>
                                        <p:cTn id="57" dur="700" fill="hold"/>
                                        <p:tgtEl>
                                          <p:spTgt spid="8"/>
                                        </p:tgtEl>
                                        <p:attrNameLst>
                                          <p:attrName>ppt_x</p:attrName>
                                          <p:attrName>ppt_y</p:attrName>
                                        </p:attrNameLst>
                                      </p:cBhvr>
                                      <p:rCtr x="2240" y="1736"/>
                                    </p:animMotion>
                                  </p:childTnLst>
                                </p:cTn>
                              </p:par>
                            </p:childTnLst>
                          </p:cTn>
                        </p:par>
                      </p:childTnLst>
                    </p:cTn>
                  </p:par>
                  <p:par>
                    <p:cTn id="58" fill="hold">
                      <p:stCondLst>
                        <p:cond delay="indefinite"/>
                      </p:stCondLst>
                      <p:childTnLst>
                        <p:par>
                          <p:cTn id="59" fill="hold">
                            <p:stCondLst>
                              <p:cond delay="0"/>
                            </p:stCondLst>
                            <p:childTnLst>
                              <p:par>
                                <p:cTn id="60" presetID="37" presetClass="path" presetSubtype="0" accel="50000" decel="50000" fill="hold" grpId="3" nodeType="clickEffect">
                                  <p:stCondLst>
                                    <p:cond delay="0"/>
                                  </p:stCondLst>
                                  <p:childTnLst>
                                    <p:animMotion origin="layout" path="M 0.08516 2.59259E-6 L 0.09532 0.02569 C 0.09753 0.03148 0.10079 0.03472 0.10417 0.03472 C 0.10795 0.03472 0.11107 0.03148 0.11316 0.02569 L 0.12357 2.59259E-6 " pathEditMode="relative" rAng="0" ptsTypes="AAAAA">
                                      <p:cBhvr>
                                        <p:cTn id="61" dur="700" fill="hold"/>
                                        <p:tgtEl>
                                          <p:spTgt spid="8"/>
                                        </p:tgtEl>
                                        <p:attrNameLst>
                                          <p:attrName>ppt_x</p:attrName>
                                          <p:attrName>ppt_y</p:attrName>
                                        </p:attrNameLst>
                                      </p:cBhvr>
                                      <p:rCtr x="1914" y="1736"/>
                                    </p:animMotion>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8" grpId="1" animBg="1"/>
      <p:bldP spid="8" grpId="2" animBg="1"/>
      <p:bldP spid="8" grpId="3" animBg="1"/>
      <p:bldP spid="9" grpId="0" animBg="1"/>
      <p:bldP spid="10" grpId="0" animBg="1"/>
      <p:bldP spid="10" grpId="1" animBg="1"/>
      <p:bldP spid="10" grpId="2" animBg="1"/>
      <p:bldP spid="10" grpId="3"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4F0D3-9FF0-1A48-AB21-C722714A49A6}"/>
              </a:ext>
            </a:extLst>
          </p:cNvPr>
          <p:cNvSpPr>
            <a:spLocks noGrp="1"/>
          </p:cNvSpPr>
          <p:nvPr>
            <p:ph type="title"/>
          </p:nvPr>
        </p:nvSpPr>
        <p:spPr/>
        <p:txBody>
          <a:bodyPr/>
          <a:lstStyle/>
          <a:p>
            <a:r>
              <a:rPr lang="en-US" dirty="0"/>
              <a:t>Open Addressing v0.2 (LP)</a:t>
            </a:r>
          </a:p>
        </p:txBody>
      </p:sp>
      <p:sp>
        <p:nvSpPr>
          <p:cNvPr id="3" name="Content Placeholder 2">
            <a:extLst>
              <a:ext uri="{FF2B5EF4-FFF2-40B4-BE49-F238E27FC236}">
                <a16:creationId xmlns:a16="http://schemas.microsoft.com/office/drawing/2014/main" id="{F4801D1F-469E-854D-1130-C8868456A343}"/>
              </a:ext>
            </a:extLst>
          </p:cNvPr>
          <p:cNvSpPr>
            <a:spLocks noGrp="1"/>
          </p:cNvSpPr>
          <p:nvPr>
            <p:ph idx="1"/>
          </p:nvPr>
        </p:nvSpPr>
        <p:spPr>
          <a:xfrm>
            <a:off x="7010400" y="1358781"/>
            <a:ext cx="4343400" cy="5016382"/>
          </a:xfrm>
        </p:spPr>
        <p:txBody>
          <a:bodyPr/>
          <a:lstStyle/>
          <a:p>
            <a:r>
              <a:rPr lang="en-US" dirty="0"/>
              <a:t>Fixed the erase problem</a:t>
            </a:r>
          </a:p>
          <a:p>
            <a:r>
              <a:rPr lang="en-US" dirty="0"/>
              <a:t>Bucket is a pair of state and the data</a:t>
            </a:r>
          </a:p>
          <a:p>
            <a:r>
              <a:rPr lang="en-US" dirty="0"/>
              <a:t>Find now handle all 3 states</a:t>
            </a:r>
          </a:p>
        </p:txBody>
      </p:sp>
      <p:sp>
        <p:nvSpPr>
          <p:cNvPr id="5" name="TextBox 4">
            <a:extLst>
              <a:ext uri="{FF2B5EF4-FFF2-40B4-BE49-F238E27FC236}">
                <a16:creationId xmlns:a16="http://schemas.microsoft.com/office/drawing/2014/main" id="{3D05BAEE-FBEC-E20D-08FF-5418D66D3928}"/>
              </a:ext>
            </a:extLst>
          </p:cNvPr>
          <p:cNvSpPr txBox="1"/>
          <p:nvPr/>
        </p:nvSpPr>
        <p:spPr>
          <a:xfrm>
            <a:off x="838200" y="1495431"/>
            <a:ext cx="5516880" cy="523220"/>
          </a:xfrm>
          <a:prstGeom prst="rect">
            <a:avLst/>
          </a:prstGeom>
          <a:solidFill>
            <a:schemeClr val="bg1"/>
          </a:solidFill>
          <a:ln>
            <a:solidFill>
              <a:schemeClr val="accent6"/>
            </a:solidFill>
          </a:ln>
        </p:spPr>
        <p:txBody>
          <a:bodyPr wrap="square">
            <a:spAutoFit/>
          </a:bodyPr>
          <a:lstStyle/>
          <a:p>
            <a:r>
              <a:rPr lang="en-US" sz="1400" b="0" dirty="0" err="1">
                <a:solidFill>
                  <a:srgbClr val="569CD6"/>
                </a:solidFill>
                <a:effectLst/>
                <a:latin typeface="Monaspace Neon" pitchFamily="50" charset="0"/>
              </a:rPr>
              <a:t>enum</a:t>
            </a:r>
            <a:r>
              <a:rPr lang="en-US" sz="1400" b="0" dirty="0">
                <a:solidFill>
                  <a:srgbClr val="D4D4D4"/>
                </a:solidFill>
                <a:effectLst/>
                <a:latin typeface="Monaspace Neon" pitchFamily="50" charset="0"/>
              </a:rPr>
              <a:t> </a:t>
            </a:r>
            <a:r>
              <a:rPr lang="en-US" sz="1400" b="0" dirty="0">
                <a:solidFill>
                  <a:srgbClr val="4EC9B0"/>
                </a:solidFill>
                <a:effectLst/>
                <a:latin typeface="Monaspace Neon" pitchFamily="50" charset="0"/>
              </a:rPr>
              <a:t>state</a:t>
            </a:r>
            <a:r>
              <a:rPr lang="en-US" sz="1400" b="0" dirty="0">
                <a:solidFill>
                  <a:srgbClr val="D4D4D4"/>
                </a:solidFill>
                <a:effectLst/>
                <a:latin typeface="Monaspace Neon" pitchFamily="50" charset="0"/>
              </a:rPr>
              <a:t> {</a:t>
            </a:r>
            <a:r>
              <a:rPr lang="en-US" sz="1400" b="0" dirty="0">
                <a:solidFill>
                  <a:srgbClr val="4FC1FF"/>
                </a:solidFill>
                <a:effectLst/>
                <a:latin typeface="Monaspace Neon" pitchFamily="50" charset="0"/>
              </a:rPr>
              <a:t>EMPTY</a:t>
            </a:r>
            <a:r>
              <a:rPr lang="en-US" sz="1400" b="0" dirty="0">
                <a:solidFill>
                  <a:srgbClr val="D4D4D4"/>
                </a:solidFill>
                <a:effectLst/>
                <a:latin typeface="Monaspace Neon" pitchFamily="50" charset="0"/>
              </a:rPr>
              <a:t>, </a:t>
            </a:r>
            <a:r>
              <a:rPr lang="en-US" sz="1400" b="0" dirty="0">
                <a:solidFill>
                  <a:srgbClr val="4FC1FF"/>
                </a:solidFill>
                <a:effectLst/>
                <a:latin typeface="Monaspace Neon" pitchFamily="50" charset="0"/>
              </a:rPr>
              <a:t>ERASED</a:t>
            </a:r>
            <a:r>
              <a:rPr lang="en-US" sz="1400" b="0" dirty="0">
                <a:solidFill>
                  <a:srgbClr val="D4D4D4"/>
                </a:solidFill>
                <a:effectLst/>
                <a:latin typeface="Monaspace Neon" pitchFamily="50" charset="0"/>
              </a:rPr>
              <a:t>, </a:t>
            </a:r>
            <a:r>
              <a:rPr lang="en-US" sz="1400" b="0" dirty="0">
                <a:solidFill>
                  <a:srgbClr val="4FC1FF"/>
                </a:solidFill>
                <a:effectLst/>
                <a:latin typeface="Monaspace Neon" pitchFamily="50" charset="0"/>
              </a:rPr>
              <a:t>OCCUPIED</a:t>
            </a:r>
            <a:r>
              <a:rPr lang="en-US" sz="1400" b="0" dirty="0">
                <a:solidFill>
                  <a:srgbClr val="D4D4D4"/>
                </a:solidFill>
                <a:effectLst/>
                <a:latin typeface="Monaspace Neon" pitchFamily="50" charset="0"/>
              </a:rPr>
              <a:t>};</a:t>
            </a:r>
          </a:p>
          <a:p>
            <a:r>
              <a:rPr lang="en-US" sz="1400" b="0" dirty="0">
                <a:solidFill>
                  <a:srgbClr val="569CD6"/>
                </a:solidFill>
                <a:effectLst/>
                <a:latin typeface="Monaspace Neon" pitchFamily="50" charset="0"/>
              </a:rPr>
              <a:t>typedef</a:t>
            </a:r>
            <a:r>
              <a:rPr lang="en-US" sz="1400" b="0" dirty="0">
                <a:solidFill>
                  <a:srgbClr val="D4D4D4"/>
                </a:solidFill>
                <a:effectLst/>
                <a:latin typeface="Monaspace Neon" pitchFamily="50" charset="0"/>
              </a:rPr>
              <a:t> </a:t>
            </a:r>
            <a:r>
              <a:rPr lang="en-US" sz="1400" b="0" dirty="0">
                <a:solidFill>
                  <a:srgbClr val="4EC9B0"/>
                </a:solidFill>
                <a:effectLst/>
                <a:latin typeface="Monaspace Neon" pitchFamily="50" charset="0"/>
              </a:rPr>
              <a:t>std</a:t>
            </a:r>
            <a:r>
              <a:rPr lang="en-US" sz="1400" b="0" dirty="0">
                <a:solidFill>
                  <a:srgbClr val="D4D4D4"/>
                </a:solidFill>
                <a:effectLst/>
                <a:latin typeface="Monaspace Neon" pitchFamily="50" charset="0"/>
              </a:rPr>
              <a:t>::</a:t>
            </a:r>
            <a:r>
              <a:rPr lang="en-US" sz="1400" b="0" dirty="0">
                <a:solidFill>
                  <a:srgbClr val="4EC9B0"/>
                </a:solidFill>
                <a:effectLst/>
                <a:latin typeface="Monaspace Neon" pitchFamily="50" charset="0"/>
              </a:rPr>
              <a:t>pair</a:t>
            </a:r>
            <a:r>
              <a:rPr lang="en-US" sz="1400" b="0" dirty="0">
                <a:solidFill>
                  <a:srgbClr val="D4D4D4"/>
                </a:solidFill>
                <a:effectLst/>
                <a:latin typeface="Monaspace Neon" pitchFamily="50" charset="0"/>
              </a:rPr>
              <a:t>&lt;</a:t>
            </a:r>
            <a:r>
              <a:rPr lang="en-US" sz="1400" b="0" dirty="0" err="1">
                <a:solidFill>
                  <a:srgbClr val="4EC9B0"/>
                </a:solidFill>
                <a:effectLst/>
                <a:latin typeface="Monaspace Neon" pitchFamily="50" charset="0"/>
              </a:rPr>
              <a:t>state</a:t>
            </a:r>
            <a:r>
              <a:rPr lang="en-US" sz="1400" b="0" dirty="0" err="1">
                <a:solidFill>
                  <a:srgbClr val="D4D4D4"/>
                </a:solidFill>
                <a:effectLst/>
                <a:latin typeface="Monaspace Neon" pitchFamily="50" charset="0"/>
              </a:rPr>
              <a:t>,</a:t>
            </a:r>
            <a:r>
              <a:rPr lang="en-US" sz="1400" b="0" dirty="0" err="1">
                <a:solidFill>
                  <a:srgbClr val="4EC9B0"/>
                </a:solidFill>
                <a:effectLst/>
                <a:latin typeface="Monaspace Neon" pitchFamily="50" charset="0"/>
              </a:rPr>
              <a:t>KeyT</a:t>
            </a:r>
            <a:r>
              <a:rPr lang="en-US" sz="1400" b="0" dirty="0">
                <a:solidFill>
                  <a:srgbClr val="D4D4D4"/>
                </a:solidFill>
                <a:effectLst/>
                <a:latin typeface="Monaspace Neon" pitchFamily="50" charset="0"/>
              </a:rPr>
              <a:t>&gt;      </a:t>
            </a:r>
            <a:r>
              <a:rPr lang="en-US" sz="1400" b="0" dirty="0" err="1">
                <a:solidFill>
                  <a:srgbClr val="4EC9B0"/>
                </a:solidFill>
                <a:effectLst/>
                <a:latin typeface="Monaspace Neon" pitchFamily="50" charset="0"/>
              </a:rPr>
              <a:t>BucketT</a:t>
            </a:r>
            <a:r>
              <a:rPr lang="en-US" sz="1400" b="0" dirty="0">
                <a:solidFill>
                  <a:srgbClr val="D4D4D4"/>
                </a:solidFill>
                <a:effectLst/>
                <a:latin typeface="Monaspace Neon" pitchFamily="50" charset="0"/>
              </a:rPr>
              <a:t>;</a:t>
            </a:r>
          </a:p>
        </p:txBody>
      </p:sp>
      <p:sp>
        <p:nvSpPr>
          <p:cNvPr id="7" name="TextBox 6">
            <a:extLst>
              <a:ext uri="{FF2B5EF4-FFF2-40B4-BE49-F238E27FC236}">
                <a16:creationId xmlns:a16="http://schemas.microsoft.com/office/drawing/2014/main" id="{81CE225C-6C4E-F16D-02B2-16039592EFA4}"/>
              </a:ext>
            </a:extLst>
          </p:cNvPr>
          <p:cNvSpPr txBox="1"/>
          <p:nvPr/>
        </p:nvSpPr>
        <p:spPr>
          <a:xfrm>
            <a:off x="838200" y="2462719"/>
            <a:ext cx="5516880" cy="3970318"/>
          </a:xfrm>
          <a:prstGeom prst="rect">
            <a:avLst/>
          </a:prstGeom>
          <a:solidFill>
            <a:schemeClr val="bg1"/>
          </a:solidFill>
          <a:ln>
            <a:solidFill>
              <a:schemeClr val="accent6"/>
            </a:solidFill>
          </a:ln>
        </p:spPr>
        <p:txBody>
          <a:bodyPr wrap="square">
            <a:spAutoFit/>
          </a:bodyPr>
          <a:lstStyle/>
          <a:p>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find_bucket</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&amp;</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start_pos</a:t>
            </a:r>
            <a:r>
              <a:rPr lang="en-US" sz="1200" b="0" dirty="0">
                <a:solidFill>
                  <a:srgbClr val="D4D4D4"/>
                </a:solidFill>
                <a:effectLst/>
                <a:latin typeface="Monaspace Neon" pitchFamily="50" charset="0"/>
              </a:rPr>
              <a:t> = </a:t>
            </a:r>
            <a:r>
              <a:rPr lang="en-US" sz="1200" b="0" dirty="0" err="1">
                <a:solidFill>
                  <a:srgbClr val="DCDCAA"/>
                </a:solidFill>
                <a:effectLst/>
                <a:latin typeface="Monaspace Neon" pitchFamily="50" charset="0"/>
              </a:rPr>
              <a:t>hash_to_bucket</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first_erased</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0</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bool</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found_erased</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false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col_count</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0</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while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true</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pos</a:t>
            </a:r>
            <a:r>
              <a:rPr lang="en-US" sz="1200" b="0" dirty="0">
                <a:solidFill>
                  <a:srgbClr val="D4D4D4"/>
                </a:solidFill>
                <a:effectLst/>
                <a:latin typeface="Monaspace Neon" pitchFamily="50" charset="0"/>
              </a:rPr>
              <a:t> = </a:t>
            </a:r>
            <a:r>
              <a:rPr lang="en-US" sz="1200" b="0" dirty="0" err="1">
                <a:solidFill>
                  <a:srgbClr val="DCDCAA"/>
                </a:solidFill>
                <a:effectLst/>
                <a:latin typeface="Monaspace Neon" pitchFamily="50" charset="0"/>
              </a:rPr>
              <a:t>linear_probing</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start_pos</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col_count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switch</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mBuckets</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pos</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first</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case</a:t>
            </a:r>
            <a:r>
              <a:rPr lang="en-US" sz="1200" b="0" dirty="0">
                <a:solidFill>
                  <a:srgbClr val="D4D4D4"/>
                </a:solidFill>
                <a:effectLst/>
                <a:latin typeface="Monaspace Neon" pitchFamily="50" charset="0"/>
              </a:rPr>
              <a:t> ERASED:</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found_erased</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true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first_erased</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pos</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break</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case</a:t>
            </a:r>
            <a:r>
              <a:rPr lang="en-US" sz="1200" b="0" dirty="0">
                <a:solidFill>
                  <a:srgbClr val="D4D4D4"/>
                </a:solidFill>
                <a:effectLst/>
                <a:latin typeface="Monaspace Neon" pitchFamily="50" charset="0"/>
              </a:rPr>
              <a:t> EMPTY:</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found_erased</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first_erased</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pos</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case</a:t>
            </a:r>
            <a:r>
              <a:rPr lang="en-US" sz="1200" b="0" dirty="0">
                <a:solidFill>
                  <a:srgbClr val="D4D4D4"/>
                </a:solidFill>
                <a:effectLst/>
                <a:latin typeface="Monaspace Neon" pitchFamily="50" charset="0"/>
              </a:rPr>
              <a:t> OCCUPIED:</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mBuckets</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pos</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second</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pos</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break</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a:t>
            </a:r>
          </a:p>
        </p:txBody>
      </p:sp>
      <p:sp>
        <p:nvSpPr>
          <p:cNvPr id="8" name="Speech Bubble: Rectangle with Corners Rounded 7">
            <a:extLst>
              <a:ext uri="{FF2B5EF4-FFF2-40B4-BE49-F238E27FC236}">
                <a16:creationId xmlns:a16="http://schemas.microsoft.com/office/drawing/2014/main" id="{3A2A92CB-141D-7814-33AA-038D23AD8CD6}"/>
              </a:ext>
            </a:extLst>
          </p:cNvPr>
          <p:cNvSpPr/>
          <p:nvPr/>
        </p:nvSpPr>
        <p:spPr>
          <a:xfrm>
            <a:off x="5986153" y="4926971"/>
            <a:ext cx="2077984" cy="942606"/>
          </a:xfrm>
          <a:prstGeom prst="wedgeRoundRectCallout">
            <a:avLst>
              <a:gd name="adj1" fmla="val -84046"/>
              <a:gd name="adj2" fmla="val -3104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When detecting an empty bucket, return the first erased bucket or the current bucket</a:t>
            </a:r>
          </a:p>
        </p:txBody>
      </p:sp>
      <p:sp>
        <p:nvSpPr>
          <p:cNvPr id="9" name="Speech Bubble: Rectangle with Corners Rounded 8">
            <a:extLst>
              <a:ext uri="{FF2B5EF4-FFF2-40B4-BE49-F238E27FC236}">
                <a16:creationId xmlns:a16="http://schemas.microsoft.com/office/drawing/2014/main" id="{F4D357E9-9B18-324F-38A4-DEC9424E5DEB}"/>
              </a:ext>
            </a:extLst>
          </p:cNvPr>
          <p:cNvSpPr/>
          <p:nvPr/>
        </p:nvSpPr>
        <p:spPr>
          <a:xfrm>
            <a:off x="4604756" y="3866972"/>
            <a:ext cx="2405644" cy="722445"/>
          </a:xfrm>
          <a:prstGeom prst="wedgeRoundRectCallout">
            <a:avLst>
              <a:gd name="adj1" fmla="val -80743"/>
              <a:gd name="adj2" fmla="val 429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When detecting an ERASED bucket, just remember the location of the first one</a:t>
            </a:r>
          </a:p>
        </p:txBody>
      </p:sp>
    </p:spTree>
    <p:extLst>
      <p:ext uri="{BB962C8B-B14F-4D97-AF65-F5344CB8AC3E}">
        <p14:creationId xmlns:p14="http://schemas.microsoft.com/office/powerpoint/2010/main" val="286879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32D79-3FD3-3231-844F-F5E3A5636849}"/>
              </a:ext>
            </a:extLst>
          </p:cNvPr>
          <p:cNvSpPr>
            <a:spLocks noGrp="1"/>
          </p:cNvSpPr>
          <p:nvPr>
            <p:ph type="title"/>
          </p:nvPr>
        </p:nvSpPr>
        <p:spPr/>
        <p:txBody>
          <a:bodyPr/>
          <a:lstStyle/>
          <a:p>
            <a:r>
              <a:rPr lang="en-US" dirty="0"/>
              <a:t>Open Addressing v0.2 (LP)</a:t>
            </a:r>
          </a:p>
        </p:txBody>
      </p:sp>
      <p:sp>
        <p:nvSpPr>
          <p:cNvPr id="3" name="Content Placeholder 2">
            <a:extLst>
              <a:ext uri="{FF2B5EF4-FFF2-40B4-BE49-F238E27FC236}">
                <a16:creationId xmlns:a16="http://schemas.microsoft.com/office/drawing/2014/main" id="{85F2AC9B-FF96-D34F-5C64-DE9652E4AF3F}"/>
              </a:ext>
            </a:extLst>
          </p:cNvPr>
          <p:cNvSpPr>
            <a:spLocks noGrp="1"/>
          </p:cNvSpPr>
          <p:nvPr>
            <p:ph idx="1"/>
          </p:nvPr>
        </p:nvSpPr>
        <p:spPr>
          <a:xfrm>
            <a:off x="6756399" y="3910350"/>
            <a:ext cx="4869543" cy="2416628"/>
          </a:xfrm>
        </p:spPr>
        <p:txBody>
          <a:bodyPr/>
          <a:lstStyle/>
          <a:p>
            <a:r>
              <a:rPr lang="en-US" sz="2800" b="0" dirty="0">
                <a:solidFill>
                  <a:srgbClr val="DCDCAA"/>
                </a:solidFill>
                <a:effectLst/>
                <a:latin typeface="Monaspace Neon" pitchFamily="50" charset="0"/>
              </a:rPr>
              <a:t>find</a:t>
            </a:r>
            <a:r>
              <a:rPr lang="en-US" dirty="0"/>
              <a:t>, </a:t>
            </a:r>
            <a:r>
              <a:rPr lang="en-US" sz="2800" b="0" dirty="0">
                <a:solidFill>
                  <a:srgbClr val="DCDCAA"/>
                </a:solidFill>
                <a:effectLst/>
                <a:latin typeface="Monaspace Neon" pitchFamily="50" charset="0"/>
              </a:rPr>
              <a:t>insert</a:t>
            </a:r>
            <a:r>
              <a:rPr lang="en-US" dirty="0"/>
              <a:t>, </a:t>
            </a:r>
            <a:r>
              <a:rPr lang="en-US" sz="2800" b="0" dirty="0">
                <a:solidFill>
                  <a:srgbClr val="DCDCAA"/>
                </a:solidFill>
                <a:effectLst/>
                <a:latin typeface="Monaspace Neon" pitchFamily="50" charset="0"/>
              </a:rPr>
              <a:t>erase</a:t>
            </a:r>
            <a:r>
              <a:rPr lang="en-US" dirty="0"/>
              <a:t> and </a:t>
            </a:r>
            <a:r>
              <a:rPr lang="en-US" sz="2800" b="0" dirty="0">
                <a:solidFill>
                  <a:srgbClr val="DCDCAA"/>
                </a:solidFill>
                <a:effectLst/>
                <a:latin typeface="Monaspace Neon" pitchFamily="50" charset="0"/>
              </a:rPr>
              <a:t>rehash</a:t>
            </a:r>
            <a:r>
              <a:rPr lang="en-US" dirty="0"/>
              <a:t> are now state-</a:t>
            </a:r>
            <a:r>
              <a:rPr lang="en-US" dirty="0" err="1"/>
              <a:t>awared</a:t>
            </a:r>
            <a:endParaRPr lang="en-US" dirty="0"/>
          </a:p>
        </p:txBody>
      </p:sp>
      <p:sp>
        <p:nvSpPr>
          <p:cNvPr id="5" name="TextBox 4">
            <a:extLst>
              <a:ext uri="{FF2B5EF4-FFF2-40B4-BE49-F238E27FC236}">
                <a16:creationId xmlns:a16="http://schemas.microsoft.com/office/drawing/2014/main" id="{662CD315-A308-F1A2-278C-93E54CA74D78}"/>
              </a:ext>
            </a:extLst>
          </p:cNvPr>
          <p:cNvSpPr txBox="1"/>
          <p:nvPr/>
        </p:nvSpPr>
        <p:spPr>
          <a:xfrm>
            <a:off x="769257" y="1358781"/>
            <a:ext cx="5544457" cy="4939814"/>
          </a:xfrm>
          <a:prstGeom prst="rect">
            <a:avLst/>
          </a:prstGeom>
          <a:solidFill>
            <a:schemeClr val="bg1"/>
          </a:solidFill>
          <a:ln>
            <a:solidFill>
              <a:schemeClr val="accent5"/>
            </a:solidFill>
          </a:ln>
        </p:spPr>
        <p:txBody>
          <a:bodyPr wrap="square">
            <a:spAutoFit/>
          </a:bodyPr>
          <a:lstStyle/>
          <a:p>
            <a:r>
              <a:rPr lang="en-US" sz="1050" b="0" dirty="0">
                <a:solidFill>
                  <a:srgbClr val="569CD6"/>
                </a:solidFill>
                <a:effectLst/>
                <a:latin typeface="Monaspace Neon" pitchFamily="50" charset="0"/>
              </a:rPr>
              <a:t>bool</a:t>
            </a:r>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find</a:t>
            </a:r>
            <a:r>
              <a:rPr lang="en-US" sz="1050" b="0" dirty="0">
                <a:solidFill>
                  <a:srgbClr val="D4D4D4"/>
                </a:solidFill>
                <a:effectLst/>
                <a:latin typeface="Monaspace Neon" pitchFamily="50" charset="0"/>
              </a:rPr>
              <a:t>(</a:t>
            </a:r>
            <a:r>
              <a:rPr lang="en-US" sz="1050" b="0" dirty="0">
                <a:solidFill>
                  <a:srgbClr val="569CD6"/>
                </a:solidFill>
                <a:effectLst/>
                <a:latin typeface="Monaspace Neon" pitchFamily="50" charset="0"/>
              </a:rPr>
              <a:t>const</a:t>
            </a:r>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KeyT</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&amp;</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size_t</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 = </a:t>
            </a:r>
            <a:r>
              <a:rPr lang="en-US" sz="1050" b="0" dirty="0" err="1">
                <a:solidFill>
                  <a:srgbClr val="DCDCAA"/>
                </a:solidFill>
                <a:effectLst/>
                <a:latin typeface="Monaspace Neon" pitchFamily="50" charset="0"/>
              </a:rPr>
              <a:t>find_bucket</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first</a:t>
            </a:r>
            <a:r>
              <a:rPr lang="en-US" sz="1050" b="0" dirty="0">
                <a:solidFill>
                  <a:srgbClr val="D4D4D4"/>
                </a:solidFill>
                <a:effectLst/>
                <a:latin typeface="Monaspace Neon" pitchFamily="50" charset="0"/>
              </a:rPr>
              <a:t> == OCCUPIED;</a:t>
            </a:r>
          </a:p>
          <a:p>
            <a:r>
              <a:rPr lang="en-US" sz="1050" b="0" dirty="0">
                <a:solidFill>
                  <a:srgbClr val="D4D4D4"/>
                </a:solidFill>
                <a:effectLst/>
                <a:latin typeface="Monaspace Neon" pitchFamily="50" charset="0"/>
              </a:rPr>
              <a:t>}</a:t>
            </a:r>
          </a:p>
          <a:p>
            <a:br>
              <a:rPr lang="en-US" sz="1050" b="0" dirty="0">
                <a:solidFill>
                  <a:srgbClr val="D4D4D4"/>
                </a:solidFill>
                <a:effectLst/>
                <a:latin typeface="Monaspace Neon" pitchFamily="50" charset="0"/>
              </a:rPr>
            </a:br>
            <a:r>
              <a:rPr lang="en-US" sz="1050" b="0" dirty="0">
                <a:solidFill>
                  <a:srgbClr val="569CD6"/>
                </a:solidFill>
                <a:effectLst/>
                <a:latin typeface="Monaspace Neon" pitchFamily="50" charset="0"/>
              </a:rPr>
              <a:t>bool</a:t>
            </a:r>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insert</a:t>
            </a:r>
            <a:r>
              <a:rPr lang="en-US" sz="1050" b="0" dirty="0">
                <a:solidFill>
                  <a:srgbClr val="D4D4D4"/>
                </a:solidFill>
                <a:effectLst/>
                <a:latin typeface="Monaspace Neon" pitchFamily="50" charset="0"/>
              </a:rPr>
              <a:t>(</a:t>
            </a:r>
            <a:r>
              <a:rPr lang="en-US" sz="1050" b="0" dirty="0">
                <a:solidFill>
                  <a:srgbClr val="569CD6"/>
                </a:solidFill>
                <a:effectLst/>
                <a:latin typeface="Monaspace Neon" pitchFamily="50" charset="0"/>
              </a:rPr>
              <a:t>const</a:t>
            </a:r>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KeyT</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&amp;</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if</a:t>
            </a:r>
            <a:r>
              <a:rPr lang="en-US" sz="1050" b="0" dirty="0">
                <a:solidFill>
                  <a:srgbClr val="D4D4D4"/>
                </a:solidFill>
                <a:effectLst/>
                <a:latin typeface="Monaspace Neon" pitchFamily="50" charset="0"/>
              </a:rPr>
              <a:t> ((</a:t>
            </a:r>
            <a:r>
              <a:rPr lang="en-US" sz="1050" b="0" dirty="0">
                <a:solidFill>
                  <a:srgbClr val="9CDCFE"/>
                </a:solidFill>
                <a:effectLst/>
                <a:latin typeface="Monaspace Neon" pitchFamily="50" charset="0"/>
              </a:rPr>
              <a:t>mSize</a:t>
            </a:r>
            <a:r>
              <a:rPr lang="en-US" sz="1050" b="0" dirty="0">
                <a:solidFill>
                  <a:srgbClr val="D4D4D4"/>
                </a:solidFill>
                <a:effectLst/>
                <a:latin typeface="Monaspace Neon" pitchFamily="50" charset="0"/>
              </a:rPr>
              <a:t>+</a:t>
            </a:r>
            <a:r>
              <a:rPr lang="en-US" sz="1050" b="0" dirty="0">
                <a:solidFill>
                  <a:srgbClr val="B5CEA8"/>
                </a:solidFill>
                <a:effectLst/>
                <a:latin typeface="Monaspace Neon" pitchFamily="50" charset="0"/>
              </a:rPr>
              <a:t>1</a:t>
            </a:r>
            <a:r>
              <a:rPr lang="en-US" sz="1050" b="0" dirty="0">
                <a:solidFill>
                  <a:srgbClr val="D4D4D4"/>
                </a:solidFill>
                <a:effectLst/>
                <a:latin typeface="Monaspace Neon" pitchFamily="50" charset="0"/>
              </a:rPr>
              <a:t>)/(</a:t>
            </a:r>
            <a:r>
              <a:rPr lang="en-US" sz="1050" b="0" dirty="0">
                <a:solidFill>
                  <a:srgbClr val="B5CEA8"/>
                </a:solidFill>
                <a:effectLst/>
                <a:latin typeface="Monaspace Neon" pitchFamily="50" charset="0"/>
              </a:rPr>
              <a:t>0.0</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a:solidFill>
                  <a:srgbClr val="DCDCAA"/>
                </a:solidFill>
                <a:effectLst/>
                <a:latin typeface="Monaspace Neon" pitchFamily="50" charset="0"/>
              </a:rPr>
              <a:t>size</a:t>
            </a:r>
            <a:r>
              <a:rPr lang="en-US" sz="1050" b="0" dirty="0">
                <a:solidFill>
                  <a:srgbClr val="D4D4D4"/>
                </a:solidFill>
                <a:effectLst/>
                <a:latin typeface="Monaspace Neon" pitchFamily="50" charset="0"/>
              </a:rPr>
              <a:t>()) &gt; </a:t>
            </a:r>
            <a:r>
              <a:rPr lang="en-US" sz="1050" b="0" dirty="0" err="1">
                <a:solidFill>
                  <a:srgbClr val="DCDCAA"/>
                </a:solidFill>
                <a:effectLst/>
                <a:latin typeface="Monaspace Neon" pitchFamily="50" charset="0"/>
              </a:rPr>
              <a:t>max_load_factor</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rehash</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mSize</a:t>
            </a:r>
            <a:r>
              <a:rPr lang="en-US" sz="1050" b="0" dirty="0">
                <a:solidFill>
                  <a:srgbClr val="D4D4D4"/>
                </a:solidFill>
                <a:effectLst/>
                <a:latin typeface="Monaspace Neon" pitchFamily="50" charset="0"/>
              </a:rPr>
              <a:t> * </a:t>
            </a:r>
            <a:r>
              <a:rPr lang="en-US" sz="1050" b="0" dirty="0">
                <a:solidFill>
                  <a:srgbClr val="B5CEA8"/>
                </a:solidFill>
                <a:effectLst/>
                <a:latin typeface="Monaspace Neon" pitchFamily="50" charset="0"/>
              </a:rPr>
              <a:t>2</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size_t</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 = </a:t>
            </a:r>
            <a:r>
              <a:rPr lang="en-US" sz="1050" b="0" dirty="0" err="1">
                <a:solidFill>
                  <a:srgbClr val="DCDCAA"/>
                </a:solidFill>
                <a:effectLst/>
                <a:latin typeface="Monaspace Neon" pitchFamily="50" charset="0"/>
              </a:rPr>
              <a:t>find_bucket</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if</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first</a:t>
            </a:r>
            <a:r>
              <a:rPr lang="en-US" sz="1050" b="0" dirty="0">
                <a:solidFill>
                  <a:srgbClr val="D4D4D4"/>
                </a:solidFill>
                <a:effectLst/>
                <a:latin typeface="Monaspace Neon" pitchFamily="50" charset="0"/>
              </a:rPr>
              <a:t> == OCCUPIED) {</a:t>
            </a:r>
          </a:p>
          <a:p>
            <a:r>
              <a:rPr lang="en-US" sz="1050" b="0" dirty="0">
                <a:solidFill>
                  <a:srgbClr val="6A9955"/>
                </a:solidFill>
                <a:effectLst/>
                <a:latin typeface="Monaspace Neon" pitchFamily="50" charset="0"/>
              </a:rPr>
              <a:t>    //found existing key, skip</a:t>
            </a:r>
            <a:endParaRPr lang="en-US" sz="1050" b="0" dirty="0">
              <a:solidFill>
                <a:srgbClr val="D4D4D4"/>
              </a:solidFill>
              <a:effectLst/>
              <a:latin typeface="Monaspace Neon" pitchFamily="50" charset="0"/>
            </a:endParaRP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false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 </a:t>
            </a:r>
            <a:r>
              <a:rPr lang="en-US" sz="1050" b="0" dirty="0">
                <a:solidFill>
                  <a:srgbClr val="C586C0"/>
                </a:solidFill>
                <a:effectLst/>
                <a:latin typeface="Monaspace Neon" pitchFamily="50" charset="0"/>
              </a:rPr>
              <a:t>else</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  = {</a:t>
            </a:r>
            <a:r>
              <a:rPr lang="en-US" sz="1050" b="0" dirty="0" err="1">
                <a:solidFill>
                  <a:srgbClr val="D4D4D4"/>
                </a:solidFill>
                <a:effectLst/>
                <a:latin typeface="Monaspace Neon" pitchFamily="50" charset="0"/>
              </a:rPr>
              <a:t>OCCUPIED,</a:t>
            </a:r>
            <a:r>
              <a:rPr lang="en-US" sz="1050" b="0" dirty="0" err="1">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mSize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true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a:t>
            </a:r>
          </a:p>
          <a:p>
            <a:br>
              <a:rPr lang="en-US" sz="1050" b="0" dirty="0">
                <a:solidFill>
                  <a:srgbClr val="D4D4D4"/>
                </a:solidFill>
                <a:effectLst/>
                <a:latin typeface="Monaspace Neon" pitchFamily="50" charset="0"/>
              </a:rPr>
            </a:br>
            <a:r>
              <a:rPr lang="en-US" sz="1050" b="0" dirty="0">
                <a:solidFill>
                  <a:srgbClr val="569CD6"/>
                </a:solidFill>
                <a:effectLst/>
                <a:latin typeface="Monaspace Neon" pitchFamily="50" charset="0"/>
              </a:rPr>
              <a:t>bool</a:t>
            </a:r>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erase</a:t>
            </a:r>
            <a:r>
              <a:rPr lang="en-US" sz="1050" b="0" dirty="0">
                <a:solidFill>
                  <a:srgbClr val="D4D4D4"/>
                </a:solidFill>
                <a:effectLst/>
                <a:latin typeface="Monaspace Neon" pitchFamily="50" charset="0"/>
              </a:rPr>
              <a:t>(</a:t>
            </a:r>
            <a:r>
              <a:rPr lang="en-US" sz="1050" b="0" dirty="0">
                <a:solidFill>
                  <a:srgbClr val="569CD6"/>
                </a:solidFill>
                <a:effectLst/>
                <a:latin typeface="Monaspace Neon" pitchFamily="50" charset="0"/>
              </a:rPr>
              <a:t>const</a:t>
            </a:r>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KeyT</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&amp;</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size_t</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 = </a:t>
            </a:r>
            <a:r>
              <a:rPr lang="en-US" sz="1050" b="0" dirty="0" err="1">
                <a:solidFill>
                  <a:srgbClr val="DCDCAA"/>
                </a:solidFill>
                <a:effectLst/>
                <a:latin typeface="Monaspace Neon" pitchFamily="50" charset="0"/>
              </a:rPr>
              <a:t>find_bucket</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key</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if</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first</a:t>
            </a:r>
            <a:r>
              <a:rPr lang="en-US" sz="1050" b="0" dirty="0">
                <a:solidFill>
                  <a:srgbClr val="D4D4D4"/>
                </a:solidFill>
                <a:effectLst/>
                <a:latin typeface="Monaspace Neon" pitchFamily="50" charset="0"/>
              </a:rPr>
              <a:t> == OCCUPIED) {</a:t>
            </a:r>
          </a:p>
          <a:p>
            <a:r>
              <a:rPr lang="en-US" sz="1050" b="0" dirty="0">
                <a:solidFill>
                  <a:srgbClr val="6A9955"/>
                </a:solidFill>
                <a:effectLst/>
                <a:latin typeface="Monaspace Neon" pitchFamily="50" charset="0"/>
              </a:rPr>
              <a:t>    //found existing key, erase</a:t>
            </a:r>
            <a:endParaRPr lang="en-US" sz="1050" b="0" dirty="0">
              <a:solidFill>
                <a:srgbClr val="D4D4D4"/>
              </a:solidFill>
              <a:effectLst/>
              <a:latin typeface="Monaspace Neon" pitchFamily="50" charset="0"/>
            </a:endParaRP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first</a:t>
            </a:r>
            <a:r>
              <a:rPr lang="en-US" sz="1050" b="0" dirty="0">
                <a:solidFill>
                  <a:srgbClr val="D4D4D4"/>
                </a:solidFill>
                <a:effectLst/>
                <a:latin typeface="Monaspace Neon" pitchFamily="50" charset="0"/>
              </a:rPr>
              <a:t> = ERASED;</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mSize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true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 </a:t>
            </a:r>
            <a:r>
              <a:rPr lang="en-US" sz="1050" b="0" dirty="0">
                <a:solidFill>
                  <a:srgbClr val="C586C0"/>
                </a:solidFill>
                <a:effectLst/>
                <a:latin typeface="Monaspace Neon" pitchFamily="50" charset="0"/>
              </a:rPr>
              <a:t>else</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false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a:t>
            </a:r>
          </a:p>
        </p:txBody>
      </p:sp>
      <p:sp>
        <p:nvSpPr>
          <p:cNvPr id="6" name="TextBox 5">
            <a:extLst>
              <a:ext uri="{FF2B5EF4-FFF2-40B4-BE49-F238E27FC236}">
                <a16:creationId xmlns:a16="http://schemas.microsoft.com/office/drawing/2014/main" id="{E15C5C4E-0C49-2121-0512-AA66D4548AD0}"/>
              </a:ext>
            </a:extLst>
          </p:cNvPr>
          <p:cNvSpPr txBox="1"/>
          <p:nvPr/>
        </p:nvSpPr>
        <p:spPr>
          <a:xfrm>
            <a:off x="5718629" y="1511181"/>
            <a:ext cx="6096000" cy="2246769"/>
          </a:xfrm>
          <a:prstGeom prst="rect">
            <a:avLst/>
          </a:prstGeom>
          <a:solidFill>
            <a:schemeClr val="bg1"/>
          </a:solidFill>
          <a:ln>
            <a:solidFill>
              <a:schemeClr val="accent5"/>
            </a:solidFill>
          </a:ln>
        </p:spPr>
        <p:txBody>
          <a:bodyPr wrap="square">
            <a:spAutoFit/>
          </a:bodyPr>
          <a:lstStyle/>
          <a:p>
            <a:r>
              <a:rPr lang="en-US" sz="1000" b="0" dirty="0">
                <a:solidFill>
                  <a:srgbClr val="569CD6"/>
                </a:solidFill>
                <a:effectLst/>
                <a:latin typeface="Monaspace Neon" pitchFamily="50" charset="0"/>
              </a:rPr>
              <a:t>void</a:t>
            </a:r>
            <a:r>
              <a:rPr lang="en-US" sz="1000" b="0" dirty="0">
                <a:solidFill>
                  <a:srgbClr val="D4D4D4"/>
                </a:solidFill>
                <a:effectLst/>
                <a:latin typeface="Monaspace Neon" pitchFamily="50" charset="0"/>
              </a:rPr>
              <a:t> </a:t>
            </a:r>
            <a:r>
              <a:rPr lang="en-US" sz="1000" b="0" dirty="0">
                <a:solidFill>
                  <a:srgbClr val="DCDCAA"/>
                </a:solidFill>
                <a:effectLst/>
                <a:latin typeface="Monaspace Neon" pitchFamily="50" charset="0"/>
              </a:rPr>
              <a:t>rehash</a:t>
            </a:r>
            <a:r>
              <a:rPr lang="en-US" sz="1000" b="0" dirty="0">
                <a:solidFill>
                  <a:srgbClr val="D4D4D4"/>
                </a:solidFill>
                <a:effectLst/>
                <a:latin typeface="Monaspace Neon" pitchFamily="50" charset="0"/>
              </a:rPr>
              <a:t>(</a:t>
            </a:r>
            <a:r>
              <a:rPr lang="en-US" sz="1000" b="0" dirty="0" err="1">
                <a:solidFill>
                  <a:srgbClr val="4EC9B0"/>
                </a:solidFill>
                <a:effectLst/>
                <a:latin typeface="Monaspace Neon" pitchFamily="50" charset="0"/>
              </a:rPr>
              <a:t>size_t</a:t>
            </a:r>
            <a:r>
              <a:rPr lang="en-US" sz="1000" b="0" dirty="0">
                <a:solidFill>
                  <a:srgbClr val="D4D4D4"/>
                </a:solidFill>
                <a:effectLst/>
                <a:latin typeface="Monaspace Neon" pitchFamily="50" charset="0"/>
              </a:rPr>
              <a:t> </a:t>
            </a:r>
            <a:r>
              <a:rPr lang="en-US" sz="1000" b="0" dirty="0">
                <a:solidFill>
                  <a:srgbClr val="9CDCFE"/>
                </a:solidFill>
                <a:effectLst/>
                <a:latin typeface="Monaspace Neon" pitchFamily="50" charset="0"/>
              </a:rPr>
              <a:t>n</a:t>
            </a:r>
            <a:r>
              <a:rPr lang="en-US" sz="1000" b="0" dirty="0">
                <a:solidFill>
                  <a:srgbClr val="D4D4D4"/>
                </a:solidFill>
                <a:effectLst/>
                <a:latin typeface="Monaspace Neon" pitchFamily="50" charset="0"/>
              </a:rPr>
              <a:t>) {</a:t>
            </a:r>
          </a:p>
          <a:p>
            <a:r>
              <a:rPr lang="en-US" sz="1000" b="0" dirty="0">
                <a:solidFill>
                  <a:srgbClr val="D4D4D4"/>
                </a:solidFill>
                <a:effectLst/>
                <a:latin typeface="Monaspace Neon" pitchFamily="50" charset="0"/>
              </a:rPr>
              <a:t>  </a:t>
            </a:r>
            <a:r>
              <a:rPr lang="en-US" sz="1000" b="0" dirty="0">
                <a:solidFill>
                  <a:srgbClr val="C586C0"/>
                </a:solidFill>
                <a:effectLst/>
                <a:latin typeface="Monaspace Neon" pitchFamily="50" charset="0"/>
              </a:rPr>
              <a:t>if</a:t>
            </a:r>
            <a:r>
              <a:rPr lang="en-US" sz="1000" b="0" dirty="0">
                <a:solidFill>
                  <a:srgbClr val="D4D4D4"/>
                </a:solidFill>
                <a:effectLst/>
                <a:latin typeface="Monaspace Neon" pitchFamily="50" charset="0"/>
              </a:rPr>
              <a:t> (</a:t>
            </a:r>
            <a:r>
              <a:rPr lang="en-US" sz="1000" b="0" dirty="0" err="1">
                <a:solidFill>
                  <a:srgbClr val="DCDCAA"/>
                </a:solidFill>
                <a:effectLst/>
                <a:latin typeface="Monaspace Neon" pitchFamily="50" charset="0"/>
              </a:rPr>
              <a:t>load_factor</a:t>
            </a:r>
            <a:r>
              <a:rPr lang="en-US" sz="1000" b="0" dirty="0">
                <a:solidFill>
                  <a:srgbClr val="D4D4D4"/>
                </a:solidFill>
                <a:effectLst/>
                <a:latin typeface="Monaspace Neon" pitchFamily="50" charset="0"/>
              </a:rPr>
              <a:t>() &lt; </a:t>
            </a:r>
            <a:r>
              <a:rPr lang="en-US" sz="1000" b="0" dirty="0" err="1">
                <a:solidFill>
                  <a:srgbClr val="DCDCAA"/>
                </a:solidFill>
                <a:effectLst/>
                <a:latin typeface="Monaspace Neon" pitchFamily="50" charset="0"/>
              </a:rPr>
              <a:t>max_load_factor</a:t>
            </a:r>
            <a:r>
              <a:rPr lang="en-US" sz="1000" b="0" dirty="0">
                <a:solidFill>
                  <a:srgbClr val="D4D4D4"/>
                </a:solidFill>
                <a:effectLst/>
                <a:latin typeface="Monaspace Neon" pitchFamily="50" charset="0"/>
              </a:rPr>
              <a:t>() &amp;&amp; </a:t>
            </a:r>
            <a:r>
              <a:rPr lang="en-US" sz="1000" b="0" dirty="0">
                <a:solidFill>
                  <a:srgbClr val="9CDCFE"/>
                </a:solidFill>
                <a:effectLst/>
                <a:latin typeface="Monaspace Neon" pitchFamily="50" charset="0"/>
              </a:rPr>
              <a:t>n</a:t>
            </a:r>
            <a:r>
              <a:rPr lang="en-US" sz="1000" b="0" dirty="0">
                <a:solidFill>
                  <a:srgbClr val="D4D4D4"/>
                </a:solidFill>
                <a:effectLst/>
                <a:latin typeface="Monaspace Neon" pitchFamily="50" charset="0"/>
              </a:rPr>
              <a:t> &lt;= </a:t>
            </a:r>
            <a:r>
              <a:rPr lang="en-US" sz="1000" b="0" dirty="0" err="1">
                <a:solidFill>
                  <a:srgbClr val="9CDCFE"/>
                </a:solidFill>
                <a:effectLst/>
                <a:latin typeface="Monaspace Neon" pitchFamily="50" charset="0"/>
              </a:rPr>
              <a:t>mBuckets</a:t>
            </a:r>
            <a:r>
              <a:rPr lang="en-US" sz="1000" b="0" dirty="0" err="1">
                <a:solidFill>
                  <a:srgbClr val="D4D4D4"/>
                </a:solidFill>
                <a:effectLst/>
                <a:latin typeface="Monaspace Neon" pitchFamily="50" charset="0"/>
              </a:rPr>
              <a:t>.</a:t>
            </a:r>
            <a:r>
              <a:rPr lang="en-US" sz="1000" b="0" dirty="0" err="1">
                <a:solidFill>
                  <a:srgbClr val="DCDCAA"/>
                </a:solidFill>
                <a:effectLst/>
                <a:latin typeface="Monaspace Neon" pitchFamily="50" charset="0"/>
              </a:rPr>
              <a:t>size</a:t>
            </a:r>
            <a:r>
              <a:rPr lang="en-US" sz="1000" b="0" dirty="0">
                <a:solidFill>
                  <a:srgbClr val="D4D4D4"/>
                </a:solidFill>
                <a:effectLst/>
                <a:latin typeface="Monaspace Neon" pitchFamily="50" charset="0"/>
              </a:rPr>
              <a:t>()) </a:t>
            </a:r>
            <a:r>
              <a:rPr lang="en-US" sz="1000" b="0" dirty="0">
                <a:solidFill>
                  <a:srgbClr val="C586C0"/>
                </a:solidFill>
                <a:effectLst/>
                <a:latin typeface="Monaspace Neon" pitchFamily="50" charset="0"/>
              </a:rPr>
              <a:t>return</a:t>
            </a:r>
            <a:r>
              <a:rPr lang="en-US" sz="1000" b="0" dirty="0">
                <a:solidFill>
                  <a:srgbClr val="D4D4D4"/>
                </a:solidFill>
                <a:effectLst/>
                <a:latin typeface="Monaspace Neon" pitchFamily="50" charset="0"/>
              </a:rPr>
              <a:t>;</a:t>
            </a:r>
          </a:p>
          <a:p>
            <a:r>
              <a:rPr lang="en-US" sz="1000" b="0" dirty="0">
                <a:solidFill>
                  <a:srgbClr val="D4D4D4"/>
                </a:solidFill>
                <a:effectLst/>
                <a:latin typeface="Monaspace Neon" pitchFamily="50" charset="0"/>
              </a:rPr>
              <a:t>  </a:t>
            </a:r>
            <a:r>
              <a:rPr lang="en-US" sz="1000" b="0" dirty="0">
                <a:solidFill>
                  <a:srgbClr val="9CDCFE"/>
                </a:solidFill>
                <a:effectLst/>
                <a:latin typeface="Monaspace Neon" pitchFamily="50" charset="0"/>
              </a:rPr>
              <a:t>n</a:t>
            </a:r>
            <a:r>
              <a:rPr lang="en-US" sz="1000" b="0" dirty="0">
                <a:solidFill>
                  <a:srgbClr val="D4D4D4"/>
                </a:solidFill>
                <a:effectLst/>
                <a:latin typeface="Monaspace Neon" pitchFamily="50" charset="0"/>
              </a:rPr>
              <a:t> = </a:t>
            </a:r>
            <a:r>
              <a:rPr lang="en-US" sz="1000" b="0" dirty="0">
                <a:solidFill>
                  <a:srgbClr val="4EC9B0"/>
                </a:solidFill>
                <a:effectLst/>
                <a:latin typeface="Monaspace Neon" pitchFamily="50" charset="0"/>
              </a:rPr>
              <a:t>std</a:t>
            </a:r>
            <a:r>
              <a:rPr lang="en-US" sz="1000" b="0" dirty="0">
                <a:solidFill>
                  <a:srgbClr val="D4D4D4"/>
                </a:solidFill>
                <a:effectLst/>
                <a:latin typeface="Monaspace Neon" pitchFamily="50" charset="0"/>
              </a:rPr>
              <a:t>::</a:t>
            </a:r>
            <a:r>
              <a:rPr lang="en-US" sz="1000" b="0" dirty="0">
                <a:solidFill>
                  <a:srgbClr val="DCDCAA"/>
                </a:solidFill>
                <a:effectLst/>
                <a:latin typeface="Monaspace Neon" pitchFamily="50" charset="0"/>
              </a:rPr>
              <a:t>max</a:t>
            </a:r>
            <a:r>
              <a:rPr lang="en-US" sz="1000" b="0" dirty="0">
                <a:solidFill>
                  <a:srgbClr val="D4D4D4"/>
                </a:solidFill>
                <a:effectLst/>
                <a:latin typeface="Monaspace Neon" pitchFamily="50" charset="0"/>
              </a:rPr>
              <a:t>(</a:t>
            </a:r>
            <a:r>
              <a:rPr lang="en-US" sz="1000" b="0" dirty="0">
                <a:solidFill>
                  <a:srgbClr val="9CDCFE"/>
                </a:solidFill>
                <a:effectLst/>
                <a:latin typeface="Monaspace Neon" pitchFamily="50" charset="0"/>
              </a:rPr>
              <a:t>n</a:t>
            </a:r>
            <a:r>
              <a:rPr lang="en-US" sz="1000" b="0" dirty="0">
                <a:solidFill>
                  <a:srgbClr val="D4D4D4"/>
                </a:solidFill>
                <a:effectLst/>
                <a:latin typeface="Monaspace Neon" pitchFamily="50" charset="0"/>
              </a:rPr>
              <a:t>, </a:t>
            </a:r>
            <a:r>
              <a:rPr lang="en-US" sz="1000" b="0" dirty="0" err="1">
                <a:solidFill>
                  <a:srgbClr val="9CDCFE"/>
                </a:solidFill>
                <a:effectLst/>
                <a:latin typeface="Monaspace Neon" pitchFamily="50" charset="0"/>
              </a:rPr>
              <a:t>mBuckets</a:t>
            </a:r>
            <a:r>
              <a:rPr lang="en-US" sz="1000" b="0" dirty="0" err="1">
                <a:solidFill>
                  <a:srgbClr val="D4D4D4"/>
                </a:solidFill>
                <a:effectLst/>
                <a:latin typeface="Monaspace Neon" pitchFamily="50" charset="0"/>
              </a:rPr>
              <a:t>.</a:t>
            </a:r>
            <a:r>
              <a:rPr lang="en-US" sz="1000" b="0" dirty="0" err="1">
                <a:solidFill>
                  <a:srgbClr val="DCDCAA"/>
                </a:solidFill>
                <a:effectLst/>
                <a:latin typeface="Monaspace Neon" pitchFamily="50" charset="0"/>
              </a:rPr>
              <a:t>size</a:t>
            </a:r>
            <a:r>
              <a:rPr lang="en-US" sz="1000" b="0" dirty="0">
                <a:solidFill>
                  <a:srgbClr val="D4D4D4"/>
                </a:solidFill>
                <a:effectLst/>
                <a:latin typeface="Monaspace Neon" pitchFamily="50" charset="0"/>
              </a:rPr>
              <a:t>()*</a:t>
            </a:r>
            <a:r>
              <a:rPr lang="en-US" sz="1000" b="0" dirty="0">
                <a:solidFill>
                  <a:srgbClr val="B5CEA8"/>
                </a:solidFill>
                <a:effectLst/>
                <a:latin typeface="Monaspace Neon" pitchFamily="50" charset="0"/>
              </a:rPr>
              <a:t>2</a:t>
            </a:r>
            <a:r>
              <a:rPr lang="en-US" sz="1000" b="0" dirty="0">
                <a:solidFill>
                  <a:srgbClr val="D4D4D4"/>
                </a:solidFill>
                <a:effectLst/>
                <a:latin typeface="Monaspace Neon" pitchFamily="50" charset="0"/>
              </a:rPr>
              <a:t>);</a:t>
            </a:r>
          </a:p>
          <a:p>
            <a:br>
              <a:rPr lang="en-US" sz="1000" b="0" dirty="0">
                <a:solidFill>
                  <a:srgbClr val="D4D4D4"/>
                </a:solidFill>
                <a:effectLst/>
                <a:latin typeface="Monaspace Neon" pitchFamily="50" charset="0"/>
              </a:rPr>
            </a:br>
            <a:r>
              <a:rPr lang="en-US" sz="1000" b="0" dirty="0">
                <a:solidFill>
                  <a:srgbClr val="D4D4D4"/>
                </a:solidFill>
                <a:effectLst/>
                <a:latin typeface="Monaspace Neon" pitchFamily="50" charset="0"/>
              </a:rPr>
              <a:t>  </a:t>
            </a:r>
            <a:r>
              <a:rPr lang="en-US" sz="1000" b="0" dirty="0">
                <a:solidFill>
                  <a:srgbClr val="4EC9B0"/>
                </a:solidFill>
                <a:effectLst/>
                <a:latin typeface="Monaspace Neon" pitchFamily="50" charset="0"/>
              </a:rPr>
              <a:t>std</a:t>
            </a:r>
            <a:r>
              <a:rPr lang="en-US" sz="1000" b="0" dirty="0">
                <a:solidFill>
                  <a:srgbClr val="D4D4D4"/>
                </a:solidFill>
                <a:effectLst/>
                <a:latin typeface="Monaspace Neon" pitchFamily="50" charset="0"/>
              </a:rPr>
              <a:t>::</a:t>
            </a:r>
            <a:r>
              <a:rPr lang="en-US" sz="1000" b="0" dirty="0">
                <a:solidFill>
                  <a:srgbClr val="4EC9B0"/>
                </a:solidFill>
                <a:effectLst/>
                <a:latin typeface="Monaspace Neon" pitchFamily="50" charset="0"/>
              </a:rPr>
              <a:t>vector</a:t>
            </a:r>
            <a:r>
              <a:rPr lang="en-US" sz="1000" b="0" dirty="0">
                <a:solidFill>
                  <a:srgbClr val="D4D4D4"/>
                </a:solidFill>
                <a:effectLst/>
                <a:latin typeface="Monaspace Neon" pitchFamily="50" charset="0"/>
              </a:rPr>
              <a:t>&lt;</a:t>
            </a:r>
            <a:r>
              <a:rPr lang="en-US" sz="1000" b="0" dirty="0" err="1">
                <a:solidFill>
                  <a:srgbClr val="4EC9B0"/>
                </a:solidFill>
                <a:effectLst/>
                <a:latin typeface="Monaspace Neon" pitchFamily="50" charset="0"/>
              </a:rPr>
              <a:t>KeyT</a:t>
            </a:r>
            <a:r>
              <a:rPr lang="en-US" sz="1000" b="0" dirty="0">
                <a:solidFill>
                  <a:srgbClr val="D4D4D4"/>
                </a:solidFill>
                <a:effectLst/>
                <a:latin typeface="Monaspace Neon" pitchFamily="50" charset="0"/>
              </a:rPr>
              <a:t>&gt; </a:t>
            </a:r>
            <a:r>
              <a:rPr lang="en-US" sz="1000" b="0" dirty="0" err="1">
                <a:solidFill>
                  <a:srgbClr val="9CDCFE"/>
                </a:solidFill>
                <a:effectLst/>
                <a:latin typeface="Monaspace Neon" pitchFamily="50" charset="0"/>
              </a:rPr>
              <a:t>tmp</a:t>
            </a:r>
            <a:r>
              <a:rPr lang="en-US" sz="1000" b="0" dirty="0">
                <a:solidFill>
                  <a:srgbClr val="D4D4D4"/>
                </a:solidFill>
                <a:effectLst/>
                <a:latin typeface="Monaspace Neon" pitchFamily="50" charset="0"/>
              </a:rPr>
              <a:t>;</a:t>
            </a:r>
          </a:p>
          <a:p>
            <a:r>
              <a:rPr lang="en-US" sz="1000" b="0" dirty="0">
                <a:solidFill>
                  <a:srgbClr val="D4D4D4"/>
                </a:solidFill>
                <a:effectLst/>
                <a:latin typeface="Monaspace Neon" pitchFamily="50" charset="0"/>
              </a:rPr>
              <a:t>  </a:t>
            </a:r>
            <a:r>
              <a:rPr lang="en-US" sz="1000" b="0" dirty="0">
                <a:solidFill>
                  <a:srgbClr val="C586C0"/>
                </a:solidFill>
                <a:effectLst/>
                <a:latin typeface="Monaspace Neon" pitchFamily="50" charset="0"/>
              </a:rPr>
              <a:t>for</a:t>
            </a:r>
            <a:r>
              <a:rPr lang="en-US" sz="1000" b="0" dirty="0">
                <a:solidFill>
                  <a:srgbClr val="D4D4D4"/>
                </a:solidFill>
                <a:effectLst/>
                <a:latin typeface="Monaspace Neon" pitchFamily="50" charset="0"/>
              </a:rPr>
              <a:t> (</a:t>
            </a:r>
            <a:r>
              <a:rPr lang="en-US" sz="1000" b="0" dirty="0">
                <a:solidFill>
                  <a:srgbClr val="569CD6"/>
                </a:solidFill>
                <a:effectLst/>
                <a:latin typeface="Monaspace Neon" pitchFamily="50" charset="0"/>
              </a:rPr>
              <a:t>auto</a:t>
            </a:r>
            <a:r>
              <a:rPr lang="en-US" sz="1000" b="0" dirty="0">
                <a:solidFill>
                  <a:srgbClr val="D4D4D4"/>
                </a:solidFill>
                <a:effectLst/>
                <a:latin typeface="Monaspace Neon" pitchFamily="50" charset="0"/>
              </a:rPr>
              <a:t>&amp; </a:t>
            </a:r>
            <a:r>
              <a:rPr lang="en-US" sz="1000" b="0" dirty="0">
                <a:solidFill>
                  <a:srgbClr val="9CDCFE"/>
                </a:solidFill>
                <a:effectLst/>
                <a:latin typeface="Monaspace Neon" pitchFamily="50" charset="0"/>
              </a:rPr>
              <a:t>b</a:t>
            </a:r>
            <a:r>
              <a:rPr lang="en-US" sz="1000" b="0" dirty="0">
                <a:solidFill>
                  <a:srgbClr val="D4D4D4"/>
                </a:solidFill>
                <a:effectLst/>
                <a:latin typeface="Monaspace Neon" pitchFamily="50" charset="0"/>
              </a:rPr>
              <a:t> : </a:t>
            </a:r>
            <a:r>
              <a:rPr lang="en-US" sz="1000" b="0" dirty="0" err="1">
                <a:solidFill>
                  <a:srgbClr val="9CDCFE"/>
                </a:solidFill>
                <a:effectLst/>
                <a:latin typeface="Monaspace Neon" pitchFamily="50" charset="0"/>
              </a:rPr>
              <a:t>mBuckets</a:t>
            </a:r>
            <a:r>
              <a:rPr lang="en-US" sz="1000" b="0" dirty="0">
                <a:solidFill>
                  <a:srgbClr val="D4D4D4"/>
                </a:solidFill>
                <a:effectLst/>
                <a:latin typeface="Monaspace Neon" pitchFamily="50" charset="0"/>
              </a:rPr>
              <a:t>) </a:t>
            </a:r>
          </a:p>
          <a:p>
            <a:r>
              <a:rPr lang="en-US" sz="1000" b="0" dirty="0">
                <a:solidFill>
                  <a:srgbClr val="D4D4D4"/>
                </a:solidFill>
                <a:effectLst/>
                <a:latin typeface="Monaspace Neon" pitchFamily="50" charset="0"/>
              </a:rPr>
              <a:t>    </a:t>
            </a:r>
            <a:r>
              <a:rPr lang="en-US" sz="1000" b="0" dirty="0">
                <a:solidFill>
                  <a:srgbClr val="C586C0"/>
                </a:solidFill>
                <a:effectLst/>
                <a:latin typeface="Monaspace Neon" pitchFamily="50" charset="0"/>
              </a:rPr>
              <a:t>if</a:t>
            </a:r>
            <a:r>
              <a:rPr lang="en-US" sz="1000" b="0" dirty="0">
                <a:solidFill>
                  <a:srgbClr val="D4D4D4"/>
                </a:solidFill>
                <a:effectLst/>
                <a:latin typeface="Monaspace Neon" pitchFamily="50" charset="0"/>
              </a:rPr>
              <a:t> (</a:t>
            </a:r>
            <a:r>
              <a:rPr lang="en-US" sz="1000" b="0" dirty="0" err="1">
                <a:solidFill>
                  <a:srgbClr val="9CDCFE"/>
                </a:solidFill>
                <a:effectLst/>
                <a:latin typeface="Monaspace Neon" pitchFamily="50" charset="0"/>
              </a:rPr>
              <a:t>b</a:t>
            </a:r>
            <a:r>
              <a:rPr lang="en-US" sz="1000" b="0" dirty="0" err="1">
                <a:solidFill>
                  <a:srgbClr val="D4D4D4"/>
                </a:solidFill>
                <a:effectLst/>
                <a:latin typeface="Monaspace Neon" pitchFamily="50" charset="0"/>
              </a:rPr>
              <a:t>.</a:t>
            </a:r>
            <a:r>
              <a:rPr lang="en-US" sz="1000" b="0" dirty="0" err="1">
                <a:solidFill>
                  <a:srgbClr val="9CDCFE"/>
                </a:solidFill>
                <a:effectLst/>
                <a:latin typeface="Monaspace Neon" pitchFamily="50" charset="0"/>
              </a:rPr>
              <a:t>first</a:t>
            </a:r>
            <a:r>
              <a:rPr lang="en-US" sz="1000" b="0" dirty="0">
                <a:solidFill>
                  <a:srgbClr val="D4D4D4"/>
                </a:solidFill>
                <a:effectLst/>
                <a:latin typeface="Monaspace Neon" pitchFamily="50" charset="0"/>
              </a:rPr>
              <a:t> == OCCUPIED)</a:t>
            </a:r>
          </a:p>
          <a:p>
            <a:r>
              <a:rPr lang="en-US" sz="1000" b="0" dirty="0">
                <a:solidFill>
                  <a:srgbClr val="D4D4D4"/>
                </a:solidFill>
                <a:effectLst/>
                <a:latin typeface="Monaspace Neon" pitchFamily="50" charset="0"/>
              </a:rPr>
              <a:t>      </a:t>
            </a:r>
            <a:r>
              <a:rPr lang="en-US" sz="1000" b="0" dirty="0" err="1">
                <a:solidFill>
                  <a:srgbClr val="9CDCFE"/>
                </a:solidFill>
                <a:effectLst/>
                <a:latin typeface="Monaspace Neon" pitchFamily="50" charset="0"/>
              </a:rPr>
              <a:t>tmp</a:t>
            </a:r>
            <a:r>
              <a:rPr lang="en-US" sz="1000" b="0" dirty="0" err="1">
                <a:solidFill>
                  <a:srgbClr val="D4D4D4"/>
                </a:solidFill>
                <a:effectLst/>
                <a:latin typeface="Monaspace Neon" pitchFamily="50" charset="0"/>
              </a:rPr>
              <a:t>.</a:t>
            </a:r>
            <a:r>
              <a:rPr lang="en-US" sz="1000" b="0" dirty="0" err="1">
                <a:solidFill>
                  <a:srgbClr val="DCDCAA"/>
                </a:solidFill>
                <a:effectLst/>
                <a:latin typeface="Monaspace Neon" pitchFamily="50" charset="0"/>
              </a:rPr>
              <a:t>push_back</a:t>
            </a:r>
            <a:r>
              <a:rPr lang="en-US" sz="1000" b="0" dirty="0">
                <a:solidFill>
                  <a:srgbClr val="D4D4D4"/>
                </a:solidFill>
                <a:effectLst/>
                <a:latin typeface="Monaspace Neon" pitchFamily="50" charset="0"/>
              </a:rPr>
              <a:t>(</a:t>
            </a:r>
            <a:r>
              <a:rPr lang="en-US" sz="1000" b="0" dirty="0" err="1">
                <a:solidFill>
                  <a:srgbClr val="9CDCFE"/>
                </a:solidFill>
                <a:effectLst/>
                <a:latin typeface="Monaspace Neon" pitchFamily="50" charset="0"/>
              </a:rPr>
              <a:t>b</a:t>
            </a:r>
            <a:r>
              <a:rPr lang="en-US" sz="1000" b="0" dirty="0" err="1">
                <a:solidFill>
                  <a:srgbClr val="D4D4D4"/>
                </a:solidFill>
                <a:effectLst/>
                <a:latin typeface="Monaspace Neon" pitchFamily="50" charset="0"/>
              </a:rPr>
              <a:t>.</a:t>
            </a:r>
            <a:r>
              <a:rPr lang="en-US" sz="1000" b="0" dirty="0" err="1">
                <a:solidFill>
                  <a:srgbClr val="9CDCFE"/>
                </a:solidFill>
                <a:effectLst/>
                <a:latin typeface="Monaspace Neon" pitchFamily="50" charset="0"/>
              </a:rPr>
              <a:t>second</a:t>
            </a:r>
            <a:r>
              <a:rPr lang="en-US" sz="1000" b="0" dirty="0">
                <a:solidFill>
                  <a:srgbClr val="D4D4D4"/>
                </a:solidFill>
                <a:effectLst/>
                <a:latin typeface="Monaspace Neon" pitchFamily="50" charset="0"/>
              </a:rPr>
              <a:t>);</a:t>
            </a:r>
          </a:p>
          <a:p>
            <a:r>
              <a:rPr lang="en-US" sz="1000" b="0" dirty="0">
                <a:solidFill>
                  <a:srgbClr val="D4D4D4"/>
                </a:solidFill>
                <a:effectLst/>
                <a:latin typeface="Monaspace Neon" pitchFamily="50" charset="0"/>
              </a:rPr>
              <a:t>  </a:t>
            </a:r>
            <a:r>
              <a:rPr lang="en-US" sz="1000" b="0" dirty="0" err="1">
                <a:solidFill>
                  <a:srgbClr val="9CDCFE"/>
                </a:solidFill>
                <a:effectLst/>
                <a:latin typeface="Monaspace Neon" pitchFamily="50" charset="0"/>
              </a:rPr>
              <a:t>mSize</a:t>
            </a:r>
            <a:r>
              <a:rPr lang="en-US" sz="1000" b="0" dirty="0">
                <a:solidFill>
                  <a:srgbClr val="D4D4D4"/>
                </a:solidFill>
                <a:effectLst/>
                <a:latin typeface="Monaspace Neon" pitchFamily="50" charset="0"/>
              </a:rPr>
              <a:t> = </a:t>
            </a:r>
            <a:r>
              <a:rPr lang="en-US" sz="1000" b="0" dirty="0">
                <a:solidFill>
                  <a:srgbClr val="B5CEA8"/>
                </a:solidFill>
                <a:effectLst/>
                <a:latin typeface="Monaspace Neon" pitchFamily="50" charset="0"/>
              </a:rPr>
              <a:t>0</a:t>
            </a:r>
            <a:r>
              <a:rPr lang="en-US" sz="1000" b="0" dirty="0">
                <a:solidFill>
                  <a:srgbClr val="D4D4D4"/>
                </a:solidFill>
                <a:effectLst/>
                <a:latin typeface="Monaspace Neon" pitchFamily="50" charset="0"/>
              </a:rPr>
              <a:t>;</a:t>
            </a:r>
          </a:p>
          <a:p>
            <a:r>
              <a:rPr lang="en-US" sz="1000" b="0" dirty="0">
                <a:solidFill>
                  <a:srgbClr val="D4D4D4"/>
                </a:solidFill>
                <a:effectLst/>
                <a:latin typeface="Monaspace Neon" pitchFamily="50" charset="0"/>
              </a:rPr>
              <a:t>  </a:t>
            </a:r>
            <a:r>
              <a:rPr lang="en-US" sz="1000" b="0" dirty="0" err="1">
                <a:solidFill>
                  <a:srgbClr val="9CDCFE"/>
                </a:solidFill>
                <a:effectLst/>
                <a:latin typeface="Monaspace Neon" pitchFamily="50" charset="0"/>
              </a:rPr>
              <a:t>mBuckets</a:t>
            </a:r>
            <a:r>
              <a:rPr lang="en-US" sz="1000" b="0" dirty="0">
                <a:solidFill>
                  <a:srgbClr val="D4D4D4"/>
                </a:solidFill>
                <a:effectLst/>
                <a:latin typeface="Monaspace Neon" pitchFamily="50" charset="0"/>
              </a:rPr>
              <a:t> = </a:t>
            </a:r>
            <a:r>
              <a:rPr lang="en-US" sz="1000" b="0" dirty="0">
                <a:solidFill>
                  <a:srgbClr val="4EC9B0"/>
                </a:solidFill>
                <a:effectLst/>
                <a:latin typeface="Monaspace Neon" pitchFamily="50" charset="0"/>
              </a:rPr>
              <a:t>std</a:t>
            </a:r>
            <a:r>
              <a:rPr lang="en-US" sz="1000" b="0" dirty="0">
                <a:solidFill>
                  <a:srgbClr val="D4D4D4"/>
                </a:solidFill>
                <a:effectLst/>
                <a:latin typeface="Monaspace Neon" pitchFamily="50" charset="0"/>
              </a:rPr>
              <a:t>::</a:t>
            </a:r>
            <a:r>
              <a:rPr lang="en-US" sz="1000" b="0" dirty="0">
                <a:solidFill>
                  <a:srgbClr val="4EC9B0"/>
                </a:solidFill>
                <a:effectLst/>
                <a:latin typeface="Monaspace Neon" pitchFamily="50" charset="0"/>
              </a:rPr>
              <a:t>vector</a:t>
            </a:r>
            <a:r>
              <a:rPr lang="en-US" sz="1000" b="0" dirty="0">
                <a:solidFill>
                  <a:srgbClr val="D4D4D4"/>
                </a:solidFill>
                <a:effectLst/>
                <a:latin typeface="Monaspace Neon" pitchFamily="50" charset="0"/>
              </a:rPr>
              <a:t>&lt;</a:t>
            </a:r>
            <a:r>
              <a:rPr lang="en-US" sz="1000" b="0" dirty="0" err="1">
                <a:solidFill>
                  <a:srgbClr val="4EC9B0"/>
                </a:solidFill>
                <a:effectLst/>
                <a:latin typeface="Monaspace Neon" pitchFamily="50" charset="0"/>
              </a:rPr>
              <a:t>BucketT</a:t>
            </a:r>
            <a:r>
              <a:rPr lang="en-US" sz="1000" b="0" dirty="0">
                <a:solidFill>
                  <a:srgbClr val="D4D4D4"/>
                </a:solidFill>
                <a:effectLst/>
                <a:latin typeface="Monaspace Neon" pitchFamily="50" charset="0"/>
              </a:rPr>
              <a:t>&gt;(</a:t>
            </a:r>
            <a:r>
              <a:rPr lang="en-US" sz="1000" b="0" dirty="0">
                <a:solidFill>
                  <a:srgbClr val="9CDCFE"/>
                </a:solidFill>
                <a:effectLst/>
                <a:latin typeface="Monaspace Neon" pitchFamily="50" charset="0"/>
              </a:rPr>
              <a:t>n</a:t>
            </a:r>
            <a:r>
              <a:rPr lang="en-US" sz="1000" b="0" dirty="0">
                <a:solidFill>
                  <a:srgbClr val="D4D4D4"/>
                </a:solidFill>
                <a:effectLst/>
                <a:latin typeface="Monaspace Neon" pitchFamily="50" charset="0"/>
              </a:rPr>
              <a:t>,{</a:t>
            </a:r>
            <a:r>
              <a:rPr lang="en-US" sz="1000" b="0" dirty="0" err="1">
                <a:solidFill>
                  <a:srgbClr val="D4D4D4"/>
                </a:solidFill>
                <a:effectLst/>
                <a:latin typeface="Monaspace Neon" pitchFamily="50" charset="0"/>
              </a:rPr>
              <a:t>EMPTY,</a:t>
            </a:r>
            <a:r>
              <a:rPr lang="en-US" sz="1000" b="0" dirty="0" err="1">
                <a:solidFill>
                  <a:srgbClr val="4EC9B0"/>
                </a:solidFill>
                <a:effectLst/>
                <a:latin typeface="Monaspace Neon" pitchFamily="50" charset="0"/>
              </a:rPr>
              <a:t>KeyT</a:t>
            </a:r>
            <a:r>
              <a:rPr lang="en-US" sz="1000" b="0" dirty="0">
                <a:solidFill>
                  <a:srgbClr val="D4D4D4"/>
                </a:solidFill>
                <a:effectLst/>
                <a:latin typeface="Monaspace Neon" pitchFamily="50" charset="0"/>
              </a:rPr>
              <a:t>()});</a:t>
            </a:r>
          </a:p>
          <a:p>
            <a:r>
              <a:rPr lang="en-US" sz="1000" b="0" dirty="0">
                <a:solidFill>
                  <a:srgbClr val="D4D4D4"/>
                </a:solidFill>
                <a:effectLst/>
                <a:latin typeface="Monaspace Neon" pitchFamily="50" charset="0"/>
              </a:rPr>
              <a:t>  </a:t>
            </a:r>
            <a:r>
              <a:rPr lang="en-US" sz="1000" b="0" dirty="0">
                <a:solidFill>
                  <a:srgbClr val="C586C0"/>
                </a:solidFill>
                <a:effectLst/>
                <a:latin typeface="Monaspace Neon" pitchFamily="50" charset="0"/>
              </a:rPr>
              <a:t>for</a:t>
            </a:r>
            <a:r>
              <a:rPr lang="en-US" sz="1000" b="0" dirty="0">
                <a:solidFill>
                  <a:srgbClr val="D4D4D4"/>
                </a:solidFill>
                <a:effectLst/>
                <a:latin typeface="Monaspace Neon" pitchFamily="50" charset="0"/>
              </a:rPr>
              <a:t> (</a:t>
            </a:r>
            <a:r>
              <a:rPr lang="en-US" sz="1000" b="0" dirty="0">
                <a:solidFill>
                  <a:srgbClr val="569CD6"/>
                </a:solidFill>
                <a:effectLst/>
                <a:latin typeface="Monaspace Neon" pitchFamily="50" charset="0"/>
              </a:rPr>
              <a:t>auto</a:t>
            </a:r>
            <a:r>
              <a:rPr lang="en-US" sz="1000" b="0" dirty="0">
                <a:solidFill>
                  <a:srgbClr val="D4D4D4"/>
                </a:solidFill>
                <a:effectLst/>
                <a:latin typeface="Monaspace Neon" pitchFamily="50" charset="0"/>
              </a:rPr>
              <a:t>&amp; </a:t>
            </a:r>
            <a:r>
              <a:rPr lang="en-US" sz="1000" b="0" dirty="0">
                <a:solidFill>
                  <a:srgbClr val="9CDCFE"/>
                </a:solidFill>
                <a:effectLst/>
                <a:latin typeface="Monaspace Neon" pitchFamily="50" charset="0"/>
              </a:rPr>
              <a:t>k</a:t>
            </a:r>
            <a:r>
              <a:rPr lang="en-US" sz="1000" b="0" dirty="0">
                <a:solidFill>
                  <a:srgbClr val="D4D4D4"/>
                </a:solidFill>
                <a:effectLst/>
                <a:latin typeface="Monaspace Neon" pitchFamily="50" charset="0"/>
              </a:rPr>
              <a:t> : </a:t>
            </a:r>
            <a:r>
              <a:rPr lang="en-US" sz="1000" b="0" dirty="0" err="1">
                <a:solidFill>
                  <a:srgbClr val="9CDCFE"/>
                </a:solidFill>
                <a:effectLst/>
                <a:latin typeface="Monaspace Neon" pitchFamily="50" charset="0"/>
              </a:rPr>
              <a:t>tmp</a:t>
            </a:r>
            <a:r>
              <a:rPr lang="en-US" sz="1000" b="0" dirty="0">
                <a:solidFill>
                  <a:srgbClr val="D4D4D4"/>
                </a:solidFill>
                <a:effectLst/>
                <a:latin typeface="Monaspace Neon" pitchFamily="50" charset="0"/>
              </a:rPr>
              <a:t>) {</a:t>
            </a:r>
          </a:p>
          <a:p>
            <a:r>
              <a:rPr lang="en-US" sz="1000" b="0" dirty="0">
                <a:solidFill>
                  <a:srgbClr val="D4D4D4"/>
                </a:solidFill>
                <a:effectLst/>
                <a:latin typeface="Monaspace Neon" pitchFamily="50" charset="0"/>
              </a:rPr>
              <a:t>    </a:t>
            </a:r>
            <a:r>
              <a:rPr lang="en-US" sz="1000" b="0" dirty="0">
                <a:solidFill>
                  <a:srgbClr val="DCDCAA"/>
                </a:solidFill>
                <a:effectLst/>
                <a:latin typeface="Monaspace Neon" pitchFamily="50" charset="0"/>
              </a:rPr>
              <a:t>insert</a:t>
            </a:r>
            <a:r>
              <a:rPr lang="en-US" sz="1000" b="0" dirty="0">
                <a:solidFill>
                  <a:srgbClr val="D4D4D4"/>
                </a:solidFill>
                <a:effectLst/>
                <a:latin typeface="Monaspace Neon" pitchFamily="50" charset="0"/>
              </a:rPr>
              <a:t>(</a:t>
            </a:r>
            <a:r>
              <a:rPr lang="en-US" sz="1000" b="0" dirty="0">
                <a:solidFill>
                  <a:srgbClr val="9CDCFE"/>
                </a:solidFill>
                <a:effectLst/>
                <a:latin typeface="Monaspace Neon" pitchFamily="50" charset="0"/>
              </a:rPr>
              <a:t>k</a:t>
            </a:r>
            <a:r>
              <a:rPr lang="en-US" sz="1000" b="0" dirty="0">
                <a:solidFill>
                  <a:srgbClr val="D4D4D4"/>
                </a:solidFill>
                <a:effectLst/>
                <a:latin typeface="Monaspace Neon" pitchFamily="50" charset="0"/>
              </a:rPr>
              <a:t>);</a:t>
            </a:r>
          </a:p>
          <a:p>
            <a:r>
              <a:rPr lang="en-US" sz="1000" b="0" dirty="0">
                <a:solidFill>
                  <a:srgbClr val="D4D4D4"/>
                </a:solidFill>
                <a:effectLst/>
                <a:latin typeface="Monaspace Neon" pitchFamily="50" charset="0"/>
              </a:rPr>
              <a:t>  }</a:t>
            </a:r>
          </a:p>
          <a:p>
            <a:r>
              <a:rPr lang="en-US" sz="1000" b="0" dirty="0">
                <a:solidFill>
                  <a:srgbClr val="D4D4D4"/>
                </a:solidFill>
                <a:effectLst/>
                <a:latin typeface="Monaspace Neon" pitchFamily="50" charset="0"/>
              </a:rPr>
              <a:t>}</a:t>
            </a:r>
          </a:p>
        </p:txBody>
      </p:sp>
    </p:spTree>
    <p:extLst>
      <p:ext uri="{BB962C8B-B14F-4D97-AF65-F5344CB8AC3E}">
        <p14:creationId xmlns:p14="http://schemas.microsoft.com/office/powerpoint/2010/main" val="1026092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2609E-1A8B-B327-0E42-C5863954C046}"/>
              </a:ext>
            </a:extLst>
          </p:cNvPr>
          <p:cNvSpPr>
            <a:spLocks noGrp="1"/>
          </p:cNvSpPr>
          <p:nvPr>
            <p:ph type="title"/>
          </p:nvPr>
        </p:nvSpPr>
        <p:spPr/>
        <p:txBody>
          <a:bodyPr/>
          <a:lstStyle/>
          <a:p>
            <a:r>
              <a:rPr lang="en-US" dirty="0"/>
              <a:t>Basic Analysis</a:t>
            </a:r>
          </a:p>
        </p:txBody>
      </p:sp>
      <p:sp>
        <p:nvSpPr>
          <p:cNvPr id="3" name="Content Placeholder 2">
            <a:extLst>
              <a:ext uri="{FF2B5EF4-FFF2-40B4-BE49-F238E27FC236}">
                <a16:creationId xmlns:a16="http://schemas.microsoft.com/office/drawing/2014/main" id="{CBEEDF4A-2EAC-8A67-722E-405AA0F97065}"/>
              </a:ext>
            </a:extLst>
          </p:cNvPr>
          <p:cNvSpPr>
            <a:spLocks noGrp="1"/>
          </p:cNvSpPr>
          <p:nvPr>
            <p:ph idx="1"/>
          </p:nvPr>
        </p:nvSpPr>
        <p:spPr>
          <a:xfrm>
            <a:off x="838200" y="1358781"/>
            <a:ext cx="5558204" cy="5016382"/>
          </a:xfrm>
        </p:spPr>
        <p:txBody>
          <a:bodyPr>
            <a:normAutofit fontScale="92500" lnSpcReduction="10000"/>
          </a:bodyPr>
          <a:lstStyle/>
          <a:p>
            <a:r>
              <a:rPr lang="en-US" dirty="0"/>
              <a:t>Because of open addressing, x might not be at bucket h(x) and we have to check some other buckets</a:t>
            </a:r>
          </a:p>
          <a:p>
            <a:pPr lvl="1"/>
            <a:r>
              <a:rPr lang="en-US" dirty="0"/>
              <a:t>In the worst case, we might have to check all buckets </a:t>
            </a:r>
          </a:p>
          <a:p>
            <a:r>
              <a:rPr lang="en-US" dirty="0"/>
              <a:t>In Open Addressing, the order of insertion might affect which bucket is used</a:t>
            </a:r>
          </a:p>
          <a:p>
            <a:pPr lvl="1"/>
            <a:r>
              <a:rPr lang="en-US" dirty="0"/>
              <a:t>Consider inserting {0,1,2,3,8}</a:t>
            </a:r>
            <a:r>
              <a:rPr lang="th-TH" dirty="0"/>
              <a:t> </a:t>
            </a:r>
            <a:r>
              <a:rPr lang="en-US" dirty="0"/>
              <a:t>and {0,8,1,2,3} into a hash table of size 8</a:t>
            </a:r>
          </a:p>
        </p:txBody>
      </p:sp>
      <p:graphicFrame>
        <p:nvGraphicFramePr>
          <p:cNvPr id="4" name="Table 3">
            <a:extLst>
              <a:ext uri="{FF2B5EF4-FFF2-40B4-BE49-F238E27FC236}">
                <a16:creationId xmlns:a16="http://schemas.microsoft.com/office/drawing/2014/main" id="{BD870D97-49EC-AB9D-1051-FA0126A43032}"/>
              </a:ext>
            </a:extLst>
          </p:cNvPr>
          <p:cNvGraphicFramePr>
            <a:graphicFrameLocks noGrp="1"/>
          </p:cNvGraphicFramePr>
          <p:nvPr>
            <p:extLst>
              <p:ext uri="{D42A27DB-BD31-4B8C-83A1-F6EECF244321}">
                <p14:modId xmlns:p14="http://schemas.microsoft.com/office/powerpoint/2010/main" val="1205650630"/>
              </p:ext>
            </p:extLst>
          </p:nvPr>
        </p:nvGraphicFramePr>
        <p:xfrm>
          <a:off x="7193519" y="1460942"/>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graphicFrame>
        <p:nvGraphicFramePr>
          <p:cNvPr id="5" name="Table 4">
            <a:extLst>
              <a:ext uri="{FF2B5EF4-FFF2-40B4-BE49-F238E27FC236}">
                <a16:creationId xmlns:a16="http://schemas.microsoft.com/office/drawing/2014/main" id="{DF680859-19B8-A791-DAC2-4F61C8337C4D}"/>
              </a:ext>
            </a:extLst>
          </p:cNvPr>
          <p:cNvGraphicFramePr>
            <a:graphicFrameLocks noGrp="1"/>
          </p:cNvGraphicFramePr>
          <p:nvPr>
            <p:extLst>
              <p:ext uri="{D42A27DB-BD31-4B8C-83A1-F6EECF244321}">
                <p14:modId xmlns:p14="http://schemas.microsoft.com/office/powerpoint/2010/main" val="526375457"/>
              </p:ext>
            </p:extLst>
          </p:nvPr>
        </p:nvGraphicFramePr>
        <p:xfrm>
          <a:off x="7193519" y="3551132"/>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6" name="TextBox 5">
            <a:extLst>
              <a:ext uri="{FF2B5EF4-FFF2-40B4-BE49-F238E27FC236}">
                <a16:creationId xmlns:a16="http://schemas.microsoft.com/office/drawing/2014/main" id="{8DBD8137-E9CD-D45F-5388-3B161D3D2ACA}"/>
              </a:ext>
            </a:extLst>
          </p:cNvPr>
          <p:cNvSpPr txBox="1"/>
          <p:nvPr/>
        </p:nvSpPr>
        <p:spPr>
          <a:xfrm>
            <a:off x="7302012" y="1752676"/>
            <a:ext cx="272561" cy="338554"/>
          </a:xfrm>
          <a:prstGeom prst="rect">
            <a:avLst/>
          </a:prstGeom>
          <a:noFill/>
        </p:spPr>
        <p:txBody>
          <a:bodyPr wrap="square" rtlCol="0">
            <a:spAutoFit/>
          </a:bodyPr>
          <a:lstStyle/>
          <a:p>
            <a:r>
              <a:rPr lang="en-US" sz="1600" dirty="0"/>
              <a:t>0</a:t>
            </a:r>
            <a:endParaRPr lang="en-US" dirty="0"/>
          </a:p>
        </p:txBody>
      </p:sp>
      <p:sp>
        <p:nvSpPr>
          <p:cNvPr id="7" name="TextBox 6">
            <a:extLst>
              <a:ext uri="{FF2B5EF4-FFF2-40B4-BE49-F238E27FC236}">
                <a16:creationId xmlns:a16="http://schemas.microsoft.com/office/drawing/2014/main" id="{8988DF17-AC63-99E3-A215-2A369F1B6908}"/>
              </a:ext>
            </a:extLst>
          </p:cNvPr>
          <p:cNvSpPr txBox="1"/>
          <p:nvPr/>
        </p:nvSpPr>
        <p:spPr>
          <a:xfrm>
            <a:off x="7803079" y="1752676"/>
            <a:ext cx="272561" cy="338554"/>
          </a:xfrm>
          <a:prstGeom prst="rect">
            <a:avLst/>
          </a:prstGeom>
          <a:noFill/>
        </p:spPr>
        <p:txBody>
          <a:bodyPr wrap="square" rtlCol="0">
            <a:spAutoFit/>
          </a:bodyPr>
          <a:lstStyle/>
          <a:p>
            <a:r>
              <a:rPr lang="en-US" sz="1600" dirty="0"/>
              <a:t>1</a:t>
            </a:r>
            <a:endParaRPr lang="en-US" dirty="0"/>
          </a:p>
        </p:txBody>
      </p:sp>
      <p:sp>
        <p:nvSpPr>
          <p:cNvPr id="8" name="TextBox 7">
            <a:extLst>
              <a:ext uri="{FF2B5EF4-FFF2-40B4-BE49-F238E27FC236}">
                <a16:creationId xmlns:a16="http://schemas.microsoft.com/office/drawing/2014/main" id="{C3E74F21-2CF9-117A-BC3E-E383D323658F}"/>
              </a:ext>
            </a:extLst>
          </p:cNvPr>
          <p:cNvSpPr txBox="1"/>
          <p:nvPr/>
        </p:nvSpPr>
        <p:spPr>
          <a:xfrm>
            <a:off x="8304146" y="1752676"/>
            <a:ext cx="272561" cy="338554"/>
          </a:xfrm>
          <a:prstGeom prst="rect">
            <a:avLst/>
          </a:prstGeom>
          <a:noFill/>
        </p:spPr>
        <p:txBody>
          <a:bodyPr wrap="square" rtlCol="0">
            <a:spAutoFit/>
          </a:bodyPr>
          <a:lstStyle/>
          <a:p>
            <a:r>
              <a:rPr lang="en-US" sz="1600" dirty="0"/>
              <a:t>2</a:t>
            </a:r>
            <a:endParaRPr lang="en-US" dirty="0"/>
          </a:p>
        </p:txBody>
      </p:sp>
      <p:sp>
        <p:nvSpPr>
          <p:cNvPr id="9" name="TextBox 8">
            <a:extLst>
              <a:ext uri="{FF2B5EF4-FFF2-40B4-BE49-F238E27FC236}">
                <a16:creationId xmlns:a16="http://schemas.microsoft.com/office/drawing/2014/main" id="{3C8525D3-22A3-A6C8-A771-7315A73522EC}"/>
              </a:ext>
            </a:extLst>
          </p:cNvPr>
          <p:cNvSpPr txBox="1"/>
          <p:nvPr/>
        </p:nvSpPr>
        <p:spPr>
          <a:xfrm>
            <a:off x="8805213" y="1752676"/>
            <a:ext cx="272561" cy="338554"/>
          </a:xfrm>
          <a:prstGeom prst="rect">
            <a:avLst/>
          </a:prstGeom>
          <a:noFill/>
        </p:spPr>
        <p:txBody>
          <a:bodyPr wrap="square" rtlCol="0">
            <a:spAutoFit/>
          </a:bodyPr>
          <a:lstStyle/>
          <a:p>
            <a:r>
              <a:rPr lang="en-US" sz="1600" dirty="0"/>
              <a:t>3</a:t>
            </a:r>
            <a:endParaRPr lang="en-US" dirty="0"/>
          </a:p>
        </p:txBody>
      </p:sp>
      <p:sp>
        <p:nvSpPr>
          <p:cNvPr id="10" name="TextBox 9">
            <a:extLst>
              <a:ext uri="{FF2B5EF4-FFF2-40B4-BE49-F238E27FC236}">
                <a16:creationId xmlns:a16="http://schemas.microsoft.com/office/drawing/2014/main" id="{D211635C-B8D6-D4DF-4337-08566B9B1517}"/>
              </a:ext>
            </a:extLst>
          </p:cNvPr>
          <p:cNvSpPr txBox="1"/>
          <p:nvPr/>
        </p:nvSpPr>
        <p:spPr>
          <a:xfrm>
            <a:off x="7302012" y="2213687"/>
            <a:ext cx="272561" cy="338554"/>
          </a:xfrm>
          <a:prstGeom prst="rect">
            <a:avLst/>
          </a:prstGeom>
          <a:noFill/>
        </p:spPr>
        <p:txBody>
          <a:bodyPr wrap="square" rtlCol="0">
            <a:spAutoFit/>
          </a:bodyPr>
          <a:lstStyle/>
          <a:p>
            <a:r>
              <a:rPr lang="en-US" sz="1600" dirty="0"/>
              <a:t>8</a:t>
            </a:r>
            <a:endParaRPr lang="en-US" dirty="0"/>
          </a:p>
        </p:txBody>
      </p:sp>
      <p:sp>
        <p:nvSpPr>
          <p:cNvPr id="11" name="TextBox 10">
            <a:extLst>
              <a:ext uri="{FF2B5EF4-FFF2-40B4-BE49-F238E27FC236}">
                <a16:creationId xmlns:a16="http://schemas.microsoft.com/office/drawing/2014/main" id="{7A54DCC8-F858-3C7F-7376-0CD772BEFB61}"/>
              </a:ext>
            </a:extLst>
          </p:cNvPr>
          <p:cNvSpPr txBox="1"/>
          <p:nvPr/>
        </p:nvSpPr>
        <p:spPr>
          <a:xfrm>
            <a:off x="7302012" y="3844258"/>
            <a:ext cx="272561" cy="338554"/>
          </a:xfrm>
          <a:prstGeom prst="rect">
            <a:avLst/>
          </a:prstGeom>
          <a:noFill/>
        </p:spPr>
        <p:txBody>
          <a:bodyPr wrap="square" rtlCol="0">
            <a:spAutoFit/>
          </a:bodyPr>
          <a:lstStyle/>
          <a:p>
            <a:r>
              <a:rPr lang="en-US" sz="1600" dirty="0"/>
              <a:t>0</a:t>
            </a:r>
            <a:endParaRPr lang="en-US" dirty="0"/>
          </a:p>
        </p:txBody>
      </p:sp>
      <p:sp>
        <p:nvSpPr>
          <p:cNvPr id="12" name="TextBox 11">
            <a:extLst>
              <a:ext uri="{FF2B5EF4-FFF2-40B4-BE49-F238E27FC236}">
                <a16:creationId xmlns:a16="http://schemas.microsoft.com/office/drawing/2014/main" id="{7F72BA98-59DD-2AB6-06C9-D91A5AE9CCA0}"/>
              </a:ext>
            </a:extLst>
          </p:cNvPr>
          <p:cNvSpPr txBox="1"/>
          <p:nvPr/>
        </p:nvSpPr>
        <p:spPr>
          <a:xfrm>
            <a:off x="7302012" y="4350217"/>
            <a:ext cx="272561" cy="338554"/>
          </a:xfrm>
          <a:prstGeom prst="rect">
            <a:avLst/>
          </a:prstGeom>
          <a:noFill/>
        </p:spPr>
        <p:txBody>
          <a:bodyPr wrap="square" rtlCol="0">
            <a:spAutoFit/>
          </a:bodyPr>
          <a:lstStyle/>
          <a:p>
            <a:r>
              <a:rPr lang="en-US" sz="1600" dirty="0"/>
              <a:t>8</a:t>
            </a:r>
            <a:endParaRPr lang="en-US" dirty="0"/>
          </a:p>
        </p:txBody>
      </p:sp>
      <p:sp>
        <p:nvSpPr>
          <p:cNvPr id="13" name="TextBox 12">
            <a:extLst>
              <a:ext uri="{FF2B5EF4-FFF2-40B4-BE49-F238E27FC236}">
                <a16:creationId xmlns:a16="http://schemas.microsoft.com/office/drawing/2014/main" id="{F86A7C60-E604-DD06-5D13-81C2C6E0C1B0}"/>
              </a:ext>
            </a:extLst>
          </p:cNvPr>
          <p:cNvSpPr txBox="1"/>
          <p:nvPr/>
        </p:nvSpPr>
        <p:spPr>
          <a:xfrm>
            <a:off x="7803079" y="4350217"/>
            <a:ext cx="272561" cy="338554"/>
          </a:xfrm>
          <a:prstGeom prst="rect">
            <a:avLst/>
          </a:prstGeom>
          <a:noFill/>
        </p:spPr>
        <p:txBody>
          <a:bodyPr wrap="square" rtlCol="0">
            <a:spAutoFit/>
          </a:bodyPr>
          <a:lstStyle/>
          <a:p>
            <a:r>
              <a:rPr lang="en-US" sz="1600" dirty="0"/>
              <a:t>1</a:t>
            </a:r>
            <a:endParaRPr lang="en-US" dirty="0"/>
          </a:p>
        </p:txBody>
      </p:sp>
      <p:sp>
        <p:nvSpPr>
          <p:cNvPr id="14" name="TextBox 13">
            <a:extLst>
              <a:ext uri="{FF2B5EF4-FFF2-40B4-BE49-F238E27FC236}">
                <a16:creationId xmlns:a16="http://schemas.microsoft.com/office/drawing/2014/main" id="{4AF46764-693F-CC3D-802B-805C1E368882}"/>
              </a:ext>
            </a:extLst>
          </p:cNvPr>
          <p:cNvSpPr txBox="1"/>
          <p:nvPr/>
        </p:nvSpPr>
        <p:spPr>
          <a:xfrm>
            <a:off x="8304145" y="4350217"/>
            <a:ext cx="272561" cy="338554"/>
          </a:xfrm>
          <a:prstGeom prst="rect">
            <a:avLst/>
          </a:prstGeom>
          <a:noFill/>
        </p:spPr>
        <p:txBody>
          <a:bodyPr wrap="square" rtlCol="0">
            <a:spAutoFit/>
          </a:bodyPr>
          <a:lstStyle/>
          <a:p>
            <a:r>
              <a:rPr lang="en-US" sz="1600" dirty="0"/>
              <a:t>2</a:t>
            </a:r>
            <a:endParaRPr lang="en-US" dirty="0"/>
          </a:p>
        </p:txBody>
      </p:sp>
      <p:sp>
        <p:nvSpPr>
          <p:cNvPr id="15" name="TextBox 14">
            <a:extLst>
              <a:ext uri="{FF2B5EF4-FFF2-40B4-BE49-F238E27FC236}">
                <a16:creationId xmlns:a16="http://schemas.microsoft.com/office/drawing/2014/main" id="{E7A7E33B-9EE3-9DF1-9001-10E49E283838}"/>
              </a:ext>
            </a:extLst>
          </p:cNvPr>
          <p:cNvSpPr txBox="1"/>
          <p:nvPr/>
        </p:nvSpPr>
        <p:spPr>
          <a:xfrm>
            <a:off x="8805211" y="4350217"/>
            <a:ext cx="272561" cy="338554"/>
          </a:xfrm>
          <a:prstGeom prst="rect">
            <a:avLst/>
          </a:prstGeom>
          <a:noFill/>
        </p:spPr>
        <p:txBody>
          <a:bodyPr wrap="square" rtlCol="0">
            <a:spAutoFit/>
          </a:bodyPr>
          <a:lstStyle/>
          <a:p>
            <a:r>
              <a:rPr lang="en-US" sz="1600" dirty="0"/>
              <a:t>3</a:t>
            </a:r>
            <a:endParaRPr lang="en-US" dirty="0"/>
          </a:p>
        </p:txBody>
      </p:sp>
    </p:spTree>
    <p:extLst>
      <p:ext uri="{BB962C8B-B14F-4D97-AF65-F5344CB8AC3E}">
        <p14:creationId xmlns:p14="http://schemas.microsoft.com/office/powerpoint/2010/main" val="39129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50" presetClass="path" presetSubtype="0" accel="50000" decel="50000" fill="hold" grpId="1" nodeType="clickEffect">
                                  <p:stCondLst>
                                    <p:cond delay="0"/>
                                  </p:stCondLst>
                                  <p:childTnLst>
                                    <p:animMotion origin="layout" path="M 3.95833E-6 -3.7037E-6 L 0.08216 -3.7037E-6 C 0.11901 -3.7037E-6 0.16445 -0.01828 0.16445 -0.0331 L 0.16445 -0.06597 " pathEditMode="relative" rAng="0" ptsTypes="AAAA">
                                      <p:cBhvr>
                                        <p:cTn id="33" dur="700" fill="hold"/>
                                        <p:tgtEl>
                                          <p:spTgt spid="10"/>
                                        </p:tgtEl>
                                        <p:attrNameLst>
                                          <p:attrName>ppt_x</p:attrName>
                                          <p:attrName>ppt_y</p:attrName>
                                        </p:attrNameLst>
                                      </p:cBhvr>
                                      <p:rCtr x="8216" y="-3310"/>
                                    </p:animMotion>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50" presetClass="path" presetSubtype="0" accel="50000" decel="50000" fill="hold" grpId="1" nodeType="clickEffect">
                                  <p:stCondLst>
                                    <p:cond delay="0"/>
                                  </p:stCondLst>
                                  <p:childTnLst>
                                    <p:animMotion origin="layout" path="M 3.95833E-6 2.22222E-6 L 0.02044 2.22222E-6 C 0.02981 2.22222E-6 0.04153 -0.0206 0.04153 -0.0375 L 0.04153 -0.07431 " pathEditMode="relative" rAng="0" ptsTypes="AAAA">
                                      <p:cBhvr>
                                        <p:cTn id="52" dur="700" fill="hold"/>
                                        <p:tgtEl>
                                          <p:spTgt spid="12"/>
                                        </p:tgtEl>
                                        <p:attrNameLst>
                                          <p:attrName>ppt_x</p:attrName>
                                          <p:attrName>ppt_y</p:attrName>
                                        </p:attrNameLst>
                                      </p:cBhvr>
                                      <p:rCtr x="2070" y="-3727"/>
                                    </p:animMotion>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50" presetClass="path" presetSubtype="0" accel="50000" decel="50000" fill="hold" grpId="1" nodeType="clickEffect">
                                  <p:stCondLst>
                                    <p:cond delay="0"/>
                                  </p:stCondLst>
                                  <p:childTnLst>
                                    <p:animMotion origin="layout" path="M 3.95833E-6 2.22222E-6 L 0.02044 2.22222E-6 C 0.02981 2.22222E-6 0.04153 -0.0206 0.04153 -0.0375 L 0.04153 -0.07431 " pathEditMode="relative" rAng="0" ptsTypes="AAAA">
                                      <p:cBhvr>
                                        <p:cTn id="61" dur="700" fill="hold"/>
                                        <p:tgtEl>
                                          <p:spTgt spid="13"/>
                                        </p:tgtEl>
                                        <p:attrNameLst>
                                          <p:attrName>ppt_x</p:attrName>
                                          <p:attrName>ppt_y</p:attrName>
                                        </p:attrNameLst>
                                      </p:cBhvr>
                                      <p:rCtr x="2070" y="-3727"/>
                                    </p:animMotion>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childTnLst>
                                </p:cTn>
                              </p:par>
                            </p:childTnLst>
                          </p:cTn>
                        </p:par>
                      </p:childTnLst>
                    </p:cTn>
                  </p:par>
                  <p:par>
                    <p:cTn id="67" fill="hold">
                      <p:stCondLst>
                        <p:cond delay="indefinite"/>
                      </p:stCondLst>
                      <p:childTnLst>
                        <p:par>
                          <p:cTn id="68" fill="hold">
                            <p:stCondLst>
                              <p:cond delay="0"/>
                            </p:stCondLst>
                            <p:childTnLst>
                              <p:par>
                                <p:cTn id="69" presetID="50" presetClass="path" presetSubtype="0" accel="50000" decel="50000" fill="hold" grpId="1" nodeType="clickEffect">
                                  <p:stCondLst>
                                    <p:cond delay="0"/>
                                  </p:stCondLst>
                                  <p:childTnLst>
                                    <p:animMotion origin="layout" path="M 3.95833E-6 2.22222E-6 L 0.02044 2.22222E-6 C 0.02981 2.22222E-6 0.04153 -0.0206 0.04153 -0.0375 L 0.04153 -0.07431 " pathEditMode="relative" rAng="0" ptsTypes="AAAA">
                                      <p:cBhvr>
                                        <p:cTn id="70" dur="700" fill="hold"/>
                                        <p:tgtEl>
                                          <p:spTgt spid="14"/>
                                        </p:tgtEl>
                                        <p:attrNameLst>
                                          <p:attrName>ppt_x</p:attrName>
                                          <p:attrName>ppt_y</p:attrName>
                                        </p:attrNameLst>
                                      </p:cBhvr>
                                      <p:rCtr x="2070" y="-3727"/>
                                    </p:animMotion>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500"/>
                                        <p:tgtEl>
                                          <p:spTgt spid="15"/>
                                        </p:tgtEl>
                                      </p:cBhvr>
                                    </p:animEffect>
                                  </p:childTnLst>
                                </p:cTn>
                              </p:par>
                            </p:childTnLst>
                          </p:cTn>
                        </p:par>
                      </p:childTnLst>
                    </p:cTn>
                  </p:par>
                  <p:par>
                    <p:cTn id="76" fill="hold">
                      <p:stCondLst>
                        <p:cond delay="indefinite"/>
                      </p:stCondLst>
                      <p:childTnLst>
                        <p:par>
                          <p:cTn id="77" fill="hold">
                            <p:stCondLst>
                              <p:cond delay="0"/>
                            </p:stCondLst>
                            <p:childTnLst>
                              <p:par>
                                <p:cTn id="78" presetID="50" presetClass="path" presetSubtype="0" accel="50000" decel="50000" fill="hold" grpId="1" nodeType="clickEffect">
                                  <p:stCondLst>
                                    <p:cond delay="0"/>
                                  </p:stCondLst>
                                  <p:childTnLst>
                                    <p:animMotion origin="layout" path="M 3.95833E-6 2.22222E-6 L 0.02044 2.22222E-6 C 0.02981 2.22222E-6 0.04153 -0.0206 0.04153 -0.0375 L 0.04153 -0.07431 " pathEditMode="relative" rAng="0" ptsTypes="AAAA">
                                      <p:cBhvr>
                                        <p:cTn id="79" dur="700" fill="hold"/>
                                        <p:tgtEl>
                                          <p:spTgt spid="15"/>
                                        </p:tgtEl>
                                        <p:attrNameLst>
                                          <p:attrName>ppt_x</p:attrName>
                                          <p:attrName>ppt_y</p:attrName>
                                        </p:attrNameLst>
                                      </p:cBhvr>
                                      <p:rCtr x="2070" y="-37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0" grpId="1"/>
      <p:bldP spid="11" grpId="0"/>
      <p:bldP spid="12" grpId="0"/>
      <p:bldP spid="12" grpId="1"/>
      <p:bldP spid="13" grpId="0"/>
      <p:bldP spid="13" grpId="1"/>
      <p:bldP spid="14" grpId="0"/>
      <p:bldP spid="14" grpId="1"/>
      <p:bldP spid="15" grpId="0"/>
      <p:bldP spid="15"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454E7-C5DB-8ACA-2B8E-20B287198975}"/>
              </a:ext>
            </a:extLst>
          </p:cNvPr>
          <p:cNvSpPr>
            <a:spLocks noGrp="1"/>
          </p:cNvSpPr>
          <p:nvPr>
            <p:ph type="title"/>
          </p:nvPr>
        </p:nvSpPr>
        <p:spPr/>
        <p:txBody>
          <a:bodyPr/>
          <a:lstStyle/>
          <a:p>
            <a:r>
              <a:rPr lang="en-US" dirty="0"/>
              <a:t>Primary Clustering Problem</a:t>
            </a:r>
          </a:p>
        </p:txBody>
      </p:sp>
      <p:sp>
        <p:nvSpPr>
          <p:cNvPr id="3" name="Content Placeholder 2">
            <a:extLst>
              <a:ext uri="{FF2B5EF4-FFF2-40B4-BE49-F238E27FC236}">
                <a16:creationId xmlns:a16="http://schemas.microsoft.com/office/drawing/2014/main" id="{76B016D3-C788-C89F-F4A5-5A7561335620}"/>
              </a:ext>
            </a:extLst>
          </p:cNvPr>
          <p:cNvSpPr>
            <a:spLocks noGrp="1"/>
          </p:cNvSpPr>
          <p:nvPr>
            <p:ph idx="1"/>
          </p:nvPr>
        </p:nvSpPr>
        <p:spPr>
          <a:xfrm>
            <a:off x="838200" y="1358781"/>
            <a:ext cx="10515600" cy="2104319"/>
          </a:xfrm>
        </p:spPr>
        <p:txBody>
          <a:bodyPr>
            <a:normAutofit fontScale="92500" lnSpcReduction="10000"/>
          </a:bodyPr>
          <a:lstStyle/>
          <a:p>
            <a:r>
              <a:rPr lang="en-US" dirty="0"/>
              <a:t>Data with different hash value might end up getting linear probed into a large contiguous group. That group has very high chance to have another data landing in the group making the group bigger</a:t>
            </a:r>
          </a:p>
          <a:p>
            <a:pPr lvl="1"/>
            <a:r>
              <a:rPr lang="en-US" dirty="0"/>
              <a:t>In short, bigger group is more likely to get bigger</a:t>
            </a:r>
          </a:p>
        </p:txBody>
      </p:sp>
      <p:sp>
        <p:nvSpPr>
          <p:cNvPr id="4" name="Rectangle 3">
            <a:extLst>
              <a:ext uri="{FF2B5EF4-FFF2-40B4-BE49-F238E27FC236}">
                <a16:creationId xmlns:a16="http://schemas.microsoft.com/office/drawing/2014/main" id="{3C6996CC-1F0B-270D-9698-904F808CABD5}"/>
              </a:ext>
            </a:extLst>
          </p:cNvPr>
          <p:cNvSpPr/>
          <p:nvPr/>
        </p:nvSpPr>
        <p:spPr>
          <a:xfrm>
            <a:off x="2426676" y="4954465"/>
            <a:ext cx="7477857" cy="430824"/>
          </a:xfrm>
          <a:prstGeom prst="rect">
            <a:avLst/>
          </a:prstGeom>
          <a:solidFill>
            <a:schemeClr val="accent1">
              <a:alpha val="50000"/>
            </a:scheme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9DEECA0-B57A-284A-8094-24CF18CA36C0}"/>
              </a:ext>
            </a:extLst>
          </p:cNvPr>
          <p:cNvSpPr/>
          <p:nvPr/>
        </p:nvSpPr>
        <p:spPr>
          <a:xfrm>
            <a:off x="2869223" y="4954465"/>
            <a:ext cx="1210408" cy="430824"/>
          </a:xfrm>
          <a:prstGeom prst="rect">
            <a:avLst/>
          </a:prstGeom>
          <a:solidFill>
            <a:schemeClr val="tx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E136DEA-E584-3739-489C-3649163EC122}"/>
              </a:ext>
            </a:extLst>
          </p:cNvPr>
          <p:cNvSpPr/>
          <p:nvPr/>
        </p:nvSpPr>
        <p:spPr>
          <a:xfrm>
            <a:off x="4302369" y="4954465"/>
            <a:ext cx="128953" cy="430824"/>
          </a:xfrm>
          <a:prstGeom prst="rect">
            <a:avLst/>
          </a:prstGeom>
          <a:solidFill>
            <a:schemeClr val="tx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09272B2-A5AA-A4CC-CF69-DF74CA97D4A5}"/>
              </a:ext>
            </a:extLst>
          </p:cNvPr>
          <p:cNvSpPr/>
          <p:nvPr/>
        </p:nvSpPr>
        <p:spPr>
          <a:xfrm>
            <a:off x="4867275" y="4954465"/>
            <a:ext cx="301869" cy="430824"/>
          </a:xfrm>
          <a:prstGeom prst="rect">
            <a:avLst/>
          </a:prstGeom>
          <a:solidFill>
            <a:schemeClr val="tx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AE3ABD8-DC9A-7259-082E-700560C04D7F}"/>
              </a:ext>
            </a:extLst>
          </p:cNvPr>
          <p:cNvSpPr/>
          <p:nvPr/>
        </p:nvSpPr>
        <p:spPr>
          <a:xfrm>
            <a:off x="5461488" y="4954465"/>
            <a:ext cx="230065" cy="430824"/>
          </a:xfrm>
          <a:prstGeom prst="rect">
            <a:avLst/>
          </a:prstGeom>
          <a:solidFill>
            <a:schemeClr val="tx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9E0C367-CE10-88C0-4512-0FA14D75A353}"/>
              </a:ext>
            </a:extLst>
          </p:cNvPr>
          <p:cNvSpPr/>
          <p:nvPr/>
        </p:nvSpPr>
        <p:spPr>
          <a:xfrm>
            <a:off x="6486526" y="4954465"/>
            <a:ext cx="2354138" cy="430824"/>
          </a:xfrm>
          <a:prstGeom prst="rect">
            <a:avLst/>
          </a:prstGeom>
          <a:solidFill>
            <a:schemeClr val="tx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BEA2C54-36E7-5AF2-AC8B-20AE711EC428}"/>
              </a:ext>
            </a:extLst>
          </p:cNvPr>
          <p:cNvSpPr txBox="1"/>
          <p:nvPr/>
        </p:nvSpPr>
        <p:spPr>
          <a:xfrm>
            <a:off x="3077308" y="5811053"/>
            <a:ext cx="2448657" cy="36933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1800" dirty="0"/>
              <a:t>Buckets that has data</a:t>
            </a:r>
          </a:p>
        </p:txBody>
      </p:sp>
      <p:cxnSp>
        <p:nvCxnSpPr>
          <p:cNvPr id="12" name="Straight Arrow Connector 11">
            <a:extLst>
              <a:ext uri="{FF2B5EF4-FFF2-40B4-BE49-F238E27FC236}">
                <a16:creationId xmlns:a16="http://schemas.microsoft.com/office/drawing/2014/main" id="{A744B928-723F-8E14-A15C-5282A5A1B8D1}"/>
              </a:ext>
            </a:extLst>
          </p:cNvPr>
          <p:cNvCxnSpPr/>
          <p:nvPr/>
        </p:nvCxnSpPr>
        <p:spPr>
          <a:xfrm flipV="1">
            <a:off x="3222379" y="5205046"/>
            <a:ext cx="197827" cy="593481"/>
          </a:xfrm>
          <a:prstGeom prst="straightConnector1">
            <a:avLst/>
          </a:prstGeom>
          <a:ln w="19050">
            <a:solidFill>
              <a:schemeClr val="tx1"/>
            </a:solidFill>
            <a:tailEnd type="triangle"/>
          </a:ln>
        </p:spPr>
        <p:style>
          <a:lnRef idx="1">
            <a:schemeClr val="accent4"/>
          </a:lnRef>
          <a:fillRef idx="0">
            <a:schemeClr val="accent4"/>
          </a:fillRef>
          <a:effectRef idx="0">
            <a:schemeClr val="accent4"/>
          </a:effectRef>
          <a:fontRef idx="minor">
            <a:schemeClr val="tx1"/>
          </a:fontRef>
        </p:style>
      </p:cxnSp>
      <p:cxnSp>
        <p:nvCxnSpPr>
          <p:cNvPr id="13" name="Straight Arrow Connector 12">
            <a:extLst>
              <a:ext uri="{FF2B5EF4-FFF2-40B4-BE49-F238E27FC236}">
                <a16:creationId xmlns:a16="http://schemas.microsoft.com/office/drawing/2014/main" id="{2346C38B-9CB7-D57F-A1F8-A0DBA83C8CAC}"/>
              </a:ext>
            </a:extLst>
          </p:cNvPr>
          <p:cNvCxnSpPr>
            <a:cxnSpLocks/>
          </p:cNvCxnSpPr>
          <p:nvPr/>
        </p:nvCxnSpPr>
        <p:spPr>
          <a:xfrm flipV="1">
            <a:off x="3878873" y="5218235"/>
            <a:ext cx="495299" cy="556986"/>
          </a:xfrm>
          <a:prstGeom prst="straightConnector1">
            <a:avLst/>
          </a:prstGeom>
          <a:ln w="19050">
            <a:solidFill>
              <a:schemeClr val="tx1"/>
            </a:solidFill>
            <a:tailEnd type="triangle"/>
          </a:ln>
        </p:spPr>
        <p:style>
          <a:lnRef idx="1">
            <a:schemeClr val="accent4"/>
          </a:lnRef>
          <a:fillRef idx="0">
            <a:schemeClr val="accent4"/>
          </a:fillRef>
          <a:effectRef idx="0">
            <a:schemeClr val="accent4"/>
          </a:effectRef>
          <a:fontRef idx="minor">
            <a:schemeClr val="tx1"/>
          </a:fontRef>
        </p:style>
      </p:cxnSp>
      <p:cxnSp>
        <p:nvCxnSpPr>
          <p:cNvPr id="15" name="Straight Arrow Connector 14">
            <a:extLst>
              <a:ext uri="{FF2B5EF4-FFF2-40B4-BE49-F238E27FC236}">
                <a16:creationId xmlns:a16="http://schemas.microsoft.com/office/drawing/2014/main" id="{2E06E065-D551-4F53-379E-C1C566398281}"/>
              </a:ext>
            </a:extLst>
          </p:cNvPr>
          <p:cNvCxnSpPr>
            <a:cxnSpLocks/>
          </p:cNvCxnSpPr>
          <p:nvPr/>
        </p:nvCxnSpPr>
        <p:spPr>
          <a:xfrm flipV="1">
            <a:off x="4371976" y="5194929"/>
            <a:ext cx="659970" cy="580292"/>
          </a:xfrm>
          <a:prstGeom prst="straightConnector1">
            <a:avLst/>
          </a:prstGeom>
          <a:ln w="19050">
            <a:solidFill>
              <a:schemeClr val="tx1"/>
            </a:solidFill>
            <a:tailEnd type="triangle"/>
          </a:ln>
        </p:spPr>
        <p:style>
          <a:lnRef idx="1">
            <a:schemeClr val="accent4"/>
          </a:lnRef>
          <a:fillRef idx="0">
            <a:schemeClr val="accent4"/>
          </a:fillRef>
          <a:effectRef idx="0">
            <a:schemeClr val="accent4"/>
          </a:effectRef>
          <a:fontRef idx="minor">
            <a:schemeClr val="tx1"/>
          </a:fontRef>
        </p:style>
      </p:cxnSp>
      <p:cxnSp>
        <p:nvCxnSpPr>
          <p:cNvPr id="16" name="Straight Arrow Connector 15">
            <a:extLst>
              <a:ext uri="{FF2B5EF4-FFF2-40B4-BE49-F238E27FC236}">
                <a16:creationId xmlns:a16="http://schemas.microsoft.com/office/drawing/2014/main" id="{BD673DEB-323F-8204-F6E1-33EB323C0D5D}"/>
              </a:ext>
            </a:extLst>
          </p:cNvPr>
          <p:cNvCxnSpPr>
            <a:cxnSpLocks/>
          </p:cNvCxnSpPr>
          <p:nvPr/>
        </p:nvCxnSpPr>
        <p:spPr>
          <a:xfrm flipV="1">
            <a:off x="4905376" y="5169877"/>
            <a:ext cx="659970" cy="628650"/>
          </a:xfrm>
          <a:prstGeom prst="straightConnector1">
            <a:avLst/>
          </a:prstGeom>
          <a:ln w="19050">
            <a:solidFill>
              <a:schemeClr val="tx1"/>
            </a:solidFill>
            <a:tailEnd type="triangle"/>
          </a:ln>
        </p:spPr>
        <p:style>
          <a:lnRef idx="1">
            <a:schemeClr val="accent4"/>
          </a:lnRef>
          <a:fillRef idx="0">
            <a:schemeClr val="accent4"/>
          </a:fillRef>
          <a:effectRef idx="0">
            <a:schemeClr val="accent4"/>
          </a:effectRef>
          <a:fontRef idx="minor">
            <a:schemeClr val="tx1"/>
          </a:fontRef>
        </p:style>
      </p:cxnSp>
      <p:cxnSp>
        <p:nvCxnSpPr>
          <p:cNvPr id="17" name="Straight Arrow Connector 16">
            <a:extLst>
              <a:ext uri="{FF2B5EF4-FFF2-40B4-BE49-F238E27FC236}">
                <a16:creationId xmlns:a16="http://schemas.microsoft.com/office/drawing/2014/main" id="{0534E3B9-62AA-2041-EB46-0B9779F8FCE4}"/>
              </a:ext>
            </a:extLst>
          </p:cNvPr>
          <p:cNvCxnSpPr>
            <a:cxnSpLocks/>
          </p:cNvCxnSpPr>
          <p:nvPr/>
        </p:nvCxnSpPr>
        <p:spPr>
          <a:xfrm flipV="1">
            <a:off x="5360011" y="5218235"/>
            <a:ext cx="2272261" cy="580292"/>
          </a:xfrm>
          <a:prstGeom prst="straightConnector1">
            <a:avLst/>
          </a:prstGeom>
          <a:ln w="19050">
            <a:solidFill>
              <a:schemeClr val="tx1"/>
            </a:solidFill>
            <a:tailEnd type="triangle"/>
          </a:ln>
        </p:spPr>
        <p:style>
          <a:lnRef idx="1">
            <a:schemeClr val="accent4"/>
          </a:lnRef>
          <a:fillRef idx="0">
            <a:schemeClr val="accent4"/>
          </a:fillRef>
          <a:effectRef idx="0">
            <a:schemeClr val="accent4"/>
          </a:effectRef>
          <a:fontRef idx="minor">
            <a:schemeClr val="tx1"/>
          </a:fontRef>
        </p:style>
      </p:cxnSp>
      <p:sp>
        <p:nvSpPr>
          <p:cNvPr id="22" name="Right Brace 21">
            <a:extLst>
              <a:ext uri="{FF2B5EF4-FFF2-40B4-BE49-F238E27FC236}">
                <a16:creationId xmlns:a16="http://schemas.microsoft.com/office/drawing/2014/main" id="{CA704C89-70E9-3152-C82D-854AF4F3E2B7}"/>
              </a:ext>
            </a:extLst>
          </p:cNvPr>
          <p:cNvSpPr/>
          <p:nvPr/>
        </p:nvSpPr>
        <p:spPr>
          <a:xfrm rot="5400000">
            <a:off x="7549398" y="4471990"/>
            <a:ext cx="228394" cy="235413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14B53FD7-1343-1AFC-22C8-53472EEF94E2}"/>
              </a:ext>
            </a:extLst>
          </p:cNvPr>
          <p:cNvSpPr txBox="1"/>
          <p:nvPr/>
        </p:nvSpPr>
        <p:spPr>
          <a:xfrm>
            <a:off x="6486527" y="5775221"/>
            <a:ext cx="2354138" cy="954107"/>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1400" dirty="0"/>
              <a:t>Any data that hash into these buckets will make this group larger by being placed at the </a:t>
            </a:r>
            <a:r>
              <a:rPr lang="en-US" sz="1400" dirty="0">
                <a:solidFill>
                  <a:schemeClr val="accent2"/>
                </a:solidFill>
              </a:rPr>
              <a:t>red</a:t>
            </a:r>
            <a:r>
              <a:rPr lang="en-US" sz="1400" dirty="0"/>
              <a:t> position</a:t>
            </a:r>
          </a:p>
        </p:txBody>
      </p:sp>
      <p:sp>
        <p:nvSpPr>
          <p:cNvPr id="25" name="Rectangle 24">
            <a:extLst>
              <a:ext uri="{FF2B5EF4-FFF2-40B4-BE49-F238E27FC236}">
                <a16:creationId xmlns:a16="http://schemas.microsoft.com/office/drawing/2014/main" id="{4FECB25E-5352-15AA-B9D0-77F82B0CA49F}"/>
              </a:ext>
            </a:extLst>
          </p:cNvPr>
          <p:cNvSpPr/>
          <p:nvPr/>
        </p:nvSpPr>
        <p:spPr>
          <a:xfrm>
            <a:off x="8841946" y="4954465"/>
            <a:ext cx="86641" cy="430824"/>
          </a:xfrm>
          <a:prstGeom prst="rect">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EE9FBF0-EFF8-A5F9-1A06-2933AA9AEDB9}"/>
              </a:ext>
            </a:extLst>
          </p:cNvPr>
          <p:cNvSpPr txBox="1"/>
          <p:nvPr/>
        </p:nvSpPr>
        <p:spPr>
          <a:xfrm>
            <a:off x="4476294" y="3438570"/>
            <a:ext cx="2832308" cy="83099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1600" dirty="0"/>
              <a:t>These buckets at the </a:t>
            </a:r>
            <a:r>
              <a:rPr lang="en-US" sz="1600" dirty="0" err="1"/>
              <a:t>en</a:t>
            </a:r>
            <a:r>
              <a:rPr lang="en-US" sz="1600" dirty="0"/>
              <a:t> of the group has higher chance of being used in the next insert</a:t>
            </a:r>
          </a:p>
        </p:txBody>
      </p:sp>
      <p:cxnSp>
        <p:nvCxnSpPr>
          <p:cNvPr id="27" name="Straight Arrow Connector 26">
            <a:extLst>
              <a:ext uri="{FF2B5EF4-FFF2-40B4-BE49-F238E27FC236}">
                <a16:creationId xmlns:a16="http://schemas.microsoft.com/office/drawing/2014/main" id="{CCE7F025-F569-F35D-3B87-9DA1CCBA69FA}"/>
              </a:ext>
            </a:extLst>
          </p:cNvPr>
          <p:cNvCxnSpPr>
            <a:cxnSpLocks/>
          </p:cNvCxnSpPr>
          <p:nvPr/>
        </p:nvCxnSpPr>
        <p:spPr>
          <a:xfrm flipH="1">
            <a:off x="4171948" y="4369371"/>
            <a:ext cx="619858" cy="493438"/>
          </a:xfrm>
          <a:prstGeom prst="straightConnector1">
            <a:avLst/>
          </a:prstGeom>
          <a:ln w="19050">
            <a:solidFill>
              <a:schemeClr val="accent5"/>
            </a:solidFill>
            <a:tailEnd type="triangle"/>
          </a:ln>
        </p:spPr>
        <p:style>
          <a:lnRef idx="1">
            <a:schemeClr val="accent4"/>
          </a:lnRef>
          <a:fillRef idx="0">
            <a:schemeClr val="accent4"/>
          </a:fillRef>
          <a:effectRef idx="0">
            <a:schemeClr val="accent4"/>
          </a:effectRef>
          <a:fontRef idx="minor">
            <a:schemeClr val="tx1"/>
          </a:fontRef>
        </p:style>
      </p:cxnSp>
      <p:cxnSp>
        <p:nvCxnSpPr>
          <p:cNvPr id="31" name="Straight Arrow Connector 30">
            <a:extLst>
              <a:ext uri="{FF2B5EF4-FFF2-40B4-BE49-F238E27FC236}">
                <a16:creationId xmlns:a16="http://schemas.microsoft.com/office/drawing/2014/main" id="{8D54949F-5B16-E6D1-4AC4-B209478AF1DE}"/>
              </a:ext>
            </a:extLst>
          </p:cNvPr>
          <p:cNvCxnSpPr>
            <a:cxnSpLocks/>
          </p:cNvCxnSpPr>
          <p:nvPr/>
        </p:nvCxnSpPr>
        <p:spPr>
          <a:xfrm flipH="1">
            <a:off x="4475283" y="4385479"/>
            <a:ext cx="491006" cy="531149"/>
          </a:xfrm>
          <a:prstGeom prst="straightConnector1">
            <a:avLst/>
          </a:prstGeom>
          <a:ln w="19050">
            <a:solidFill>
              <a:schemeClr val="accent5"/>
            </a:solidFill>
            <a:tailEnd type="triangle"/>
          </a:ln>
        </p:spPr>
        <p:style>
          <a:lnRef idx="1">
            <a:schemeClr val="accent4"/>
          </a:lnRef>
          <a:fillRef idx="0">
            <a:schemeClr val="accent4"/>
          </a:fillRef>
          <a:effectRef idx="0">
            <a:schemeClr val="accent4"/>
          </a:effectRef>
          <a:fontRef idx="minor">
            <a:schemeClr val="tx1"/>
          </a:fontRef>
        </p:style>
      </p:cxnSp>
      <p:cxnSp>
        <p:nvCxnSpPr>
          <p:cNvPr id="34" name="Straight Arrow Connector 33">
            <a:extLst>
              <a:ext uri="{FF2B5EF4-FFF2-40B4-BE49-F238E27FC236}">
                <a16:creationId xmlns:a16="http://schemas.microsoft.com/office/drawing/2014/main" id="{F8F16D5A-95DE-1DC4-031F-5F19AF21AAB4}"/>
              </a:ext>
            </a:extLst>
          </p:cNvPr>
          <p:cNvCxnSpPr>
            <a:cxnSpLocks/>
          </p:cNvCxnSpPr>
          <p:nvPr/>
        </p:nvCxnSpPr>
        <p:spPr>
          <a:xfrm flipH="1">
            <a:off x="5225839" y="4385479"/>
            <a:ext cx="43785" cy="531149"/>
          </a:xfrm>
          <a:prstGeom prst="straightConnector1">
            <a:avLst/>
          </a:prstGeom>
          <a:ln w="19050">
            <a:solidFill>
              <a:schemeClr val="accent5"/>
            </a:solidFill>
            <a:tailEnd type="triangle"/>
          </a:ln>
        </p:spPr>
        <p:style>
          <a:lnRef idx="1">
            <a:schemeClr val="accent4"/>
          </a:lnRef>
          <a:fillRef idx="0">
            <a:schemeClr val="accent4"/>
          </a:fillRef>
          <a:effectRef idx="0">
            <a:schemeClr val="accent4"/>
          </a:effectRef>
          <a:fontRef idx="minor">
            <a:schemeClr val="tx1"/>
          </a:fontRef>
        </p:style>
      </p:cxnSp>
      <p:cxnSp>
        <p:nvCxnSpPr>
          <p:cNvPr id="39" name="Straight Arrow Connector 38">
            <a:extLst>
              <a:ext uri="{FF2B5EF4-FFF2-40B4-BE49-F238E27FC236}">
                <a16:creationId xmlns:a16="http://schemas.microsoft.com/office/drawing/2014/main" id="{D708E6A5-C86C-44D7-37BA-75D8FE47BC92}"/>
              </a:ext>
            </a:extLst>
          </p:cNvPr>
          <p:cNvCxnSpPr>
            <a:cxnSpLocks/>
          </p:cNvCxnSpPr>
          <p:nvPr/>
        </p:nvCxnSpPr>
        <p:spPr>
          <a:xfrm>
            <a:off x="5758278" y="4385479"/>
            <a:ext cx="0" cy="531149"/>
          </a:xfrm>
          <a:prstGeom prst="straightConnector1">
            <a:avLst/>
          </a:prstGeom>
          <a:ln w="19050">
            <a:solidFill>
              <a:schemeClr val="accent5"/>
            </a:solidFill>
            <a:tailEnd type="triangle"/>
          </a:ln>
        </p:spPr>
        <p:style>
          <a:lnRef idx="1">
            <a:schemeClr val="accent4"/>
          </a:lnRef>
          <a:fillRef idx="0">
            <a:schemeClr val="accent4"/>
          </a:fillRef>
          <a:effectRef idx="0">
            <a:schemeClr val="accent4"/>
          </a:effectRef>
          <a:fontRef idx="minor">
            <a:schemeClr val="tx1"/>
          </a:fontRef>
        </p:style>
      </p:cxnSp>
      <p:cxnSp>
        <p:nvCxnSpPr>
          <p:cNvPr id="41" name="Straight Arrow Connector 40">
            <a:extLst>
              <a:ext uri="{FF2B5EF4-FFF2-40B4-BE49-F238E27FC236}">
                <a16:creationId xmlns:a16="http://schemas.microsoft.com/office/drawing/2014/main" id="{954B4C9C-FD9C-9110-9FB3-8F2F01130A16}"/>
              </a:ext>
            </a:extLst>
          </p:cNvPr>
          <p:cNvCxnSpPr>
            <a:cxnSpLocks/>
          </p:cNvCxnSpPr>
          <p:nvPr/>
        </p:nvCxnSpPr>
        <p:spPr>
          <a:xfrm>
            <a:off x="6550268" y="4385479"/>
            <a:ext cx="2325524" cy="548656"/>
          </a:xfrm>
          <a:prstGeom prst="straightConnector1">
            <a:avLst/>
          </a:prstGeom>
          <a:ln w="19050">
            <a:solidFill>
              <a:schemeClr val="accent5"/>
            </a:solidFill>
            <a:tailEnd type="triangle"/>
          </a:ln>
        </p:spPr>
        <p:style>
          <a:lnRef idx="1">
            <a:schemeClr val="accent4"/>
          </a:lnRef>
          <a:fillRef idx="0">
            <a:schemeClr val="accent4"/>
          </a:fillRef>
          <a:effectRef idx="0">
            <a:schemeClr val="accent4"/>
          </a:effectRef>
          <a:fontRef idx="minor">
            <a:schemeClr val="tx1"/>
          </a:fontRef>
        </p:style>
      </p:cxnSp>
      <p:sp>
        <p:nvSpPr>
          <p:cNvPr id="43" name="Speech Bubble: Rectangle with Corners Rounded 42">
            <a:extLst>
              <a:ext uri="{FF2B5EF4-FFF2-40B4-BE49-F238E27FC236}">
                <a16:creationId xmlns:a16="http://schemas.microsoft.com/office/drawing/2014/main" id="{9CD6EB90-70EB-0EA0-261C-795B6C8F5ADB}"/>
              </a:ext>
            </a:extLst>
          </p:cNvPr>
          <p:cNvSpPr/>
          <p:nvPr/>
        </p:nvSpPr>
        <p:spPr>
          <a:xfrm>
            <a:off x="430086" y="3785087"/>
            <a:ext cx="1781180" cy="962147"/>
          </a:xfrm>
          <a:prstGeom prst="wedgeRoundRectCallout">
            <a:avLst>
              <a:gd name="adj1" fmla="val 35275"/>
              <a:gd name="adj2" fmla="val -9126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Also known as cookie monster problem because of its runaway nature</a:t>
            </a:r>
          </a:p>
        </p:txBody>
      </p:sp>
    </p:spTree>
    <p:extLst>
      <p:ext uri="{BB962C8B-B14F-4D97-AF65-F5344CB8AC3E}">
        <p14:creationId xmlns:p14="http://schemas.microsoft.com/office/powerpoint/2010/main" val="744036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4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784AE-D5DE-C538-D999-BCC4224CF819}"/>
              </a:ext>
            </a:extLst>
          </p:cNvPr>
          <p:cNvSpPr>
            <a:spLocks noGrp="1"/>
          </p:cNvSpPr>
          <p:nvPr>
            <p:ph type="title"/>
          </p:nvPr>
        </p:nvSpPr>
        <p:spPr/>
        <p:txBody>
          <a:bodyPr/>
          <a:lstStyle/>
          <a:p>
            <a:r>
              <a:rPr lang="en-US" dirty="0"/>
              <a:t>Another Cause for Primary Clustering</a:t>
            </a:r>
          </a:p>
        </p:txBody>
      </p:sp>
      <p:sp>
        <p:nvSpPr>
          <p:cNvPr id="3" name="Content Placeholder 2">
            <a:extLst>
              <a:ext uri="{FF2B5EF4-FFF2-40B4-BE49-F238E27FC236}">
                <a16:creationId xmlns:a16="http://schemas.microsoft.com/office/drawing/2014/main" id="{CDDE7613-F1A0-F2E8-388B-FB5177720246}"/>
              </a:ext>
            </a:extLst>
          </p:cNvPr>
          <p:cNvSpPr>
            <a:spLocks noGrp="1"/>
          </p:cNvSpPr>
          <p:nvPr>
            <p:ph idx="1"/>
          </p:nvPr>
        </p:nvSpPr>
        <p:spPr/>
        <p:txBody>
          <a:bodyPr/>
          <a:lstStyle/>
          <a:p>
            <a:r>
              <a:rPr lang="en-US" dirty="0"/>
              <a:t>Joining of multiple smaller cluster</a:t>
            </a:r>
          </a:p>
        </p:txBody>
      </p:sp>
      <p:sp>
        <p:nvSpPr>
          <p:cNvPr id="4" name="Rectangle 3">
            <a:extLst>
              <a:ext uri="{FF2B5EF4-FFF2-40B4-BE49-F238E27FC236}">
                <a16:creationId xmlns:a16="http://schemas.microsoft.com/office/drawing/2014/main" id="{011E1A08-7077-068B-DC87-B777653A59A4}"/>
              </a:ext>
            </a:extLst>
          </p:cNvPr>
          <p:cNvSpPr/>
          <p:nvPr/>
        </p:nvSpPr>
        <p:spPr>
          <a:xfrm>
            <a:off x="1846383" y="3429000"/>
            <a:ext cx="7477857" cy="430824"/>
          </a:xfrm>
          <a:prstGeom prst="rect">
            <a:avLst/>
          </a:prstGeom>
          <a:solidFill>
            <a:schemeClr val="accent1">
              <a:alpha val="50000"/>
            </a:scheme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C5BF3AE-00AA-9247-C06F-09DA0CCF7C1D}"/>
              </a:ext>
            </a:extLst>
          </p:cNvPr>
          <p:cNvSpPr/>
          <p:nvPr/>
        </p:nvSpPr>
        <p:spPr>
          <a:xfrm>
            <a:off x="2288930" y="3429000"/>
            <a:ext cx="1210408" cy="430824"/>
          </a:xfrm>
          <a:prstGeom prst="rect">
            <a:avLst/>
          </a:prstGeom>
          <a:solidFill>
            <a:schemeClr val="tx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A</a:t>
            </a:r>
          </a:p>
        </p:txBody>
      </p:sp>
      <p:sp>
        <p:nvSpPr>
          <p:cNvPr id="6" name="Rectangle 5">
            <a:extLst>
              <a:ext uri="{FF2B5EF4-FFF2-40B4-BE49-F238E27FC236}">
                <a16:creationId xmlns:a16="http://schemas.microsoft.com/office/drawing/2014/main" id="{52A38BBC-24AD-5799-9D31-6CFACEF9E4FA}"/>
              </a:ext>
            </a:extLst>
          </p:cNvPr>
          <p:cNvSpPr/>
          <p:nvPr/>
        </p:nvSpPr>
        <p:spPr>
          <a:xfrm>
            <a:off x="3581033" y="3429000"/>
            <a:ext cx="261205" cy="430824"/>
          </a:xfrm>
          <a:prstGeom prst="rect">
            <a:avLst/>
          </a:prstGeom>
          <a:solidFill>
            <a:schemeClr val="tx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B</a:t>
            </a:r>
          </a:p>
        </p:txBody>
      </p:sp>
      <p:sp>
        <p:nvSpPr>
          <p:cNvPr id="7" name="Rectangle 6">
            <a:extLst>
              <a:ext uri="{FF2B5EF4-FFF2-40B4-BE49-F238E27FC236}">
                <a16:creationId xmlns:a16="http://schemas.microsoft.com/office/drawing/2014/main" id="{CA30BFFF-E0C5-E96F-4FC5-E006432822E6}"/>
              </a:ext>
            </a:extLst>
          </p:cNvPr>
          <p:cNvSpPr/>
          <p:nvPr/>
        </p:nvSpPr>
        <p:spPr>
          <a:xfrm>
            <a:off x="3920999" y="3429000"/>
            <a:ext cx="797170" cy="430824"/>
          </a:xfrm>
          <a:prstGeom prst="rect">
            <a:avLst/>
          </a:prstGeom>
          <a:solidFill>
            <a:schemeClr val="tx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02124C0-74D4-626E-4473-190B5BC7E3DA}"/>
              </a:ext>
            </a:extLst>
          </p:cNvPr>
          <p:cNvSpPr txBox="1"/>
          <p:nvPr/>
        </p:nvSpPr>
        <p:spPr>
          <a:xfrm>
            <a:off x="2604723" y="4545112"/>
            <a:ext cx="2793754" cy="1600438"/>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1400" dirty="0"/>
              <a:t>If some data are inserted here (which is very likely because of the cluster A and B), it will join these group together, result in a very large clustering</a:t>
            </a:r>
          </a:p>
          <a:p>
            <a:pPr algn="ctr"/>
            <a:endParaRPr lang="en-US" sz="1400" dirty="0"/>
          </a:p>
          <a:p>
            <a:pPr algn="ctr"/>
            <a:r>
              <a:rPr lang="en-US" sz="1400" dirty="0"/>
              <a:t>This situation is very likely</a:t>
            </a:r>
          </a:p>
        </p:txBody>
      </p:sp>
      <p:cxnSp>
        <p:nvCxnSpPr>
          <p:cNvPr id="12" name="Straight Arrow Connector 11">
            <a:extLst>
              <a:ext uri="{FF2B5EF4-FFF2-40B4-BE49-F238E27FC236}">
                <a16:creationId xmlns:a16="http://schemas.microsoft.com/office/drawing/2014/main" id="{CF066E44-5B0C-CE5B-2AB1-AF9B39331981}"/>
              </a:ext>
            </a:extLst>
          </p:cNvPr>
          <p:cNvCxnSpPr>
            <a:cxnSpLocks/>
          </p:cNvCxnSpPr>
          <p:nvPr/>
        </p:nvCxnSpPr>
        <p:spPr>
          <a:xfrm flipH="1" flipV="1">
            <a:off x="3523878" y="3820258"/>
            <a:ext cx="418007" cy="650630"/>
          </a:xfrm>
          <a:prstGeom prst="straightConnector1">
            <a:avLst/>
          </a:prstGeom>
          <a:ln w="19050">
            <a:solidFill>
              <a:schemeClr val="tx1"/>
            </a:solidFill>
            <a:tailEnd type="triangle"/>
          </a:ln>
        </p:spPr>
        <p:style>
          <a:lnRef idx="1">
            <a:schemeClr val="accent4"/>
          </a:lnRef>
          <a:fillRef idx="0">
            <a:schemeClr val="accent4"/>
          </a:fillRef>
          <a:effectRef idx="0">
            <a:schemeClr val="accent4"/>
          </a:effectRef>
          <a:fontRef idx="minor">
            <a:schemeClr val="tx1"/>
          </a:fontRef>
        </p:style>
      </p:cxnSp>
      <p:cxnSp>
        <p:nvCxnSpPr>
          <p:cNvPr id="13" name="Straight Arrow Connector 12">
            <a:extLst>
              <a:ext uri="{FF2B5EF4-FFF2-40B4-BE49-F238E27FC236}">
                <a16:creationId xmlns:a16="http://schemas.microsoft.com/office/drawing/2014/main" id="{4820B588-0FDD-40CC-D961-7F5950470DD4}"/>
              </a:ext>
            </a:extLst>
          </p:cNvPr>
          <p:cNvCxnSpPr>
            <a:cxnSpLocks/>
          </p:cNvCxnSpPr>
          <p:nvPr/>
        </p:nvCxnSpPr>
        <p:spPr>
          <a:xfrm flipH="1" flipV="1">
            <a:off x="3896459" y="3820258"/>
            <a:ext cx="45426" cy="650630"/>
          </a:xfrm>
          <a:prstGeom prst="straightConnector1">
            <a:avLst/>
          </a:prstGeom>
          <a:ln w="19050">
            <a:solidFill>
              <a:schemeClr val="tx1"/>
            </a:solidFill>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68899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9C7EE-A44E-2CA6-4E3C-CE09A9C8D5E1}"/>
              </a:ext>
            </a:extLst>
          </p:cNvPr>
          <p:cNvSpPr>
            <a:spLocks noGrp="1"/>
          </p:cNvSpPr>
          <p:nvPr>
            <p:ph type="title"/>
          </p:nvPr>
        </p:nvSpPr>
        <p:spPr/>
        <p:txBody>
          <a:bodyPr/>
          <a:lstStyle/>
          <a:p>
            <a:r>
              <a:rPr lang="en-US" dirty="0"/>
              <a:t>Quadratic Probing: Fixing Primary Clustering</a:t>
            </a:r>
          </a:p>
        </p:txBody>
      </p:sp>
      <p:sp>
        <p:nvSpPr>
          <p:cNvPr id="3" name="Content Placeholder 2">
            <a:extLst>
              <a:ext uri="{FF2B5EF4-FFF2-40B4-BE49-F238E27FC236}">
                <a16:creationId xmlns:a16="http://schemas.microsoft.com/office/drawing/2014/main" id="{666B71DC-B383-A0B7-C2A1-43BEA7DE6EB8}"/>
              </a:ext>
            </a:extLst>
          </p:cNvPr>
          <p:cNvSpPr>
            <a:spLocks noGrp="1"/>
          </p:cNvSpPr>
          <p:nvPr>
            <p:ph idx="1"/>
          </p:nvPr>
        </p:nvSpPr>
        <p:spPr/>
        <p:txBody>
          <a:bodyPr/>
          <a:lstStyle/>
          <a:p>
            <a:r>
              <a:rPr lang="en-US" dirty="0"/>
              <a:t>Make probing jump over larger and larger instead of keep looking to the next empty slot</a:t>
            </a:r>
          </a:p>
          <a:p>
            <a:r>
              <a:rPr lang="en-US" dirty="0"/>
              <a:t>By using </a:t>
            </a:r>
            <a:r>
              <a:rPr lang="en-US" dirty="0">
                <a:solidFill>
                  <a:schemeClr val="accent5"/>
                </a:solidFill>
              </a:rPr>
              <a:t>Quadratic Probing </a:t>
            </a:r>
          </a:p>
          <a:p>
            <a:pPr lvl="1"/>
            <a:r>
              <a:rPr lang="en-US" dirty="0"/>
              <a:t>The formular is </a:t>
            </a:r>
            <a:r>
              <a:rPr lang="pt-BR" b="0" dirty="0">
                <a:solidFill>
                  <a:srgbClr val="DCDCAA"/>
                </a:solidFill>
                <a:effectLst/>
                <a:highlight>
                  <a:srgbClr val="000000"/>
                </a:highlight>
                <a:latin typeface="Monaspace Neon" pitchFamily="50" charset="0"/>
              </a:rPr>
              <a:t>P</a:t>
            </a:r>
            <a:r>
              <a:rPr lang="pt-BR" b="0" dirty="0">
                <a:solidFill>
                  <a:srgbClr val="D4D4D4"/>
                </a:solidFill>
                <a:effectLst/>
                <a:highlight>
                  <a:srgbClr val="000000"/>
                </a:highlight>
                <a:latin typeface="Monaspace Neon" pitchFamily="50" charset="0"/>
              </a:rPr>
              <a:t>(x, j) = (</a:t>
            </a:r>
            <a:r>
              <a:rPr lang="pt-BR" b="0" dirty="0">
                <a:solidFill>
                  <a:srgbClr val="DCDCAA"/>
                </a:solidFill>
                <a:effectLst/>
                <a:highlight>
                  <a:srgbClr val="000000"/>
                </a:highlight>
                <a:latin typeface="Monaspace Neon" pitchFamily="50" charset="0"/>
              </a:rPr>
              <a:t>h</a:t>
            </a:r>
            <a:r>
              <a:rPr lang="pt-BR" b="0" dirty="0">
                <a:solidFill>
                  <a:srgbClr val="D4D4D4"/>
                </a:solidFill>
                <a:effectLst/>
                <a:highlight>
                  <a:srgbClr val="000000"/>
                </a:highlight>
                <a:latin typeface="Monaspace Neon" pitchFamily="50" charset="0"/>
              </a:rPr>
              <a:t>(x) + j</a:t>
            </a:r>
            <a:r>
              <a:rPr lang="pt-BR" b="0" baseline="30000" dirty="0">
                <a:solidFill>
                  <a:srgbClr val="D4D4D4"/>
                </a:solidFill>
                <a:effectLst/>
                <a:highlight>
                  <a:srgbClr val="000000"/>
                </a:highlight>
                <a:latin typeface="Monaspace Neon" pitchFamily="50" charset="0"/>
              </a:rPr>
              <a:t>2</a:t>
            </a:r>
            <a:r>
              <a:rPr lang="pt-BR" b="0" dirty="0">
                <a:solidFill>
                  <a:srgbClr val="D4D4D4"/>
                </a:solidFill>
                <a:effectLst/>
                <a:highlight>
                  <a:srgbClr val="000000"/>
                </a:highlight>
                <a:latin typeface="Monaspace Neon" pitchFamily="50" charset="0"/>
              </a:rPr>
              <a:t>) % </a:t>
            </a:r>
            <a:r>
              <a:rPr lang="pt-BR" b="0" dirty="0">
                <a:solidFill>
                  <a:srgbClr val="9CDCFE"/>
                </a:solidFill>
                <a:effectLst/>
                <a:highlight>
                  <a:srgbClr val="000000"/>
                </a:highlight>
                <a:latin typeface="Monaspace Neon" pitchFamily="50" charset="0"/>
              </a:rPr>
              <a:t>T</a:t>
            </a:r>
            <a:r>
              <a:rPr lang="pt-BR" b="0" dirty="0">
                <a:solidFill>
                  <a:srgbClr val="D4D4D4"/>
                </a:solidFill>
                <a:effectLst/>
                <a:highlight>
                  <a:srgbClr val="000000"/>
                </a:highlight>
                <a:latin typeface="Monaspace Neon" pitchFamily="50" charset="0"/>
              </a:rPr>
              <a:t>.</a:t>
            </a:r>
            <a:r>
              <a:rPr lang="pt-BR" b="0" dirty="0">
                <a:solidFill>
                  <a:srgbClr val="DCDCAA"/>
                </a:solidFill>
                <a:effectLst/>
                <a:highlight>
                  <a:srgbClr val="000000"/>
                </a:highlight>
                <a:latin typeface="Monaspace Neon" pitchFamily="50" charset="0"/>
              </a:rPr>
              <a:t>size</a:t>
            </a:r>
            <a:r>
              <a:rPr lang="pt-BR" b="0" dirty="0">
                <a:solidFill>
                  <a:srgbClr val="D4D4D4"/>
                </a:solidFill>
                <a:effectLst/>
                <a:highlight>
                  <a:srgbClr val="000000"/>
                </a:highlight>
                <a:latin typeface="Monaspace Neon" pitchFamily="50" charset="0"/>
              </a:rPr>
              <a:t>()</a:t>
            </a:r>
          </a:p>
          <a:p>
            <a:r>
              <a:rPr lang="pt-BR" dirty="0"/>
              <a:t>Original position is h(x)</a:t>
            </a:r>
          </a:p>
          <a:p>
            <a:pPr lvl="1"/>
            <a:r>
              <a:rPr lang="pt-BR" dirty="0"/>
              <a:t>First probe at h(x) + 1</a:t>
            </a:r>
          </a:p>
          <a:p>
            <a:pPr lvl="1"/>
            <a:r>
              <a:rPr lang="pt-BR" dirty="0"/>
              <a:t>Second probe at h(x) + 4</a:t>
            </a:r>
          </a:p>
          <a:p>
            <a:pPr lvl="1"/>
            <a:r>
              <a:rPr lang="pt-BR" dirty="0"/>
              <a:t>Third probe at h(x) + 9</a:t>
            </a:r>
            <a:endParaRPr lang="en-US" dirty="0"/>
          </a:p>
          <a:p>
            <a:pPr lvl="1"/>
            <a:endParaRPr lang="en-US" dirty="0"/>
          </a:p>
        </p:txBody>
      </p:sp>
      <p:sp>
        <p:nvSpPr>
          <p:cNvPr id="4" name="Speech Bubble: Rectangle with Corners Rounded 3">
            <a:extLst>
              <a:ext uri="{FF2B5EF4-FFF2-40B4-BE49-F238E27FC236}">
                <a16:creationId xmlns:a16="http://schemas.microsoft.com/office/drawing/2014/main" id="{B0084708-BEF5-588F-817B-8F10FFEBBCED}"/>
              </a:ext>
            </a:extLst>
          </p:cNvPr>
          <p:cNvSpPr/>
          <p:nvPr/>
        </p:nvSpPr>
        <p:spPr>
          <a:xfrm>
            <a:off x="6786925" y="2376937"/>
            <a:ext cx="1451468" cy="631680"/>
          </a:xfrm>
          <a:prstGeom prst="wedgeRoundRectCallout">
            <a:avLst>
              <a:gd name="adj1" fmla="val -19242"/>
              <a:gd name="adj2" fmla="val 96642"/>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t>Notice the quadratic of J</a:t>
            </a:r>
          </a:p>
        </p:txBody>
      </p:sp>
      <p:graphicFrame>
        <p:nvGraphicFramePr>
          <p:cNvPr id="5" name="Table 4">
            <a:extLst>
              <a:ext uri="{FF2B5EF4-FFF2-40B4-BE49-F238E27FC236}">
                <a16:creationId xmlns:a16="http://schemas.microsoft.com/office/drawing/2014/main" id="{9AABDE98-89B0-4422-2140-A0B7C9290301}"/>
              </a:ext>
            </a:extLst>
          </p:cNvPr>
          <p:cNvGraphicFramePr>
            <a:graphicFrameLocks noGrp="1"/>
          </p:cNvGraphicFramePr>
          <p:nvPr>
            <p:extLst>
              <p:ext uri="{D42A27DB-BD31-4B8C-83A1-F6EECF244321}">
                <p14:modId xmlns:p14="http://schemas.microsoft.com/office/powerpoint/2010/main" val="1288154522"/>
              </p:ext>
            </p:extLst>
          </p:nvPr>
        </p:nvGraphicFramePr>
        <p:xfrm>
          <a:off x="5530362" y="4047910"/>
          <a:ext cx="2875085" cy="2673684"/>
        </p:xfrm>
        <a:graphic>
          <a:graphicData uri="http://schemas.openxmlformats.org/drawingml/2006/table">
            <a:tbl>
              <a:tblPr firstRow="1" bandRow="1">
                <a:tableStyleId>{F5AB1C69-6EDB-4FF4-983F-18BD219EF322}</a:tableStyleId>
              </a:tblPr>
              <a:tblGrid>
                <a:gridCol w="928683">
                  <a:extLst>
                    <a:ext uri="{9D8B030D-6E8A-4147-A177-3AD203B41FA5}">
                      <a16:colId xmlns:a16="http://schemas.microsoft.com/office/drawing/2014/main" val="1995123705"/>
                    </a:ext>
                  </a:extLst>
                </a:gridCol>
                <a:gridCol w="899920">
                  <a:extLst>
                    <a:ext uri="{9D8B030D-6E8A-4147-A177-3AD203B41FA5}">
                      <a16:colId xmlns:a16="http://schemas.microsoft.com/office/drawing/2014/main" val="4237785504"/>
                    </a:ext>
                  </a:extLst>
                </a:gridCol>
                <a:gridCol w="1046482">
                  <a:extLst>
                    <a:ext uri="{9D8B030D-6E8A-4147-A177-3AD203B41FA5}">
                      <a16:colId xmlns:a16="http://schemas.microsoft.com/office/drawing/2014/main" val="3022794119"/>
                    </a:ext>
                  </a:extLst>
                </a:gridCol>
              </a:tblGrid>
              <a:tr h="369414">
                <a:tc>
                  <a:txBody>
                    <a:bodyPr/>
                    <a:lstStyle/>
                    <a:p>
                      <a:r>
                        <a:rPr lang="en-US" sz="1200" dirty="0">
                          <a:solidFill>
                            <a:schemeClr val="bg2"/>
                          </a:solidFill>
                        </a:rPr>
                        <a:t>Collision count</a:t>
                      </a:r>
                    </a:p>
                  </a:txBody>
                  <a:tcPr/>
                </a:tc>
                <a:tc>
                  <a:txBody>
                    <a:bodyPr/>
                    <a:lstStyle/>
                    <a:p>
                      <a:r>
                        <a:rPr lang="en-US" sz="1200" dirty="0">
                          <a:solidFill>
                            <a:schemeClr val="bg2"/>
                          </a:solidFill>
                        </a:rPr>
                        <a:t>Linear Probing</a:t>
                      </a:r>
                      <a:endParaRPr lang="en-US" sz="1200" baseline="30000" dirty="0">
                        <a:solidFill>
                          <a:schemeClr val="bg2"/>
                        </a:solidFill>
                      </a:endParaRPr>
                    </a:p>
                  </a:txBody>
                  <a:tcPr/>
                </a:tc>
                <a:tc>
                  <a:txBody>
                    <a:bodyPr/>
                    <a:lstStyle/>
                    <a:p>
                      <a:r>
                        <a:rPr lang="en-US" sz="1200" dirty="0">
                          <a:solidFill>
                            <a:schemeClr val="bg2"/>
                          </a:solidFill>
                        </a:rPr>
                        <a:t>Quadratic Probing</a:t>
                      </a:r>
                    </a:p>
                  </a:txBody>
                  <a:tcPr/>
                </a:tc>
                <a:extLst>
                  <a:ext uri="{0D108BD9-81ED-4DB2-BD59-A6C34878D82A}">
                    <a16:rowId xmlns:a16="http://schemas.microsoft.com/office/drawing/2014/main" val="1762830147"/>
                  </a:ext>
                </a:extLst>
              </a:tr>
              <a:tr h="369414">
                <a:tc>
                  <a:txBody>
                    <a:bodyPr/>
                    <a:lstStyle/>
                    <a:p>
                      <a:r>
                        <a:rPr lang="en-US" sz="1200" dirty="0"/>
                        <a:t>0</a:t>
                      </a:r>
                    </a:p>
                  </a:txBody>
                  <a:tcPr/>
                </a:tc>
                <a:tc>
                  <a:txBody>
                    <a:bodyPr/>
                    <a:lstStyle/>
                    <a:p>
                      <a:r>
                        <a:rPr lang="en-US" sz="1200" dirty="0"/>
                        <a:t>h(x)</a:t>
                      </a:r>
                    </a:p>
                  </a:txBody>
                  <a:tcPr/>
                </a:tc>
                <a:tc>
                  <a:txBody>
                    <a:bodyPr/>
                    <a:lstStyle/>
                    <a:p>
                      <a:r>
                        <a:rPr lang="en-US" sz="1200" dirty="0"/>
                        <a:t>h(x)</a:t>
                      </a:r>
                    </a:p>
                  </a:txBody>
                  <a:tcPr/>
                </a:tc>
                <a:extLst>
                  <a:ext uri="{0D108BD9-81ED-4DB2-BD59-A6C34878D82A}">
                    <a16:rowId xmlns:a16="http://schemas.microsoft.com/office/drawing/2014/main" val="138775649"/>
                  </a:ext>
                </a:extLst>
              </a:tr>
              <a:tr h="369414">
                <a:tc>
                  <a:txBody>
                    <a:bodyPr/>
                    <a:lstStyle/>
                    <a:p>
                      <a:r>
                        <a:rPr lang="en-US" sz="1200" dirty="0"/>
                        <a:t>1</a:t>
                      </a:r>
                    </a:p>
                  </a:txBody>
                  <a:tcPr/>
                </a:tc>
                <a:tc>
                  <a:txBody>
                    <a:bodyPr/>
                    <a:lstStyle/>
                    <a:p>
                      <a:r>
                        <a:rPr lang="en-US" sz="1200" dirty="0"/>
                        <a:t>h(x) + 1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h(x) + 1</a:t>
                      </a:r>
                    </a:p>
                  </a:txBody>
                  <a:tcPr/>
                </a:tc>
                <a:extLst>
                  <a:ext uri="{0D108BD9-81ED-4DB2-BD59-A6C34878D82A}">
                    <a16:rowId xmlns:a16="http://schemas.microsoft.com/office/drawing/2014/main" val="2247005310"/>
                  </a:ext>
                </a:extLst>
              </a:tr>
              <a:tr h="369414">
                <a:tc>
                  <a:txBody>
                    <a:bodyPr/>
                    <a:lstStyle/>
                    <a:p>
                      <a:r>
                        <a:rPr lang="en-US" sz="1200" dirty="0"/>
                        <a:t>2</a:t>
                      </a:r>
                    </a:p>
                  </a:txBody>
                  <a:tcPr/>
                </a:tc>
                <a:tc>
                  <a:txBody>
                    <a:bodyPr/>
                    <a:lstStyle/>
                    <a:p>
                      <a:r>
                        <a:rPr lang="en-US" sz="1200" dirty="0"/>
                        <a:t>h(x) + 2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h(x) + 4</a:t>
                      </a:r>
                    </a:p>
                  </a:txBody>
                  <a:tcPr/>
                </a:tc>
                <a:extLst>
                  <a:ext uri="{0D108BD9-81ED-4DB2-BD59-A6C34878D82A}">
                    <a16:rowId xmlns:a16="http://schemas.microsoft.com/office/drawing/2014/main" val="1565925050"/>
                  </a:ext>
                </a:extLst>
              </a:tr>
              <a:tr h="369414">
                <a:tc>
                  <a:txBody>
                    <a:bodyPr/>
                    <a:lstStyle/>
                    <a:p>
                      <a:r>
                        <a:rPr lang="en-US" sz="1200" dirty="0"/>
                        <a:t>3</a:t>
                      </a:r>
                    </a:p>
                  </a:txBody>
                  <a:tcPr/>
                </a:tc>
                <a:tc>
                  <a:txBody>
                    <a:bodyPr/>
                    <a:lstStyle/>
                    <a:p>
                      <a:r>
                        <a:rPr lang="en-US" sz="1200" dirty="0"/>
                        <a:t>h(x) + 3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h(x) + 9</a:t>
                      </a:r>
                    </a:p>
                  </a:txBody>
                  <a:tcPr/>
                </a:tc>
                <a:extLst>
                  <a:ext uri="{0D108BD9-81ED-4DB2-BD59-A6C34878D82A}">
                    <a16:rowId xmlns:a16="http://schemas.microsoft.com/office/drawing/2014/main" val="583089482"/>
                  </a:ext>
                </a:extLst>
              </a:tr>
              <a:tr h="369414">
                <a:tc>
                  <a:txBody>
                    <a:bodyPr/>
                    <a:lstStyle/>
                    <a:p>
                      <a:r>
                        <a:rPr lang="en-US" sz="1200" dirty="0"/>
                        <a:t>4</a:t>
                      </a:r>
                    </a:p>
                  </a:txBody>
                  <a:tcPr/>
                </a:tc>
                <a:tc>
                  <a:txBody>
                    <a:bodyPr/>
                    <a:lstStyle/>
                    <a:p>
                      <a:r>
                        <a:rPr lang="en-US" sz="1200" dirty="0"/>
                        <a:t>h(x) + 4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h(x) + 16</a:t>
                      </a:r>
                    </a:p>
                  </a:txBody>
                  <a:tcPr/>
                </a:tc>
                <a:extLst>
                  <a:ext uri="{0D108BD9-81ED-4DB2-BD59-A6C34878D82A}">
                    <a16:rowId xmlns:a16="http://schemas.microsoft.com/office/drawing/2014/main" val="1283050013"/>
                  </a:ext>
                </a:extLst>
              </a:tr>
              <a:tr h="369414">
                <a:tc>
                  <a:txBody>
                    <a:bodyPr/>
                    <a:lstStyle/>
                    <a:p>
                      <a:r>
                        <a:rPr lang="en-US" sz="1200" dirty="0"/>
                        <a:t>5</a:t>
                      </a:r>
                    </a:p>
                  </a:txBody>
                  <a:tcPr/>
                </a:tc>
                <a:tc>
                  <a:txBody>
                    <a:bodyPr/>
                    <a:lstStyle/>
                    <a:p>
                      <a:r>
                        <a:rPr lang="en-US" sz="1200" dirty="0"/>
                        <a:t>h(x) + 5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h(x) + 25</a:t>
                      </a:r>
                    </a:p>
                  </a:txBody>
                  <a:tcPr/>
                </a:tc>
                <a:extLst>
                  <a:ext uri="{0D108BD9-81ED-4DB2-BD59-A6C34878D82A}">
                    <a16:rowId xmlns:a16="http://schemas.microsoft.com/office/drawing/2014/main" val="3601954916"/>
                  </a:ext>
                </a:extLst>
              </a:tr>
            </a:tbl>
          </a:graphicData>
        </a:graphic>
      </p:graphicFrame>
    </p:spTree>
    <p:extLst>
      <p:ext uri="{BB962C8B-B14F-4D97-AF65-F5344CB8AC3E}">
        <p14:creationId xmlns:p14="http://schemas.microsoft.com/office/powerpoint/2010/main" val="221306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9CB4-41BE-23DE-8480-E7BD1B1ECD92}"/>
              </a:ext>
            </a:extLst>
          </p:cNvPr>
          <p:cNvSpPr>
            <a:spLocks noGrp="1"/>
          </p:cNvSpPr>
          <p:nvPr>
            <p:ph type="title"/>
          </p:nvPr>
        </p:nvSpPr>
        <p:spPr/>
        <p:txBody>
          <a:bodyPr>
            <a:normAutofit fontScale="90000"/>
          </a:bodyPr>
          <a:lstStyle/>
          <a:p>
            <a:r>
              <a:rPr lang="en-US" dirty="0"/>
              <a:t>Does Quadratic Probing always find an empty bucket?</a:t>
            </a:r>
          </a:p>
        </p:txBody>
      </p:sp>
      <p:sp>
        <p:nvSpPr>
          <p:cNvPr id="3" name="Content Placeholder 2">
            <a:extLst>
              <a:ext uri="{FF2B5EF4-FFF2-40B4-BE49-F238E27FC236}">
                <a16:creationId xmlns:a16="http://schemas.microsoft.com/office/drawing/2014/main" id="{FF7579F9-0962-A443-303C-D7A1C8135CF2}"/>
              </a:ext>
            </a:extLst>
          </p:cNvPr>
          <p:cNvSpPr>
            <a:spLocks noGrp="1"/>
          </p:cNvSpPr>
          <p:nvPr>
            <p:ph idx="1"/>
          </p:nvPr>
        </p:nvSpPr>
        <p:spPr>
          <a:xfrm>
            <a:off x="6541476" y="1358781"/>
            <a:ext cx="4812323" cy="5016382"/>
          </a:xfrm>
        </p:spPr>
        <p:txBody>
          <a:bodyPr/>
          <a:lstStyle/>
          <a:p>
            <a:r>
              <a:rPr lang="en-US" dirty="0"/>
              <a:t>The answer is “</a:t>
            </a:r>
            <a:r>
              <a:rPr lang="en-US" dirty="0">
                <a:solidFill>
                  <a:schemeClr val="accent2"/>
                </a:solidFill>
              </a:rPr>
              <a:t>No</a:t>
            </a:r>
            <a:r>
              <a:rPr lang="en-US" dirty="0"/>
              <a:t>”, </a:t>
            </a:r>
            <a:r>
              <a:rPr lang="en-US" dirty="0">
                <a:solidFill>
                  <a:schemeClr val="accent5"/>
                </a:solidFill>
              </a:rPr>
              <a:t>QP</a:t>
            </a:r>
            <a:r>
              <a:rPr lang="en-US" dirty="0"/>
              <a:t> might not be able to find an empty bucket</a:t>
            </a:r>
          </a:p>
          <a:p>
            <a:r>
              <a:rPr lang="en-US" dirty="0"/>
              <a:t>Need some precondition to guarantee an empty bucket</a:t>
            </a:r>
          </a:p>
        </p:txBody>
      </p:sp>
      <p:graphicFrame>
        <p:nvGraphicFramePr>
          <p:cNvPr id="4" name="Table 3">
            <a:extLst>
              <a:ext uri="{FF2B5EF4-FFF2-40B4-BE49-F238E27FC236}">
                <a16:creationId xmlns:a16="http://schemas.microsoft.com/office/drawing/2014/main" id="{54F2D475-35F4-92A5-A3ED-3B0A7F2EBA3E}"/>
              </a:ext>
            </a:extLst>
          </p:cNvPr>
          <p:cNvGraphicFramePr>
            <a:graphicFrameLocks noGrp="1"/>
          </p:cNvGraphicFramePr>
          <p:nvPr>
            <p:extLst>
              <p:ext uri="{D42A27DB-BD31-4B8C-83A1-F6EECF244321}">
                <p14:modId xmlns:p14="http://schemas.microsoft.com/office/powerpoint/2010/main" val="4223749011"/>
              </p:ext>
            </p:extLst>
          </p:nvPr>
        </p:nvGraphicFramePr>
        <p:xfrm>
          <a:off x="748758" y="1068304"/>
          <a:ext cx="4012088" cy="631680"/>
        </p:xfrm>
        <a:graphic>
          <a:graphicData uri="http://schemas.openxmlformats.org/drawingml/2006/table">
            <a:tbl>
              <a:tblPr firstRow="1" bandRow="1">
                <a:tableStyleId>{E8B1032C-EA38-4F05-BA0D-38AFFFC7BED3}</a:tableStyleId>
              </a:tblPr>
              <a:tblGrid>
                <a:gridCol w="501511">
                  <a:extLst>
                    <a:ext uri="{9D8B030D-6E8A-4147-A177-3AD203B41FA5}">
                      <a16:colId xmlns:a16="http://schemas.microsoft.com/office/drawing/2014/main" val="2431925760"/>
                    </a:ext>
                  </a:extLst>
                </a:gridCol>
                <a:gridCol w="501511">
                  <a:extLst>
                    <a:ext uri="{9D8B030D-6E8A-4147-A177-3AD203B41FA5}">
                      <a16:colId xmlns:a16="http://schemas.microsoft.com/office/drawing/2014/main" val="2788890793"/>
                    </a:ext>
                  </a:extLst>
                </a:gridCol>
                <a:gridCol w="501511">
                  <a:extLst>
                    <a:ext uri="{9D8B030D-6E8A-4147-A177-3AD203B41FA5}">
                      <a16:colId xmlns:a16="http://schemas.microsoft.com/office/drawing/2014/main" val="4204188436"/>
                    </a:ext>
                  </a:extLst>
                </a:gridCol>
                <a:gridCol w="501511">
                  <a:extLst>
                    <a:ext uri="{9D8B030D-6E8A-4147-A177-3AD203B41FA5}">
                      <a16:colId xmlns:a16="http://schemas.microsoft.com/office/drawing/2014/main" val="3149246360"/>
                    </a:ext>
                  </a:extLst>
                </a:gridCol>
                <a:gridCol w="501511">
                  <a:extLst>
                    <a:ext uri="{9D8B030D-6E8A-4147-A177-3AD203B41FA5}">
                      <a16:colId xmlns:a16="http://schemas.microsoft.com/office/drawing/2014/main" val="29750842"/>
                    </a:ext>
                  </a:extLst>
                </a:gridCol>
                <a:gridCol w="501511">
                  <a:extLst>
                    <a:ext uri="{9D8B030D-6E8A-4147-A177-3AD203B41FA5}">
                      <a16:colId xmlns:a16="http://schemas.microsoft.com/office/drawing/2014/main" val="3424601522"/>
                    </a:ext>
                  </a:extLst>
                </a:gridCol>
                <a:gridCol w="501511">
                  <a:extLst>
                    <a:ext uri="{9D8B030D-6E8A-4147-A177-3AD203B41FA5}">
                      <a16:colId xmlns:a16="http://schemas.microsoft.com/office/drawing/2014/main" val="982321321"/>
                    </a:ext>
                  </a:extLst>
                </a:gridCol>
                <a:gridCol w="501511">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b="1" dirty="0"/>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a:t>
                      </a:r>
                      <a:endParaRPr lang="th-TH" sz="1600" b="1"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sp>
        <p:nvSpPr>
          <p:cNvPr id="5" name="Speech Bubble: Rectangle with Corners Rounded 4">
            <a:extLst>
              <a:ext uri="{FF2B5EF4-FFF2-40B4-BE49-F238E27FC236}">
                <a16:creationId xmlns:a16="http://schemas.microsoft.com/office/drawing/2014/main" id="{62253F4C-1ED5-E3B0-8D63-DE6C9E37F54B}"/>
              </a:ext>
            </a:extLst>
          </p:cNvPr>
          <p:cNvSpPr/>
          <p:nvPr/>
        </p:nvSpPr>
        <p:spPr>
          <a:xfrm>
            <a:off x="904871" y="2205488"/>
            <a:ext cx="1451468" cy="631680"/>
          </a:xfrm>
          <a:prstGeom prst="wedgeRoundRectCallout">
            <a:avLst>
              <a:gd name="adj1" fmla="val 50722"/>
              <a:gd name="adj2" fmla="val -114230"/>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t>Trying to insert x where h(x) = 4</a:t>
            </a:r>
          </a:p>
        </p:txBody>
      </p:sp>
      <p:graphicFrame>
        <p:nvGraphicFramePr>
          <p:cNvPr id="6" name="Table 5">
            <a:extLst>
              <a:ext uri="{FF2B5EF4-FFF2-40B4-BE49-F238E27FC236}">
                <a16:creationId xmlns:a16="http://schemas.microsoft.com/office/drawing/2014/main" id="{D89A9FB8-4DD1-D959-487E-9BCA1DD51CB3}"/>
              </a:ext>
            </a:extLst>
          </p:cNvPr>
          <p:cNvGraphicFramePr>
            <a:graphicFrameLocks noGrp="1"/>
          </p:cNvGraphicFramePr>
          <p:nvPr>
            <p:extLst>
              <p:ext uri="{D42A27DB-BD31-4B8C-83A1-F6EECF244321}">
                <p14:modId xmlns:p14="http://schemas.microsoft.com/office/powerpoint/2010/main" val="2416638161"/>
              </p:ext>
            </p:extLst>
          </p:nvPr>
        </p:nvGraphicFramePr>
        <p:xfrm>
          <a:off x="2576145" y="1911157"/>
          <a:ext cx="3393831" cy="4432968"/>
        </p:xfrm>
        <a:graphic>
          <a:graphicData uri="http://schemas.openxmlformats.org/drawingml/2006/table">
            <a:tbl>
              <a:tblPr firstRow="1" bandRow="1">
                <a:tableStyleId>{F5AB1C69-6EDB-4FF4-983F-18BD219EF322}</a:tableStyleId>
              </a:tblPr>
              <a:tblGrid>
                <a:gridCol w="1332036">
                  <a:extLst>
                    <a:ext uri="{9D8B030D-6E8A-4147-A177-3AD203B41FA5}">
                      <a16:colId xmlns:a16="http://schemas.microsoft.com/office/drawing/2014/main" val="1995123705"/>
                    </a:ext>
                  </a:extLst>
                </a:gridCol>
                <a:gridCol w="1186961">
                  <a:extLst>
                    <a:ext uri="{9D8B030D-6E8A-4147-A177-3AD203B41FA5}">
                      <a16:colId xmlns:a16="http://schemas.microsoft.com/office/drawing/2014/main" val="4237785504"/>
                    </a:ext>
                  </a:extLst>
                </a:gridCol>
                <a:gridCol w="874834">
                  <a:extLst>
                    <a:ext uri="{9D8B030D-6E8A-4147-A177-3AD203B41FA5}">
                      <a16:colId xmlns:a16="http://schemas.microsoft.com/office/drawing/2014/main" val="3022794119"/>
                    </a:ext>
                  </a:extLst>
                </a:gridCol>
              </a:tblGrid>
              <a:tr h="369414">
                <a:tc>
                  <a:txBody>
                    <a:bodyPr/>
                    <a:lstStyle/>
                    <a:p>
                      <a:r>
                        <a:rPr lang="en-US" sz="1400" dirty="0">
                          <a:solidFill>
                            <a:schemeClr val="bg2"/>
                          </a:solidFill>
                        </a:rPr>
                        <a:t>Collision count</a:t>
                      </a:r>
                    </a:p>
                  </a:txBody>
                  <a:tcPr/>
                </a:tc>
                <a:tc>
                  <a:txBody>
                    <a:bodyPr/>
                    <a:lstStyle/>
                    <a:p>
                      <a:r>
                        <a:rPr lang="en-US" sz="1400" dirty="0">
                          <a:solidFill>
                            <a:schemeClr val="bg2"/>
                          </a:solidFill>
                        </a:rPr>
                        <a:t>h(x) + j</a:t>
                      </a:r>
                      <a:r>
                        <a:rPr lang="en-US" sz="1400" baseline="30000" dirty="0">
                          <a:solidFill>
                            <a:schemeClr val="bg2"/>
                          </a:solidFill>
                        </a:rPr>
                        <a:t>2</a:t>
                      </a:r>
                    </a:p>
                  </a:txBody>
                  <a:tcPr/>
                </a:tc>
                <a:tc>
                  <a:txBody>
                    <a:bodyPr/>
                    <a:lstStyle/>
                    <a:p>
                      <a:r>
                        <a:rPr lang="en-US" sz="1400" dirty="0">
                          <a:solidFill>
                            <a:schemeClr val="bg2"/>
                          </a:solidFill>
                        </a:rPr>
                        <a:t>Buckets</a:t>
                      </a:r>
                    </a:p>
                  </a:txBody>
                  <a:tcPr/>
                </a:tc>
                <a:extLst>
                  <a:ext uri="{0D108BD9-81ED-4DB2-BD59-A6C34878D82A}">
                    <a16:rowId xmlns:a16="http://schemas.microsoft.com/office/drawing/2014/main" val="1762830147"/>
                  </a:ext>
                </a:extLst>
              </a:tr>
              <a:tr h="369414">
                <a:tc>
                  <a:txBody>
                    <a:bodyPr/>
                    <a:lstStyle/>
                    <a:p>
                      <a:r>
                        <a:rPr lang="en-US" sz="1400" dirty="0"/>
                        <a:t>0</a:t>
                      </a:r>
                    </a:p>
                  </a:txBody>
                  <a:tcPr/>
                </a:tc>
                <a:tc>
                  <a:txBody>
                    <a:bodyPr/>
                    <a:lstStyle/>
                    <a:p>
                      <a:r>
                        <a:rPr lang="en-US" sz="1400" dirty="0"/>
                        <a:t>4</a:t>
                      </a:r>
                    </a:p>
                  </a:txBody>
                  <a:tcPr/>
                </a:tc>
                <a:tc>
                  <a:txBody>
                    <a:bodyPr/>
                    <a:lstStyle/>
                    <a:p>
                      <a:r>
                        <a:rPr lang="en-US" sz="1400" dirty="0"/>
                        <a:t>4</a:t>
                      </a:r>
                    </a:p>
                  </a:txBody>
                  <a:tcPr/>
                </a:tc>
                <a:extLst>
                  <a:ext uri="{0D108BD9-81ED-4DB2-BD59-A6C34878D82A}">
                    <a16:rowId xmlns:a16="http://schemas.microsoft.com/office/drawing/2014/main" val="138775649"/>
                  </a:ext>
                </a:extLst>
              </a:tr>
              <a:tr h="369414">
                <a:tc>
                  <a:txBody>
                    <a:bodyPr/>
                    <a:lstStyle/>
                    <a:p>
                      <a:r>
                        <a:rPr lang="en-US" sz="1400" dirty="0"/>
                        <a:t>1</a:t>
                      </a:r>
                    </a:p>
                  </a:txBody>
                  <a:tcPr/>
                </a:tc>
                <a:tc>
                  <a:txBody>
                    <a:bodyPr/>
                    <a:lstStyle/>
                    <a:p>
                      <a:r>
                        <a:rPr lang="en-US" sz="1400" dirty="0"/>
                        <a:t>4+1 = 5</a:t>
                      </a:r>
                    </a:p>
                  </a:txBody>
                  <a:tcPr/>
                </a:tc>
                <a:tc>
                  <a:txBody>
                    <a:bodyPr/>
                    <a:lstStyle/>
                    <a:p>
                      <a:r>
                        <a:rPr lang="en-US" sz="1400" dirty="0"/>
                        <a:t>5</a:t>
                      </a:r>
                    </a:p>
                  </a:txBody>
                  <a:tcPr/>
                </a:tc>
                <a:extLst>
                  <a:ext uri="{0D108BD9-81ED-4DB2-BD59-A6C34878D82A}">
                    <a16:rowId xmlns:a16="http://schemas.microsoft.com/office/drawing/2014/main" val="2247005310"/>
                  </a:ext>
                </a:extLst>
              </a:tr>
              <a:tr h="369414">
                <a:tc>
                  <a:txBody>
                    <a:bodyPr/>
                    <a:lstStyle/>
                    <a:p>
                      <a:r>
                        <a:rPr lang="en-US" sz="1400" dirty="0"/>
                        <a:t>2</a:t>
                      </a:r>
                    </a:p>
                  </a:txBody>
                  <a:tcPr/>
                </a:tc>
                <a:tc>
                  <a:txBody>
                    <a:bodyPr/>
                    <a:lstStyle/>
                    <a:p>
                      <a:r>
                        <a:rPr lang="en-US" sz="1400" dirty="0"/>
                        <a:t>4+4 = 8</a:t>
                      </a:r>
                    </a:p>
                  </a:txBody>
                  <a:tcPr/>
                </a:tc>
                <a:tc>
                  <a:txBody>
                    <a:bodyPr/>
                    <a:lstStyle/>
                    <a:p>
                      <a:r>
                        <a:rPr lang="en-US" sz="1400" dirty="0"/>
                        <a:t>0</a:t>
                      </a:r>
                    </a:p>
                  </a:txBody>
                  <a:tcPr/>
                </a:tc>
                <a:extLst>
                  <a:ext uri="{0D108BD9-81ED-4DB2-BD59-A6C34878D82A}">
                    <a16:rowId xmlns:a16="http://schemas.microsoft.com/office/drawing/2014/main" val="1565925050"/>
                  </a:ext>
                </a:extLst>
              </a:tr>
              <a:tr h="369414">
                <a:tc>
                  <a:txBody>
                    <a:bodyPr/>
                    <a:lstStyle/>
                    <a:p>
                      <a:r>
                        <a:rPr lang="en-US" sz="1400" dirty="0"/>
                        <a:t>3</a:t>
                      </a:r>
                    </a:p>
                  </a:txBody>
                  <a:tcPr/>
                </a:tc>
                <a:tc>
                  <a:txBody>
                    <a:bodyPr/>
                    <a:lstStyle/>
                    <a:p>
                      <a:r>
                        <a:rPr lang="en-US" sz="1400" dirty="0"/>
                        <a:t>4+9 = 13</a:t>
                      </a:r>
                    </a:p>
                  </a:txBody>
                  <a:tcPr/>
                </a:tc>
                <a:tc>
                  <a:txBody>
                    <a:bodyPr/>
                    <a:lstStyle/>
                    <a:p>
                      <a:r>
                        <a:rPr lang="en-US" sz="1400" dirty="0"/>
                        <a:t>5</a:t>
                      </a:r>
                    </a:p>
                  </a:txBody>
                  <a:tcPr/>
                </a:tc>
                <a:extLst>
                  <a:ext uri="{0D108BD9-81ED-4DB2-BD59-A6C34878D82A}">
                    <a16:rowId xmlns:a16="http://schemas.microsoft.com/office/drawing/2014/main" val="583089482"/>
                  </a:ext>
                </a:extLst>
              </a:tr>
              <a:tr h="369414">
                <a:tc>
                  <a:txBody>
                    <a:bodyPr/>
                    <a:lstStyle/>
                    <a:p>
                      <a:r>
                        <a:rPr lang="en-US" sz="1400" dirty="0"/>
                        <a:t>4</a:t>
                      </a:r>
                    </a:p>
                  </a:txBody>
                  <a:tcPr/>
                </a:tc>
                <a:tc>
                  <a:txBody>
                    <a:bodyPr/>
                    <a:lstStyle/>
                    <a:p>
                      <a:r>
                        <a:rPr lang="en-US" sz="1400" dirty="0"/>
                        <a:t>4+16 = 20</a:t>
                      </a:r>
                    </a:p>
                  </a:txBody>
                  <a:tcPr/>
                </a:tc>
                <a:tc>
                  <a:txBody>
                    <a:bodyPr/>
                    <a:lstStyle/>
                    <a:p>
                      <a:r>
                        <a:rPr lang="en-US" sz="1400" dirty="0"/>
                        <a:t>4</a:t>
                      </a:r>
                    </a:p>
                  </a:txBody>
                  <a:tcPr/>
                </a:tc>
                <a:extLst>
                  <a:ext uri="{0D108BD9-81ED-4DB2-BD59-A6C34878D82A}">
                    <a16:rowId xmlns:a16="http://schemas.microsoft.com/office/drawing/2014/main" val="1283050013"/>
                  </a:ext>
                </a:extLst>
              </a:tr>
              <a:tr h="369414">
                <a:tc>
                  <a:txBody>
                    <a:bodyPr/>
                    <a:lstStyle/>
                    <a:p>
                      <a:r>
                        <a:rPr lang="en-US" sz="1400" dirty="0"/>
                        <a:t>5</a:t>
                      </a:r>
                    </a:p>
                  </a:txBody>
                  <a:tcPr/>
                </a:tc>
                <a:tc>
                  <a:txBody>
                    <a:bodyPr/>
                    <a:lstStyle/>
                    <a:p>
                      <a:r>
                        <a:rPr lang="en-US" sz="1400" dirty="0"/>
                        <a:t>4+25 = 29</a:t>
                      </a:r>
                    </a:p>
                  </a:txBody>
                  <a:tcPr/>
                </a:tc>
                <a:tc>
                  <a:txBody>
                    <a:bodyPr/>
                    <a:lstStyle/>
                    <a:p>
                      <a:r>
                        <a:rPr lang="en-US" sz="1400" dirty="0"/>
                        <a:t>5</a:t>
                      </a:r>
                    </a:p>
                  </a:txBody>
                  <a:tcPr/>
                </a:tc>
                <a:extLst>
                  <a:ext uri="{0D108BD9-81ED-4DB2-BD59-A6C34878D82A}">
                    <a16:rowId xmlns:a16="http://schemas.microsoft.com/office/drawing/2014/main" val="3601954916"/>
                  </a:ext>
                </a:extLst>
              </a:tr>
              <a:tr h="369414">
                <a:tc>
                  <a:txBody>
                    <a:bodyPr/>
                    <a:lstStyle/>
                    <a:p>
                      <a:r>
                        <a:rPr lang="en-US" sz="1400" dirty="0"/>
                        <a:t>6</a:t>
                      </a:r>
                    </a:p>
                  </a:txBody>
                  <a:tcPr/>
                </a:tc>
                <a:tc>
                  <a:txBody>
                    <a:bodyPr/>
                    <a:lstStyle/>
                    <a:p>
                      <a:r>
                        <a:rPr lang="en-US" sz="1400" dirty="0"/>
                        <a:t>4+36 = 40</a:t>
                      </a:r>
                    </a:p>
                  </a:txBody>
                  <a:tcPr/>
                </a:tc>
                <a:tc>
                  <a:txBody>
                    <a:bodyPr/>
                    <a:lstStyle/>
                    <a:p>
                      <a:r>
                        <a:rPr lang="en-US" sz="1400" dirty="0"/>
                        <a:t>0</a:t>
                      </a:r>
                    </a:p>
                  </a:txBody>
                  <a:tcPr/>
                </a:tc>
                <a:extLst>
                  <a:ext uri="{0D108BD9-81ED-4DB2-BD59-A6C34878D82A}">
                    <a16:rowId xmlns:a16="http://schemas.microsoft.com/office/drawing/2014/main" val="3934113739"/>
                  </a:ext>
                </a:extLst>
              </a:tr>
              <a:tr h="369414">
                <a:tc>
                  <a:txBody>
                    <a:bodyPr/>
                    <a:lstStyle/>
                    <a:p>
                      <a:r>
                        <a:rPr lang="en-US" sz="1400" dirty="0"/>
                        <a:t>7</a:t>
                      </a:r>
                    </a:p>
                  </a:txBody>
                  <a:tcPr/>
                </a:tc>
                <a:tc>
                  <a:txBody>
                    <a:bodyPr/>
                    <a:lstStyle/>
                    <a:p>
                      <a:r>
                        <a:rPr lang="en-US" sz="1400" dirty="0"/>
                        <a:t>4+49 = 53</a:t>
                      </a:r>
                    </a:p>
                  </a:txBody>
                  <a:tcPr/>
                </a:tc>
                <a:tc>
                  <a:txBody>
                    <a:bodyPr/>
                    <a:lstStyle/>
                    <a:p>
                      <a:r>
                        <a:rPr lang="en-US" sz="1400" dirty="0"/>
                        <a:t>5</a:t>
                      </a:r>
                    </a:p>
                  </a:txBody>
                  <a:tcPr/>
                </a:tc>
                <a:extLst>
                  <a:ext uri="{0D108BD9-81ED-4DB2-BD59-A6C34878D82A}">
                    <a16:rowId xmlns:a16="http://schemas.microsoft.com/office/drawing/2014/main" val="2270891772"/>
                  </a:ext>
                </a:extLst>
              </a:tr>
              <a:tr h="369414">
                <a:tc>
                  <a:txBody>
                    <a:bodyPr/>
                    <a:lstStyle/>
                    <a:p>
                      <a:r>
                        <a:rPr lang="en-US" sz="1400" dirty="0"/>
                        <a:t>8</a:t>
                      </a:r>
                    </a:p>
                  </a:txBody>
                  <a:tcPr/>
                </a:tc>
                <a:tc>
                  <a:txBody>
                    <a:bodyPr/>
                    <a:lstStyle/>
                    <a:p>
                      <a:r>
                        <a:rPr lang="en-US" sz="1400" dirty="0"/>
                        <a:t>4+64 = 68</a:t>
                      </a:r>
                    </a:p>
                  </a:txBody>
                  <a:tcPr/>
                </a:tc>
                <a:tc>
                  <a:txBody>
                    <a:bodyPr/>
                    <a:lstStyle/>
                    <a:p>
                      <a:r>
                        <a:rPr lang="en-US" sz="1400" dirty="0"/>
                        <a:t>4</a:t>
                      </a:r>
                    </a:p>
                  </a:txBody>
                  <a:tcPr/>
                </a:tc>
                <a:extLst>
                  <a:ext uri="{0D108BD9-81ED-4DB2-BD59-A6C34878D82A}">
                    <a16:rowId xmlns:a16="http://schemas.microsoft.com/office/drawing/2014/main" val="2963687465"/>
                  </a:ext>
                </a:extLst>
              </a:tr>
              <a:tr h="369414">
                <a:tc>
                  <a:txBody>
                    <a:bodyPr/>
                    <a:lstStyle/>
                    <a:p>
                      <a:r>
                        <a:rPr lang="en-US" sz="1400" dirty="0"/>
                        <a:t>9</a:t>
                      </a:r>
                    </a:p>
                  </a:txBody>
                  <a:tcPr/>
                </a:tc>
                <a:tc>
                  <a:txBody>
                    <a:bodyPr/>
                    <a:lstStyle/>
                    <a:p>
                      <a:r>
                        <a:rPr lang="en-US" sz="1400" dirty="0"/>
                        <a:t>4+81 = 85</a:t>
                      </a:r>
                    </a:p>
                  </a:txBody>
                  <a:tcPr/>
                </a:tc>
                <a:tc>
                  <a:txBody>
                    <a:bodyPr/>
                    <a:lstStyle/>
                    <a:p>
                      <a:r>
                        <a:rPr lang="en-US" sz="1400" dirty="0"/>
                        <a:t>5</a:t>
                      </a:r>
                    </a:p>
                  </a:txBody>
                  <a:tcPr/>
                </a:tc>
                <a:extLst>
                  <a:ext uri="{0D108BD9-81ED-4DB2-BD59-A6C34878D82A}">
                    <a16:rowId xmlns:a16="http://schemas.microsoft.com/office/drawing/2014/main" val="3529835983"/>
                  </a:ext>
                </a:extLst>
              </a:tr>
              <a:tr h="369414">
                <a:tc>
                  <a:txBody>
                    <a:bodyPr/>
                    <a:lstStyle/>
                    <a:p>
                      <a:r>
                        <a:rPr lang="en-US" sz="1400" dirty="0"/>
                        <a:t>10</a:t>
                      </a:r>
                    </a:p>
                  </a:txBody>
                  <a:tcPr/>
                </a:tc>
                <a:tc>
                  <a:txBody>
                    <a:bodyPr/>
                    <a:lstStyle/>
                    <a:p>
                      <a:r>
                        <a:rPr lang="en-US" sz="1400" dirty="0"/>
                        <a:t>4+100 = 104</a:t>
                      </a:r>
                    </a:p>
                  </a:txBody>
                  <a:tcPr/>
                </a:tc>
                <a:tc>
                  <a:txBody>
                    <a:bodyPr/>
                    <a:lstStyle/>
                    <a:p>
                      <a:r>
                        <a:rPr lang="en-US" sz="1400" dirty="0"/>
                        <a:t>0</a:t>
                      </a:r>
                    </a:p>
                  </a:txBody>
                  <a:tcPr/>
                </a:tc>
                <a:extLst>
                  <a:ext uri="{0D108BD9-81ED-4DB2-BD59-A6C34878D82A}">
                    <a16:rowId xmlns:a16="http://schemas.microsoft.com/office/drawing/2014/main" val="1702428047"/>
                  </a:ext>
                </a:extLst>
              </a:tr>
            </a:tbl>
          </a:graphicData>
        </a:graphic>
      </p:graphicFrame>
    </p:spTree>
    <p:extLst>
      <p:ext uri="{BB962C8B-B14F-4D97-AF65-F5344CB8AC3E}">
        <p14:creationId xmlns:p14="http://schemas.microsoft.com/office/powerpoint/2010/main" val="83194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A2B3-A04B-E5E5-70B9-B598EEA7D73E}"/>
              </a:ext>
            </a:extLst>
          </p:cNvPr>
          <p:cNvSpPr>
            <a:spLocks noGrp="1"/>
          </p:cNvSpPr>
          <p:nvPr>
            <p:ph type="title"/>
          </p:nvPr>
        </p:nvSpPr>
        <p:spPr/>
        <p:txBody>
          <a:bodyPr/>
          <a:lstStyle/>
          <a:p>
            <a:r>
              <a:rPr lang="en-US" dirty="0"/>
              <a:t>Sufficient Condition for finding free bucket</a:t>
            </a:r>
          </a:p>
        </p:txBody>
      </p:sp>
      <p:sp>
        <p:nvSpPr>
          <p:cNvPr id="3" name="Content Placeholder 2">
            <a:extLst>
              <a:ext uri="{FF2B5EF4-FFF2-40B4-BE49-F238E27FC236}">
                <a16:creationId xmlns:a16="http://schemas.microsoft.com/office/drawing/2014/main" id="{7107C212-1E2A-557F-C3B9-97689F8E2CDF}"/>
              </a:ext>
            </a:extLst>
          </p:cNvPr>
          <p:cNvSpPr>
            <a:spLocks noGrp="1"/>
          </p:cNvSpPr>
          <p:nvPr>
            <p:ph idx="1"/>
          </p:nvPr>
        </p:nvSpPr>
        <p:spPr>
          <a:xfrm>
            <a:off x="838200" y="1230595"/>
            <a:ext cx="5454161" cy="5144568"/>
          </a:xfrm>
        </p:spPr>
        <p:txBody>
          <a:bodyPr>
            <a:normAutofit fontScale="92500" lnSpcReduction="20000"/>
          </a:bodyPr>
          <a:lstStyle/>
          <a:p>
            <a:r>
              <a:rPr lang="en-US" dirty="0"/>
              <a:t>Prove that </a:t>
            </a:r>
            <a:r>
              <a:rPr lang="en-US" dirty="0">
                <a:solidFill>
                  <a:schemeClr val="accent5"/>
                </a:solidFill>
              </a:rPr>
              <a:t>QP</a:t>
            </a:r>
            <a:r>
              <a:rPr lang="en-US" dirty="0"/>
              <a:t> always find a free bucket</a:t>
            </a:r>
          </a:p>
          <a:p>
            <a:r>
              <a:rPr lang="en-US" dirty="0"/>
              <a:t>Show that for 0 &lt;= a &lt; b &lt;= m/2, P(x, a) != P(x, b), when </a:t>
            </a:r>
            <a:r>
              <a:rPr lang="en-US" dirty="0">
                <a:solidFill>
                  <a:schemeClr val="accent3"/>
                </a:solidFill>
              </a:rPr>
              <a:t>m is prime</a:t>
            </a:r>
          </a:p>
          <a:p>
            <a:pPr lvl="1"/>
            <a:r>
              <a:rPr lang="en-US" dirty="0"/>
              <a:t>This means that, for a table of size m, the first m/2 probing of QP will check unique buckets. If load factor is at most 0.5, these m/2 probing will always find a free bucket</a:t>
            </a:r>
          </a:p>
          <a:p>
            <a:r>
              <a:rPr lang="en-US" dirty="0"/>
              <a:t>Proof by contradiction, assume that </a:t>
            </a:r>
            <a:r>
              <a:rPr lang="en-US" dirty="0">
                <a:solidFill>
                  <a:schemeClr val="accent4"/>
                </a:solidFill>
              </a:rPr>
              <a:t>P(x, a) == P(x, b)</a:t>
            </a:r>
          </a:p>
        </p:txBody>
      </p:sp>
      <p:sp>
        <p:nvSpPr>
          <p:cNvPr id="4" name="Rectangle: Rounded Corners 3">
            <a:extLst>
              <a:ext uri="{FF2B5EF4-FFF2-40B4-BE49-F238E27FC236}">
                <a16:creationId xmlns:a16="http://schemas.microsoft.com/office/drawing/2014/main" id="{FEAB399E-9A18-23A8-3355-360AB7D3F962}"/>
              </a:ext>
            </a:extLst>
          </p:cNvPr>
          <p:cNvSpPr/>
          <p:nvPr/>
        </p:nvSpPr>
        <p:spPr>
          <a:xfrm>
            <a:off x="6292361" y="1116622"/>
            <a:ext cx="5899639" cy="107705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268288" indent="-268288">
              <a:buFont typeface="Arial" panose="020B0604020202020204" pitchFamily="34" charset="0"/>
              <a:buChar char="•"/>
            </a:pPr>
            <a:r>
              <a:rPr lang="en-US" dirty="0"/>
              <a:t>Table size must be a prime number</a:t>
            </a:r>
          </a:p>
          <a:p>
            <a:pPr marL="268288" indent="-268288">
              <a:buFont typeface="Arial" panose="020B0604020202020204" pitchFamily="34" charset="0"/>
              <a:buChar char="•"/>
            </a:pPr>
            <a:r>
              <a:rPr lang="en-US" dirty="0"/>
              <a:t>Load factor must be at most 0.5</a:t>
            </a:r>
          </a:p>
        </p:txBody>
      </p:sp>
      <mc:AlternateContent xmlns:mc="http://schemas.openxmlformats.org/markup-compatibility/2006" xmlns:a14="http://schemas.microsoft.com/office/drawing/2010/main">
        <mc:Choice Requires="a14">
          <p:sp>
            <p:nvSpPr>
              <p:cNvPr id="5" name="Rectangle: Rounded Corners 4">
                <a:extLst>
                  <a:ext uri="{FF2B5EF4-FFF2-40B4-BE49-F238E27FC236}">
                    <a16:creationId xmlns:a16="http://schemas.microsoft.com/office/drawing/2014/main" id="{A78136B1-7925-4C61-1F04-3CB92839A22A}"/>
                  </a:ext>
                </a:extLst>
              </p:cNvPr>
              <p:cNvSpPr/>
              <p:nvPr/>
            </p:nvSpPr>
            <p:spPr>
              <a:xfrm>
                <a:off x="6597162" y="3279531"/>
                <a:ext cx="3966796" cy="1538403"/>
              </a:xfrm>
              <a:prstGeom prst="roundRect">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h</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𝑥</m:t>
                          </m:r>
                        </m:e>
                      </m:d>
                      <m:r>
                        <a:rPr lang="en-US" sz="2000" b="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𝑎</m:t>
                          </m:r>
                        </m:e>
                        <m:sup>
                          <m:r>
                            <a:rPr lang="en-US" sz="2000" b="0" i="1" dirty="0" smtClean="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rPr>
                        <m:t>h</m:t>
                      </m:r>
                      <m:d>
                        <m:dPr>
                          <m:ctrlPr>
                            <a:rPr lang="en-US" sz="2000" i="1" dirty="0">
                              <a:latin typeface="Cambria Math" panose="02040503050406030204" pitchFamily="18" charset="0"/>
                            </a:rPr>
                          </m:ctrlPr>
                        </m:dPr>
                        <m:e>
                          <m:r>
                            <a:rPr lang="en-US" sz="2000" i="1" dirty="0">
                              <a:latin typeface="Cambria Math" panose="02040503050406030204" pitchFamily="18" charset="0"/>
                            </a:rPr>
                            <m:t>𝑥</m:t>
                          </m:r>
                        </m:e>
                      </m:d>
                      <m:r>
                        <a:rPr lang="en-US" sz="2000" i="1" dirty="0">
                          <a:latin typeface="Cambria Math" panose="02040503050406030204" pitchFamily="18" charset="0"/>
                        </a:rPr>
                        <m:t>+</m:t>
                      </m:r>
                      <m:sSup>
                        <m:sSupPr>
                          <m:ctrlPr>
                            <a:rPr lang="en-US" sz="2000" i="1" dirty="0">
                              <a:latin typeface="Cambria Math" panose="02040503050406030204" pitchFamily="18" charset="0"/>
                            </a:rPr>
                          </m:ctrlPr>
                        </m:sSupPr>
                        <m:e>
                          <m:r>
                            <a:rPr lang="en-US" sz="2000" b="0" i="1" dirty="0" smtClean="0">
                              <a:latin typeface="Cambria Math" panose="02040503050406030204" pitchFamily="18" charset="0"/>
                            </a:rPr>
                            <m:t>𝑏</m:t>
                          </m:r>
                        </m:e>
                        <m:sup>
                          <m:r>
                            <a:rPr lang="en-US" sz="2000" i="1" dirty="0">
                              <a:latin typeface="Cambria Math" panose="02040503050406030204" pitchFamily="18" charset="0"/>
                            </a:rPr>
                            <m:t>2</m:t>
                          </m:r>
                        </m:sup>
                      </m:sSup>
                    </m:oMath>
                  </m:oMathPara>
                </a14:m>
                <a:endParaRPr lang="en-US" sz="2000" dirty="0"/>
              </a:p>
              <a:p>
                <a:pPr algn="ctr"/>
                <a14:m>
                  <m:oMath xmlns:m="http://schemas.openxmlformats.org/officeDocument/2006/math">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𝑎</m:t>
                        </m:r>
                      </m:e>
                      <m:sup>
                        <m:r>
                          <a:rPr lang="en-US" sz="2000" b="0" i="1" dirty="0" smtClean="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m:t>
                    </m:r>
                    <m:sSup>
                      <m:sSupPr>
                        <m:ctrlPr>
                          <a:rPr lang="en-US" sz="2000" i="1" dirty="0">
                            <a:latin typeface="Cambria Math" panose="02040503050406030204" pitchFamily="18" charset="0"/>
                          </a:rPr>
                        </m:ctrlPr>
                      </m:sSupPr>
                      <m:e>
                        <m:r>
                          <a:rPr lang="en-US" sz="2000" b="0" i="1" dirty="0" smtClean="0">
                            <a:latin typeface="Cambria Math" panose="02040503050406030204" pitchFamily="18" charset="0"/>
                          </a:rPr>
                          <m:t>𝑏</m:t>
                        </m:r>
                      </m:e>
                      <m:sup>
                        <m:r>
                          <a:rPr lang="en-US" sz="2000" i="1" dirty="0">
                            <a:latin typeface="Cambria Math" panose="02040503050406030204" pitchFamily="18" charset="0"/>
                          </a:rPr>
                          <m:t>2</m:t>
                        </m:r>
                      </m:sup>
                    </m:sSup>
                  </m:oMath>
                </a14:m>
                <a:r>
                  <a:rPr lang="en-US" sz="2000" dirty="0"/>
                  <a:t>  </a:t>
                </a:r>
              </a:p>
              <a:p>
                <a:pPr algn="ctr"/>
                <a14:m>
                  <m:oMath xmlns:m="http://schemas.openxmlformats.org/officeDocument/2006/math">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𝑎</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𝑏</m:t>
                        </m:r>
                      </m:e>
                      <m:sup>
                        <m:r>
                          <a:rPr lang="en-US" sz="2000" b="0" i="1" dirty="0" smtClean="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0</m:t>
                    </m:r>
                    <m:r>
                      <a:rPr lang="en-US" sz="2000" b="0" i="1" dirty="0" smtClean="0">
                        <a:latin typeface="Cambria Math" panose="02040503050406030204" pitchFamily="18" charset="0"/>
                      </a:rPr>
                      <m:t>            </m:t>
                    </m:r>
                  </m:oMath>
                </a14:m>
                <a:r>
                  <a:rPr lang="en-US" sz="2000" dirty="0"/>
                  <a:t>  </a:t>
                </a:r>
              </a:p>
              <a:p>
                <a:pPr algn="ctr"/>
                <a14:m>
                  <m:oMathPara xmlns:m="http://schemas.openxmlformats.org/officeDocument/2006/math">
                    <m:oMathParaPr>
                      <m:jc m:val="centerGroup"/>
                    </m:oMathParaPr>
                    <m:oMath xmlns:m="http://schemas.openxmlformats.org/officeDocument/2006/math">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𝑎</m:t>
                          </m:r>
                          <m:r>
                            <a:rPr lang="en-US" sz="2000" b="0" i="1" dirty="0" smtClean="0">
                              <a:latin typeface="Cambria Math" panose="02040503050406030204" pitchFamily="18" charset="0"/>
                            </a:rPr>
                            <m:t>−</m:t>
                          </m:r>
                          <m:r>
                            <a:rPr lang="en-US" sz="2000" b="0" i="1" dirty="0" smtClean="0">
                              <a:latin typeface="Cambria Math" panose="02040503050406030204" pitchFamily="18" charset="0"/>
                            </a:rPr>
                            <m:t>𝑏</m:t>
                          </m:r>
                        </m:e>
                      </m:d>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𝑎</m:t>
                          </m:r>
                          <m:r>
                            <a:rPr lang="en-US" sz="2000" b="0" i="1" dirty="0" smtClean="0">
                              <a:latin typeface="Cambria Math" panose="02040503050406030204" pitchFamily="18" charset="0"/>
                            </a:rPr>
                            <m:t>+</m:t>
                          </m:r>
                          <m:r>
                            <a:rPr lang="en-US" sz="2000" b="0" i="1" dirty="0" smtClean="0">
                              <a:latin typeface="Cambria Math" panose="02040503050406030204" pitchFamily="18" charset="0"/>
                            </a:rPr>
                            <m:t>𝑏</m:t>
                          </m:r>
                        </m:e>
                      </m:d>
                      <m:r>
                        <a:rPr lang="en-US" sz="2000" i="1" dirty="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0</m:t>
                      </m:r>
                      <m:r>
                        <a:rPr lang="en-US" sz="2000" b="0" i="1" dirty="0" smtClean="0">
                          <a:latin typeface="Cambria Math" panose="02040503050406030204" pitchFamily="18" charset="0"/>
                        </a:rPr>
                        <m:t>                          </m:t>
                      </m:r>
                    </m:oMath>
                  </m:oMathPara>
                </a14:m>
                <a:endParaRPr lang="en-US" sz="2000" dirty="0"/>
              </a:p>
            </p:txBody>
          </p:sp>
        </mc:Choice>
        <mc:Fallback xmlns="">
          <p:sp>
            <p:nvSpPr>
              <p:cNvPr id="5" name="Rectangle: Rounded Corners 4">
                <a:extLst>
                  <a:ext uri="{FF2B5EF4-FFF2-40B4-BE49-F238E27FC236}">
                    <a16:creationId xmlns:a16="http://schemas.microsoft.com/office/drawing/2014/main" id="{A78136B1-7925-4C61-1F04-3CB92839A22A}"/>
                  </a:ext>
                </a:extLst>
              </p:cNvPr>
              <p:cNvSpPr>
                <a:spLocks noRot="1" noChangeAspect="1" noMove="1" noResize="1" noEditPoints="1" noAdjustHandles="1" noChangeArrowheads="1" noChangeShapeType="1" noTextEdit="1"/>
              </p:cNvSpPr>
              <p:nvPr/>
            </p:nvSpPr>
            <p:spPr>
              <a:xfrm>
                <a:off x="6597162" y="3279531"/>
                <a:ext cx="3966796" cy="1538403"/>
              </a:xfrm>
              <a:prstGeom prst="roundRect">
                <a:avLst/>
              </a:prstGeom>
              <a:blipFill>
                <a:blip r:embed="rId2"/>
                <a:stretch>
                  <a:fillRect/>
                </a:stretch>
              </a:blipFill>
              <a:ln>
                <a:solidFill>
                  <a:schemeClr val="tx1"/>
                </a:solidFill>
              </a:ln>
            </p:spPr>
            <p:txBody>
              <a:bodyPr/>
              <a:lstStyle/>
              <a:p>
                <a:r>
                  <a:rPr lang="en-US">
                    <a:noFill/>
                  </a:rPr>
                  <a:t> </a:t>
                </a:r>
              </a:p>
            </p:txBody>
          </p:sp>
        </mc:Fallback>
      </mc:AlternateContent>
      <p:sp>
        <p:nvSpPr>
          <p:cNvPr id="6" name="Speech Bubble: Rectangle with Corners Rounded 5">
            <a:extLst>
              <a:ext uri="{FF2B5EF4-FFF2-40B4-BE49-F238E27FC236}">
                <a16:creationId xmlns:a16="http://schemas.microsoft.com/office/drawing/2014/main" id="{23BBEC54-7952-05C9-E09C-A73E23C1B187}"/>
              </a:ext>
            </a:extLst>
          </p:cNvPr>
          <p:cNvSpPr/>
          <p:nvPr/>
        </p:nvSpPr>
        <p:spPr>
          <a:xfrm>
            <a:off x="9638859" y="2316445"/>
            <a:ext cx="2292302" cy="664237"/>
          </a:xfrm>
          <a:prstGeom prst="wedgeRoundRectCallout">
            <a:avLst>
              <a:gd name="adj1" fmla="val -35587"/>
              <a:gd name="adj2" fmla="val 88564"/>
              <a:gd name="adj3" fmla="val 16667"/>
            </a:avLst>
          </a:prstGeom>
          <a:solidFill>
            <a:schemeClr val="accent3">
              <a:alpha val="52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These are all congruent in mod m</a:t>
            </a:r>
            <a:endParaRPr lang="th-TH" sz="1800" dirty="0"/>
          </a:p>
        </p:txBody>
      </p:sp>
      <p:sp>
        <p:nvSpPr>
          <p:cNvPr id="7" name="Speech Bubble: Rectangle with Corners Rounded 6">
            <a:extLst>
              <a:ext uri="{FF2B5EF4-FFF2-40B4-BE49-F238E27FC236}">
                <a16:creationId xmlns:a16="http://schemas.microsoft.com/office/drawing/2014/main" id="{B66AD4CF-B3EB-2209-98B2-BBEECC4D7D23}"/>
              </a:ext>
            </a:extLst>
          </p:cNvPr>
          <p:cNvSpPr/>
          <p:nvPr/>
        </p:nvSpPr>
        <p:spPr>
          <a:xfrm>
            <a:off x="6390103" y="4989305"/>
            <a:ext cx="1782348" cy="954294"/>
          </a:xfrm>
          <a:prstGeom prst="wedgeRoundRectCallout">
            <a:avLst>
              <a:gd name="adj1" fmla="val -7867"/>
              <a:gd name="adj2" fmla="val -86662"/>
              <a:gd name="adj3" fmla="val 16667"/>
            </a:avLst>
          </a:prstGeom>
          <a:solidFill>
            <a:schemeClr val="accent3">
              <a:alpha val="52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(a-b) can’t be 0 because a &lt; b, by assumption</a:t>
            </a:r>
            <a:endParaRPr lang="th-TH" sz="1800" dirty="0"/>
          </a:p>
        </p:txBody>
      </p:sp>
      <p:sp>
        <p:nvSpPr>
          <p:cNvPr id="8" name="Speech Bubble: Rectangle with Corners Rounded 7">
            <a:extLst>
              <a:ext uri="{FF2B5EF4-FFF2-40B4-BE49-F238E27FC236}">
                <a16:creationId xmlns:a16="http://schemas.microsoft.com/office/drawing/2014/main" id="{CADC1BC2-87A0-8EF8-1005-17A6AAC8260C}"/>
              </a:ext>
            </a:extLst>
          </p:cNvPr>
          <p:cNvSpPr/>
          <p:nvPr/>
        </p:nvSpPr>
        <p:spPr>
          <a:xfrm>
            <a:off x="8270192" y="4949490"/>
            <a:ext cx="2249803" cy="994109"/>
          </a:xfrm>
          <a:prstGeom prst="wedgeRoundRectCallout">
            <a:avLst>
              <a:gd name="adj1" fmla="val -51191"/>
              <a:gd name="adj2" fmla="val -77320"/>
              <a:gd name="adj3" fmla="val 16667"/>
            </a:avLst>
          </a:prstGeom>
          <a:solidFill>
            <a:schemeClr val="accent3">
              <a:alpha val="52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a:t>
            </a:r>
            <a:r>
              <a:rPr lang="en-US" sz="1800" dirty="0" err="1"/>
              <a:t>a+b</a:t>
            </a:r>
            <a:r>
              <a:rPr lang="en-US" sz="1800" dirty="0"/>
              <a:t>) is less than m hence (</a:t>
            </a:r>
            <a:r>
              <a:rPr lang="en-US" sz="1800" dirty="0" err="1"/>
              <a:t>a+b</a:t>
            </a:r>
            <a:r>
              <a:rPr lang="en-US" sz="1800" dirty="0"/>
              <a:t>) can’t be 0 mod m</a:t>
            </a:r>
            <a:endParaRPr lang="th-TH" sz="1800" dirty="0"/>
          </a:p>
        </p:txBody>
      </p:sp>
      <p:sp>
        <p:nvSpPr>
          <p:cNvPr id="9" name="Speech Bubble: Rectangle with Corners Rounded 8">
            <a:extLst>
              <a:ext uri="{FF2B5EF4-FFF2-40B4-BE49-F238E27FC236}">
                <a16:creationId xmlns:a16="http://schemas.microsoft.com/office/drawing/2014/main" id="{6DB13B60-E358-10AC-D0AB-3118144897DB}"/>
              </a:ext>
            </a:extLst>
          </p:cNvPr>
          <p:cNvSpPr/>
          <p:nvPr/>
        </p:nvSpPr>
        <p:spPr>
          <a:xfrm>
            <a:off x="9931939" y="3778574"/>
            <a:ext cx="2095938" cy="994109"/>
          </a:xfrm>
          <a:prstGeom prst="wedgeRoundRectCallout">
            <a:avLst>
              <a:gd name="adj1" fmla="val -96077"/>
              <a:gd name="adj2" fmla="val 31467"/>
              <a:gd name="adj3" fmla="val 16667"/>
            </a:avLst>
          </a:prstGeom>
          <a:solidFill>
            <a:schemeClr val="accent3">
              <a:alpha val="52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(a-b)(</a:t>
            </a:r>
            <a:r>
              <a:rPr lang="en-US" sz="1800" dirty="0" err="1"/>
              <a:t>a+b</a:t>
            </a:r>
            <a:r>
              <a:rPr lang="en-US" sz="1800" dirty="0"/>
              <a:t>) can’t be 0 mod m because m is prime</a:t>
            </a:r>
            <a:endParaRPr lang="th-TH" sz="1800" dirty="0"/>
          </a:p>
        </p:txBody>
      </p:sp>
    </p:spTree>
    <p:extLst>
      <p:ext uri="{BB962C8B-B14F-4D97-AF65-F5344CB8AC3E}">
        <p14:creationId xmlns:p14="http://schemas.microsoft.com/office/powerpoint/2010/main" val="32964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0914A-6A1E-1C92-2B89-F4D510230066}"/>
              </a:ext>
            </a:extLst>
          </p:cNvPr>
          <p:cNvSpPr>
            <a:spLocks noGrp="1"/>
          </p:cNvSpPr>
          <p:nvPr>
            <p:ph type="title"/>
          </p:nvPr>
        </p:nvSpPr>
        <p:spPr/>
        <p:txBody>
          <a:bodyPr/>
          <a:lstStyle/>
          <a:p>
            <a:r>
              <a:rPr lang="en-US" dirty="0"/>
              <a:t>QP Summary</a:t>
            </a:r>
          </a:p>
        </p:txBody>
      </p:sp>
      <p:sp>
        <p:nvSpPr>
          <p:cNvPr id="3" name="Content Placeholder 2">
            <a:extLst>
              <a:ext uri="{FF2B5EF4-FFF2-40B4-BE49-F238E27FC236}">
                <a16:creationId xmlns:a16="http://schemas.microsoft.com/office/drawing/2014/main" id="{7F537B17-E42B-86AA-4B90-AA5AFEB91E76}"/>
              </a:ext>
            </a:extLst>
          </p:cNvPr>
          <p:cNvSpPr>
            <a:spLocks noGrp="1"/>
          </p:cNvSpPr>
          <p:nvPr>
            <p:ph idx="1"/>
          </p:nvPr>
        </p:nvSpPr>
        <p:spPr>
          <a:xfrm>
            <a:off x="838200" y="1358781"/>
            <a:ext cx="8133826" cy="5016382"/>
          </a:xfrm>
        </p:spPr>
        <p:txBody>
          <a:bodyPr>
            <a:normAutofit fontScale="85000" lnSpcReduction="10000"/>
          </a:bodyPr>
          <a:lstStyle/>
          <a:p>
            <a:r>
              <a:rPr lang="en-US" dirty="0"/>
              <a:t>Help reduce </a:t>
            </a:r>
            <a:r>
              <a:rPr lang="en-US" dirty="0">
                <a:solidFill>
                  <a:schemeClr val="accent2"/>
                </a:solidFill>
              </a:rPr>
              <a:t>primary clustering problem</a:t>
            </a:r>
          </a:p>
          <a:p>
            <a:r>
              <a:rPr lang="en-US" dirty="0"/>
              <a:t>Require that the table size is </a:t>
            </a:r>
            <a:r>
              <a:rPr lang="en-US" dirty="0">
                <a:solidFill>
                  <a:schemeClr val="accent3"/>
                </a:solidFill>
              </a:rPr>
              <a:t>prime</a:t>
            </a:r>
          </a:p>
          <a:p>
            <a:r>
              <a:rPr lang="en-US" dirty="0"/>
              <a:t>Require that load factor is maintained to </a:t>
            </a:r>
            <a:r>
              <a:rPr lang="en-US" dirty="0">
                <a:solidFill>
                  <a:schemeClr val="accent6"/>
                </a:solidFill>
              </a:rPr>
              <a:t>not exceed 0.5</a:t>
            </a:r>
          </a:p>
          <a:p>
            <a:pPr lvl="1"/>
            <a:r>
              <a:rPr lang="en-US" dirty="0"/>
              <a:t>This is good because high load factor means less efficient find</a:t>
            </a:r>
          </a:p>
          <a:p>
            <a:pPr lvl="1"/>
            <a:r>
              <a:rPr lang="en-US" dirty="0"/>
              <a:t>0.5 means that at, at worst, we allocate approximately 4 times of the required space</a:t>
            </a:r>
          </a:p>
          <a:p>
            <a:pPr lvl="1"/>
            <a:r>
              <a:rPr lang="en-US" dirty="0"/>
              <a:t>For example, number of buckets is 103 and we use 51 bucket, when adding one more item, the table is resized to 211 (the next prime after 103*2) holding 52 items.</a:t>
            </a:r>
          </a:p>
        </p:txBody>
      </p:sp>
    </p:spTree>
    <p:extLst>
      <p:ext uri="{BB962C8B-B14F-4D97-AF65-F5344CB8AC3E}">
        <p14:creationId xmlns:p14="http://schemas.microsoft.com/office/powerpoint/2010/main" val="19427326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F2B1D-D933-5F82-FB72-DAB5C8AEFE33}"/>
              </a:ext>
            </a:extLst>
          </p:cNvPr>
          <p:cNvSpPr>
            <a:spLocks noGrp="1"/>
          </p:cNvSpPr>
          <p:nvPr>
            <p:ph type="title"/>
          </p:nvPr>
        </p:nvSpPr>
        <p:spPr/>
        <p:txBody>
          <a:bodyPr/>
          <a:lstStyle/>
          <a:p>
            <a:r>
              <a:rPr lang="en-US" dirty="0"/>
              <a:t>Open Addressing v0.3 (QP)</a:t>
            </a:r>
          </a:p>
        </p:txBody>
      </p:sp>
      <p:sp>
        <p:nvSpPr>
          <p:cNvPr id="3" name="Content Placeholder 2">
            <a:extLst>
              <a:ext uri="{FF2B5EF4-FFF2-40B4-BE49-F238E27FC236}">
                <a16:creationId xmlns:a16="http://schemas.microsoft.com/office/drawing/2014/main" id="{23A7AFDD-1E0F-694E-922E-110BA28884BC}"/>
              </a:ext>
            </a:extLst>
          </p:cNvPr>
          <p:cNvSpPr>
            <a:spLocks noGrp="1"/>
          </p:cNvSpPr>
          <p:nvPr>
            <p:ph idx="1"/>
          </p:nvPr>
        </p:nvSpPr>
        <p:spPr>
          <a:xfrm>
            <a:off x="838200" y="1358781"/>
            <a:ext cx="4790813" cy="5016382"/>
          </a:xfrm>
        </p:spPr>
        <p:txBody>
          <a:bodyPr>
            <a:normAutofit fontScale="85000" lnSpcReduction="20000"/>
          </a:bodyPr>
          <a:lstStyle/>
          <a:p>
            <a:r>
              <a:rPr lang="en-US" dirty="0"/>
              <a:t>Minor adjustment from LP</a:t>
            </a:r>
          </a:p>
          <a:p>
            <a:r>
              <a:rPr lang="en-US" sz="2800" b="0" dirty="0" err="1">
                <a:solidFill>
                  <a:srgbClr val="DCDCAA"/>
                </a:solidFill>
                <a:effectLst/>
                <a:latin typeface="Monaspace Neon" pitchFamily="50" charset="0"/>
              </a:rPr>
              <a:t>find_bucket</a:t>
            </a:r>
            <a:r>
              <a:rPr lang="en-US" dirty="0"/>
              <a:t> use </a:t>
            </a:r>
            <a:r>
              <a:rPr lang="en-US" sz="2800" b="0" dirty="0" err="1">
                <a:solidFill>
                  <a:srgbClr val="DCDCAA"/>
                </a:solidFill>
                <a:effectLst/>
                <a:latin typeface="Monaspace Neon" pitchFamily="50" charset="0"/>
              </a:rPr>
              <a:t>quadratic_probing</a:t>
            </a:r>
            <a:r>
              <a:rPr lang="en-US" sz="2800" b="0" dirty="0">
                <a:solidFill>
                  <a:srgbClr val="DCDCAA"/>
                </a:solidFill>
                <a:effectLst/>
                <a:latin typeface="Monaspace Neon" pitchFamily="50" charset="0"/>
              </a:rPr>
              <a:t> </a:t>
            </a:r>
            <a:r>
              <a:rPr lang="en-US" dirty="0"/>
              <a:t>instead</a:t>
            </a:r>
          </a:p>
          <a:p>
            <a:r>
              <a:rPr lang="en-US" dirty="0"/>
              <a:t>constructor now set </a:t>
            </a:r>
            <a:r>
              <a:rPr lang="en-US" sz="2800" b="0" dirty="0" err="1">
                <a:solidFill>
                  <a:srgbClr val="9CDCFE"/>
                </a:solidFill>
                <a:effectLst/>
                <a:latin typeface="Monaspace Neon" pitchFamily="50" charset="0"/>
              </a:rPr>
              <a:t>mMaxLoadFactor</a:t>
            </a:r>
            <a:r>
              <a:rPr lang="en-US" sz="2800" b="0" dirty="0">
                <a:solidFill>
                  <a:srgbClr val="9CDCFE"/>
                </a:solidFill>
                <a:effectLst/>
                <a:latin typeface="Monaspace Neon" pitchFamily="50" charset="0"/>
              </a:rPr>
              <a:t> </a:t>
            </a:r>
            <a:r>
              <a:rPr lang="en-US" dirty="0"/>
              <a:t>to 0.5 and the starting size is 11</a:t>
            </a:r>
          </a:p>
          <a:p>
            <a:r>
              <a:rPr lang="en-US" sz="2800" b="0" dirty="0">
                <a:solidFill>
                  <a:srgbClr val="DCDCAA"/>
                </a:solidFill>
                <a:effectLst/>
                <a:latin typeface="Monaspace Neon" pitchFamily="50" charset="0"/>
              </a:rPr>
              <a:t>rehash</a:t>
            </a:r>
            <a:r>
              <a:rPr lang="en-US" dirty="0"/>
              <a:t> use the next prime after doubling the size</a:t>
            </a:r>
          </a:p>
          <a:p>
            <a:r>
              <a:rPr lang="en-US" sz="2800" b="0" dirty="0">
                <a:solidFill>
                  <a:srgbClr val="9CDCFE"/>
                </a:solidFill>
                <a:effectLst/>
                <a:latin typeface="Monaspace Neon" pitchFamily="50" charset="0"/>
              </a:rPr>
              <a:t>PRIMES </a:t>
            </a:r>
            <a:r>
              <a:rPr lang="en-US" dirty="0"/>
              <a:t>is a precomputed vector of prime numbers</a:t>
            </a:r>
          </a:p>
          <a:p>
            <a:endParaRPr lang="en-US" dirty="0"/>
          </a:p>
          <a:p>
            <a:endParaRPr lang="en-US" dirty="0"/>
          </a:p>
        </p:txBody>
      </p:sp>
      <p:sp>
        <p:nvSpPr>
          <p:cNvPr id="5" name="TextBox 4">
            <a:extLst>
              <a:ext uri="{FF2B5EF4-FFF2-40B4-BE49-F238E27FC236}">
                <a16:creationId xmlns:a16="http://schemas.microsoft.com/office/drawing/2014/main" id="{B64A66BA-C9E2-167D-2EE4-B9408A76EB13}"/>
              </a:ext>
            </a:extLst>
          </p:cNvPr>
          <p:cNvSpPr txBox="1"/>
          <p:nvPr/>
        </p:nvSpPr>
        <p:spPr>
          <a:xfrm>
            <a:off x="5556658" y="1358781"/>
            <a:ext cx="5655229" cy="2462213"/>
          </a:xfrm>
          <a:prstGeom prst="rect">
            <a:avLst/>
          </a:prstGeom>
          <a:solidFill>
            <a:schemeClr val="bg1"/>
          </a:solidFill>
          <a:ln>
            <a:solidFill>
              <a:schemeClr val="accent5"/>
            </a:solidFill>
          </a:ln>
        </p:spPr>
        <p:txBody>
          <a:bodyPr wrap="square">
            <a:spAutoFit/>
          </a:bodyPr>
          <a:lstStyle/>
          <a:p>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quadratic_probing</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start_pos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col_count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start_pos</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col_count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start_pos</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hash_to_bucket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first_erased</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0</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found_erased</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false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col_count</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0</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while</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true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pos</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quadratic_probing</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start_pos</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col_count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switch</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pos</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case</a:t>
            </a:r>
            <a:r>
              <a:rPr lang="en-US" sz="1100" b="0" dirty="0">
                <a:solidFill>
                  <a:srgbClr val="D4D4D4"/>
                </a:solidFill>
                <a:effectLst/>
                <a:latin typeface="Monaspace Neon" pitchFamily="50" charset="0"/>
              </a:rPr>
              <a:t> ERASED:</a:t>
            </a:r>
          </a:p>
          <a:p>
            <a:r>
              <a:rPr lang="en-US" sz="1100" dirty="0">
                <a:solidFill>
                  <a:srgbClr val="D4D4D4"/>
                </a:solidFill>
                <a:latin typeface="Monaspace Neon" pitchFamily="50" charset="0"/>
              </a:rPr>
              <a:t>      //...	</a:t>
            </a:r>
            <a:endParaRPr lang="en-US" sz="1100" b="0" dirty="0">
              <a:solidFill>
                <a:srgbClr val="D4D4D4"/>
              </a:solidFill>
              <a:effectLst/>
              <a:latin typeface="Monaspace Neon" pitchFamily="50" charset="0"/>
            </a:endParaRPr>
          </a:p>
        </p:txBody>
      </p:sp>
      <p:sp>
        <p:nvSpPr>
          <p:cNvPr id="7" name="TextBox 6">
            <a:extLst>
              <a:ext uri="{FF2B5EF4-FFF2-40B4-BE49-F238E27FC236}">
                <a16:creationId xmlns:a16="http://schemas.microsoft.com/office/drawing/2014/main" id="{6BAB53EA-850E-ED97-8ADC-EF33F600BC2A}"/>
              </a:ext>
            </a:extLst>
          </p:cNvPr>
          <p:cNvSpPr txBox="1"/>
          <p:nvPr/>
        </p:nvSpPr>
        <p:spPr>
          <a:xfrm>
            <a:off x="5556658" y="3994038"/>
            <a:ext cx="4925386" cy="938719"/>
          </a:xfrm>
          <a:prstGeom prst="rect">
            <a:avLst/>
          </a:prstGeom>
          <a:solidFill>
            <a:schemeClr val="bg1"/>
          </a:solidFill>
          <a:ln>
            <a:solidFill>
              <a:schemeClr val="accent5"/>
            </a:solidFill>
          </a:ln>
        </p:spPr>
        <p:txBody>
          <a:bodyPr wrap="square">
            <a:spAutoFit/>
          </a:bodyPr>
          <a:lstStyle/>
          <a:p>
            <a:r>
              <a:rPr lang="en-US" sz="1100" b="0" dirty="0" err="1">
                <a:solidFill>
                  <a:srgbClr val="DCDCAA"/>
                </a:solidFill>
                <a:effectLst/>
                <a:latin typeface="Monaspace Neon" pitchFamily="50" charset="0"/>
              </a:rPr>
              <a:t>hash_set_oa_qp</a:t>
            </a:r>
            <a:r>
              <a:rPr lang="en-US" sz="1100" b="0" dirty="0">
                <a:solidFill>
                  <a:srgbClr val="D4D4D4"/>
                </a:solidFill>
                <a:effectLst/>
                <a:latin typeface="Monaspace Neon" pitchFamily="50" charset="0"/>
              </a:rPr>
              <a:t>() : </a:t>
            </a:r>
          </a:p>
          <a:p>
            <a:r>
              <a:rPr lang="en-US" sz="1100" dirty="0">
                <a:solidFill>
                  <a:srgbClr val="D4D4D4"/>
                </a:solidFill>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&gt;(</a:t>
            </a:r>
            <a:r>
              <a:rPr lang="en-US" sz="1100" b="0" dirty="0">
                <a:solidFill>
                  <a:srgbClr val="B5CEA8"/>
                </a:solidFill>
                <a:effectLst/>
                <a:latin typeface="Monaspace Neon" pitchFamily="50" charset="0"/>
              </a:rPr>
              <a:t>11</a:t>
            </a:r>
            <a:r>
              <a:rPr lang="en-US" sz="1100" b="0" dirty="0">
                <a:solidFill>
                  <a:srgbClr val="D4D4D4"/>
                </a:solidFill>
                <a:effectLst/>
                <a:latin typeface="Monaspace Neon" pitchFamily="50" charset="0"/>
              </a:rPr>
              <a:t>,{</a:t>
            </a:r>
            <a:r>
              <a:rPr lang="en-US" sz="1100" b="0" dirty="0" err="1">
                <a:solidFill>
                  <a:srgbClr val="D4D4D4"/>
                </a:solidFill>
                <a:effectLst/>
                <a:latin typeface="Monaspace Neon" pitchFamily="50" charset="0"/>
              </a:rPr>
              <a:t>EMPTY,</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p>
          <a:p>
            <a:r>
              <a:rPr lang="en-US" sz="1100" dirty="0">
                <a:solidFill>
                  <a:srgbClr val="D4D4D4"/>
                </a:solidFill>
                <a:latin typeface="Monaspace Neon" pitchFamily="50" charset="0"/>
              </a:rPr>
              <a:t> </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0</a:t>
            </a:r>
            <a:r>
              <a:rPr lang="en-US" sz="1100" b="0" dirty="0">
                <a:solidFill>
                  <a:srgbClr val="D4D4D4"/>
                </a:solidFill>
                <a:effectLst/>
                <a:latin typeface="Monaspace Neon" pitchFamily="50" charset="0"/>
              </a:rPr>
              <a:t>), </a:t>
            </a:r>
          </a:p>
          <a:p>
            <a:r>
              <a:rPr lang="en-US" sz="1100" dirty="0">
                <a:solidFill>
                  <a:srgbClr val="D4D4D4"/>
                </a:solidFill>
                <a:latin typeface="Monaspace Neon" pitchFamily="50" charset="0"/>
              </a:rPr>
              <a:t>  </a:t>
            </a:r>
            <a:r>
              <a:rPr lang="en-US" sz="1100" b="0" dirty="0" err="1">
                <a:solidFill>
                  <a:srgbClr val="9CDCFE"/>
                </a:solidFill>
                <a:effectLst/>
                <a:latin typeface="Monaspace Neon" pitchFamily="50" charset="0"/>
              </a:rPr>
              <a:t>mHasher</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HasherT</a:t>
            </a:r>
            <a:r>
              <a:rPr lang="en-US" sz="1100" b="0" dirty="0">
                <a:solidFill>
                  <a:srgbClr val="D4D4D4"/>
                </a:solidFill>
                <a:effectLst/>
                <a:latin typeface="Monaspace Neon" pitchFamily="50" charset="0"/>
              </a:rPr>
              <a:t>()), </a:t>
            </a:r>
          </a:p>
          <a:p>
            <a:r>
              <a:rPr lang="en-US" sz="1100" dirty="0">
                <a:solidFill>
                  <a:srgbClr val="D4D4D4"/>
                </a:solidFill>
                <a:latin typeface="Monaspace Neon" pitchFamily="50" charset="0"/>
              </a:rPr>
              <a:t>  </a:t>
            </a:r>
            <a:r>
              <a:rPr lang="en-US" sz="1100" b="0" dirty="0" err="1">
                <a:solidFill>
                  <a:srgbClr val="9CDCFE"/>
                </a:solidFill>
                <a:effectLst/>
                <a:latin typeface="Monaspace Neon" pitchFamily="50" charset="0"/>
              </a:rPr>
              <a:t>mMaxLoadFactor</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0.5</a:t>
            </a:r>
            <a:r>
              <a:rPr lang="en-US" sz="1100" b="0" dirty="0">
                <a:solidFill>
                  <a:srgbClr val="D4D4D4"/>
                </a:solidFill>
                <a:effectLst/>
                <a:latin typeface="Monaspace Neon" pitchFamily="50" charset="0"/>
              </a:rPr>
              <a:t>) { }</a:t>
            </a:r>
          </a:p>
        </p:txBody>
      </p:sp>
      <p:sp>
        <p:nvSpPr>
          <p:cNvPr id="9" name="TextBox 8">
            <a:extLst>
              <a:ext uri="{FF2B5EF4-FFF2-40B4-BE49-F238E27FC236}">
                <a16:creationId xmlns:a16="http://schemas.microsoft.com/office/drawing/2014/main" id="{188BDC1B-B800-700F-29D3-37317ACA1002}"/>
              </a:ext>
            </a:extLst>
          </p:cNvPr>
          <p:cNvSpPr txBox="1"/>
          <p:nvPr/>
        </p:nvSpPr>
        <p:spPr>
          <a:xfrm>
            <a:off x="5556658" y="5191080"/>
            <a:ext cx="6548656" cy="938719"/>
          </a:xfrm>
          <a:prstGeom prst="rect">
            <a:avLst/>
          </a:prstGeom>
          <a:solidFill>
            <a:schemeClr val="bg1"/>
          </a:solidFill>
          <a:ln>
            <a:solidFill>
              <a:schemeClr val="accent5"/>
            </a:solidFill>
          </a:ln>
        </p:spPr>
        <p:txBody>
          <a:bodyPr wrap="square">
            <a:spAutoFit/>
          </a:bodyPr>
          <a:lstStyle/>
          <a:p>
            <a:r>
              <a:rPr lang="en-US" sz="1100" b="0" dirty="0">
                <a:solidFill>
                  <a:srgbClr val="569CD6"/>
                </a:solidFill>
                <a:effectLst/>
                <a:latin typeface="Monaspace Neon" pitchFamily="50" charset="0"/>
              </a:rPr>
              <a:t>void</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rehash</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load_factor</a:t>
            </a:r>
            <a:r>
              <a:rPr lang="en-US" sz="1100" b="0" dirty="0">
                <a:solidFill>
                  <a:srgbClr val="D4D4D4"/>
                </a:solidFill>
                <a:effectLst/>
                <a:latin typeface="Monaspace Neon" pitchFamily="50" charset="0"/>
              </a:rPr>
              <a:t>() &lt; </a:t>
            </a:r>
            <a:r>
              <a:rPr lang="en-US" sz="1100" b="0" dirty="0" err="1">
                <a:solidFill>
                  <a:srgbClr val="DCDCAA"/>
                </a:solidFill>
                <a:effectLst/>
                <a:latin typeface="Monaspace Neon" pitchFamily="50" charset="0"/>
              </a:rPr>
              <a:t>max_load_factor</a:t>
            </a:r>
            <a:r>
              <a:rPr lang="en-US" sz="1100" b="0" dirty="0">
                <a:solidFill>
                  <a:srgbClr val="D4D4D4"/>
                </a:solidFill>
                <a:effectLst/>
                <a:latin typeface="Monaspace Neon" pitchFamily="50" charset="0"/>
              </a:rPr>
              <a:t>() &amp;&amp;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&lt;=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size</a:t>
            </a:r>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DCDCAA"/>
                </a:solidFill>
                <a:effectLst/>
                <a:latin typeface="Monaspace Neon" pitchFamily="50" charset="0"/>
              </a:rPr>
              <a:t>max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size</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2</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 </a:t>
            </a:r>
            <a:r>
              <a:rPr lang="en-US" sz="1100" b="0" dirty="0">
                <a:solidFill>
                  <a:srgbClr val="DCDCAA"/>
                </a:solidFill>
                <a:effectLst/>
                <a:latin typeface="Monaspace Neon" pitchFamily="50" charset="0"/>
              </a:rPr>
              <a:t>*</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err="1">
                <a:solidFill>
                  <a:srgbClr val="DCDCAA"/>
                </a:solidFill>
                <a:effectLst/>
                <a:latin typeface="Monaspace Neon" pitchFamily="50" charset="0"/>
              </a:rPr>
              <a:t>lower_bound</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PRIMES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PRIMES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a:t>
            </a:r>
          </a:p>
          <a:p>
            <a:r>
              <a:rPr lang="en-US" sz="1100" dirty="0">
                <a:solidFill>
                  <a:srgbClr val="D4D4D4"/>
                </a:solidFill>
                <a:latin typeface="Monaspace Neon" pitchFamily="50" charset="0"/>
              </a:rPr>
              <a:t>  //...</a:t>
            </a:r>
            <a:endParaRPr lang="en-US" sz="1100" b="0" dirty="0">
              <a:solidFill>
                <a:srgbClr val="D4D4D4"/>
              </a:solidFill>
              <a:effectLst/>
              <a:latin typeface="Monaspace Neon" pitchFamily="50" charset="0"/>
            </a:endParaRPr>
          </a:p>
        </p:txBody>
      </p:sp>
    </p:spTree>
    <p:extLst>
      <p:ext uri="{BB962C8B-B14F-4D97-AF65-F5344CB8AC3E}">
        <p14:creationId xmlns:p14="http://schemas.microsoft.com/office/powerpoint/2010/main" val="340945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F019B-EAEF-BA87-89EB-A4D236DCE39E}"/>
              </a:ext>
            </a:extLst>
          </p:cNvPr>
          <p:cNvSpPr>
            <a:spLocks noGrp="1"/>
          </p:cNvSpPr>
          <p:nvPr>
            <p:ph type="title"/>
          </p:nvPr>
        </p:nvSpPr>
        <p:spPr/>
        <p:txBody>
          <a:bodyPr/>
          <a:lstStyle/>
          <a:p>
            <a:r>
              <a:rPr lang="en-US" dirty="0"/>
              <a:t>Open Addressing v0.3 (QP)</a:t>
            </a:r>
          </a:p>
        </p:txBody>
      </p:sp>
      <p:sp>
        <p:nvSpPr>
          <p:cNvPr id="3" name="Content Placeholder 2">
            <a:extLst>
              <a:ext uri="{FF2B5EF4-FFF2-40B4-BE49-F238E27FC236}">
                <a16:creationId xmlns:a16="http://schemas.microsoft.com/office/drawing/2014/main" id="{165EF8BD-78CB-8F78-7E84-787BD97CEEB1}"/>
              </a:ext>
            </a:extLst>
          </p:cNvPr>
          <p:cNvSpPr>
            <a:spLocks noGrp="1"/>
          </p:cNvSpPr>
          <p:nvPr>
            <p:ph idx="1"/>
          </p:nvPr>
        </p:nvSpPr>
        <p:spPr>
          <a:xfrm>
            <a:off x="7315199" y="1358781"/>
            <a:ext cx="4358081" cy="5016382"/>
          </a:xfrm>
        </p:spPr>
        <p:txBody>
          <a:bodyPr>
            <a:normAutofit fontScale="77500" lnSpcReduction="20000"/>
          </a:bodyPr>
          <a:lstStyle/>
          <a:p>
            <a:r>
              <a:rPr lang="en-US" sz="2800" b="0" dirty="0">
                <a:solidFill>
                  <a:srgbClr val="9CDCFE"/>
                </a:solidFill>
                <a:effectLst/>
                <a:latin typeface="Monaspace Neon" pitchFamily="50" charset="0"/>
              </a:rPr>
              <a:t>PRIMES</a:t>
            </a:r>
            <a:r>
              <a:rPr lang="en-US" dirty="0"/>
              <a:t> is precomputed and each entry grows by approx. 10%</a:t>
            </a:r>
          </a:p>
          <a:p>
            <a:r>
              <a:rPr lang="en-US" dirty="0"/>
              <a:t>This is not the exhaustive list of primes</a:t>
            </a:r>
          </a:p>
          <a:p>
            <a:r>
              <a:rPr lang="en-US" dirty="0"/>
              <a:t>In hash function section, we will see that having a table size as prime is good. This rehash to the prime after the double size should also be used in the Separate Chaining strategy as well.</a:t>
            </a:r>
          </a:p>
        </p:txBody>
      </p:sp>
      <p:sp>
        <p:nvSpPr>
          <p:cNvPr id="5" name="TextBox 4">
            <a:extLst>
              <a:ext uri="{FF2B5EF4-FFF2-40B4-BE49-F238E27FC236}">
                <a16:creationId xmlns:a16="http://schemas.microsoft.com/office/drawing/2014/main" id="{0A9BD749-8380-BEE3-CC18-B31FC82119F0}"/>
              </a:ext>
            </a:extLst>
          </p:cNvPr>
          <p:cNvSpPr txBox="1"/>
          <p:nvPr/>
        </p:nvSpPr>
        <p:spPr>
          <a:xfrm>
            <a:off x="838200" y="1358781"/>
            <a:ext cx="4761451" cy="938719"/>
          </a:xfrm>
          <a:prstGeom prst="rect">
            <a:avLst/>
          </a:prstGeom>
          <a:solidFill>
            <a:schemeClr val="bg1"/>
          </a:solidFill>
          <a:ln>
            <a:solidFill>
              <a:schemeClr val="accent5"/>
            </a:solidFill>
          </a:ln>
        </p:spPr>
        <p:txBody>
          <a:bodyPr wrap="square">
            <a:spAutoFit/>
          </a:bodyPr>
          <a:lstStyle/>
          <a:p>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hash_set_oa_qp</a:t>
            </a:r>
            <a:r>
              <a:rPr lang="en-US" sz="1100" b="0" dirty="0">
                <a:solidFill>
                  <a:srgbClr val="D4D4D4"/>
                </a:solidFill>
                <a:effectLst/>
                <a:latin typeface="Monaspace Neon" pitchFamily="50" charset="0"/>
              </a:rPr>
              <a:t> {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protected:</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static</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const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a:solidFill>
                  <a:srgbClr val="569CD6"/>
                </a:solidFill>
                <a:effectLst/>
                <a:latin typeface="Monaspace Neon" pitchFamily="50" charset="0"/>
              </a:rPr>
              <a:t>unsigned</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long</a:t>
            </a:r>
            <a:r>
              <a:rPr lang="en-US" sz="1100" b="0" dirty="0">
                <a:solidFill>
                  <a:srgbClr val="D4D4D4"/>
                </a:solidFill>
                <a:effectLst/>
                <a:latin typeface="Monaspace Neon" pitchFamily="50" charset="0"/>
              </a:rPr>
              <a:t>&gt; </a:t>
            </a:r>
            <a:r>
              <a:rPr lang="en-US" sz="1100" b="0" dirty="0">
                <a:solidFill>
                  <a:srgbClr val="9CDCFE"/>
                </a:solidFill>
                <a:effectLst/>
                <a:latin typeface="Monaspace Neon" pitchFamily="50" charset="0"/>
              </a:rPr>
              <a:t>PRIMES</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endParaRPr lang="en-US" sz="1100" b="0" dirty="0">
              <a:solidFill>
                <a:srgbClr val="D4D4D4"/>
              </a:solidFill>
              <a:effectLst/>
              <a:latin typeface="Monaspace Neon" pitchFamily="50" charset="0"/>
            </a:endParaRPr>
          </a:p>
        </p:txBody>
      </p:sp>
      <p:sp>
        <p:nvSpPr>
          <p:cNvPr id="7" name="TextBox 6">
            <a:extLst>
              <a:ext uri="{FF2B5EF4-FFF2-40B4-BE49-F238E27FC236}">
                <a16:creationId xmlns:a16="http://schemas.microsoft.com/office/drawing/2014/main" id="{E111C096-62A5-B277-16EE-5A11DDD85799}"/>
              </a:ext>
            </a:extLst>
          </p:cNvPr>
          <p:cNvSpPr txBox="1"/>
          <p:nvPr/>
        </p:nvSpPr>
        <p:spPr>
          <a:xfrm>
            <a:off x="838199" y="2818875"/>
            <a:ext cx="6267275" cy="2462213"/>
          </a:xfrm>
          <a:prstGeom prst="rect">
            <a:avLst/>
          </a:prstGeom>
          <a:solidFill>
            <a:schemeClr val="bg1"/>
          </a:solidFill>
          <a:ln>
            <a:solidFill>
              <a:schemeClr val="accent5"/>
            </a:solidFill>
          </a:ln>
        </p:spPr>
        <p:txBody>
          <a:bodyPr wrap="square">
            <a:spAutoFit/>
          </a:bodyPr>
          <a:lstStyle/>
          <a:p>
            <a:r>
              <a:rPr lang="pl-PL" sz="1100" b="0" dirty="0">
                <a:solidFill>
                  <a:srgbClr val="569CD6"/>
                </a:solidFill>
                <a:effectLst/>
                <a:latin typeface="Monaspace Neon" pitchFamily="50" charset="0"/>
              </a:rPr>
              <a:t>template</a:t>
            </a:r>
            <a:r>
              <a:rPr lang="pl-PL" sz="1100" b="0" dirty="0">
                <a:solidFill>
                  <a:srgbClr val="D4D4D4"/>
                </a:solidFill>
                <a:effectLst/>
                <a:latin typeface="Monaspace Neon" pitchFamily="50" charset="0"/>
              </a:rPr>
              <a:t> &lt;</a:t>
            </a:r>
            <a:r>
              <a:rPr lang="pl-PL" sz="1100" b="0" dirty="0">
                <a:solidFill>
                  <a:srgbClr val="569CD6"/>
                </a:solidFill>
                <a:effectLst/>
                <a:latin typeface="Monaspace Neon" pitchFamily="50" charset="0"/>
              </a:rPr>
              <a:t>typename</a:t>
            </a:r>
            <a:r>
              <a:rPr lang="pl-PL" sz="1100" b="0" dirty="0">
                <a:solidFill>
                  <a:srgbClr val="D4D4D4"/>
                </a:solidFill>
                <a:effectLst/>
                <a:latin typeface="Monaspace Neon" pitchFamily="50" charset="0"/>
              </a:rPr>
              <a:t> </a:t>
            </a:r>
            <a:r>
              <a:rPr lang="pl-PL" sz="1100" b="0" dirty="0">
                <a:solidFill>
                  <a:srgbClr val="4EC9B0"/>
                </a:solidFill>
                <a:effectLst/>
                <a:latin typeface="Monaspace Neon" pitchFamily="50" charset="0"/>
              </a:rPr>
              <a:t>KeyT</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569CD6"/>
                </a:solidFill>
                <a:effectLst/>
                <a:latin typeface="Monaspace Neon" pitchFamily="50" charset="0"/>
              </a:rPr>
              <a:t>typename</a:t>
            </a:r>
            <a:r>
              <a:rPr lang="pl-PL" sz="1100" b="0" dirty="0">
                <a:solidFill>
                  <a:srgbClr val="D4D4D4"/>
                </a:solidFill>
                <a:effectLst/>
                <a:latin typeface="Monaspace Neon" pitchFamily="50" charset="0"/>
              </a:rPr>
              <a:t> </a:t>
            </a:r>
            <a:r>
              <a:rPr lang="pl-PL" sz="1100" b="0" dirty="0">
                <a:solidFill>
                  <a:srgbClr val="4EC9B0"/>
                </a:solidFill>
                <a:effectLst/>
                <a:latin typeface="Monaspace Neon" pitchFamily="50" charset="0"/>
              </a:rPr>
              <a:t>HasherT</a:t>
            </a:r>
            <a:r>
              <a:rPr lang="pl-PL" sz="1100" b="0" dirty="0">
                <a:solidFill>
                  <a:srgbClr val="D4D4D4"/>
                </a:solidFill>
                <a:effectLst/>
                <a:latin typeface="Monaspace Neon" pitchFamily="50" charset="0"/>
              </a:rPr>
              <a:t>&gt;</a:t>
            </a:r>
          </a:p>
          <a:p>
            <a:r>
              <a:rPr lang="pl-PL" sz="1100" b="0" dirty="0">
                <a:solidFill>
                  <a:srgbClr val="569CD6"/>
                </a:solidFill>
                <a:effectLst/>
                <a:latin typeface="Monaspace Neon" pitchFamily="50" charset="0"/>
              </a:rPr>
              <a:t>const</a:t>
            </a:r>
            <a:r>
              <a:rPr lang="pl-PL" sz="1100" b="0" dirty="0">
                <a:solidFill>
                  <a:srgbClr val="D4D4D4"/>
                </a:solidFill>
                <a:effectLst/>
                <a:latin typeface="Monaspace Neon" pitchFamily="50" charset="0"/>
              </a:rPr>
              <a:t> </a:t>
            </a:r>
            <a:r>
              <a:rPr lang="pl-PL" sz="1100" b="0" dirty="0">
                <a:solidFill>
                  <a:srgbClr val="4EC9B0"/>
                </a:solidFill>
                <a:effectLst/>
                <a:latin typeface="Monaspace Neon" pitchFamily="50" charset="0"/>
              </a:rPr>
              <a:t>std</a:t>
            </a:r>
            <a:r>
              <a:rPr lang="pl-PL" sz="1100" b="0" dirty="0">
                <a:solidFill>
                  <a:srgbClr val="D4D4D4"/>
                </a:solidFill>
                <a:effectLst/>
                <a:latin typeface="Monaspace Neon" pitchFamily="50" charset="0"/>
              </a:rPr>
              <a:t>::</a:t>
            </a:r>
            <a:r>
              <a:rPr lang="pl-PL" sz="1100" b="0" dirty="0">
                <a:solidFill>
                  <a:srgbClr val="4EC9B0"/>
                </a:solidFill>
                <a:effectLst/>
                <a:latin typeface="Monaspace Neon" pitchFamily="50" charset="0"/>
              </a:rPr>
              <a:t>vector</a:t>
            </a:r>
            <a:r>
              <a:rPr lang="pl-PL" sz="1100" b="0" dirty="0">
                <a:solidFill>
                  <a:srgbClr val="D4D4D4"/>
                </a:solidFill>
                <a:effectLst/>
                <a:latin typeface="Monaspace Neon" pitchFamily="50" charset="0"/>
              </a:rPr>
              <a:t>&lt;</a:t>
            </a:r>
            <a:r>
              <a:rPr lang="pl-PL" sz="1100" b="0" dirty="0">
                <a:solidFill>
                  <a:srgbClr val="569CD6"/>
                </a:solidFill>
                <a:effectLst/>
                <a:latin typeface="Monaspace Neon" pitchFamily="50" charset="0"/>
              </a:rPr>
              <a:t>unsigned</a:t>
            </a:r>
            <a:r>
              <a:rPr lang="pl-PL" sz="1100" b="0" dirty="0">
                <a:solidFill>
                  <a:srgbClr val="D4D4D4"/>
                </a:solidFill>
                <a:effectLst/>
                <a:latin typeface="Monaspace Neon" pitchFamily="50" charset="0"/>
              </a:rPr>
              <a:t> </a:t>
            </a:r>
            <a:r>
              <a:rPr lang="pl-PL" sz="1100" b="0" dirty="0">
                <a:solidFill>
                  <a:srgbClr val="569CD6"/>
                </a:solidFill>
                <a:effectLst/>
                <a:latin typeface="Monaspace Neon" pitchFamily="50" charset="0"/>
              </a:rPr>
              <a:t>long</a:t>
            </a:r>
            <a:r>
              <a:rPr lang="pl-PL" sz="1100" b="0" dirty="0">
                <a:solidFill>
                  <a:srgbClr val="D4D4D4"/>
                </a:solidFill>
                <a:effectLst/>
                <a:latin typeface="Monaspace Neon" pitchFamily="50" charset="0"/>
              </a:rPr>
              <a:t>&gt; </a:t>
            </a:r>
            <a:r>
              <a:rPr lang="pl-PL" sz="1100" b="0" dirty="0">
                <a:solidFill>
                  <a:srgbClr val="4EC9B0"/>
                </a:solidFill>
                <a:effectLst/>
                <a:latin typeface="Monaspace Neon" pitchFamily="50" charset="0"/>
              </a:rPr>
              <a:t>hash_set_oa_qp</a:t>
            </a:r>
            <a:r>
              <a:rPr lang="pl-PL" sz="1100" b="0" dirty="0">
                <a:solidFill>
                  <a:srgbClr val="D4D4D4"/>
                </a:solidFill>
                <a:effectLst/>
                <a:latin typeface="Monaspace Neon" pitchFamily="50" charset="0"/>
              </a:rPr>
              <a:t>&lt;</a:t>
            </a:r>
            <a:r>
              <a:rPr lang="pl-PL" sz="1100" b="0" dirty="0">
                <a:solidFill>
                  <a:srgbClr val="4EC9B0"/>
                </a:solidFill>
                <a:effectLst/>
                <a:latin typeface="Monaspace Neon" pitchFamily="50" charset="0"/>
              </a:rPr>
              <a:t>KeyT</a:t>
            </a:r>
            <a:r>
              <a:rPr lang="pl-PL" sz="1100" b="0" dirty="0">
                <a:solidFill>
                  <a:srgbClr val="D4D4D4"/>
                </a:solidFill>
                <a:effectLst/>
                <a:latin typeface="Monaspace Neon" pitchFamily="50" charset="0"/>
              </a:rPr>
              <a:t>,</a:t>
            </a:r>
            <a:r>
              <a:rPr lang="pl-PL" sz="1100" b="0" dirty="0">
                <a:solidFill>
                  <a:srgbClr val="4EC9B0"/>
                </a:solidFill>
                <a:effectLst/>
                <a:latin typeface="Monaspace Neon" pitchFamily="50" charset="0"/>
              </a:rPr>
              <a:t>HasherT</a:t>
            </a:r>
            <a:r>
              <a:rPr lang="pl-PL" sz="1100" b="0" dirty="0">
                <a:solidFill>
                  <a:srgbClr val="D4D4D4"/>
                </a:solidFill>
                <a:effectLst/>
                <a:latin typeface="Monaspace Neon" pitchFamily="50" charset="0"/>
              </a:rPr>
              <a:t>&gt;::</a:t>
            </a:r>
            <a:r>
              <a:rPr lang="pl-PL" sz="1100" b="0" dirty="0">
                <a:solidFill>
                  <a:srgbClr val="9CDCFE"/>
                </a:solidFill>
                <a:effectLst/>
                <a:latin typeface="Monaspace Neon" pitchFamily="50" charset="0"/>
              </a:rPr>
              <a:t>PRIMES</a:t>
            </a:r>
            <a:r>
              <a:rPr lang="pl-PL" sz="1100" b="0" dirty="0">
                <a:solidFill>
                  <a:srgbClr val="D4D4D4"/>
                </a:solidFill>
                <a:effectLst/>
                <a:latin typeface="Monaspace Neon" pitchFamily="50" charset="0"/>
              </a:rPr>
              <a:t> = {</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31ul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61ul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67ul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71ul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73ul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79ul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83ul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89ul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97ul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103ul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109ul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113ul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127ul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137ul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139ul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149ul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157ul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167ul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179ul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193ul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199ul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211ul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227ul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241ul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257ul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277ul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293ul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313ul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337ul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359ul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383ul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409ul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439ul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467ul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503ul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541ul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577ul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619ul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661ul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709ul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761ul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823ul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887ul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953ul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1031ul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1109ul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1193ul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1289ul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1381ul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1493ul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1613ul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1741ul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1879ul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2029ul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2179ul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2357ul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2549ul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2753ul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2971ul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3209ul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3469ul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3739ul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4027ul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4349ul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4703ul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5087ul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5503ul</a:t>
            </a:r>
            <a:r>
              <a:rPr lang="pl-PL" sz="1100" b="0" dirty="0">
                <a:solidFill>
                  <a:srgbClr val="D4D4D4"/>
                </a:solidFill>
                <a:effectLst/>
                <a:latin typeface="Monaspace Neon" pitchFamily="50" charset="0"/>
              </a:rPr>
              <a:t>,</a:t>
            </a:r>
          </a:p>
          <a:p>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5953ul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6427ul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6949ul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7517ul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8123ul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8783ul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9497ul</a:t>
            </a:r>
            <a:r>
              <a:rPr lang="pl-PL" sz="1100" b="0" dirty="0">
                <a:solidFill>
                  <a:srgbClr val="D4D4D4"/>
                </a:solidFill>
                <a:effectLst/>
                <a:latin typeface="Monaspace Neon" pitchFamily="50" charset="0"/>
              </a:rPr>
              <a:t>, </a:t>
            </a:r>
            <a:r>
              <a:rPr lang="pl-PL" sz="1100" b="0" dirty="0">
                <a:solidFill>
                  <a:srgbClr val="B5CEA8"/>
                </a:solidFill>
                <a:effectLst/>
                <a:latin typeface="Monaspace Neon" pitchFamily="50" charset="0"/>
              </a:rPr>
              <a:t>10273ul</a:t>
            </a:r>
            <a:r>
              <a:rPr lang="pl-PL" sz="1100" b="0" dirty="0">
                <a:solidFill>
                  <a:srgbClr val="D4D4D4"/>
                </a:solidFill>
                <a:effectLst/>
                <a:latin typeface="Monaspace Neon" pitchFamily="50" charset="0"/>
              </a:rPr>
              <a:t>,</a:t>
            </a:r>
          </a:p>
        </p:txBody>
      </p:sp>
    </p:spTree>
    <p:extLst>
      <p:ext uri="{BB962C8B-B14F-4D97-AF65-F5344CB8AC3E}">
        <p14:creationId xmlns:p14="http://schemas.microsoft.com/office/powerpoint/2010/main" val="4015118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FA76-D39E-4D89-9605-928778869C3A}"/>
              </a:ext>
            </a:extLst>
          </p:cNvPr>
          <p:cNvSpPr>
            <a:spLocks noGrp="1"/>
          </p:cNvSpPr>
          <p:nvPr>
            <p:ph type="title"/>
          </p:nvPr>
        </p:nvSpPr>
        <p:spPr/>
        <p:txBody>
          <a:bodyPr/>
          <a:lstStyle/>
          <a:p>
            <a:r>
              <a:rPr lang="en-US" dirty="0"/>
              <a:t>Double Hashing</a:t>
            </a:r>
          </a:p>
        </p:txBody>
      </p:sp>
      <p:sp>
        <p:nvSpPr>
          <p:cNvPr id="3" name="Content Placeholder 2">
            <a:extLst>
              <a:ext uri="{FF2B5EF4-FFF2-40B4-BE49-F238E27FC236}">
                <a16:creationId xmlns:a16="http://schemas.microsoft.com/office/drawing/2014/main" id="{4ADB0F58-AFF1-01A9-B770-A0891144155B}"/>
              </a:ext>
            </a:extLst>
          </p:cNvPr>
          <p:cNvSpPr>
            <a:spLocks noGrp="1"/>
          </p:cNvSpPr>
          <p:nvPr>
            <p:ph idx="1"/>
          </p:nvPr>
        </p:nvSpPr>
        <p:spPr/>
        <p:txBody>
          <a:bodyPr>
            <a:normAutofit fontScale="92500" lnSpcReduction="20000"/>
          </a:bodyPr>
          <a:lstStyle/>
          <a:p>
            <a:r>
              <a:rPr lang="en-US" dirty="0"/>
              <a:t>While </a:t>
            </a:r>
            <a:r>
              <a:rPr lang="en-US" dirty="0">
                <a:solidFill>
                  <a:schemeClr val="accent5"/>
                </a:solidFill>
              </a:rPr>
              <a:t>QP</a:t>
            </a:r>
            <a:r>
              <a:rPr lang="en-US" dirty="0"/>
              <a:t> help reduce effect of the </a:t>
            </a:r>
            <a:r>
              <a:rPr lang="en-US" dirty="0">
                <a:solidFill>
                  <a:schemeClr val="accent2"/>
                </a:solidFill>
              </a:rPr>
              <a:t>primary clustering problem</a:t>
            </a:r>
            <a:r>
              <a:rPr lang="en-US" dirty="0"/>
              <a:t>, QP still has another problem called the </a:t>
            </a:r>
            <a:r>
              <a:rPr lang="en-US" dirty="0">
                <a:solidFill>
                  <a:schemeClr val="accent6"/>
                </a:solidFill>
              </a:rPr>
              <a:t>secondary clustering problem</a:t>
            </a:r>
          </a:p>
          <a:p>
            <a:pPr lvl="1"/>
            <a:r>
              <a:rPr lang="en-US" dirty="0"/>
              <a:t>Data that has the same hash value still collide in the same sequence</a:t>
            </a:r>
            <a:endParaRPr lang="th-TH" dirty="0"/>
          </a:p>
          <a:p>
            <a:r>
              <a:rPr lang="en-US" dirty="0"/>
              <a:t>Fixed by making data jumps differently based on x</a:t>
            </a:r>
          </a:p>
          <a:p>
            <a:pPr lvl="1"/>
            <a:r>
              <a:rPr lang="en-US" dirty="0"/>
              <a:t>We need second hash function g(x)</a:t>
            </a:r>
          </a:p>
          <a:p>
            <a:r>
              <a:rPr lang="pt-BR" b="0" dirty="0">
                <a:solidFill>
                  <a:srgbClr val="DCDCAA"/>
                </a:solidFill>
                <a:effectLst/>
                <a:highlight>
                  <a:srgbClr val="000000"/>
                </a:highlight>
                <a:latin typeface="Monaspace Neon" pitchFamily="50" charset="0"/>
              </a:rPr>
              <a:t>P</a:t>
            </a:r>
            <a:r>
              <a:rPr lang="pt-BR" b="0" dirty="0">
                <a:solidFill>
                  <a:srgbClr val="D4D4D4"/>
                </a:solidFill>
                <a:effectLst/>
                <a:highlight>
                  <a:srgbClr val="000000"/>
                </a:highlight>
                <a:latin typeface="Monaspace Neon" pitchFamily="50" charset="0"/>
              </a:rPr>
              <a:t>(x, j) = (</a:t>
            </a:r>
            <a:r>
              <a:rPr lang="pt-BR" b="0" dirty="0">
                <a:solidFill>
                  <a:srgbClr val="DCDCAA"/>
                </a:solidFill>
                <a:effectLst/>
                <a:highlight>
                  <a:srgbClr val="000000"/>
                </a:highlight>
                <a:latin typeface="Monaspace Neon" pitchFamily="50" charset="0"/>
              </a:rPr>
              <a:t>h</a:t>
            </a:r>
            <a:r>
              <a:rPr lang="pt-BR" b="0" dirty="0">
                <a:solidFill>
                  <a:srgbClr val="D4D4D4"/>
                </a:solidFill>
                <a:effectLst/>
                <a:highlight>
                  <a:srgbClr val="000000"/>
                </a:highlight>
                <a:latin typeface="Monaspace Neon" pitchFamily="50" charset="0"/>
              </a:rPr>
              <a:t>(x) + j*g(x)) % </a:t>
            </a:r>
            <a:r>
              <a:rPr lang="pt-BR" b="0" dirty="0">
                <a:solidFill>
                  <a:srgbClr val="9CDCFE"/>
                </a:solidFill>
                <a:effectLst/>
                <a:highlight>
                  <a:srgbClr val="000000"/>
                </a:highlight>
                <a:latin typeface="Monaspace Neon" pitchFamily="50" charset="0"/>
              </a:rPr>
              <a:t>T</a:t>
            </a:r>
            <a:r>
              <a:rPr lang="pt-BR" b="0" dirty="0">
                <a:solidFill>
                  <a:srgbClr val="D4D4D4"/>
                </a:solidFill>
                <a:effectLst/>
                <a:highlight>
                  <a:srgbClr val="000000"/>
                </a:highlight>
                <a:latin typeface="Monaspace Neon" pitchFamily="50" charset="0"/>
              </a:rPr>
              <a:t>.</a:t>
            </a:r>
            <a:r>
              <a:rPr lang="pt-BR" b="0" dirty="0">
                <a:solidFill>
                  <a:srgbClr val="DCDCAA"/>
                </a:solidFill>
                <a:effectLst/>
                <a:highlight>
                  <a:srgbClr val="000000"/>
                </a:highlight>
                <a:latin typeface="Monaspace Neon" pitchFamily="50" charset="0"/>
              </a:rPr>
              <a:t>size</a:t>
            </a:r>
            <a:r>
              <a:rPr lang="pt-BR" b="0" dirty="0">
                <a:solidFill>
                  <a:srgbClr val="D4D4D4"/>
                </a:solidFill>
                <a:effectLst/>
                <a:highlight>
                  <a:srgbClr val="000000"/>
                </a:highlight>
                <a:latin typeface="Monaspace Neon" pitchFamily="50" charset="0"/>
              </a:rPr>
              <a:t>()</a:t>
            </a:r>
          </a:p>
          <a:p>
            <a:r>
              <a:rPr lang="pt-BR" dirty="0"/>
              <a:t>Requirement for g(x)</a:t>
            </a:r>
          </a:p>
          <a:p>
            <a:pPr lvl="1"/>
            <a:r>
              <a:rPr lang="en-US" b="0" dirty="0">
                <a:solidFill>
                  <a:srgbClr val="D4D4D4"/>
                </a:solidFill>
                <a:effectLst/>
                <a:highlight>
                  <a:srgbClr val="000000"/>
                </a:highlight>
                <a:latin typeface="Monaspace Neon" pitchFamily="50" charset="0"/>
              </a:rPr>
              <a:t>g(x) % m </a:t>
            </a:r>
            <a:r>
              <a:rPr lang="en-US" dirty="0">
                <a:solidFill>
                  <a:srgbClr val="D4D4D4"/>
                </a:solidFill>
                <a:highlight>
                  <a:srgbClr val="000000"/>
                </a:highlight>
                <a:latin typeface="Monaspace Neon" pitchFamily="50" charset="0"/>
              </a:rPr>
              <a:t>!= 0</a:t>
            </a:r>
            <a:r>
              <a:rPr lang="en-US" dirty="0"/>
              <a:t>  so that it does not keep probing the same spot as h(x)</a:t>
            </a:r>
          </a:p>
          <a:p>
            <a:pPr lvl="1"/>
            <a:r>
              <a:rPr lang="en-US" b="0" dirty="0">
                <a:solidFill>
                  <a:srgbClr val="D4D4D4"/>
                </a:solidFill>
                <a:effectLst/>
                <a:highlight>
                  <a:srgbClr val="000000"/>
                </a:highlight>
                <a:latin typeface="Monaspace Neon" pitchFamily="50" charset="0"/>
              </a:rPr>
              <a:t>GCD(g(x),</a:t>
            </a:r>
            <a:r>
              <a:rPr lang="en-US" dirty="0">
                <a:solidFill>
                  <a:srgbClr val="D4D4D4"/>
                </a:solidFill>
                <a:highlight>
                  <a:srgbClr val="000000"/>
                </a:highlight>
                <a:latin typeface="Monaspace Neon" pitchFamily="50" charset="0"/>
              </a:rPr>
              <a:t> m) = 1</a:t>
            </a:r>
            <a:r>
              <a:rPr lang="en-US" dirty="0"/>
              <a:t> so that it probes every buckets</a:t>
            </a:r>
          </a:p>
          <a:p>
            <a:pPr lvl="2"/>
            <a:r>
              <a:rPr lang="pt-BR" dirty="0"/>
              <a:t>Can be done by making m a prime</a:t>
            </a:r>
          </a:p>
          <a:p>
            <a:pPr lvl="1"/>
            <a:endParaRPr lang="pt-BR" dirty="0"/>
          </a:p>
          <a:p>
            <a:endParaRPr lang="en-US" dirty="0"/>
          </a:p>
          <a:p>
            <a:endParaRPr lang="en-US" dirty="0"/>
          </a:p>
        </p:txBody>
      </p:sp>
    </p:spTree>
    <p:extLst>
      <p:ext uri="{BB962C8B-B14F-4D97-AF65-F5344CB8AC3E}">
        <p14:creationId xmlns:p14="http://schemas.microsoft.com/office/powerpoint/2010/main" val="27467533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8721F-B471-2B08-4417-ADF04483DE3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755CB9F-A82A-2612-CF1E-03553123640F}"/>
              </a:ext>
            </a:extLst>
          </p:cNvPr>
          <p:cNvSpPr>
            <a:spLocks noGrp="1"/>
          </p:cNvSpPr>
          <p:nvPr>
            <p:ph idx="1"/>
          </p:nvPr>
        </p:nvSpPr>
        <p:spPr/>
        <p:txBody>
          <a:bodyPr/>
          <a:lstStyle/>
          <a:p>
            <a:r>
              <a:rPr lang="en-US" dirty="0"/>
              <a:t>One good example of </a:t>
            </a:r>
            <a:r>
              <a:rPr lang="en-US" dirty="0">
                <a:solidFill>
                  <a:schemeClr val="accent4"/>
                </a:solidFill>
              </a:rPr>
              <a:t>g(x)</a:t>
            </a:r>
            <a:r>
              <a:rPr lang="en-US" dirty="0"/>
              <a:t> is </a:t>
            </a:r>
            <a:r>
              <a:rPr lang="pt-BR" b="0" dirty="0">
                <a:solidFill>
                  <a:srgbClr val="DCDCAA"/>
                </a:solidFill>
                <a:effectLst/>
                <a:highlight>
                  <a:srgbClr val="000000"/>
                </a:highlight>
                <a:latin typeface="Monaspace Neon" pitchFamily="50" charset="0"/>
              </a:rPr>
              <a:t>g</a:t>
            </a:r>
            <a:r>
              <a:rPr lang="pt-BR" b="0" dirty="0">
                <a:solidFill>
                  <a:srgbClr val="D4D4D4"/>
                </a:solidFill>
                <a:effectLst/>
                <a:highlight>
                  <a:srgbClr val="000000"/>
                </a:highlight>
                <a:latin typeface="Monaspace Neon" pitchFamily="50" charset="0"/>
              </a:rPr>
              <a:t>(x) = R – (x % R)</a:t>
            </a:r>
            <a:r>
              <a:rPr lang="pt-BR" dirty="0"/>
              <a:t> </a:t>
            </a:r>
            <a:r>
              <a:rPr lang="en-US" dirty="0"/>
              <a:t>where R is a prime number less than M</a:t>
            </a:r>
          </a:p>
          <a:p>
            <a:r>
              <a:rPr lang="en-US" dirty="0"/>
              <a:t>Example, adding x and y where </a:t>
            </a:r>
            <a:r>
              <a:rPr lang="en-US" dirty="0">
                <a:solidFill>
                  <a:schemeClr val="accent4"/>
                </a:solidFill>
              </a:rPr>
              <a:t>h(x) == h(y)</a:t>
            </a:r>
          </a:p>
          <a:p>
            <a:r>
              <a:rPr lang="en-US" dirty="0"/>
              <a:t>Assume that M is 7 and R is 5 and </a:t>
            </a:r>
            <a:r>
              <a:rPr lang="en-US" dirty="0">
                <a:solidFill>
                  <a:schemeClr val="accent4"/>
                </a:solidFill>
              </a:rPr>
              <a:t>h(x) = g</a:t>
            </a:r>
          </a:p>
          <a:p>
            <a:pPr lvl="1"/>
            <a:r>
              <a:rPr lang="en-US" dirty="0"/>
              <a:t>g(x) = 5</a:t>
            </a:r>
          </a:p>
          <a:p>
            <a:pPr lvl="1"/>
            <a:r>
              <a:rPr lang="en-US" dirty="0"/>
              <a:t>g(y) = 2</a:t>
            </a:r>
          </a:p>
          <a:p>
            <a:pPr lvl="1"/>
            <a:endParaRPr lang="en-US" dirty="0"/>
          </a:p>
        </p:txBody>
      </p:sp>
      <p:graphicFrame>
        <p:nvGraphicFramePr>
          <p:cNvPr id="4" name="Table 3">
            <a:extLst>
              <a:ext uri="{FF2B5EF4-FFF2-40B4-BE49-F238E27FC236}">
                <a16:creationId xmlns:a16="http://schemas.microsoft.com/office/drawing/2014/main" id="{74C36AA3-3761-903F-D6D7-36B507E5398A}"/>
              </a:ext>
            </a:extLst>
          </p:cNvPr>
          <p:cNvGraphicFramePr>
            <a:graphicFrameLocks noGrp="1"/>
          </p:cNvGraphicFramePr>
          <p:nvPr>
            <p:extLst>
              <p:ext uri="{D42A27DB-BD31-4B8C-83A1-F6EECF244321}">
                <p14:modId xmlns:p14="http://schemas.microsoft.com/office/powerpoint/2010/main" val="561790276"/>
              </p:ext>
            </p:extLst>
          </p:nvPr>
        </p:nvGraphicFramePr>
        <p:xfrm>
          <a:off x="3494942" y="4065495"/>
          <a:ext cx="2875085" cy="2734644"/>
        </p:xfrm>
        <a:graphic>
          <a:graphicData uri="http://schemas.openxmlformats.org/drawingml/2006/table">
            <a:tbl>
              <a:tblPr firstRow="1" bandRow="1">
                <a:tableStyleId>{F5AB1C69-6EDB-4FF4-983F-18BD219EF322}</a:tableStyleId>
              </a:tblPr>
              <a:tblGrid>
                <a:gridCol w="928683">
                  <a:extLst>
                    <a:ext uri="{9D8B030D-6E8A-4147-A177-3AD203B41FA5}">
                      <a16:colId xmlns:a16="http://schemas.microsoft.com/office/drawing/2014/main" val="1995123705"/>
                    </a:ext>
                  </a:extLst>
                </a:gridCol>
                <a:gridCol w="899920">
                  <a:extLst>
                    <a:ext uri="{9D8B030D-6E8A-4147-A177-3AD203B41FA5}">
                      <a16:colId xmlns:a16="http://schemas.microsoft.com/office/drawing/2014/main" val="4237785504"/>
                    </a:ext>
                  </a:extLst>
                </a:gridCol>
                <a:gridCol w="1046482">
                  <a:extLst>
                    <a:ext uri="{9D8B030D-6E8A-4147-A177-3AD203B41FA5}">
                      <a16:colId xmlns:a16="http://schemas.microsoft.com/office/drawing/2014/main" val="3022794119"/>
                    </a:ext>
                  </a:extLst>
                </a:gridCol>
              </a:tblGrid>
              <a:tr h="369414">
                <a:tc>
                  <a:txBody>
                    <a:bodyPr/>
                    <a:lstStyle/>
                    <a:p>
                      <a:r>
                        <a:rPr lang="en-US" sz="1400" dirty="0">
                          <a:solidFill>
                            <a:schemeClr val="bg2"/>
                          </a:solidFill>
                        </a:rPr>
                        <a:t>Collision count</a:t>
                      </a:r>
                    </a:p>
                  </a:txBody>
                  <a:tcPr/>
                </a:tc>
                <a:tc>
                  <a:txBody>
                    <a:bodyPr/>
                    <a:lstStyle/>
                    <a:p>
                      <a:r>
                        <a:rPr lang="en-US" sz="1400" dirty="0">
                          <a:solidFill>
                            <a:schemeClr val="bg2"/>
                          </a:solidFill>
                        </a:rPr>
                        <a:t>P(x, j)</a:t>
                      </a:r>
                      <a:endParaRPr lang="en-US" sz="1400" baseline="30000" dirty="0">
                        <a:solidFill>
                          <a:schemeClr val="bg2"/>
                        </a:solidFill>
                      </a:endParaRPr>
                    </a:p>
                  </a:txBody>
                  <a:tcPr/>
                </a:tc>
                <a:tc>
                  <a:txBody>
                    <a:bodyPr/>
                    <a:lstStyle/>
                    <a:p>
                      <a:r>
                        <a:rPr lang="en-US" sz="1400" dirty="0">
                          <a:solidFill>
                            <a:schemeClr val="bg2"/>
                          </a:solidFill>
                        </a:rPr>
                        <a:t>P(y, j)</a:t>
                      </a:r>
                      <a:endParaRPr lang="en-US" sz="1400" baseline="30000" dirty="0">
                        <a:solidFill>
                          <a:schemeClr val="bg2"/>
                        </a:solidFill>
                      </a:endParaRPr>
                    </a:p>
                  </a:txBody>
                  <a:tcPr/>
                </a:tc>
                <a:extLst>
                  <a:ext uri="{0D108BD9-81ED-4DB2-BD59-A6C34878D82A}">
                    <a16:rowId xmlns:a16="http://schemas.microsoft.com/office/drawing/2014/main" val="1762830147"/>
                  </a:ext>
                </a:extLst>
              </a:tr>
              <a:tr h="369414">
                <a:tc>
                  <a:txBody>
                    <a:bodyPr/>
                    <a:lstStyle/>
                    <a:p>
                      <a:r>
                        <a:rPr lang="en-US" sz="1400" dirty="0"/>
                        <a:t>0</a:t>
                      </a:r>
                    </a:p>
                  </a:txBody>
                  <a:tcPr/>
                </a:tc>
                <a:tc>
                  <a:txBody>
                    <a:bodyPr/>
                    <a:lstStyle/>
                    <a:p>
                      <a:r>
                        <a:rPr lang="en-US" sz="1400" dirty="0"/>
                        <a:t>h(x)</a:t>
                      </a:r>
                    </a:p>
                  </a:txBody>
                  <a:tcPr/>
                </a:tc>
                <a:tc>
                  <a:txBody>
                    <a:bodyPr/>
                    <a:lstStyle/>
                    <a:p>
                      <a:r>
                        <a:rPr lang="en-US" sz="1400" dirty="0"/>
                        <a:t>h(y) == h(x)</a:t>
                      </a:r>
                    </a:p>
                  </a:txBody>
                  <a:tcPr/>
                </a:tc>
                <a:extLst>
                  <a:ext uri="{0D108BD9-81ED-4DB2-BD59-A6C34878D82A}">
                    <a16:rowId xmlns:a16="http://schemas.microsoft.com/office/drawing/2014/main" val="138775649"/>
                  </a:ext>
                </a:extLst>
              </a:tr>
              <a:tr h="369414">
                <a:tc>
                  <a:txBody>
                    <a:bodyPr/>
                    <a:lstStyle/>
                    <a:p>
                      <a:r>
                        <a:rPr lang="en-US" sz="1400" dirty="0"/>
                        <a:t>1</a:t>
                      </a:r>
                    </a:p>
                  </a:txBody>
                  <a:tcPr/>
                </a:tc>
                <a:tc>
                  <a:txBody>
                    <a:bodyPr/>
                    <a:lstStyle/>
                    <a:p>
                      <a:r>
                        <a:rPr lang="en-US" sz="1400" dirty="0"/>
                        <a:t>h(x) + 5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h(x) + 2</a:t>
                      </a:r>
                    </a:p>
                  </a:txBody>
                  <a:tcPr/>
                </a:tc>
                <a:extLst>
                  <a:ext uri="{0D108BD9-81ED-4DB2-BD59-A6C34878D82A}">
                    <a16:rowId xmlns:a16="http://schemas.microsoft.com/office/drawing/2014/main" val="2247005310"/>
                  </a:ext>
                </a:extLst>
              </a:tr>
              <a:tr h="369414">
                <a:tc>
                  <a:txBody>
                    <a:bodyPr/>
                    <a:lstStyle/>
                    <a:p>
                      <a:r>
                        <a:rPr lang="en-US" sz="1400" dirty="0"/>
                        <a:t>2</a:t>
                      </a:r>
                    </a:p>
                  </a:txBody>
                  <a:tcPr/>
                </a:tc>
                <a:tc>
                  <a:txBody>
                    <a:bodyPr/>
                    <a:lstStyle/>
                    <a:p>
                      <a:r>
                        <a:rPr lang="en-US" sz="1400" dirty="0"/>
                        <a:t>h(x) + 10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h(x) + 4</a:t>
                      </a:r>
                    </a:p>
                  </a:txBody>
                  <a:tcPr/>
                </a:tc>
                <a:extLst>
                  <a:ext uri="{0D108BD9-81ED-4DB2-BD59-A6C34878D82A}">
                    <a16:rowId xmlns:a16="http://schemas.microsoft.com/office/drawing/2014/main" val="1565925050"/>
                  </a:ext>
                </a:extLst>
              </a:tr>
              <a:tr h="369414">
                <a:tc>
                  <a:txBody>
                    <a:bodyPr/>
                    <a:lstStyle/>
                    <a:p>
                      <a:r>
                        <a:rPr lang="en-US" sz="1400" dirty="0"/>
                        <a:t>3</a:t>
                      </a:r>
                    </a:p>
                  </a:txBody>
                  <a:tcPr/>
                </a:tc>
                <a:tc>
                  <a:txBody>
                    <a:bodyPr/>
                    <a:lstStyle/>
                    <a:p>
                      <a:r>
                        <a:rPr lang="en-US" sz="1400" dirty="0"/>
                        <a:t>h(x) + 15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h(x) + 6</a:t>
                      </a:r>
                    </a:p>
                  </a:txBody>
                  <a:tcPr/>
                </a:tc>
                <a:extLst>
                  <a:ext uri="{0D108BD9-81ED-4DB2-BD59-A6C34878D82A}">
                    <a16:rowId xmlns:a16="http://schemas.microsoft.com/office/drawing/2014/main" val="583089482"/>
                  </a:ext>
                </a:extLst>
              </a:tr>
              <a:tr h="369414">
                <a:tc>
                  <a:txBody>
                    <a:bodyPr/>
                    <a:lstStyle/>
                    <a:p>
                      <a:r>
                        <a:rPr lang="en-US" sz="1400" dirty="0"/>
                        <a:t>4</a:t>
                      </a:r>
                    </a:p>
                  </a:txBody>
                  <a:tcPr/>
                </a:tc>
                <a:tc>
                  <a:txBody>
                    <a:bodyPr/>
                    <a:lstStyle/>
                    <a:p>
                      <a:r>
                        <a:rPr lang="en-US" sz="1400" dirty="0"/>
                        <a:t>h(x) + 20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h(x) + 8</a:t>
                      </a:r>
                    </a:p>
                  </a:txBody>
                  <a:tcPr/>
                </a:tc>
                <a:extLst>
                  <a:ext uri="{0D108BD9-81ED-4DB2-BD59-A6C34878D82A}">
                    <a16:rowId xmlns:a16="http://schemas.microsoft.com/office/drawing/2014/main" val="1283050013"/>
                  </a:ext>
                </a:extLst>
              </a:tr>
              <a:tr h="369414">
                <a:tc>
                  <a:txBody>
                    <a:bodyPr/>
                    <a:lstStyle/>
                    <a:p>
                      <a:r>
                        <a:rPr lang="en-US" sz="1400" dirty="0"/>
                        <a:t>5</a:t>
                      </a:r>
                    </a:p>
                  </a:txBody>
                  <a:tcPr/>
                </a:tc>
                <a:tc>
                  <a:txBody>
                    <a:bodyPr/>
                    <a:lstStyle/>
                    <a:p>
                      <a:r>
                        <a:rPr lang="en-US" sz="1400" dirty="0"/>
                        <a:t>h(x) + 25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h(x) + 10</a:t>
                      </a:r>
                    </a:p>
                  </a:txBody>
                  <a:tcPr/>
                </a:tc>
                <a:extLst>
                  <a:ext uri="{0D108BD9-81ED-4DB2-BD59-A6C34878D82A}">
                    <a16:rowId xmlns:a16="http://schemas.microsoft.com/office/drawing/2014/main" val="3601954916"/>
                  </a:ext>
                </a:extLst>
              </a:tr>
            </a:tbl>
          </a:graphicData>
        </a:graphic>
      </p:graphicFrame>
    </p:spTree>
    <p:extLst>
      <p:ext uri="{BB962C8B-B14F-4D97-AF65-F5344CB8AC3E}">
        <p14:creationId xmlns:p14="http://schemas.microsoft.com/office/powerpoint/2010/main" val="1280395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D1479-AABA-9B27-5246-2C84494FFE33}"/>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C3FFCDEF-DEB9-5F56-B33F-036A22AAC2D9}"/>
              </a:ext>
            </a:extLst>
          </p:cNvPr>
          <p:cNvSpPr>
            <a:spLocks noGrp="1"/>
          </p:cNvSpPr>
          <p:nvPr>
            <p:ph idx="1"/>
          </p:nvPr>
        </p:nvSpPr>
        <p:spPr/>
        <p:txBody>
          <a:bodyPr>
            <a:normAutofit fontScale="92500" lnSpcReduction="10000"/>
          </a:bodyPr>
          <a:lstStyle/>
          <a:p>
            <a:r>
              <a:rPr lang="en-US" dirty="0"/>
              <a:t>Linear Probing (</a:t>
            </a:r>
            <a:r>
              <a:rPr lang="en-US" dirty="0">
                <a:solidFill>
                  <a:schemeClr val="accent5"/>
                </a:solidFill>
              </a:rPr>
              <a:t>LP</a:t>
            </a:r>
            <a:r>
              <a:rPr lang="en-US" dirty="0"/>
              <a:t>)</a:t>
            </a:r>
          </a:p>
          <a:p>
            <a:pPr lvl="1"/>
            <a:r>
              <a:rPr lang="pt-BR" b="0" dirty="0">
                <a:solidFill>
                  <a:srgbClr val="DCDCAA"/>
                </a:solidFill>
                <a:effectLst/>
                <a:highlight>
                  <a:srgbClr val="000000"/>
                </a:highlight>
                <a:latin typeface="Monaspace Neon" pitchFamily="50" charset="0"/>
              </a:rPr>
              <a:t>P</a:t>
            </a:r>
            <a:r>
              <a:rPr lang="pt-BR" b="0" dirty="0">
                <a:solidFill>
                  <a:srgbClr val="D4D4D4"/>
                </a:solidFill>
                <a:effectLst/>
                <a:highlight>
                  <a:srgbClr val="000000"/>
                </a:highlight>
                <a:latin typeface="Monaspace Neon" pitchFamily="50" charset="0"/>
              </a:rPr>
              <a:t>(x, j) = (</a:t>
            </a:r>
            <a:r>
              <a:rPr lang="pt-BR" b="0" dirty="0">
                <a:solidFill>
                  <a:srgbClr val="DCDCAA"/>
                </a:solidFill>
                <a:effectLst/>
                <a:highlight>
                  <a:srgbClr val="000000"/>
                </a:highlight>
                <a:latin typeface="Monaspace Neon" pitchFamily="50" charset="0"/>
              </a:rPr>
              <a:t>h</a:t>
            </a:r>
            <a:r>
              <a:rPr lang="pt-BR" b="0" dirty="0">
                <a:solidFill>
                  <a:srgbClr val="D4D4D4"/>
                </a:solidFill>
                <a:effectLst/>
                <a:highlight>
                  <a:srgbClr val="000000"/>
                </a:highlight>
                <a:latin typeface="Monaspace Neon" pitchFamily="50" charset="0"/>
              </a:rPr>
              <a:t>(x) + j) % </a:t>
            </a:r>
            <a:r>
              <a:rPr lang="pt-BR" b="0" dirty="0">
                <a:solidFill>
                  <a:srgbClr val="9CDCFE"/>
                </a:solidFill>
                <a:effectLst/>
                <a:highlight>
                  <a:srgbClr val="000000"/>
                </a:highlight>
                <a:latin typeface="Monaspace Neon" pitchFamily="50" charset="0"/>
              </a:rPr>
              <a:t>T</a:t>
            </a:r>
            <a:r>
              <a:rPr lang="pt-BR" b="0" dirty="0">
                <a:solidFill>
                  <a:srgbClr val="D4D4D4"/>
                </a:solidFill>
                <a:effectLst/>
                <a:highlight>
                  <a:srgbClr val="000000"/>
                </a:highlight>
                <a:latin typeface="Monaspace Neon" pitchFamily="50" charset="0"/>
              </a:rPr>
              <a:t>.</a:t>
            </a:r>
            <a:r>
              <a:rPr lang="pt-BR" b="0" dirty="0">
                <a:solidFill>
                  <a:srgbClr val="DCDCAA"/>
                </a:solidFill>
                <a:effectLst/>
                <a:highlight>
                  <a:srgbClr val="000000"/>
                </a:highlight>
                <a:latin typeface="Monaspace Neon" pitchFamily="50" charset="0"/>
              </a:rPr>
              <a:t>size</a:t>
            </a:r>
            <a:r>
              <a:rPr lang="pt-BR" b="0" dirty="0">
                <a:solidFill>
                  <a:srgbClr val="D4D4D4"/>
                </a:solidFill>
                <a:effectLst/>
                <a:highlight>
                  <a:srgbClr val="000000"/>
                </a:highlight>
                <a:latin typeface="Monaspace Neon" pitchFamily="50" charset="0"/>
              </a:rPr>
              <a:t>()</a:t>
            </a:r>
            <a:endParaRPr lang="en-US" dirty="0"/>
          </a:p>
          <a:p>
            <a:r>
              <a:rPr lang="en-US" dirty="0"/>
              <a:t>Quadratic Probing (</a:t>
            </a:r>
            <a:r>
              <a:rPr lang="en-US" dirty="0">
                <a:solidFill>
                  <a:schemeClr val="accent4"/>
                </a:solidFill>
              </a:rPr>
              <a:t>QP</a:t>
            </a:r>
            <a:r>
              <a:rPr lang="en-US" dirty="0"/>
              <a:t>)</a:t>
            </a:r>
          </a:p>
          <a:p>
            <a:pPr lvl="1"/>
            <a:r>
              <a:rPr lang="pt-BR" b="0" dirty="0">
                <a:solidFill>
                  <a:srgbClr val="DCDCAA"/>
                </a:solidFill>
                <a:effectLst/>
                <a:highlight>
                  <a:srgbClr val="000000"/>
                </a:highlight>
                <a:latin typeface="Monaspace Neon" pitchFamily="50" charset="0"/>
              </a:rPr>
              <a:t>P</a:t>
            </a:r>
            <a:r>
              <a:rPr lang="pt-BR" b="0" dirty="0">
                <a:solidFill>
                  <a:srgbClr val="D4D4D4"/>
                </a:solidFill>
                <a:effectLst/>
                <a:highlight>
                  <a:srgbClr val="000000"/>
                </a:highlight>
                <a:latin typeface="Monaspace Neon" pitchFamily="50" charset="0"/>
              </a:rPr>
              <a:t>(x, j) = (</a:t>
            </a:r>
            <a:r>
              <a:rPr lang="pt-BR" b="0" dirty="0">
                <a:solidFill>
                  <a:srgbClr val="DCDCAA"/>
                </a:solidFill>
                <a:effectLst/>
                <a:highlight>
                  <a:srgbClr val="000000"/>
                </a:highlight>
                <a:latin typeface="Monaspace Neon" pitchFamily="50" charset="0"/>
              </a:rPr>
              <a:t>h</a:t>
            </a:r>
            <a:r>
              <a:rPr lang="pt-BR" b="0" dirty="0">
                <a:solidFill>
                  <a:srgbClr val="D4D4D4"/>
                </a:solidFill>
                <a:effectLst/>
                <a:highlight>
                  <a:srgbClr val="000000"/>
                </a:highlight>
                <a:latin typeface="Monaspace Neon" pitchFamily="50" charset="0"/>
              </a:rPr>
              <a:t>(x) + j</a:t>
            </a:r>
            <a:r>
              <a:rPr lang="pt-BR" b="0" baseline="30000" dirty="0">
                <a:solidFill>
                  <a:srgbClr val="D4D4D4"/>
                </a:solidFill>
                <a:effectLst/>
                <a:highlight>
                  <a:srgbClr val="000000"/>
                </a:highlight>
                <a:latin typeface="Monaspace Neon" pitchFamily="50" charset="0"/>
              </a:rPr>
              <a:t>2</a:t>
            </a:r>
            <a:r>
              <a:rPr lang="pt-BR" b="0" dirty="0">
                <a:solidFill>
                  <a:srgbClr val="D4D4D4"/>
                </a:solidFill>
                <a:effectLst/>
                <a:highlight>
                  <a:srgbClr val="000000"/>
                </a:highlight>
                <a:latin typeface="Monaspace Neon" pitchFamily="50" charset="0"/>
              </a:rPr>
              <a:t>) % </a:t>
            </a:r>
            <a:r>
              <a:rPr lang="pt-BR" b="0" dirty="0">
                <a:solidFill>
                  <a:srgbClr val="9CDCFE"/>
                </a:solidFill>
                <a:effectLst/>
                <a:highlight>
                  <a:srgbClr val="000000"/>
                </a:highlight>
                <a:latin typeface="Monaspace Neon" pitchFamily="50" charset="0"/>
              </a:rPr>
              <a:t>T</a:t>
            </a:r>
            <a:r>
              <a:rPr lang="pt-BR" b="0" dirty="0">
                <a:solidFill>
                  <a:srgbClr val="D4D4D4"/>
                </a:solidFill>
                <a:effectLst/>
                <a:highlight>
                  <a:srgbClr val="000000"/>
                </a:highlight>
                <a:latin typeface="Monaspace Neon" pitchFamily="50" charset="0"/>
              </a:rPr>
              <a:t>.</a:t>
            </a:r>
            <a:r>
              <a:rPr lang="pt-BR" b="0" dirty="0">
                <a:solidFill>
                  <a:srgbClr val="DCDCAA"/>
                </a:solidFill>
                <a:effectLst/>
                <a:highlight>
                  <a:srgbClr val="000000"/>
                </a:highlight>
                <a:latin typeface="Monaspace Neon" pitchFamily="50" charset="0"/>
              </a:rPr>
              <a:t>size</a:t>
            </a:r>
            <a:r>
              <a:rPr lang="pt-BR" b="0" dirty="0">
                <a:solidFill>
                  <a:srgbClr val="D4D4D4"/>
                </a:solidFill>
                <a:effectLst/>
                <a:highlight>
                  <a:srgbClr val="000000"/>
                </a:highlight>
                <a:latin typeface="Monaspace Neon" pitchFamily="50" charset="0"/>
              </a:rPr>
              <a:t>()</a:t>
            </a:r>
            <a:endParaRPr lang="en-US" dirty="0"/>
          </a:p>
          <a:p>
            <a:r>
              <a:rPr lang="en-US" dirty="0"/>
              <a:t>Double Hashing  (</a:t>
            </a:r>
            <a:r>
              <a:rPr lang="en-US" dirty="0">
                <a:solidFill>
                  <a:schemeClr val="accent6"/>
                </a:solidFill>
              </a:rPr>
              <a:t>DH</a:t>
            </a:r>
            <a:r>
              <a:rPr lang="en-US" dirty="0"/>
              <a:t>)</a:t>
            </a:r>
          </a:p>
          <a:p>
            <a:pPr lvl="1"/>
            <a:r>
              <a:rPr lang="pt-BR" b="0" dirty="0">
                <a:solidFill>
                  <a:srgbClr val="DCDCAA"/>
                </a:solidFill>
                <a:effectLst/>
                <a:highlight>
                  <a:srgbClr val="000000"/>
                </a:highlight>
                <a:latin typeface="Monaspace Neon" pitchFamily="50" charset="0"/>
              </a:rPr>
              <a:t>P</a:t>
            </a:r>
            <a:r>
              <a:rPr lang="pt-BR" b="0" dirty="0">
                <a:solidFill>
                  <a:srgbClr val="D4D4D4"/>
                </a:solidFill>
                <a:effectLst/>
                <a:highlight>
                  <a:srgbClr val="000000"/>
                </a:highlight>
                <a:latin typeface="Monaspace Neon" pitchFamily="50" charset="0"/>
              </a:rPr>
              <a:t>(x, j) = (</a:t>
            </a:r>
            <a:r>
              <a:rPr lang="pt-BR" b="0" dirty="0">
                <a:solidFill>
                  <a:srgbClr val="DCDCAA"/>
                </a:solidFill>
                <a:effectLst/>
                <a:highlight>
                  <a:srgbClr val="000000"/>
                </a:highlight>
                <a:latin typeface="Monaspace Neon" pitchFamily="50" charset="0"/>
              </a:rPr>
              <a:t>h</a:t>
            </a:r>
            <a:r>
              <a:rPr lang="pt-BR" b="0" dirty="0">
                <a:solidFill>
                  <a:srgbClr val="D4D4D4"/>
                </a:solidFill>
                <a:effectLst/>
                <a:highlight>
                  <a:srgbClr val="000000"/>
                </a:highlight>
                <a:latin typeface="Monaspace Neon" pitchFamily="50" charset="0"/>
              </a:rPr>
              <a:t>(x) + j*g(x)) % </a:t>
            </a:r>
            <a:r>
              <a:rPr lang="pt-BR" b="0" dirty="0">
                <a:solidFill>
                  <a:srgbClr val="9CDCFE"/>
                </a:solidFill>
                <a:effectLst/>
                <a:highlight>
                  <a:srgbClr val="000000"/>
                </a:highlight>
                <a:latin typeface="Monaspace Neon" pitchFamily="50" charset="0"/>
              </a:rPr>
              <a:t>T</a:t>
            </a:r>
            <a:r>
              <a:rPr lang="pt-BR" b="0" dirty="0">
                <a:solidFill>
                  <a:srgbClr val="D4D4D4"/>
                </a:solidFill>
                <a:effectLst/>
                <a:highlight>
                  <a:srgbClr val="000000"/>
                </a:highlight>
                <a:latin typeface="Monaspace Neon" pitchFamily="50" charset="0"/>
              </a:rPr>
              <a:t>.</a:t>
            </a:r>
            <a:r>
              <a:rPr lang="pt-BR" b="0" dirty="0">
                <a:solidFill>
                  <a:srgbClr val="DCDCAA"/>
                </a:solidFill>
                <a:effectLst/>
                <a:highlight>
                  <a:srgbClr val="000000"/>
                </a:highlight>
                <a:latin typeface="Monaspace Neon" pitchFamily="50" charset="0"/>
              </a:rPr>
              <a:t>size</a:t>
            </a:r>
            <a:r>
              <a:rPr lang="pt-BR" b="0" dirty="0">
                <a:solidFill>
                  <a:srgbClr val="D4D4D4"/>
                </a:solidFill>
                <a:effectLst/>
                <a:highlight>
                  <a:srgbClr val="000000"/>
                </a:highlight>
                <a:latin typeface="Monaspace Neon" pitchFamily="50" charset="0"/>
              </a:rPr>
              <a:t>()</a:t>
            </a:r>
          </a:p>
          <a:p>
            <a:r>
              <a:rPr lang="pt-BR" dirty="0"/>
              <a:t>Requirement</a:t>
            </a:r>
          </a:p>
          <a:p>
            <a:pPr lvl="1"/>
            <a:r>
              <a:rPr lang="pt-BR" dirty="0"/>
              <a:t>For </a:t>
            </a:r>
            <a:r>
              <a:rPr lang="pt-BR" dirty="0">
                <a:solidFill>
                  <a:schemeClr val="accent4"/>
                </a:solidFill>
              </a:rPr>
              <a:t>QP</a:t>
            </a:r>
            <a:r>
              <a:rPr lang="pt-BR" dirty="0"/>
              <a:t> and </a:t>
            </a:r>
            <a:r>
              <a:rPr lang="pt-BR" dirty="0">
                <a:solidFill>
                  <a:schemeClr val="accent6"/>
                </a:solidFill>
              </a:rPr>
              <a:t>DH</a:t>
            </a:r>
            <a:r>
              <a:rPr lang="pt-BR" dirty="0"/>
              <a:t>, </a:t>
            </a:r>
            <a:r>
              <a:rPr lang="pt-BR" b="0" dirty="0">
                <a:solidFill>
                  <a:srgbClr val="9CDCFE"/>
                </a:solidFill>
                <a:effectLst/>
                <a:highlight>
                  <a:srgbClr val="000000"/>
                </a:highlight>
                <a:latin typeface="Monaspace Neon" pitchFamily="50" charset="0"/>
              </a:rPr>
              <a:t>T</a:t>
            </a:r>
            <a:r>
              <a:rPr lang="pt-BR" b="0" dirty="0">
                <a:solidFill>
                  <a:srgbClr val="D4D4D4"/>
                </a:solidFill>
                <a:effectLst/>
                <a:highlight>
                  <a:srgbClr val="000000"/>
                </a:highlight>
                <a:latin typeface="Monaspace Neon" pitchFamily="50" charset="0"/>
              </a:rPr>
              <a:t>.</a:t>
            </a:r>
            <a:r>
              <a:rPr lang="pt-BR" b="0" dirty="0">
                <a:solidFill>
                  <a:srgbClr val="DCDCAA"/>
                </a:solidFill>
                <a:effectLst/>
                <a:highlight>
                  <a:srgbClr val="000000"/>
                </a:highlight>
                <a:latin typeface="Monaspace Neon" pitchFamily="50" charset="0"/>
              </a:rPr>
              <a:t>size</a:t>
            </a:r>
            <a:r>
              <a:rPr lang="pt-BR" b="0" dirty="0">
                <a:solidFill>
                  <a:srgbClr val="D4D4D4"/>
                </a:solidFill>
                <a:effectLst/>
                <a:highlight>
                  <a:srgbClr val="000000"/>
                </a:highlight>
                <a:latin typeface="Monaspace Neon" pitchFamily="50" charset="0"/>
              </a:rPr>
              <a:t>()</a:t>
            </a:r>
            <a:r>
              <a:rPr lang="pt-BR" dirty="0"/>
              <a:t> should be prime</a:t>
            </a:r>
          </a:p>
          <a:p>
            <a:pPr lvl="1"/>
            <a:r>
              <a:rPr lang="pt-BR" dirty="0"/>
              <a:t>For </a:t>
            </a:r>
            <a:r>
              <a:rPr lang="pt-BR" dirty="0">
                <a:solidFill>
                  <a:schemeClr val="accent4"/>
                </a:solidFill>
              </a:rPr>
              <a:t>QP</a:t>
            </a:r>
            <a:r>
              <a:rPr lang="pt-BR" dirty="0"/>
              <a:t>, </a:t>
            </a:r>
            <a:r>
              <a:rPr lang="pt-BR" dirty="0">
                <a:solidFill>
                  <a:schemeClr val="accent3"/>
                </a:solidFill>
              </a:rPr>
              <a:t>load factor</a:t>
            </a:r>
            <a:r>
              <a:rPr lang="pt-BR" dirty="0"/>
              <a:t> must not exceed 0.5</a:t>
            </a:r>
          </a:p>
          <a:p>
            <a:endParaRPr lang="en-US" dirty="0"/>
          </a:p>
        </p:txBody>
      </p:sp>
    </p:spTree>
    <p:extLst>
      <p:ext uri="{BB962C8B-B14F-4D97-AF65-F5344CB8AC3E}">
        <p14:creationId xmlns:p14="http://schemas.microsoft.com/office/powerpoint/2010/main" val="890554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1F9AC-C09B-AA04-C763-C362C98CA9F4}"/>
              </a:ext>
            </a:extLst>
          </p:cNvPr>
          <p:cNvSpPr>
            <a:spLocks noGrp="1"/>
          </p:cNvSpPr>
          <p:nvPr>
            <p:ph type="title"/>
          </p:nvPr>
        </p:nvSpPr>
        <p:spPr/>
        <p:txBody>
          <a:bodyPr/>
          <a:lstStyle/>
          <a:p>
            <a:r>
              <a:rPr lang="en-US" dirty="0"/>
              <a:t>Open Addressing Analysis</a:t>
            </a:r>
          </a:p>
        </p:txBody>
      </p:sp>
      <p:sp>
        <p:nvSpPr>
          <p:cNvPr id="3" name="Content Placeholder 2">
            <a:extLst>
              <a:ext uri="{FF2B5EF4-FFF2-40B4-BE49-F238E27FC236}">
                <a16:creationId xmlns:a16="http://schemas.microsoft.com/office/drawing/2014/main" id="{AC14130F-2071-1DA0-0D43-665FC44A5E6D}"/>
              </a:ext>
            </a:extLst>
          </p:cNvPr>
          <p:cNvSpPr>
            <a:spLocks noGrp="1"/>
          </p:cNvSpPr>
          <p:nvPr>
            <p:ph idx="1"/>
          </p:nvPr>
        </p:nvSpPr>
        <p:spPr/>
        <p:txBody>
          <a:bodyPr/>
          <a:lstStyle/>
          <a:p>
            <a:r>
              <a:rPr lang="en-US" dirty="0"/>
              <a:t>As for the </a:t>
            </a:r>
            <a:r>
              <a:rPr lang="en-US" dirty="0">
                <a:solidFill>
                  <a:schemeClr val="accent2"/>
                </a:solidFill>
              </a:rPr>
              <a:t>separate chaining</a:t>
            </a:r>
            <a:r>
              <a:rPr lang="en-US" dirty="0"/>
              <a:t>, insert and erase depends on find and find is O(n), theoretically.</a:t>
            </a:r>
          </a:p>
          <a:p>
            <a:r>
              <a:rPr lang="en-US" dirty="0"/>
              <a:t>Also just like the separate chaining, if we maintain the load factor to be small, the actual run time is near constant</a:t>
            </a:r>
          </a:p>
        </p:txBody>
      </p:sp>
    </p:spTree>
    <p:extLst>
      <p:ext uri="{BB962C8B-B14F-4D97-AF65-F5344CB8AC3E}">
        <p14:creationId xmlns:p14="http://schemas.microsoft.com/office/powerpoint/2010/main" val="1307909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7F7B4-6B83-1B30-C2C7-727AD5393C1A}"/>
              </a:ext>
            </a:extLst>
          </p:cNvPr>
          <p:cNvSpPr>
            <a:spLocks noGrp="1"/>
          </p:cNvSpPr>
          <p:nvPr>
            <p:ph type="title"/>
          </p:nvPr>
        </p:nvSpPr>
        <p:spPr/>
        <p:txBody>
          <a:bodyPr/>
          <a:lstStyle/>
          <a:p>
            <a:r>
              <a:rPr lang="en-US" dirty="0"/>
              <a:t>Comparing Separate Chaining vs Open Addressing</a:t>
            </a:r>
          </a:p>
        </p:txBody>
      </p:sp>
      <p:sp>
        <p:nvSpPr>
          <p:cNvPr id="3" name="Content Placeholder 2">
            <a:extLst>
              <a:ext uri="{FF2B5EF4-FFF2-40B4-BE49-F238E27FC236}">
                <a16:creationId xmlns:a16="http://schemas.microsoft.com/office/drawing/2014/main" id="{182FC645-49F8-1060-AC2F-9FD44C539967}"/>
              </a:ext>
            </a:extLst>
          </p:cNvPr>
          <p:cNvSpPr>
            <a:spLocks noGrp="1"/>
          </p:cNvSpPr>
          <p:nvPr>
            <p:ph idx="1"/>
          </p:nvPr>
        </p:nvSpPr>
        <p:spPr>
          <a:xfrm>
            <a:off x="838200" y="1358781"/>
            <a:ext cx="5814270" cy="5016382"/>
          </a:xfrm>
        </p:spPr>
        <p:txBody>
          <a:bodyPr>
            <a:normAutofit fontScale="70000" lnSpcReduction="20000"/>
          </a:bodyPr>
          <a:lstStyle/>
          <a:p>
            <a:r>
              <a:rPr lang="en-US" dirty="0"/>
              <a:t>Both depends on the </a:t>
            </a:r>
            <a:r>
              <a:rPr lang="en-US" dirty="0">
                <a:solidFill>
                  <a:schemeClr val="accent3"/>
                </a:solidFill>
              </a:rPr>
              <a:t>load factor</a:t>
            </a:r>
          </a:p>
          <a:p>
            <a:r>
              <a:rPr lang="en-US" dirty="0"/>
              <a:t>For </a:t>
            </a:r>
            <a:r>
              <a:rPr lang="en-US" dirty="0">
                <a:solidFill>
                  <a:schemeClr val="accent4"/>
                </a:solidFill>
              </a:rPr>
              <a:t>Separate Chaining </a:t>
            </a:r>
            <a:r>
              <a:rPr lang="en-US" dirty="0"/>
              <a:t>(SP), since there is another data structure (std::vector) holding the data in each bucket, there is small overhead in accessing this data structure</a:t>
            </a:r>
          </a:p>
          <a:p>
            <a:r>
              <a:rPr lang="en-US" dirty="0"/>
              <a:t>For </a:t>
            </a:r>
            <a:r>
              <a:rPr lang="en-US" dirty="0">
                <a:solidFill>
                  <a:schemeClr val="accent2"/>
                </a:solidFill>
              </a:rPr>
              <a:t>Open Addressing </a:t>
            </a:r>
            <a:r>
              <a:rPr lang="en-US" dirty="0"/>
              <a:t>(OA), if load factor approach 1, the number of probe increase significantly</a:t>
            </a:r>
          </a:p>
          <a:p>
            <a:r>
              <a:rPr lang="en-US" dirty="0"/>
              <a:t>When load factor is small, OA tends to be faster while SP works better with higher load factor</a:t>
            </a:r>
          </a:p>
          <a:p>
            <a:r>
              <a:rPr lang="en-US" dirty="0"/>
              <a:t>For both strategy, if we maintain the load factor to be small (i.e., &lt; 1</a:t>
            </a:r>
            <a:r>
              <a:rPr lang="th-TH" dirty="0"/>
              <a:t> </a:t>
            </a:r>
            <a:r>
              <a:rPr lang="en-US" dirty="0"/>
              <a:t>in SP and &lt; 0.5 in OA) the find operation takes O(1) on average</a:t>
            </a:r>
          </a:p>
          <a:p>
            <a:pPr lvl="1"/>
            <a:endParaRPr lang="en-US" dirty="0"/>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5BE87ABF-6774-8617-4EBE-E5F344384E5D}"/>
                  </a:ext>
                </a:extLst>
              </p:cNvPr>
              <p:cNvGraphicFramePr>
                <a:graphicFrameLocks noGrp="1"/>
              </p:cNvGraphicFramePr>
              <p:nvPr>
                <p:extLst>
                  <p:ext uri="{D42A27DB-BD31-4B8C-83A1-F6EECF244321}">
                    <p14:modId xmlns:p14="http://schemas.microsoft.com/office/powerpoint/2010/main" val="232979626"/>
                  </p:ext>
                </p:extLst>
              </p:nvPr>
            </p:nvGraphicFramePr>
            <p:xfrm>
              <a:off x="6809533" y="2306237"/>
              <a:ext cx="4863747" cy="2245525"/>
            </p:xfrm>
            <a:graphic>
              <a:graphicData uri="http://schemas.openxmlformats.org/drawingml/2006/table">
                <a:tbl>
                  <a:tblPr firstRow="1" bandRow="1">
                    <a:tableStyleId>{D03447BB-5D67-496B-8E87-E561075AD55C}</a:tableStyleId>
                  </a:tblPr>
                  <a:tblGrid>
                    <a:gridCol w="1621249">
                      <a:extLst>
                        <a:ext uri="{9D8B030D-6E8A-4147-A177-3AD203B41FA5}">
                          <a16:colId xmlns:a16="http://schemas.microsoft.com/office/drawing/2014/main" val="1669198334"/>
                        </a:ext>
                      </a:extLst>
                    </a:gridCol>
                    <a:gridCol w="1621249">
                      <a:extLst>
                        <a:ext uri="{9D8B030D-6E8A-4147-A177-3AD203B41FA5}">
                          <a16:colId xmlns:a16="http://schemas.microsoft.com/office/drawing/2014/main" val="1425655200"/>
                        </a:ext>
                      </a:extLst>
                    </a:gridCol>
                    <a:gridCol w="1621249">
                      <a:extLst>
                        <a:ext uri="{9D8B030D-6E8A-4147-A177-3AD203B41FA5}">
                          <a16:colId xmlns:a16="http://schemas.microsoft.com/office/drawing/2014/main" val="1456304901"/>
                        </a:ext>
                      </a:extLst>
                    </a:gridCol>
                  </a:tblGrid>
                  <a:tr h="589905">
                    <a:tc>
                      <a:txBody>
                        <a:bodyPr/>
                        <a:lstStyle/>
                        <a:p>
                          <a:endParaRPr lang="en-US" dirty="0"/>
                        </a:p>
                      </a:txBody>
                      <a:tcPr/>
                    </a:tc>
                    <a:tc>
                      <a:txBody>
                        <a:bodyPr/>
                        <a:lstStyle/>
                        <a:p>
                          <a:r>
                            <a:rPr lang="en-US" dirty="0"/>
                            <a:t>Successful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Unsuccessful Find</a:t>
                          </a:r>
                        </a:p>
                      </a:txBody>
                      <a:tcPr/>
                    </a:tc>
                    <a:extLst>
                      <a:ext uri="{0D108BD9-81ED-4DB2-BD59-A6C34878D82A}">
                        <a16:rowId xmlns:a16="http://schemas.microsoft.com/office/drawing/2014/main" val="536959214"/>
                      </a:ext>
                    </a:extLst>
                  </a:tr>
                  <a:tr h="589905">
                    <a:tc>
                      <a:txBody>
                        <a:bodyPr/>
                        <a:lstStyle/>
                        <a:p>
                          <a:r>
                            <a:rPr lang="en-US" dirty="0">
                              <a:solidFill>
                                <a:schemeClr val="bg1"/>
                              </a:solidFill>
                            </a:rPr>
                            <a:t>Separate Chaining</a:t>
                          </a:r>
                        </a:p>
                      </a:txBody>
                      <a:tcPr/>
                    </a:tc>
                    <a:tc>
                      <a:txBody>
                        <a:bodyPr/>
                        <a:lstStyle/>
                        <a:p>
                          <a14:m>
                            <m:oMathPara xmlns:m="http://schemas.openxmlformats.org/officeDocument/2006/math">
                              <m:oMathParaPr>
                                <m:jc m:val="centerGroup"/>
                              </m:oMathParaPr>
                              <m:oMath xmlns:m="http://schemas.openxmlformats.org/officeDocument/2006/math">
                                <m:r>
                                  <a:rPr lang="en-US" b="0" smtClean="0">
                                    <a:solidFill>
                                      <a:schemeClr val="bg1"/>
                                    </a:solidFill>
                                  </a:rPr>
                                  <m:t>1+</m:t>
                                </m:r>
                                <m:r>
                                  <a:rPr lang="en-US" b="0" smtClean="0">
                                    <a:solidFill>
                                      <a:schemeClr val="bg1"/>
                                    </a:solidFill>
                                  </a:rPr>
                                  <m:t>𝜆</m:t>
                                </m:r>
                              </m:oMath>
                            </m:oMathPara>
                          </a14:m>
                          <a:endParaRPr lang="en-US" dirty="0">
                            <a:solidFill>
                              <a:schemeClr val="bg1"/>
                            </a:solidFill>
                          </a:endParaRPr>
                        </a:p>
                      </a:txBody>
                      <a:tcPr/>
                    </a:tc>
                    <a:tc>
                      <a:txBody>
                        <a:bodyPr/>
                        <a:lstStyle/>
                        <a:p>
                          <a14:m>
                            <m:oMathPara xmlns:m="http://schemas.openxmlformats.org/officeDocument/2006/math">
                              <m:oMathParaPr>
                                <m:jc m:val="centerGroup"/>
                              </m:oMathParaPr>
                              <m:oMath xmlns:m="http://schemas.openxmlformats.org/officeDocument/2006/math">
                                <m:r>
                                  <a:rPr lang="en-US" b="0" smtClean="0">
                                    <a:solidFill>
                                      <a:schemeClr val="bg1"/>
                                    </a:solidFill>
                                  </a:rPr>
                                  <m:t>1+</m:t>
                                </m:r>
                                <m:r>
                                  <a:rPr lang="en-US" b="0" smtClean="0">
                                    <a:solidFill>
                                      <a:schemeClr val="bg1"/>
                                    </a:solidFill>
                                  </a:rPr>
                                  <m:t>𝜆</m:t>
                                </m:r>
                              </m:oMath>
                            </m:oMathPara>
                          </a14:m>
                          <a:endParaRPr lang="en-US" dirty="0">
                            <a:solidFill>
                              <a:schemeClr val="bg1"/>
                            </a:solidFill>
                          </a:endParaRPr>
                        </a:p>
                      </a:txBody>
                      <a:tcPr/>
                    </a:tc>
                    <a:extLst>
                      <a:ext uri="{0D108BD9-81ED-4DB2-BD59-A6C34878D82A}">
                        <a16:rowId xmlns:a16="http://schemas.microsoft.com/office/drawing/2014/main" val="2765512224"/>
                      </a:ext>
                    </a:extLst>
                  </a:tr>
                  <a:tr h="965365">
                    <a:tc>
                      <a:txBody>
                        <a:bodyPr/>
                        <a:lstStyle/>
                        <a:p>
                          <a:r>
                            <a:rPr lang="en-US" dirty="0">
                              <a:solidFill>
                                <a:schemeClr val="bg1"/>
                              </a:solidFill>
                            </a:rPr>
                            <a:t>Open Addressing</a:t>
                          </a:r>
                        </a:p>
                      </a:txBody>
                      <a:tcPr/>
                    </a:tc>
                    <a:tc>
                      <a:txBody>
                        <a:bodyPr/>
                        <a:lstStyle/>
                        <a:p>
                          <a14:m>
                            <m:oMathPara xmlns:m="http://schemas.openxmlformats.org/officeDocument/2006/math">
                              <m:oMathParaPr>
                                <m:jc m:val="centerGroup"/>
                              </m:oMathParaPr>
                              <m:oMath xmlns:m="http://schemas.openxmlformats.org/officeDocument/2006/math">
                                <m:f>
                                  <m:fPr>
                                    <m:ctrlPr>
                                      <a:rPr lang="en-US" b="0" smtClean="0">
                                        <a:solidFill>
                                          <a:schemeClr val="bg1"/>
                                        </a:solidFill>
                                      </a:rPr>
                                    </m:ctrlPr>
                                  </m:fPr>
                                  <m:num>
                                    <m:r>
                                      <a:rPr lang="en-US" b="0" smtClean="0">
                                        <a:solidFill>
                                          <a:schemeClr val="bg1"/>
                                        </a:solidFill>
                                      </a:rPr>
                                      <m:t>1</m:t>
                                    </m:r>
                                  </m:num>
                                  <m:den>
                                    <m:r>
                                      <a:rPr lang="en-US" b="0" smtClean="0">
                                        <a:solidFill>
                                          <a:schemeClr val="bg1"/>
                                        </a:solidFill>
                                      </a:rPr>
                                      <m:t>𝜆</m:t>
                                    </m:r>
                                  </m:den>
                                </m:f>
                                <m:func>
                                  <m:funcPr>
                                    <m:ctrlPr>
                                      <a:rPr lang="en-US" b="0" smtClean="0">
                                        <a:solidFill>
                                          <a:schemeClr val="bg1"/>
                                        </a:solidFill>
                                      </a:rPr>
                                    </m:ctrlPr>
                                  </m:funcPr>
                                  <m:fName>
                                    <m:r>
                                      <m:rPr>
                                        <m:sty m:val="p"/>
                                      </m:rPr>
                                      <a:rPr lang="en-US" b="0" smtClean="0">
                                        <a:solidFill>
                                          <a:schemeClr val="bg1"/>
                                        </a:solidFill>
                                      </a:rPr>
                                      <m:t>ln</m:t>
                                    </m:r>
                                  </m:fName>
                                  <m:e>
                                    <m:f>
                                      <m:fPr>
                                        <m:ctrlPr>
                                          <a:rPr lang="en-US" b="0" smtClean="0">
                                            <a:solidFill>
                                              <a:schemeClr val="bg1"/>
                                            </a:solidFill>
                                          </a:rPr>
                                        </m:ctrlPr>
                                      </m:fPr>
                                      <m:num>
                                        <m:r>
                                          <a:rPr lang="en-US" b="0" smtClean="0">
                                            <a:solidFill>
                                              <a:schemeClr val="bg1"/>
                                            </a:solidFill>
                                          </a:rPr>
                                          <m:t>1</m:t>
                                        </m:r>
                                      </m:num>
                                      <m:den>
                                        <m:r>
                                          <a:rPr lang="en-US" b="0" smtClean="0">
                                            <a:solidFill>
                                              <a:schemeClr val="bg1"/>
                                            </a:solidFill>
                                          </a:rPr>
                                          <m:t>1−</m:t>
                                        </m:r>
                                        <m:r>
                                          <a:rPr lang="en-US" b="0" smtClean="0">
                                            <a:solidFill>
                                              <a:schemeClr val="bg1"/>
                                            </a:solidFill>
                                          </a:rPr>
                                          <m:t>𝜆</m:t>
                                        </m:r>
                                      </m:den>
                                    </m:f>
                                  </m:e>
                                </m:func>
                              </m:oMath>
                            </m:oMathPara>
                          </a14:m>
                          <a:endParaRPr lang="en-US" dirty="0">
                            <a:solidFill>
                              <a:schemeClr val="bg1"/>
                            </a:solidFill>
                          </a:endParaRPr>
                        </a:p>
                      </a:txBody>
                      <a:tcPr/>
                    </a:tc>
                    <a:tc>
                      <a:txBody>
                        <a:bodyPr/>
                        <a:lstStyle/>
                        <a:p>
                          <a14:m>
                            <m:oMathPara xmlns:m="http://schemas.openxmlformats.org/officeDocument/2006/math">
                              <m:oMathParaPr>
                                <m:jc m:val="centerGroup"/>
                              </m:oMathParaPr>
                              <m:oMath xmlns:m="http://schemas.openxmlformats.org/officeDocument/2006/math">
                                <m:f>
                                  <m:fPr>
                                    <m:ctrlPr>
                                      <a:rPr lang="en-US" b="0" smtClean="0">
                                        <a:solidFill>
                                          <a:schemeClr val="bg1"/>
                                        </a:solidFill>
                                      </a:rPr>
                                    </m:ctrlPr>
                                  </m:fPr>
                                  <m:num>
                                    <m:r>
                                      <a:rPr lang="en-US" b="0" smtClean="0">
                                        <a:solidFill>
                                          <a:schemeClr val="bg1"/>
                                        </a:solidFill>
                                      </a:rPr>
                                      <m:t>1</m:t>
                                    </m:r>
                                  </m:num>
                                  <m:den>
                                    <m:r>
                                      <a:rPr lang="en-US" b="0" smtClean="0">
                                        <a:solidFill>
                                          <a:schemeClr val="bg1"/>
                                        </a:solidFill>
                                      </a:rPr>
                                      <m:t>1−</m:t>
                                    </m:r>
                                    <m:r>
                                      <a:rPr lang="en-US" b="0" smtClean="0">
                                        <a:solidFill>
                                          <a:schemeClr val="bg1"/>
                                        </a:solidFill>
                                      </a:rPr>
                                      <m:t>𝜆</m:t>
                                    </m:r>
                                  </m:den>
                                </m:f>
                              </m:oMath>
                            </m:oMathPara>
                          </a14:m>
                          <a:endParaRPr lang="en-US" dirty="0">
                            <a:solidFill>
                              <a:schemeClr val="bg1"/>
                            </a:solidFill>
                          </a:endParaRPr>
                        </a:p>
                      </a:txBody>
                      <a:tcPr/>
                    </a:tc>
                    <a:extLst>
                      <a:ext uri="{0D108BD9-81ED-4DB2-BD59-A6C34878D82A}">
                        <a16:rowId xmlns:a16="http://schemas.microsoft.com/office/drawing/2014/main" val="2796888675"/>
                      </a:ext>
                    </a:extLst>
                  </a:tr>
                </a:tbl>
              </a:graphicData>
            </a:graphic>
          </p:graphicFrame>
        </mc:Choice>
        <mc:Fallback>
          <p:graphicFrame>
            <p:nvGraphicFramePr>
              <p:cNvPr id="4" name="Table 3">
                <a:extLst>
                  <a:ext uri="{FF2B5EF4-FFF2-40B4-BE49-F238E27FC236}">
                    <a16:creationId xmlns:a16="http://schemas.microsoft.com/office/drawing/2014/main" id="{5BE87ABF-6774-8617-4EBE-E5F344384E5D}"/>
                  </a:ext>
                </a:extLst>
              </p:cNvPr>
              <p:cNvGraphicFramePr>
                <a:graphicFrameLocks noGrp="1"/>
              </p:cNvGraphicFramePr>
              <p:nvPr>
                <p:extLst>
                  <p:ext uri="{D42A27DB-BD31-4B8C-83A1-F6EECF244321}">
                    <p14:modId xmlns:p14="http://schemas.microsoft.com/office/powerpoint/2010/main" val="232979626"/>
                  </p:ext>
                </p:extLst>
              </p:nvPr>
            </p:nvGraphicFramePr>
            <p:xfrm>
              <a:off x="6809533" y="2306237"/>
              <a:ext cx="4863747" cy="2245525"/>
            </p:xfrm>
            <a:graphic>
              <a:graphicData uri="http://schemas.openxmlformats.org/drawingml/2006/table">
                <a:tbl>
                  <a:tblPr firstRow="1" bandRow="1">
                    <a:tableStyleId>{D03447BB-5D67-496B-8E87-E561075AD55C}</a:tableStyleId>
                  </a:tblPr>
                  <a:tblGrid>
                    <a:gridCol w="1621249">
                      <a:extLst>
                        <a:ext uri="{9D8B030D-6E8A-4147-A177-3AD203B41FA5}">
                          <a16:colId xmlns:a16="http://schemas.microsoft.com/office/drawing/2014/main" val="1669198334"/>
                        </a:ext>
                      </a:extLst>
                    </a:gridCol>
                    <a:gridCol w="1621249">
                      <a:extLst>
                        <a:ext uri="{9D8B030D-6E8A-4147-A177-3AD203B41FA5}">
                          <a16:colId xmlns:a16="http://schemas.microsoft.com/office/drawing/2014/main" val="1425655200"/>
                        </a:ext>
                      </a:extLst>
                    </a:gridCol>
                    <a:gridCol w="1621249">
                      <a:extLst>
                        <a:ext uri="{9D8B030D-6E8A-4147-A177-3AD203B41FA5}">
                          <a16:colId xmlns:a16="http://schemas.microsoft.com/office/drawing/2014/main" val="1456304901"/>
                        </a:ext>
                      </a:extLst>
                    </a:gridCol>
                  </a:tblGrid>
                  <a:tr h="640080">
                    <a:tc>
                      <a:txBody>
                        <a:bodyPr/>
                        <a:lstStyle/>
                        <a:p>
                          <a:endParaRPr lang="en-US" dirty="0"/>
                        </a:p>
                      </a:txBody>
                      <a:tcPr/>
                    </a:tc>
                    <a:tc>
                      <a:txBody>
                        <a:bodyPr/>
                        <a:lstStyle/>
                        <a:p>
                          <a:r>
                            <a:rPr lang="en-US" dirty="0"/>
                            <a:t>Successful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Unsuccessful Find</a:t>
                          </a:r>
                        </a:p>
                      </a:txBody>
                      <a:tcPr/>
                    </a:tc>
                    <a:extLst>
                      <a:ext uri="{0D108BD9-81ED-4DB2-BD59-A6C34878D82A}">
                        <a16:rowId xmlns:a16="http://schemas.microsoft.com/office/drawing/2014/main" val="536959214"/>
                      </a:ext>
                    </a:extLst>
                  </a:tr>
                  <a:tr h="640080">
                    <a:tc>
                      <a:txBody>
                        <a:bodyPr/>
                        <a:lstStyle/>
                        <a:p>
                          <a:r>
                            <a:rPr lang="en-US" dirty="0">
                              <a:solidFill>
                                <a:schemeClr val="bg1"/>
                              </a:solidFill>
                            </a:rPr>
                            <a:t>Separate Chaining</a:t>
                          </a:r>
                        </a:p>
                      </a:txBody>
                      <a:tcPr/>
                    </a:tc>
                    <a:tc>
                      <a:txBody>
                        <a:bodyPr/>
                        <a:lstStyle/>
                        <a:p>
                          <a:endParaRPr lang="en-US"/>
                        </a:p>
                      </a:txBody>
                      <a:tcPr>
                        <a:blipFill>
                          <a:blip r:embed="rId2"/>
                          <a:stretch>
                            <a:fillRect l="-100000" t="-104762" r="-100752" b="-151429"/>
                          </a:stretch>
                        </a:blipFill>
                      </a:tcPr>
                    </a:tc>
                    <a:tc>
                      <a:txBody>
                        <a:bodyPr/>
                        <a:lstStyle/>
                        <a:p>
                          <a:endParaRPr lang="en-US"/>
                        </a:p>
                      </a:txBody>
                      <a:tcPr>
                        <a:blipFill>
                          <a:blip r:embed="rId2"/>
                          <a:stretch>
                            <a:fillRect l="-200000" t="-104762" r="-752" b="-151429"/>
                          </a:stretch>
                        </a:blipFill>
                      </a:tcPr>
                    </a:tc>
                    <a:extLst>
                      <a:ext uri="{0D108BD9-81ED-4DB2-BD59-A6C34878D82A}">
                        <a16:rowId xmlns:a16="http://schemas.microsoft.com/office/drawing/2014/main" val="2765512224"/>
                      </a:ext>
                    </a:extLst>
                  </a:tr>
                  <a:tr h="965365">
                    <a:tc>
                      <a:txBody>
                        <a:bodyPr/>
                        <a:lstStyle/>
                        <a:p>
                          <a:r>
                            <a:rPr lang="en-US" dirty="0">
                              <a:solidFill>
                                <a:schemeClr val="bg1"/>
                              </a:solidFill>
                            </a:rPr>
                            <a:t>Open Addressing</a:t>
                          </a:r>
                        </a:p>
                      </a:txBody>
                      <a:tcPr/>
                    </a:tc>
                    <a:tc>
                      <a:txBody>
                        <a:bodyPr/>
                        <a:lstStyle/>
                        <a:p>
                          <a:endParaRPr lang="en-US"/>
                        </a:p>
                      </a:txBody>
                      <a:tcPr>
                        <a:blipFill>
                          <a:blip r:embed="rId2"/>
                          <a:stretch>
                            <a:fillRect l="-100000" t="-135220" r="-100752"/>
                          </a:stretch>
                        </a:blipFill>
                      </a:tcPr>
                    </a:tc>
                    <a:tc>
                      <a:txBody>
                        <a:bodyPr/>
                        <a:lstStyle/>
                        <a:p>
                          <a:endParaRPr lang="en-US"/>
                        </a:p>
                      </a:txBody>
                      <a:tcPr>
                        <a:blipFill>
                          <a:blip r:embed="rId2"/>
                          <a:stretch>
                            <a:fillRect l="-200000" t="-135220" r="-752"/>
                          </a:stretch>
                        </a:blipFill>
                      </a:tcPr>
                    </a:tc>
                    <a:extLst>
                      <a:ext uri="{0D108BD9-81ED-4DB2-BD59-A6C34878D82A}">
                        <a16:rowId xmlns:a16="http://schemas.microsoft.com/office/drawing/2014/main" val="2796888675"/>
                      </a:ext>
                    </a:extLst>
                  </a:tr>
                </a:tbl>
              </a:graphicData>
            </a:graphic>
          </p:graphicFrame>
        </mc:Fallback>
      </mc:AlternateContent>
      <p:sp>
        <p:nvSpPr>
          <p:cNvPr id="5" name="TextBox 4">
            <a:extLst>
              <a:ext uri="{FF2B5EF4-FFF2-40B4-BE49-F238E27FC236}">
                <a16:creationId xmlns:a16="http://schemas.microsoft.com/office/drawing/2014/main" id="{D6DF24C1-8369-442C-B6B7-6C2638C4CD2B}"/>
              </a:ext>
            </a:extLst>
          </p:cNvPr>
          <p:cNvSpPr txBox="1"/>
          <p:nvPr/>
        </p:nvSpPr>
        <p:spPr>
          <a:xfrm>
            <a:off x="6774110" y="1461291"/>
            <a:ext cx="4863747" cy="830997"/>
          </a:xfrm>
          <a:prstGeom prst="rect">
            <a:avLst/>
          </a:prstGeom>
          <a:noFill/>
        </p:spPr>
        <p:txBody>
          <a:bodyPr wrap="square" rtlCol="0">
            <a:spAutoFit/>
          </a:bodyPr>
          <a:lstStyle/>
          <a:p>
            <a:pPr algn="ctr"/>
            <a:r>
              <a:rPr lang="en-US" dirty="0"/>
              <a:t>Expected Number of probing</a:t>
            </a:r>
            <a:br>
              <a:rPr lang="en-US" dirty="0"/>
            </a:br>
            <a:r>
              <a:rPr lang="en-US" sz="2000" dirty="0">
                <a:solidFill>
                  <a:schemeClr val="accent4"/>
                </a:solidFill>
              </a:rPr>
              <a:t>(assume that we have uniform hash)</a:t>
            </a:r>
            <a:endParaRPr lang="en-US" dirty="0">
              <a:solidFill>
                <a:schemeClr val="accent4"/>
              </a:solidFill>
            </a:endParaRPr>
          </a:p>
        </p:txBody>
      </p:sp>
    </p:spTree>
    <p:extLst>
      <p:ext uri="{BB962C8B-B14F-4D97-AF65-F5344CB8AC3E}">
        <p14:creationId xmlns:p14="http://schemas.microsoft.com/office/powerpoint/2010/main" val="3348087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75DB72-3DF6-B741-2025-C51AB33E399E}"/>
              </a:ext>
            </a:extLst>
          </p:cNvPr>
          <p:cNvSpPr>
            <a:spLocks noGrp="1"/>
          </p:cNvSpPr>
          <p:nvPr>
            <p:ph type="title"/>
          </p:nvPr>
        </p:nvSpPr>
        <p:spPr/>
        <p:txBody>
          <a:bodyPr/>
          <a:lstStyle/>
          <a:p>
            <a:r>
              <a:rPr lang="en-US" dirty="0"/>
              <a:t>Hash Function</a:t>
            </a:r>
          </a:p>
        </p:txBody>
      </p:sp>
      <p:sp>
        <p:nvSpPr>
          <p:cNvPr id="5" name="Text Placeholder 4">
            <a:extLst>
              <a:ext uri="{FF2B5EF4-FFF2-40B4-BE49-F238E27FC236}">
                <a16:creationId xmlns:a16="http://schemas.microsoft.com/office/drawing/2014/main" id="{DA16E038-F47D-5A2E-861B-4915C4822D8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62330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D158A8-F7EC-9231-2B5B-4968E3D69DE2}"/>
              </a:ext>
            </a:extLst>
          </p:cNvPr>
          <p:cNvSpPr>
            <a:spLocks noGrp="1"/>
          </p:cNvSpPr>
          <p:nvPr>
            <p:ph type="title"/>
          </p:nvPr>
        </p:nvSpPr>
        <p:spPr/>
        <p:txBody>
          <a:bodyPr/>
          <a:lstStyle/>
          <a:p>
            <a:r>
              <a:rPr lang="en-US" dirty="0"/>
              <a:t>The goal of a hash function</a:t>
            </a:r>
          </a:p>
        </p:txBody>
      </p:sp>
      <p:sp>
        <p:nvSpPr>
          <p:cNvPr id="5" name="Content Placeholder 4">
            <a:extLst>
              <a:ext uri="{FF2B5EF4-FFF2-40B4-BE49-F238E27FC236}">
                <a16:creationId xmlns:a16="http://schemas.microsoft.com/office/drawing/2014/main" id="{8A9E7F7B-5F9C-4047-A092-A01ACC54C941}"/>
              </a:ext>
            </a:extLst>
          </p:cNvPr>
          <p:cNvSpPr>
            <a:spLocks noGrp="1"/>
          </p:cNvSpPr>
          <p:nvPr>
            <p:ph idx="1"/>
          </p:nvPr>
        </p:nvSpPr>
        <p:spPr/>
        <p:txBody>
          <a:bodyPr>
            <a:normAutofit fontScale="77500" lnSpcReduction="20000"/>
          </a:bodyPr>
          <a:lstStyle/>
          <a:p>
            <a:r>
              <a:rPr lang="en-US" dirty="0"/>
              <a:t>To </a:t>
            </a:r>
            <a:r>
              <a:rPr lang="en-US" dirty="0">
                <a:solidFill>
                  <a:schemeClr val="accent3"/>
                </a:solidFill>
              </a:rPr>
              <a:t>convert</a:t>
            </a:r>
            <a:r>
              <a:rPr lang="en-US" dirty="0"/>
              <a:t> a data into the </a:t>
            </a:r>
            <a:r>
              <a:rPr lang="en-US" dirty="0">
                <a:solidFill>
                  <a:schemeClr val="accent6"/>
                </a:solidFill>
              </a:rPr>
              <a:t>index of a bucket</a:t>
            </a:r>
          </a:p>
          <a:p>
            <a:pPr lvl="1"/>
            <a:r>
              <a:rPr lang="en-US" dirty="0"/>
              <a:t>Must also consider when the hashing data is of variable length such as strings or vectors</a:t>
            </a:r>
          </a:p>
          <a:p>
            <a:pPr lvl="1"/>
            <a:r>
              <a:rPr lang="en-US" dirty="0"/>
              <a:t>This is usually done in two steps</a:t>
            </a:r>
          </a:p>
          <a:p>
            <a:pPr lvl="1"/>
            <a:r>
              <a:rPr lang="en-US" dirty="0"/>
              <a:t>First is to convert a data into one integer value</a:t>
            </a:r>
          </a:p>
          <a:p>
            <a:pPr lvl="1"/>
            <a:r>
              <a:rPr lang="en-US" dirty="0"/>
              <a:t>Next, that value is convert to mod M where M is the size of the hash table</a:t>
            </a:r>
          </a:p>
          <a:p>
            <a:r>
              <a:rPr lang="en-US" dirty="0"/>
              <a:t>Hash Function must be </a:t>
            </a:r>
            <a:r>
              <a:rPr lang="en-US" dirty="0">
                <a:solidFill>
                  <a:schemeClr val="accent2"/>
                </a:solidFill>
              </a:rPr>
              <a:t>deterministic</a:t>
            </a:r>
            <a:r>
              <a:rPr lang="en-US" dirty="0"/>
              <a:t>, if x = y then h(x) must always be equal to h(y)</a:t>
            </a:r>
          </a:p>
          <a:p>
            <a:r>
              <a:rPr lang="en-US" dirty="0"/>
              <a:t>Hash Function should be </a:t>
            </a:r>
            <a:r>
              <a:rPr lang="en-US" dirty="0">
                <a:solidFill>
                  <a:schemeClr val="accent6"/>
                </a:solidFill>
              </a:rPr>
              <a:t>fast</a:t>
            </a:r>
            <a:r>
              <a:rPr lang="en-US" dirty="0"/>
              <a:t> (easy to compute by CPU)</a:t>
            </a:r>
          </a:p>
          <a:p>
            <a:r>
              <a:rPr lang="en-US" dirty="0"/>
              <a:t>Hash Function should be </a:t>
            </a:r>
            <a:r>
              <a:rPr lang="en-US" dirty="0">
                <a:solidFill>
                  <a:schemeClr val="accent5"/>
                </a:solidFill>
              </a:rPr>
              <a:t>uniformly distributed</a:t>
            </a:r>
          </a:p>
          <a:p>
            <a:pPr lvl="1"/>
            <a:r>
              <a:rPr lang="en-US" dirty="0"/>
              <a:t>At least, it should span over all possible index</a:t>
            </a:r>
          </a:p>
          <a:p>
            <a:r>
              <a:rPr lang="en-US" dirty="0"/>
              <a:t>Hash Function should have </a:t>
            </a:r>
            <a:r>
              <a:rPr lang="en-US" dirty="0">
                <a:solidFill>
                  <a:schemeClr val="accent4"/>
                </a:solidFill>
              </a:rPr>
              <a:t>avalanche effect</a:t>
            </a:r>
            <a:r>
              <a:rPr lang="en-US" dirty="0"/>
              <a:t>, a small change in x result in large change in h(x)</a:t>
            </a:r>
          </a:p>
        </p:txBody>
      </p:sp>
    </p:spTree>
    <p:extLst>
      <p:ext uri="{BB962C8B-B14F-4D97-AF65-F5344CB8AC3E}">
        <p14:creationId xmlns:p14="http://schemas.microsoft.com/office/powerpoint/2010/main" val="9178832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BAD88-3617-286B-C889-572E62A8A9AE}"/>
              </a:ext>
            </a:extLst>
          </p:cNvPr>
          <p:cNvSpPr>
            <a:spLocks noGrp="1"/>
          </p:cNvSpPr>
          <p:nvPr>
            <p:ph type="title"/>
          </p:nvPr>
        </p:nvSpPr>
        <p:spPr/>
        <p:txBody>
          <a:bodyPr/>
          <a:lstStyle/>
          <a:p>
            <a:r>
              <a:rPr lang="en-US" dirty="0"/>
              <a:t>Bad Hash Function</a:t>
            </a:r>
          </a:p>
        </p:txBody>
      </p:sp>
      <p:sp>
        <p:nvSpPr>
          <p:cNvPr id="3" name="Content Placeholder 2">
            <a:extLst>
              <a:ext uri="{FF2B5EF4-FFF2-40B4-BE49-F238E27FC236}">
                <a16:creationId xmlns:a16="http://schemas.microsoft.com/office/drawing/2014/main" id="{56A90112-43EC-8FF4-9461-76032B350F71}"/>
              </a:ext>
            </a:extLst>
          </p:cNvPr>
          <p:cNvSpPr>
            <a:spLocks noGrp="1"/>
          </p:cNvSpPr>
          <p:nvPr>
            <p:ph idx="1"/>
          </p:nvPr>
        </p:nvSpPr>
        <p:spPr/>
        <p:txBody>
          <a:bodyPr>
            <a:normAutofit fontScale="92500" lnSpcReduction="20000"/>
          </a:bodyPr>
          <a:lstStyle/>
          <a:p>
            <a:r>
              <a:rPr lang="en-US" dirty="0"/>
              <a:t>A constant function </a:t>
            </a:r>
            <a:r>
              <a:rPr lang="en-US" dirty="0">
                <a:solidFill>
                  <a:schemeClr val="accent4"/>
                </a:solidFill>
              </a:rPr>
              <a:t>h(x) = c</a:t>
            </a:r>
            <a:r>
              <a:rPr lang="en-US" dirty="0"/>
              <a:t>,  this maps everything to a single bucket</a:t>
            </a:r>
          </a:p>
          <a:p>
            <a:r>
              <a:rPr lang="en-US" dirty="0"/>
              <a:t>A hash that maps to a small subset of possible bucket, e.g., </a:t>
            </a:r>
            <a:r>
              <a:rPr lang="en-US" dirty="0">
                <a:solidFill>
                  <a:schemeClr val="accent4"/>
                </a:solidFill>
              </a:rPr>
              <a:t>h(x) =  x mod 100</a:t>
            </a:r>
            <a:r>
              <a:rPr lang="en-US" dirty="0"/>
              <a:t>. </a:t>
            </a:r>
          </a:p>
          <a:p>
            <a:pPr lvl="1"/>
            <a:r>
              <a:rPr lang="en-US" dirty="0"/>
              <a:t>This function has only {0..99} as possible bucket index</a:t>
            </a:r>
          </a:p>
          <a:p>
            <a:r>
              <a:rPr lang="en-US" dirty="0"/>
              <a:t>A hash that maps knowingly multiple data to the same bucket</a:t>
            </a:r>
          </a:p>
          <a:p>
            <a:pPr lvl="1"/>
            <a:r>
              <a:rPr lang="en-US" dirty="0"/>
              <a:t>For example, let x be an integer vector of size 3, a hash function h(x) = x[0] + x[1] + x[2] is bad because h({</a:t>
            </a:r>
            <a:r>
              <a:rPr lang="en-US" dirty="0" err="1"/>
              <a:t>a,b,c</a:t>
            </a:r>
            <a:r>
              <a:rPr lang="en-US" dirty="0"/>
              <a:t>}) = h({</a:t>
            </a:r>
            <a:r>
              <a:rPr lang="en-US" dirty="0" err="1"/>
              <a:t>a,c,b</a:t>
            </a:r>
            <a:r>
              <a:rPr lang="en-US" dirty="0"/>
              <a:t>}) = h({</a:t>
            </a:r>
            <a:r>
              <a:rPr lang="en-US" dirty="0" err="1"/>
              <a:t>b,a,c</a:t>
            </a:r>
            <a:r>
              <a:rPr lang="en-US" dirty="0"/>
              <a:t>}) = …</a:t>
            </a:r>
          </a:p>
          <a:p>
            <a:pPr lvl="1"/>
            <a:r>
              <a:rPr lang="en-US" dirty="0"/>
              <a:t>Another example, if x is a 10 digits student ID of the faculty of engineering, using the last two digits in computing a hash is bad because the last two digits of all engineering students is “21”</a:t>
            </a:r>
          </a:p>
          <a:p>
            <a:endParaRPr lang="en-US" dirty="0"/>
          </a:p>
          <a:p>
            <a:pPr lvl="1"/>
            <a:endParaRPr lang="en-US" dirty="0"/>
          </a:p>
        </p:txBody>
      </p:sp>
    </p:spTree>
    <p:extLst>
      <p:ext uri="{BB962C8B-B14F-4D97-AF65-F5344CB8AC3E}">
        <p14:creationId xmlns:p14="http://schemas.microsoft.com/office/powerpoint/2010/main" val="13056255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4F0B-40ED-ADC6-25B4-65DD6CE94C0F}"/>
              </a:ext>
            </a:extLst>
          </p:cNvPr>
          <p:cNvSpPr>
            <a:spLocks noGrp="1"/>
          </p:cNvSpPr>
          <p:nvPr>
            <p:ph type="title"/>
          </p:nvPr>
        </p:nvSpPr>
        <p:spPr/>
        <p:txBody>
          <a:bodyPr/>
          <a:lstStyle/>
          <a:p>
            <a:r>
              <a:rPr lang="en-US" dirty="0"/>
              <a:t>Trivial Hash Function</a:t>
            </a:r>
          </a:p>
        </p:txBody>
      </p:sp>
      <p:sp>
        <p:nvSpPr>
          <p:cNvPr id="3" name="Content Placeholder 2">
            <a:extLst>
              <a:ext uri="{FF2B5EF4-FFF2-40B4-BE49-F238E27FC236}">
                <a16:creationId xmlns:a16="http://schemas.microsoft.com/office/drawing/2014/main" id="{8BD6AE6A-FD2A-10A4-66ED-C62E6CD174AF}"/>
              </a:ext>
            </a:extLst>
          </p:cNvPr>
          <p:cNvSpPr>
            <a:spLocks noGrp="1"/>
          </p:cNvSpPr>
          <p:nvPr>
            <p:ph idx="1"/>
          </p:nvPr>
        </p:nvSpPr>
        <p:spPr/>
        <p:txBody>
          <a:bodyPr/>
          <a:lstStyle/>
          <a:p>
            <a:r>
              <a:rPr lang="en-US" dirty="0"/>
              <a:t>For an integer data (such as int, char, long in C++), h(x) = x is a good hash function</a:t>
            </a:r>
          </a:p>
          <a:p>
            <a:pPr lvl="1"/>
            <a:r>
              <a:rPr lang="en-US" dirty="0"/>
              <a:t>It is uniformly distributed if we assume that x is uniformly distributed</a:t>
            </a:r>
          </a:p>
          <a:p>
            <a:pPr lvl="2"/>
            <a:r>
              <a:rPr lang="en-US" dirty="0"/>
              <a:t>This might not be true in practice but if we don’t have any information on the distribution of the input, we generally assume that x is uniform. </a:t>
            </a:r>
          </a:p>
          <a:p>
            <a:pPr lvl="1"/>
            <a:r>
              <a:rPr lang="en-US" dirty="0"/>
              <a:t>GNU C++ std::hasher use Trivial Hash Function for all integers type, bit-wisely converting negative number to positive number</a:t>
            </a:r>
          </a:p>
          <a:p>
            <a:pPr lvl="1"/>
            <a:endParaRPr lang="en-US" dirty="0"/>
          </a:p>
          <a:p>
            <a:pPr lvl="2"/>
            <a:endParaRPr lang="en-US" dirty="0"/>
          </a:p>
        </p:txBody>
      </p:sp>
    </p:spTree>
    <p:extLst>
      <p:ext uri="{BB962C8B-B14F-4D97-AF65-F5344CB8AC3E}">
        <p14:creationId xmlns:p14="http://schemas.microsoft.com/office/powerpoint/2010/main" val="16869260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634B-8EEB-E6D7-DAB8-D910D49AC08A}"/>
              </a:ext>
            </a:extLst>
          </p:cNvPr>
          <p:cNvSpPr>
            <a:spLocks noGrp="1"/>
          </p:cNvSpPr>
          <p:nvPr>
            <p:ph type="title"/>
          </p:nvPr>
        </p:nvSpPr>
        <p:spPr/>
        <p:txBody>
          <a:bodyPr/>
          <a:lstStyle/>
          <a:p>
            <a:r>
              <a:rPr lang="en-US" dirty="0"/>
              <a:t>Trivial Hash for non-integer</a:t>
            </a:r>
          </a:p>
        </p:txBody>
      </p:sp>
      <p:sp>
        <p:nvSpPr>
          <p:cNvPr id="3" name="Content Placeholder 2">
            <a:extLst>
              <a:ext uri="{FF2B5EF4-FFF2-40B4-BE49-F238E27FC236}">
                <a16:creationId xmlns:a16="http://schemas.microsoft.com/office/drawing/2014/main" id="{3ED03C9F-B0EC-6DBA-D385-13E04AB2EEC4}"/>
              </a:ext>
            </a:extLst>
          </p:cNvPr>
          <p:cNvSpPr>
            <a:spLocks noGrp="1"/>
          </p:cNvSpPr>
          <p:nvPr>
            <p:ph idx="1"/>
          </p:nvPr>
        </p:nvSpPr>
        <p:spPr>
          <a:xfrm>
            <a:off x="6009542" y="1358781"/>
            <a:ext cx="5344258" cy="5016382"/>
          </a:xfrm>
        </p:spPr>
        <p:txBody>
          <a:bodyPr>
            <a:normAutofit fontScale="62500" lnSpcReduction="20000"/>
          </a:bodyPr>
          <a:lstStyle/>
          <a:p>
            <a:r>
              <a:rPr lang="en-US" dirty="0"/>
              <a:t>For non-integer data type of fixed length (such as float, double) it is possible to just </a:t>
            </a:r>
            <a:r>
              <a:rPr lang="en-US" dirty="0">
                <a:solidFill>
                  <a:schemeClr val="accent5"/>
                </a:solidFill>
              </a:rPr>
              <a:t>re-interpret</a:t>
            </a:r>
            <a:r>
              <a:rPr lang="en-US" dirty="0"/>
              <a:t> the data bit-wise into an integer and use the trivial hash</a:t>
            </a:r>
          </a:p>
          <a:p>
            <a:pPr lvl="1"/>
            <a:r>
              <a:rPr lang="en-US" dirty="0"/>
              <a:t>For example, 3.1415, when stored as a float, its binary representation can be read as integer as 1078529622</a:t>
            </a:r>
          </a:p>
          <a:p>
            <a:r>
              <a:rPr lang="en-US" dirty="0"/>
              <a:t>The key idea is that any type of data is essentially stored as a </a:t>
            </a:r>
            <a:r>
              <a:rPr lang="en-US" dirty="0">
                <a:solidFill>
                  <a:schemeClr val="accent3"/>
                </a:solidFill>
              </a:rPr>
              <a:t>sequence of bits</a:t>
            </a:r>
            <a:endParaRPr lang="en-US" dirty="0"/>
          </a:p>
          <a:p>
            <a:r>
              <a:rPr lang="en-US" dirty="0"/>
              <a:t>For float and double, this is not recommended because rounding error nature of the float that might make two very close data maps to the same (or very close) bucket</a:t>
            </a:r>
          </a:p>
          <a:p>
            <a:pPr lvl="1"/>
            <a:r>
              <a:rPr lang="en-US" dirty="0"/>
              <a:t>It is recommended to treat float or double as a sequence of bytes and use </a:t>
            </a:r>
            <a:r>
              <a:rPr lang="en-US" dirty="0">
                <a:solidFill>
                  <a:schemeClr val="accent6"/>
                </a:solidFill>
              </a:rPr>
              <a:t>variable length hash </a:t>
            </a:r>
            <a:r>
              <a:rPr lang="en-US" dirty="0"/>
              <a:t>function instead</a:t>
            </a:r>
          </a:p>
          <a:p>
            <a:pPr lvl="1"/>
            <a:endParaRPr lang="en-US" dirty="0"/>
          </a:p>
        </p:txBody>
      </p:sp>
      <p:sp>
        <p:nvSpPr>
          <p:cNvPr id="4" name="TextBox 3">
            <a:extLst>
              <a:ext uri="{FF2B5EF4-FFF2-40B4-BE49-F238E27FC236}">
                <a16:creationId xmlns:a16="http://schemas.microsoft.com/office/drawing/2014/main" id="{74B7CB30-EB0F-4069-CC6F-C5B970E3C4A6}"/>
              </a:ext>
            </a:extLst>
          </p:cNvPr>
          <p:cNvSpPr txBox="1"/>
          <p:nvPr/>
        </p:nvSpPr>
        <p:spPr>
          <a:xfrm>
            <a:off x="2100630" y="1586808"/>
            <a:ext cx="2290396" cy="523220"/>
          </a:xfrm>
          <a:prstGeom prst="rect">
            <a:avLst/>
          </a:prstGeom>
          <a:noFill/>
        </p:spPr>
        <p:txBody>
          <a:bodyPr wrap="square" rtlCol="0">
            <a:spAutoFit/>
          </a:bodyPr>
          <a:lstStyle/>
          <a:p>
            <a:pPr algn="ctr"/>
            <a:r>
              <a:rPr lang="en-US" dirty="0"/>
              <a:t>3.1415</a:t>
            </a:r>
          </a:p>
        </p:txBody>
      </p:sp>
      <p:sp>
        <p:nvSpPr>
          <p:cNvPr id="5" name="TextBox 4">
            <a:extLst>
              <a:ext uri="{FF2B5EF4-FFF2-40B4-BE49-F238E27FC236}">
                <a16:creationId xmlns:a16="http://schemas.microsoft.com/office/drawing/2014/main" id="{FA7B0B9B-85A0-D32C-9FDC-F544F909514A}"/>
              </a:ext>
            </a:extLst>
          </p:cNvPr>
          <p:cNvSpPr txBox="1"/>
          <p:nvPr/>
        </p:nvSpPr>
        <p:spPr>
          <a:xfrm>
            <a:off x="594948" y="2466242"/>
            <a:ext cx="5301761" cy="400110"/>
          </a:xfrm>
          <a:prstGeom prst="rect">
            <a:avLst/>
          </a:prstGeom>
          <a:noFill/>
        </p:spPr>
        <p:txBody>
          <a:bodyPr wrap="square" rtlCol="0">
            <a:spAutoFit/>
          </a:bodyPr>
          <a:lstStyle/>
          <a:p>
            <a:pPr algn="ctr"/>
            <a:r>
              <a:rPr lang="en-US" sz="2000" dirty="0">
                <a:solidFill>
                  <a:schemeClr val="accent4"/>
                </a:solidFill>
              </a:rPr>
              <a:t>0  </a:t>
            </a:r>
            <a:r>
              <a:rPr lang="en-US" sz="2000" dirty="0"/>
              <a:t> </a:t>
            </a:r>
            <a:r>
              <a:rPr lang="en-US" sz="2000" dirty="0">
                <a:solidFill>
                  <a:schemeClr val="accent3"/>
                </a:solidFill>
              </a:rPr>
              <a:t>10000000  </a:t>
            </a:r>
            <a:r>
              <a:rPr lang="en-US" sz="2000" dirty="0"/>
              <a:t> </a:t>
            </a:r>
            <a:r>
              <a:rPr lang="en-US" sz="2000" dirty="0">
                <a:solidFill>
                  <a:schemeClr val="accent2"/>
                </a:solidFill>
              </a:rPr>
              <a:t>10010010000111001010110</a:t>
            </a:r>
          </a:p>
        </p:txBody>
      </p:sp>
      <p:sp>
        <p:nvSpPr>
          <p:cNvPr id="6" name="Speech Bubble: Rectangle with Corners Rounded 5">
            <a:extLst>
              <a:ext uri="{FF2B5EF4-FFF2-40B4-BE49-F238E27FC236}">
                <a16:creationId xmlns:a16="http://schemas.microsoft.com/office/drawing/2014/main" id="{7E6D22EF-CD0A-68D6-53BE-3AE5B75C11F0}"/>
              </a:ext>
            </a:extLst>
          </p:cNvPr>
          <p:cNvSpPr/>
          <p:nvPr/>
        </p:nvSpPr>
        <p:spPr>
          <a:xfrm>
            <a:off x="516550" y="1292469"/>
            <a:ext cx="1584079" cy="659424"/>
          </a:xfrm>
          <a:prstGeom prst="wedgeRoundRectCallout">
            <a:avLst>
              <a:gd name="adj1" fmla="val 81362"/>
              <a:gd name="adj2" fmla="val 3084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00" dirty="0"/>
              <a:t>Actual value to store</a:t>
            </a:r>
          </a:p>
        </p:txBody>
      </p:sp>
      <p:sp>
        <p:nvSpPr>
          <p:cNvPr id="7" name="Speech Bubble: Rectangle with Corners Rounded 6">
            <a:extLst>
              <a:ext uri="{FF2B5EF4-FFF2-40B4-BE49-F238E27FC236}">
                <a16:creationId xmlns:a16="http://schemas.microsoft.com/office/drawing/2014/main" id="{6C5CD843-E12C-F381-B35C-C8893D6878A2}"/>
              </a:ext>
            </a:extLst>
          </p:cNvPr>
          <p:cNvSpPr/>
          <p:nvPr/>
        </p:nvSpPr>
        <p:spPr>
          <a:xfrm>
            <a:off x="4142134" y="1331881"/>
            <a:ext cx="1795827" cy="786853"/>
          </a:xfrm>
          <a:prstGeom prst="wedgeRoundRectCallout">
            <a:avLst>
              <a:gd name="adj1" fmla="val -37621"/>
              <a:gd name="adj2" fmla="val 9378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00" dirty="0"/>
              <a:t>Binary Representation in IEEE 754 </a:t>
            </a:r>
          </a:p>
        </p:txBody>
      </p:sp>
      <p:sp>
        <p:nvSpPr>
          <p:cNvPr id="8" name="Right Brace 7">
            <a:extLst>
              <a:ext uri="{FF2B5EF4-FFF2-40B4-BE49-F238E27FC236}">
                <a16:creationId xmlns:a16="http://schemas.microsoft.com/office/drawing/2014/main" id="{4EAF28C4-2DCA-6F13-171C-57BF1EF2457C}"/>
              </a:ext>
            </a:extLst>
          </p:cNvPr>
          <p:cNvSpPr/>
          <p:nvPr/>
        </p:nvSpPr>
        <p:spPr>
          <a:xfrm rot="5400000">
            <a:off x="827523" y="2833187"/>
            <a:ext cx="193371" cy="2597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6B525521-4527-2E00-DA58-AAD89D392451}"/>
              </a:ext>
            </a:extLst>
          </p:cNvPr>
          <p:cNvSpPr/>
          <p:nvPr/>
        </p:nvSpPr>
        <p:spPr>
          <a:xfrm rot="5400000">
            <a:off x="1662057" y="2457766"/>
            <a:ext cx="193373" cy="101054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a:extLst>
              <a:ext uri="{FF2B5EF4-FFF2-40B4-BE49-F238E27FC236}">
                <a16:creationId xmlns:a16="http://schemas.microsoft.com/office/drawing/2014/main" id="{89F6543B-8287-4574-4E42-7FAE1522F6BD}"/>
              </a:ext>
            </a:extLst>
          </p:cNvPr>
          <p:cNvSpPr/>
          <p:nvPr/>
        </p:nvSpPr>
        <p:spPr>
          <a:xfrm rot="5400000">
            <a:off x="3963159" y="1442251"/>
            <a:ext cx="193371" cy="304157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BCF3C874-96B9-565B-17E6-57CD74641667}"/>
              </a:ext>
            </a:extLst>
          </p:cNvPr>
          <p:cNvSpPr txBox="1"/>
          <p:nvPr/>
        </p:nvSpPr>
        <p:spPr>
          <a:xfrm>
            <a:off x="594948" y="3037900"/>
            <a:ext cx="586321" cy="369332"/>
          </a:xfrm>
          <a:prstGeom prst="rect">
            <a:avLst/>
          </a:prstGeom>
          <a:noFill/>
        </p:spPr>
        <p:txBody>
          <a:bodyPr wrap="square" rtlCol="0">
            <a:spAutoFit/>
          </a:bodyPr>
          <a:lstStyle/>
          <a:p>
            <a:pPr algn="ctr"/>
            <a:r>
              <a:rPr lang="en-US" sz="1800" dirty="0"/>
              <a:t>sign</a:t>
            </a:r>
          </a:p>
        </p:txBody>
      </p:sp>
      <p:sp>
        <p:nvSpPr>
          <p:cNvPr id="12" name="TextBox 11">
            <a:extLst>
              <a:ext uri="{FF2B5EF4-FFF2-40B4-BE49-F238E27FC236}">
                <a16:creationId xmlns:a16="http://schemas.microsoft.com/office/drawing/2014/main" id="{311C4366-2AA7-0261-34E9-7A1863C85AF3}"/>
              </a:ext>
            </a:extLst>
          </p:cNvPr>
          <p:cNvSpPr txBox="1"/>
          <p:nvPr/>
        </p:nvSpPr>
        <p:spPr>
          <a:xfrm>
            <a:off x="1255221" y="3037900"/>
            <a:ext cx="1080998" cy="369332"/>
          </a:xfrm>
          <a:prstGeom prst="rect">
            <a:avLst/>
          </a:prstGeom>
          <a:noFill/>
        </p:spPr>
        <p:txBody>
          <a:bodyPr wrap="square" rtlCol="0">
            <a:spAutoFit/>
          </a:bodyPr>
          <a:lstStyle/>
          <a:p>
            <a:pPr algn="ctr"/>
            <a:r>
              <a:rPr lang="en-US" sz="1800" dirty="0"/>
              <a:t>exponent</a:t>
            </a:r>
          </a:p>
        </p:txBody>
      </p:sp>
      <p:sp>
        <p:nvSpPr>
          <p:cNvPr id="13" name="TextBox 12">
            <a:extLst>
              <a:ext uri="{FF2B5EF4-FFF2-40B4-BE49-F238E27FC236}">
                <a16:creationId xmlns:a16="http://schemas.microsoft.com/office/drawing/2014/main" id="{F34AE2BF-201D-A2B7-50A9-6B5416DB750C}"/>
              </a:ext>
            </a:extLst>
          </p:cNvPr>
          <p:cNvSpPr txBox="1"/>
          <p:nvPr/>
        </p:nvSpPr>
        <p:spPr>
          <a:xfrm>
            <a:off x="3257332" y="3037900"/>
            <a:ext cx="1534476" cy="369332"/>
          </a:xfrm>
          <a:prstGeom prst="rect">
            <a:avLst/>
          </a:prstGeom>
          <a:noFill/>
        </p:spPr>
        <p:txBody>
          <a:bodyPr wrap="square" rtlCol="0">
            <a:spAutoFit/>
          </a:bodyPr>
          <a:lstStyle/>
          <a:p>
            <a:pPr algn="ctr"/>
            <a:r>
              <a:rPr lang="en-US" sz="1800" dirty="0"/>
              <a:t>mantissa</a:t>
            </a:r>
          </a:p>
        </p:txBody>
      </p:sp>
      <p:sp>
        <p:nvSpPr>
          <p:cNvPr id="14" name="TextBox 13">
            <a:extLst>
              <a:ext uri="{FF2B5EF4-FFF2-40B4-BE49-F238E27FC236}">
                <a16:creationId xmlns:a16="http://schemas.microsoft.com/office/drawing/2014/main" id="{47BBBD4A-2AE0-6D61-C7B2-242F731BA425}"/>
              </a:ext>
            </a:extLst>
          </p:cNvPr>
          <p:cNvSpPr txBox="1"/>
          <p:nvPr/>
        </p:nvSpPr>
        <p:spPr>
          <a:xfrm>
            <a:off x="571048" y="4122201"/>
            <a:ext cx="5301761" cy="707886"/>
          </a:xfrm>
          <a:prstGeom prst="rect">
            <a:avLst/>
          </a:prstGeom>
          <a:noFill/>
        </p:spPr>
        <p:txBody>
          <a:bodyPr wrap="square" rtlCol="0">
            <a:spAutoFit/>
          </a:bodyPr>
          <a:lstStyle/>
          <a:p>
            <a:pPr algn="ctr"/>
            <a:r>
              <a:rPr lang="en-US" sz="2000" dirty="0">
                <a:solidFill>
                  <a:schemeClr val="accent4"/>
                </a:solidFill>
              </a:rPr>
              <a:t>0</a:t>
            </a:r>
            <a:r>
              <a:rPr lang="en-US" sz="2000" dirty="0">
                <a:solidFill>
                  <a:schemeClr val="accent3"/>
                </a:solidFill>
              </a:rPr>
              <a:t>100 0000 0</a:t>
            </a:r>
            <a:r>
              <a:rPr lang="en-US" sz="2000" dirty="0">
                <a:solidFill>
                  <a:schemeClr val="accent2"/>
                </a:solidFill>
              </a:rPr>
              <a:t>100 1001 0000 1110 0101 0110</a:t>
            </a:r>
          </a:p>
          <a:p>
            <a:pPr algn="ctr"/>
            <a:r>
              <a:rPr lang="en-US" sz="2000" dirty="0">
                <a:solidFill>
                  <a:schemeClr val="accent6"/>
                </a:solidFill>
              </a:rPr>
              <a:t>4       0       4       9       0       e        5        6</a:t>
            </a:r>
          </a:p>
        </p:txBody>
      </p:sp>
      <p:sp>
        <p:nvSpPr>
          <p:cNvPr id="15" name="Speech Bubble: Rectangle with Corners Rounded 14">
            <a:extLst>
              <a:ext uri="{FF2B5EF4-FFF2-40B4-BE49-F238E27FC236}">
                <a16:creationId xmlns:a16="http://schemas.microsoft.com/office/drawing/2014/main" id="{8D726CC2-24AF-33B8-D4EA-8F6362644179}"/>
              </a:ext>
            </a:extLst>
          </p:cNvPr>
          <p:cNvSpPr/>
          <p:nvPr/>
        </p:nvSpPr>
        <p:spPr>
          <a:xfrm>
            <a:off x="319792" y="5040931"/>
            <a:ext cx="3944477" cy="740012"/>
          </a:xfrm>
          <a:prstGeom prst="wedgeRoundRectCallout">
            <a:avLst>
              <a:gd name="adj1" fmla="val 21865"/>
              <a:gd name="adj2" fmla="val -7438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800" dirty="0"/>
              <a:t>Hexadecimal is </a:t>
            </a:r>
            <a:r>
              <a:rPr lang="en-US" sz="1800" dirty="0">
                <a:solidFill>
                  <a:schemeClr val="accent6"/>
                </a:solidFill>
              </a:rPr>
              <a:t>40490e56</a:t>
            </a:r>
          </a:p>
          <a:p>
            <a:pPr algn="ctr"/>
            <a:r>
              <a:rPr lang="en-US" sz="1800" dirty="0"/>
              <a:t>Which is 1078529622 in base 10</a:t>
            </a:r>
          </a:p>
        </p:txBody>
      </p:sp>
    </p:spTree>
    <p:extLst>
      <p:ext uri="{BB962C8B-B14F-4D97-AF65-F5344CB8AC3E}">
        <p14:creationId xmlns:p14="http://schemas.microsoft.com/office/powerpoint/2010/main" val="9930192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C4C3B-B6AA-2A89-D331-CD9F467FC9E7}"/>
              </a:ext>
            </a:extLst>
          </p:cNvPr>
          <p:cNvSpPr>
            <a:spLocks noGrp="1"/>
          </p:cNvSpPr>
          <p:nvPr>
            <p:ph type="title"/>
          </p:nvPr>
        </p:nvSpPr>
        <p:spPr/>
        <p:txBody>
          <a:bodyPr/>
          <a:lstStyle/>
          <a:p>
            <a:r>
              <a:rPr lang="en-US" dirty="0"/>
              <a:t>Hash Function for Variable Length Data</a:t>
            </a:r>
          </a:p>
        </p:txBody>
      </p:sp>
      <p:sp>
        <p:nvSpPr>
          <p:cNvPr id="3" name="Content Placeholder 2">
            <a:extLst>
              <a:ext uri="{FF2B5EF4-FFF2-40B4-BE49-F238E27FC236}">
                <a16:creationId xmlns:a16="http://schemas.microsoft.com/office/drawing/2014/main" id="{8A0A9F02-55B8-16E2-CF71-BC264DCAD936}"/>
              </a:ext>
            </a:extLst>
          </p:cNvPr>
          <p:cNvSpPr>
            <a:spLocks noGrp="1"/>
          </p:cNvSpPr>
          <p:nvPr>
            <p:ph idx="1"/>
          </p:nvPr>
        </p:nvSpPr>
        <p:spPr/>
        <p:txBody>
          <a:bodyPr/>
          <a:lstStyle/>
          <a:p>
            <a:r>
              <a:rPr lang="en-US" dirty="0"/>
              <a:t>One simple way is to treat the variable length as an array of byte and read it as a base-256 value.</a:t>
            </a:r>
          </a:p>
          <a:p>
            <a:pPr lvl="1"/>
            <a:r>
              <a:rPr lang="en-US" dirty="0"/>
              <a:t>This gives a very large number, but we will take its rightmost 32bit or 64bit</a:t>
            </a:r>
          </a:p>
          <a:p>
            <a:r>
              <a:rPr lang="en-US" dirty="0"/>
              <a:t>Not really recommended because computing large radix is costly</a:t>
            </a:r>
          </a:p>
          <a:p>
            <a:pPr lvl="1"/>
            <a:r>
              <a:rPr lang="en-US" dirty="0"/>
              <a:t>The key idea of using the byte value as integer is still OK</a:t>
            </a:r>
          </a:p>
        </p:txBody>
      </p:sp>
      <p:sp>
        <p:nvSpPr>
          <p:cNvPr id="4" name="TextBox 3">
            <a:extLst>
              <a:ext uri="{FF2B5EF4-FFF2-40B4-BE49-F238E27FC236}">
                <a16:creationId xmlns:a16="http://schemas.microsoft.com/office/drawing/2014/main" id="{AAB322C3-1F64-2E00-1A26-F192787EFBEE}"/>
              </a:ext>
            </a:extLst>
          </p:cNvPr>
          <p:cNvSpPr txBox="1"/>
          <p:nvPr/>
        </p:nvSpPr>
        <p:spPr>
          <a:xfrm>
            <a:off x="328981" y="4611567"/>
            <a:ext cx="2290396" cy="523220"/>
          </a:xfrm>
          <a:prstGeom prst="rect">
            <a:avLst/>
          </a:prstGeom>
          <a:noFill/>
        </p:spPr>
        <p:txBody>
          <a:bodyPr wrap="square" rtlCol="0">
            <a:spAutoFit/>
          </a:bodyPr>
          <a:lstStyle/>
          <a:p>
            <a:pPr algn="ctr"/>
            <a:r>
              <a:rPr lang="en-US" dirty="0"/>
              <a:t>“</a:t>
            </a:r>
            <a:r>
              <a:rPr lang="en-US" dirty="0">
                <a:solidFill>
                  <a:schemeClr val="accent2"/>
                </a:solidFill>
              </a:rPr>
              <a:t>Somchai</a:t>
            </a:r>
            <a:r>
              <a:rPr lang="en-US" dirty="0"/>
              <a:t>”</a:t>
            </a:r>
          </a:p>
        </p:txBody>
      </p:sp>
      <p:graphicFrame>
        <p:nvGraphicFramePr>
          <p:cNvPr id="5" name="Table 4">
            <a:extLst>
              <a:ext uri="{FF2B5EF4-FFF2-40B4-BE49-F238E27FC236}">
                <a16:creationId xmlns:a16="http://schemas.microsoft.com/office/drawing/2014/main" id="{287488E8-E128-17E3-F01A-5565E2E7FD44}"/>
              </a:ext>
            </a:extLst>
          </p:cNvPr>
          <p:cNvGraphicFramePr>
            <a:graphicFrameLocks noGrp="1"/>
          </p:cNvGraphicFramePr>
          <p:nvPr>
            <p:extLst>
              <p:ext uri="{D42A27DB-BD31-4B8C-83A1-F6EECF244321}">
                <p14:modId xmlns:p14="http://schemas.microsoft.com/office/powerpoint/2010/main" val="1215400966"/>
              </p:ext>
            </p:extLst>
          </p:nvPr>
        </p:nvGraphicFramePr>
        <p:xfrm>
          <a:off x="3399205" y="4502337"/>
          <a:ext cx="5058998" cy="741680"/>
        </p:xfrm>
        <a:graphic>
          <a:graphicData uri="http://schemas.openxmlformats.org/drawingml/2006/table">
            <a:tbl>
              <a:tblPr firstRow="1" bandRow="1">
                <a:tableStyleId>{69C7853C-536D-4A76-A0AE-DD22124D55A5}</a:tableStyleId>
              </a:tblPr>
              <a:tblGrid>
                <a:gridCol w="722714">
                  <a:extLst>
                    <a:ext uri="{9D8B030D-6E8A-4147-A177-3AD203B41FA5}">
                      <a16:colId xmlns:a16="http://schemas.microsoft.com/office/drawing/2014/main" val="1923946428"/>
                    </a:ext>
                  </a:extLst>
                </a:gridCol>
                <a:gridCol w="722714">
                  <a:extLst>
                    <a:ext uri="{9D8B030D-6E8A-4147-A177-3AD203B41FA5}">
                      <a16:colId xmlns:a16="http://schemas.microsoft.com/office/drawing/2014/main" val="728970848"/>
                    </a:ext>
                  </a:extLst>
                </a:gridCol>
                <a:gridCol w="722714">
                  <a:extLst>
                    <a:ext uri="{9D8B030D-6E8A-4147-A177-3AD203B41FA5}">
                      <a16:colId xmlns:a16="http://schemas.microsoft.com/office/drawing/2014/main" val="942692813"/>
                    </a:ext>
                  </a:extLst>
                </a:gridCol>
                <a:gridCol w="722714">
                  <a:extLst>
                    <a:ext uri="{9D8B030D-6E8A-4147-A177-3AD203B41FA5}">
                      <a16:colId xmlns:a16="http://schemas.microsoft.com/office/drawing/2014/main" val="81099300"/>
                    </a:ext>
                  </a:extLst>
                </a:gridCol>
                <a:gridCol w="722714">
                  <a:extLst>
                    <a:ext uri="{9D8B030D-6E8A-4147-A177-3AD203B41FA5}">
                      <a16:colId xmlns:a16="http://schemas.microsoft.com/office/drawing/2014/main" val="1111665986"/>
                    </a:ext>
                  </a:extLst>
                </a:gridCol>
                <a:gridCol w="722714">
                  <a:extLst>
                    <a:ext uri="{9D8B030D-6E8A-4147-A177-3AD203B41FA5}">
                      <a16:colId xmlns:a16="http://schemas.microsoft.com/office/drawing/2014/main" val="568588960"/>
                    </a:ext>
                  </a:extLst>
                </a:gridCol>
                <a:gridCol w="722714">
                  <a:extLst>
                    <a:ext uri="{9D8B030D-6E8A-4147-A177-3AD203B41FA5}">
                      <a16:colId xmlns:a16="http://schemas.microsoft.com/office/drawing/2014/main" val="756618693"/>
                    </a:ext>
                  </a:extLst>
                </a:gridCol>
              </a:tblGrid>
              <a:tr h="370840">
                <a:tc>
                  <a:txBody>
                    <a:bodyPr/>
                    <a:lstStyle/>
                    <a:p>
                      <a:pPr algn="ctr"/>
                      <a:r>
                        <a:rPr lang="en-US" dirty="0">
                          <a:solidFill>
                            <a:schemeClr val="accent2"/>
                          </a:solidFill>
                        </a:rPr>
                        <a:t>S</a:t>
                      </a:r>
                    </a:p>
                  </a:txBody>
                  <a:tcPr/>
                </a:tc>
                <a:tc>
                  <a:txBody>
                    <a:bodyPr/>
                    <a:lstStyle/>
                    <a:p>
                      <a:pPr algn="ctr"/>
                      <a:r>
                        <a:rPr lang="en-US" dirty="0">
                          <a:solidFill>
                            <a:schemeClr val="accent2"/>
                          </a:solidFill>
                        </a:rPr>
                        <a:t>o</a:t>
                      </a:r>
                    </a:p>
                  </a:txBody>
                  <a:tcPr/>
                </a:tc>
                <a:tc>
                  <a:txBody>
                    <a:bodyPr/>
                    <a:lstStyle/>
                    <a:p>
                      <a:pPr algn="ctr"/>
                      <a:r>
                        <a:rPr lang="en-US" dirty="0">
                          <a:solidFill>
                            <a:schemeClr val="accent2"/>
                          </a:solidFill>
                        </a:rPr>
                        <a:t>m</a:t>
                      </a:r>
                    </a:p>
                  </a:txBody>
                  <a:tcPr/>
                </a:tc>
                <a:tc>
                  <a:txBody>
                    <a:bodyPr/>
                    <a:lstStyle/>
                    <a:p>
                      <a:pPr algn="ctr"/>
                      <a:r>
                        <a:rPr lang="en-US" dirty="0">
                          <a:solidFill>
                            <a:schemeClr val="accent2"/>
                          </a:solidFill>
                        </a:rPr>
                        <a:t>c</a:t>
                      </a:r>
                    </a:p>
                  </a:txBody>
                  <a:tcPr/>
                </a:tc>
                <a:tc>
                  <a:txBody>
                    <a:bodyPr/>
                    <a:lstStyle/>
                    <a:p>
                      <a:pPr algn="ctr"/>
                      <a:r>
                        <a:rPr lang="en-US" dirty="0">
                          <a:solidFill>
                            <a:schemeClr val="accent2"/>
                          </a:solidFill>
                        </a:rPr>
                        <a:t>h</a:t>
                      </a:r>
                    </a:p>
                  </a:txBody>
                  <a:tcPr/>
                </a:tc>
                <a:tc>
                  <a:txBody>
                    <a:bodyPr/>
                    <a:lstStyle/>
                    <a:p>
                      <a:pPr algn="ctr"/>
                      <a:r>
                        <a:rPr lang="en-US" dirty="0">
                          <a:solidFill>
                            <a:schemeClr val="accent2"/>
                          </a:solidFill>
                        </a:rPr>
                        <a:t>a</a:t>
                      </a:r>
                    </a:p>
                  </a:txBody>
                  <a:tcPr/>
                </a:tc>
                <a:tc>
                  <a:txBody>
                    <a:bodyPr/>
                    <a:lstStyle/>
                    <a:p>
                      <a:pPr algn="ctr"/>
                      <a:r>
                        <a:rPr lang="en-US" dirty="0" err="1">
                          <a:solidFill>
                            <a:schemeClr val="accent2"/>
                          </a:solidFill>
                        </a:rPr>
                        <a:t>i</a:t>
                      </a:r>
                      <a:endParaRPr lang="en-US" dirty="0">
                        <a:solidFill>
                          <a:schemeClr val="accent2"/>
                        </a:solidFill>
                      </a:endParaRPr>
                    </a:p>
                  </a:txBody>
                  <a:tcPr/>
                </a:tc>
                <a:extLst>
                  <a:ext uri="{0D108BD9-81ED-4DB2-BD59-A6C34878D82A}">
                    <a16:rowId xmlns:a16="http://schemas.microsoft.com/office/drawing/2014/main" val="3113891105"/>
                  </a:ext>
                </a:extLst>
              </a:tr>
              <a:tr h="370840">
                <a:tc>
                  <a:txBody>
                    <a:bodyPr/>
                    <a:lstStyle/>
                    <a:p>
                      <a:pPr algn="ctr"/>
                      <a:r>
                        <a:rPr lang="en-US" dirty="0">
                          <a:solidFill>
                            <a:schemeClr val="accent5"/>
                          </a:solidFill>
                        </a:rPr>
                        <a:t>83</a:t>
                      </a:r>
                    </a:p>
                  </a:txBody>
                  <a:tcPr/>
                </a:tc>
                <a:tc>
                  <a:txBody>
                    <a:bodyPr/>
                    <a:lstStyle/>
                    <a:p>
                      <a:pPr algn="ctr"/>
                      <a:r>
                        <a:rPr lang="en-US" dirty="0">
                          <a:solidFill>
                            <a:schemeClr val="accent5"/>
                          </a:solidFill>
                        </a:rPr>
                        <a:t>111</a:t>
                      </a:r>
                    </a:p>
                  </a:txBody>
                  <a:tcPr/>
                </a:tc>
                <a:tc>
                  <a:txBody>
                    <a:bodyPr/>
                    <a:lstStyle/>
                    <a:p>
                      <a:pPr algn="ctr"/>
                      <a:r>
                        <a:rPr lang="en-US" dirty="0">
                          <a:solidFill>
                            <a:schemeClr val="accent5"/>
                          </a:solidFill>
                        </a:rPr>
                        <a:t>109</a:t>
                      </a:r>
                    </a:p>
                  </a:txBody>
                  <a:tcPr/>
                </a:tc>
                <a:tc>
                  <a:txBody>
                    <a:bodyPr/>
                    <a:lstStyle/>
                    <a:p>
                      <a:pPr algn="ctr"/>
                      <a:r>
                        <a:rPr lang="en-US" dirty="0">
                          <a:solidFill>
                            <a:schemeClr val="accent5"/>
                          </a:solidFill>
                        </a:rPr>
                        <a:t>99</a:t>
                      </a:r>
                    </a:p>
                  </a:txBody>
                  <a:tcPr/>
                </a:tc>
                <a:tc>
                  <a:txBody>
                    <a:bodyPr/>
                    <a:lstStyle/>
                    <a:p>
                      <a:pPr algn="ctr"/>
                      <a:r>
                        <a:rPr lang="en-US" dirty="0">
                          <a:solidFill>
                            <a:schemeClr val="accent5"/>
                          </a:solidFill>
                        </a:rPr>
                        <a:t>104</a:t>
                      </a:r>
                    </a:p>
                  </a:txBody>
                  <a:tcPr/>
                </a:tc>
                <a:tc>
                  <a:txBody>
                    <a:bodyPr/>
                    <a:lstStyle/>
                    <a:p>
                      <a:pPr algn="ctr"/>
                      <a:r>
                        <a:rPr lang="en-US" dirty="0">
                          <a:solidFill>
                            <a:schemeClr val="accent5"/>
                          </a:solidFill>
                        </a:rPr>
                        <a:t>97</a:t>
                      </a:r>
                    </a:p>
                  </a:txBody>
                  <a:tcPr/>
                </a:tc>
                <a:tc>
                  <a:txBody>
                    <a:bodyPr/>
                    <a:lstStyle/>
                    <a:p>
                      <a:pPr algn="ctr"/>
                      <a:r>
                        <a:rPr lang="en-US" dirty="0">
                          <a:solidFill>
                            <a:schemeClr val="accent5"/>
                          </a:solidFill>
                        </a:rPr>
                        <a:t>105</a:t>
                      </a:r>
                    </a:p>
                  </a:txBody>
                  <a:tcPr/>
                </a:tc>
                <a:extLst>
                  <a:ext uri="{0D108BD9-81ED-4DB2-BD59-A6C34878D82A}">
                    <a16:rowId xmlns:a16="http://schemas.microsoft.com/office/drawing/2014/main" val="4272700869"/>
                  </a:ext>
                </a:extLst>
              </a:tr>
            </a:tbl>
          </a:graphicData>
        </a:graphic>
      </p:graphicFrame>
      <p:sp>
        <p:nvSpPr>
          <p:cNvPr id="6" name="Arrow: Right 5">
            <a:extLst>
              <a:ext uri="{FF2B5EF4-FFF2-40B4-BE49-F238E27FC236}">
                <a16:creationId xmlns:a16="http://schemas.microsoft.com/office/drawing/2014/main" id="{712EFDCD-D71F-E02D-ACAF-CE76740EB4E9}"/>
              </a:ext>
            </a:extLst>
          </p:cNvPr>
          <p:cNvSpPr/>
          <p:nvPr/>
        </p:nvSpPr>
        <p:spPr>
          <a:xfrm>
            <a:off x="2619377" y="4699490"/>
            <a:ext cx="528270" cy="369277"/>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F638A582-BCF7-BBF7-5526-9882346B471C}"/>
              </a:ext>
            </a:extLst>
          </p:cNvPr>
          <p:cNvSpPr/>
          <p:nvPr/>
        </p:nvSpPr>
        <p:spPr>
          <a:xfrm rot="5400000">
            <a:off x="5479930" y="5477961"/>
            <a:ext cx="528270" cy="369277"/>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CD792E9-09A3-4A31-81F3-FE443123E1B7}"/>
              </a:ext>
            </a:extLst>
          </p:cNvPr>
          <p:cNvSpPr txBox="1"/>
          <p:nvPr/>
        </p:nvSpPr>
        <p:spPr>
          <a:xfrm>
            <a:off x="3626830" y="5926734"/>
            <a:ext cx="4831373" cy="830997"/>
          </a:xfrm>
          <a:prstGeom prst="rect">
            <a:avLst/>
          </a:prstGeom>
          <a:noFill/>
        </p:spPr>
        <p:txBody>
          <a:bodyPr wrap="square" rtlCol="0">
            <a:spAutoFit/>
          </a:bodyPr>
          <a:lstStyle/>
          <a:p>
            <a:r>
              <a:rPr lang="en-US" sz="2400" dirty="0">
                <a:solidFill>
                  <a:schemeClr val="accent5"/>
                </a:solidFill>
              </a:rPr>
              <a:t>83</a:t>
            </a:r>
            <a:r>
              <a:rPr lang="en-US" sz="2400" dirty="0"/>
              <a:t>*</a:t>
            </a:r>
            <a:r>
              <a:rPr lang="en-US" sz="2400" dirty="0">
                <a:solidFill>
                  <a:schemeClr val="accent6"/>
                </a:solidFill>
              </a:rPr>
              <a:t>256</a:t>
            </a:r>
            <a:r>
              <a:rPr lang="en-US" sz="2400" baseline="30000" dirty="0">
                <a:solidFill>
                  <a:schemeClr val="accent6"/>
                </a:solidFill>
              </a:rPr>
              <a:t>6</a:t>
            </a:r>
            <a:r>
              <a:rPr lang="en-US" sz="2400" dirty="0"/>
              <a:t>+</a:t>
            </a:r>
            <a:r>
              <a:rPr lang="en-US" sz="2400" dirty="0">
                <a:solidFill>
                  <a:schemeClr val="accent5"/>
                </a:solidFill>
              </a:rPr>
              <a:t>111</a:t>
            </a:r>
            <a:r>
              <a:rPr lang="en-US" sz="2400" dirty="0"/>
              <a:t>*</a:t>
            </a:r>
            <a:r>
              <a:rPr lang="en-US" sz="2400" dirty="0">
                <a:solidFill>
                  <a:schemeClr val="accent6"/>
                </a:solidFill>
              </a:rPr>
              <a:t>256</a:t>
            </a:r>
            <a:r>
              <a:rPr lang="en-US" sz="2400" baseline="30000" dirty="0">
                <a:solidFill>
                  <a:schemeClr val="accent6"/>
                </a:solidFill>
              </a:rPr>
              <a:t>5</a:t>
            </a:r>
            <a:r>
              <a:rPr lang="en-US" sz="2400" dirty="0"/>
              <a:t>+</a:t>
            </a:r>
            <a:r>
              <a:rPr lang="en-US" sz="2400" dirty="0">
                <a:solidFill>
                  <a:schemeClr val="accent5"/>
                </a:solidFill>
              </a:rPr>
              <a:t>109</a:t>
            </a:r>
            <a:r>
              <a:rPr lang="en-US" sz="2400" dirty="0"/>
              <a:t>*</a:t>
            </a:r>
            <a:r>
              <a:rPr lang="en-US" sz="2400" dirty="0">
                <a:solidFill>
                  <a:schemeClr val="accent6"/>
                </a:solidFill>
              </a:rPr>
              <a:t>256</a:t>
            </a:r>
            <a:r>
              <a:rPr lang="en-US" sz="2400" baseline="30000" dirty="0">
                <a:solidFill>
                  <a:schemeClr val="accent6"/>
                </a:solidFill>
              </a:rPr>
              <a:t>4</a:t>
            </a:r>
            <a:r>
              <a:rPr lang="en-US" sz="2400" dirty="0"/>
              <a:t>+</a:t>
            </a:r>
            <a:br>
              <a:rPr lang="en-US" sz="2400" dirty="0"/>
            </a:br>
            <a:r>
              <a:rPr lang="en-US" sz="2400" dirty="0">
                <a:solidFill>
                  <a:schemeClr val="accent5"/>
                </a:solidFill>
              </a:rPr>
              <a:t>99</a:t>
            </a:r>
            <a:r>
              <a:rPr lang="en-US" sz="2400" dirty="0"/>
              <a:t>*</a:t>
            </a:r>
            <a:r>
              <a:rPr lang="en-US" sz="2400" dirty="0">
                <a:solidFill>
                  <a:schemeClr val="accent6"/>
                </a:solidFill>
              </a:rPr>
              <a:t>256</a:t>
            </a:r>
            <a:r>
              <a:rPr lang="en-US" sz="2400" baseline="30000" dirty="0">
                <a:solidFill>
                  <a:schemeClr val="accent6"/>
                </a:solidFill>
              </a:rPr>
              <a:t>3</a:t>
            </a:r>
            <a:r>
              <a:rPr lang="en-US" sz="2400" dirty="0"/>
              <a:t>+</a:t>
            </a:r>
            <a:r>
              <a:rPr lang="en-US" sz="2400" dirty="0">
                <a:solidFill>
                  <a:schemeClr val="accent5"/>
                </a:solidFill>
              </a:rPr>
              <a:t>104</a:t>
            </a:r>
            <a:r>
              <a:rPr lang="en-US" sz="2400" dirty="0"/>
              <a:t>*</a:t>
            </a:r>
            <a:r>
              <a:rPr lang="en-US" sz="2400" dirty="0">
                <a:solidFill>
                  <a:schemeClr val="accent6"/>
                </a:solidFill>
              </a:rPr>
              <a:t>256</a:t>
            </a:r>
            <a:r>
              <a:rPr lang="en-US" sz="2400" baseline="30000" dirty="0">
                <a:solidFill>
                  <a:schemeClr val="accent6"/>
                </a:solidFill>
              </a:rPr>
              <a:t>2</a:t>
            </a:r>
            <a:r>
              <a:rPr lang="en-US" sz="2400" dirty="0"/>
              <a:t>+  </a:t>
            </a:r>
            <a:r>
              <a:rPr lang="en-US" sz="2400" dirty="0">
                <a:solidFill>
                  <a:schemeClr val="accent5"/>
                </a:solidFill>
              </a:rPr>
              <a:t>97</a:t>
            </a:r>
            <a:r>
              <a:rPr lang="en-US" sz="2400" dirty="0"/>
              <a:t>*</a:t>
            </a:r>
            <a:r>
              <a:rPr lang="en-US" sz="2400" dirty="0">
                <a:solidFill>
                  <a:schemeClr val="accent6"/>
                </a:solidFill>
              </a:rPr>
              <a:t>256</a:t>
            </a:r>
            <a:r>
              <a:rPr lang="en-US" sz="2400" baseline="30000" dirty="0">
                <a:solidFill>
                  <a:schemeClr val="accent6"/>
                </a:solidFill>
              </a:rPr>
              <a:t>1</a:t>
            </a:r>
            <a:r>
              <a:rPr lang="en-US" sz="2400" dirty="0"/>
              <a:t>+</a:t>
            </a:r>
            <a:r>
              <a:rPr lang="en-US" sz="2400" dirty="0">
                <a:solidFill>
                  <a:schemeClr val="accent5"/>
                </a:solidFill>
              </a:rPr>
              <a:t>105</a:t>
            </a:r>
          </a:p>
        </p:txBody>
      </p:sp>
    </p:spTree>
    <p:extLst>
      <p:ext uri="{BB962C8B-B14F-4D97-AF65-F5344CB8AC3E}">
        <p14:creationId xmlns:p14="http://schemas.microsoft.com/office/powerpoint/2010/main" val="34906077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B8F1-2E4F-0DEC-8B63-CDAF56E162CB}"/>
              </a:ext>
            </a:extLst>
          </p:cNvPr>
          <p:cNvSpPr>
            <a:spLocks noGrp="1"/>
          </p:cNvSpPr>
          <p:nvPr>
            <p:ph type="title"/>
          </p:nvPr>
        </p:nvSpPr>
        <p:spPr/>
        <p:txBody>
          <a:bodyPr/>
          <a:lstStyle/>
          <a:p>
            <a:r>
              <a:rPr lang="en-US" dirty="0"/>
              <a:t>Hash Function for byte-array</a:t>
            </a:r>
          </a:p>
        </p:txBody>
      </p:sp>
      <p:sp>
        <p:nvSpPr>
          <p:cNvPr id="3" name="Content Placeholder 2">
            <a:extLst>
              <a:ext uri="{FF2B5EF4-FFF2-40B4-BE49-F238E27FC236}">
                <a16:creationId xmlns:a16="http://schemas.microsoft.com/office/drawing/2014/main" id="{1C72598D-3EAF-C0AB-14EE-0D51E53E2D80}"/>
              </a:ext>
            </a:extLst>
          </p:cNvPr>
          <p:cNvSpPr>
            <a:spLocks noGrp="1"/>
          </p:cNvSpPr>
          <p:nvPr>
            <p:ph idx="1"/>
          </p:nvPr>
        </p:nvSpPr>
        <p:spPr>
          <a:xfrm>
            <a:off x="838200" y="1358781"/>
            <a:ext cx="10515600" cy="3182446"/>
          </a:xfrm>
        </p:spPr>
        <p:txBody>
          <a:bodyPr>
            <a:normAutofit fontScale="85000" lnSpcReduction="10000"/>
          </a:bodyPr>
          <a:lstStyle/>
          <a:p>
            <a:r>
              <a:rPr lang="en-US" dirty="0"/>
              <a:t>Several algorithm are proposed as a hash function to convert an array of byte into a single integer</a:t>
            </a:r>
          </a:p>
          <a:p>
            <a:r>
              <a:rPr lang="en-US" dirty="0">
                <a:solidFill>
                  <a:schemeClr val="accent5"/>
                </a:solidFill>
              </a:rPr>
              <a:t>FNV</a:t>
            </a:r>
            <a:r>
              <a:rPr lang="en-US" dirty="0"/>
              <a:t> Hash function</a:t>
            </a:r>
          </a:p>
          <a:p>
            <a:pPr lvl="1"/>
            <a:r>
              <a:rPr lang="en-US" dirty="0"/>
              <a:t>Proposed by Glenn </a:t>
            </a:r>
            <a:r>
              <a:rPr lang="en-US" dirty="0">
                <a:solidFill>
                  <a:schemeClr val="accent5"/>
                </a:solidFill>
              </a:rPr>
              <a:t>F</a:t>
            </a:r>
            <a:r>
              <a:rPr lang="en-US" dirty="0"/>
              <a:t>owler, Landon Curt </a:t>
            </a:r>
            <a:r>
              <a:rPr lang="en-US" dirty="0">
                <a:solidFill>
                  <a:schemeClr val="accent5"/>
                </a:solidFill>
              </a:rPr>
              <a:t>N</a:t>
            </a:r>
            <a:r>
              <a:rPr lang="en-US" dirty="0"/>
              <a:t>oll, and Kiem-Phong </a:t>
            </a:r>
            <a:r>
              <a:rPr lang="en-US" dirty="0">
                <a:solidFill>
                  <a:schemeClr val="accent5"/>
                </a:solidFill>
              </a:rPr>
              <a:t>V</a:t>
            </a:r>
            <a:r>
              <a:rPr lang="en-US" dirty="0"/>
              <a:t>o</a:t>
            </a:r>
          </a:p>
          <a:p>
            <a:pPr lvl="1"/>
            <a:r>
              <a:rPr lang="en-US" dirty="0"/>
              <a:t>Current version is FNV-1a and were used in older version of GNU C++</a:t>
            </a:r>
          </a:p>
          <a:p>
            <a:pPr lvl="1"/>
            <a:r>
              <a:rPr lang="en-US" dirty="0"/>
              <a:t>It simply XOR result of each by </a:t>
            </a:r>
            <a:r>
              <a:rPr lang="en-US" dirty="0" err="1"/>
              <a:t>by</a:t>
            </a:r>
            <a:r>
              <a:rPr lang="en-US" dirty="0"/>
              <a:t> BASIS where each byte is also multiply by FNV_PRIME</a:t>
            </a:r>
          </a:p>
        </p:txBody>
      </p:sp>
      <p:sp>
        <p:nvSpPr>
          <p:cNvPr id="5" name="TextBox 4">
            <a:extLst>
              <a:ext uri="{FF2B5EF4-FFF2-40B4-BE49-F238E27FC236}">
                <a16:creationId xmlns:a16="http://schemas.microsoft.com/office/drawing/2014/main" id="{49FDCABD-E76F-0721-0592-1B7E596B510D}"/>
              </a:ext>
            </a:extLst>
          </p:cNvPr>
          <p:cNvSpPr txBox="1"/>
          <p:nvPr/>
        </p:nvSpPr>
        <p:spPr>
          <a:xfrm>
            <a:off x="1258399" y="4687947"/>
            <a:ext cx="5300663" cy="1754326"/>
          </a:xfrm>
          <a:prstGeom prst="rect">
            <a:avLst/>
          </a:prstGeom>
          <a:solidFill>
            <a:schemeClr val="bg1"/>
          </a:solidFill>
          <a:ln>
            <a:solidFill>
              <a:schemeClr val="accent1"/>
            </a:solidFill>
          </a:ln>
        </p:spPr>
        <p:txBody>
          <a:bodyPr wrap="square">
            <a:spAutoFit/>
          </a:bodyPr>
          <a:lstStyle/>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Fnv_hashes</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void*</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ptr</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len</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hash</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BASIS</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char</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cptr</a:t>
            </a:r>
            <a:r>
              <a:rPr lang="en-US" sz="1200" b="0" dirty="0">
                <a:solidFill>
                  <a:srgbClr val="D4D4D4"/>
                </a:solidFill>
                <a:effectLst/>
                <a:latin typeface="Monaspace Neon" pitchFamily="50" charset="0"/>
              </a:rPr>
              <a:t> = </a:t>
            </a:r>
            <a:r>
              <a:rPr lang="en-US" sz="1200" b="0" dirty="0" err="1">
                <a:solidFill>
                  <a:srgbClr val="569CD6"/>
                </a:solidFill>
                <a:effectLst/>
                <a:latin typeface="Monaspace Neon" pitchFamily="50" charset="0"/>
              </a:rPr>
              <a:t>static_cast</a:t>
            </a:r>
            <a:r>
              <a:rPr lang="en-US" sz="1200" b="0" dirty="0">
                <a:solidFill>
                  <a:srgbClr val="D4D4D4"/>
                </a:solidFill>
                <a:effectLst/>
                <a:latin typeface="Monaspace Neon" pitchFamily="50" charset="0"/>
              </a:rPr>
              <a:t>&lt;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char</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ptr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for</a:t>
            </a:r>
            <a:r>
              <a:rPr lang="en-US" sz="1200" b="0" dirty="0">
                <a:solidFill>
                  <a:srgbClr val="D4D4D4"/>
                </a:solidFill>
                <a:effectLst/>
                <a:latin typeface="Monaspace Neon" pitchFamily="50" charset="0"/>
              </a:rPr>
              <a:t> (; </a:t>
            </a:r>
            <a:r>
              <a:rPr lang="en-US" sz="1200" b="0" dirty="0" err="1">
                <a:solidFill>
                  <a:srgbClr val="9CDCFE"/>
                </a:solidFill>
                <a:effectLst/>
                <a:latin typeface="Monaspace Neon" pitchFamily="50" charset="0"/>
              </a:rPr>
              <a:t>len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len</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hash</a:t>
            </a:r>
            <a:r>
              <a:rPr lang="en-US" sz="1200" b="0" dirty="0">
                <a:solidFill>
                  <a:srgbClr val="D4D4D4"/>
                </a:solidFill>
                <a:effectLst/>
                <a:latin typeface="Monaspace Neon" pitchFamily="50" charset="0"/>
              </a:rPr>
              <a:t> ^= </a:t>
            </a:r>
            <a:r>
              <a:rPr lang="en-US" sz="1200" b="0" dirty="0" err="1">
                <a:solidFill>
                  <a:srgbClr val="569CD6"/>
                </a:solidFill>
                <a:effectLst/>
                <a:latin typeface="Monaspace Neon" pitchFamily="50" charset="0"/>
              </a:rPr>
              <a:t>static_cast</a:t>
            </a:r>
            <a:r>
              <a:rPr lang="en-US" sz="1200" b="0" dirty="0">
                <a:solidFill>
                  <a:srgbClr val="D4D4D4"/>
                </a:solidFill>
                <a:effectLst/>
                <a:latin typeface="Monaspace Neon" pitchFamily="50" charset="0"/>
              </a:rPr>
              <a:t>&lt;</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cptr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hash</a:t>
            </a:r>
            <a:r>
              <a:rPr lang="en-US" sz="1200" b="0" dirty="0">
                <a:solidFill>
                  <a:srgbClr val="D4D4D4"/>
                </a:solidFill>
                <a:effectLst/>
                <a:latin typeface="Monaspace Neon" pitchFamily="50" charset="0"/>
              </a:rPr>
              <a:t> *= </a:t>
            </a:r>
            <a:r>
              <a:rPr lang="en-US" sz="1200" b="0" dirty="0" err="1">
                <a:solidFill>
                  <a:srgbClr val="569CD6"/>
                </a:solidFill>
                <a:effectLst/>
                <a:latin typeface="Monaspace Neon" pitchFamily="50" charset="0"/>
              </a:rPr>
              <a:t>static_cast</a:t>
            </a:r>
            <a:r>
              <a:rPr lang="en-US" sz="1200" b="0" dirty="0">
                <a:solidFill>
                  <a:srgbClr val="D4D4D4"/>
                </a:solidFill>
                <a:effectLst/>
                <a:latin typeface="Monaspace Neon" pitchFamily="50" charset="0"/>
              </a:rPr>
              <a:t>&lt;</a:t>
            </a:r>
            <a:r>
              <a:rPr lang="en-US" sz="1200" b="0" dirty="0" err="1">
                <a:solidFill>
                  <a:srgbClr val="4EC9B0"/>
                </a:solidFill>
                <a:effectLst/>
                <a:latin typeface="Monaspace Neon" pitchFamily="50" charset="0"/>
              </a:rPr>
              <a:t>size_t</a:t>
            </a:r>
            <a:r>
              <a:rPr lang="en-US" sz="1200" b="0" dirty="0">
                <a:solidFill>
                  <a:srgbClr val="D4D4D4"/>
                </a:solidFill>
                <a:effectLst/>
                <a:latin typeface="Monaspace Neon" pitchFamily="50" charset="0"/>
              </a:rPr>
              <a:t>&gt;(</a:t>
            </a:r>
            <a:r>
              <a:rPr lang="en-US" sz="1200" b="0" dirty="0">
                <a:solidFill>
                  <a:srgbClr val="B5CEA8"/>
                </a:solidFill>
                <a:effectLst/>
                <a:latin typeface="Monaspace Neon" pitchFamily="50" charset="0"/>
              </a:rPr>
              <a:t>FNV_PRIME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hash</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p:txBody>
      </p:sp>
      <p:sp>
        <p:nvSpPr>
          <p:cNvPr id="6" name="Speech Bubble: Rectangle with Corners Rounded 5">
            <a:extLst>
              <a:ext uri="{FF2B5EF4-FFF2-40B4-BE49-F238E27FC236}">
                <a16:creationId xmlns:a16="http://schemas.microsoft.com/office/drawing/2014/main" id="{D15ACF7F-2C95-04CF-F3C4-B066E221611B}"/>
              </a:ext>
            </a:extLst>
          </p:cNvPr>
          <p:cNvSpPr/>
          <p:nvPr/>
        </p:nvSpPr>
        <p:spPr>
          <a:xfrm>
            <a:off x="5919423" y="5789263"/>
            <a:ext cx="4209315" cy="799730"/>
          </a:xfrm>
          <a:prstGeom prst="wedgeRoundRectCallout">
            <a:avLst>
              <a:gd name="adj1" fmla="val -55965"/>
              <a:gd name="adj2" fmla="val -30126"/>
              <a:gd name="adj3" fmla="val 16667"/>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800" b="0" dirty="0">
                <a:solidFill>
                  <a:srgbClr val="B5CEA8"/>
                </a:solidFill>
                <a:effectLst/>
                <a:latin typeface="Monaspace Neon" pitchFamily="50" charset="0"/>
              </a:rPr>
              <a:t>BASIS</a:t>
            </a:r>
            <a:r>
              <a:rPr lang="en-US" sz="1800" dirty="0"/>
              <a:t> is </a:t>
            </a:r>
            <a:r>
              <a:rPr lang="en-US" sz="1800" b="0" dirty="0">
                <a:solidFill>
                  <a:srgbClr val="B5CEA8"/>
                </a:solidFill>
                <a:effectLst/>
                <a:latin typeface="Monaspace Neon" pitchFamily="50" charset="0"/>
              </a:rPr>
              <a:t>2166136261UL</a:t>
            </a:r>
          </a:p>
          <a:p>
            <a:pPr algn="ctr"/>
            <a:r>
              <a:rPr lang="en-US" sz="1800" dirty="0">
                <a:solidFill>
                  <a:srgbClr val="B5CEA8"/>
                </a:solidFill>
                <a:latin typeface="Monaspace Neon" pitchFamily="50" charset="0"/>
              </a:rPr>
              <a:t>FNV_PRIME</a:t>
            </a:r>
            <a:r>
              <a:rPr lang="en-US" sz="1800" dirty="0"/>
              <a:t> is </a:t>
            </a:r>
            <a:r>
              <a:rPr lang="en-US" sz="1800" b="0" dirty="0">
                <a:solidFill>
                  <a:srgbClr val="B5CEA8"/>
                </a:solidFill>
                <a:effectLst/>
                <a:latin typeface="Monaspace Neon" pitchFamily="50" charset="0"/>
              </a:rPr>
              <a:t>1099511628211ULL</a:t>
            </a:r>
            <a:endParaRPr lang="en-US" sz="1800" dirty="0"/>
          </a:p>
        </p:txBody>
      </p:sp>
    </p:spTree>
    <p:extLst>
      <p:ext uri="{BB962C8B-B14F-4D97-AF65-F5344CB8AC3E}">
        <p14:creationId xmlns:p14="http://schemas.microsoft.com/office/powerpoint/2010/main" val="20025182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112BB-F06C-5877-8B59-BC63C31D5F8B}"/>
              </a:ext>
            </a:extLst>
          </p:cNvPr>
          <p:cNvSpPr>
            <a:spLocks noGrp="1"/>
          </p:cNvSpPr>
          <p:nvPr>
            <p:ph type="title"/>
          </p:nvPr>
        </p:nvSpPr>
        <p:spPr/>
        <p:txBody>
          <a:bodyPr/>
          <a:lstStyle/>
          <a:p>
            <a:r>
              <a:rPr lang="en-US" dirty="0"/>
              <a:t>Hash Function for byte-array</a:t>
            </a:r>
          </a:p>
        </p:txBody>
      </p:sp>
      <p:sp>
        <p:nvSpPr>
          <p:cNvPr id="3" name="Content Placeholder 2">
            <a:extLst>
              <a:ext uri="{FF2B5EF4-FFF2-40B4-BE49-F238E27FC236}">
                <a16:creationId xmlns:a16="http://schemas.microsoft.com/office/drawing/2014/main" id="{2F5A054D-5E2B-C7F9-B332-82623CE33FE0}"/>
              </a:ext>
            </a:extLst>
          </p:cNvPr>
          <p:cNvSpPr>
            <a:spLocks noGrp="1"/>
          </p:cNvSpPr>
          <p:nvPr>
            <p:ph idx="1"/>
          </p:nvPr>
        </p:nvSpPr>
        <p:spPr>
          <a:xfrm>
            <a:off x="838200" y="1358781"/>
            <a:ext cx="5993423" cy="5016382"/>
          </a:xfrm>
        </p:spPr>
        <p:txBody>
          <a:bodyPr>
            <a:normAutofit fontScale="92500" lnSpcReduction="20000"/>
          </a:bodyPr>
          <a:lstStyle/>
          <a:p>
            <a:r>
              <a:rPr lang="en-US" dirty="0"/>
              <a:t>In GNU C++, the algorithm to convert byte-array into a hash value is </a:t>
            </a:r>
            <a:r>
              <a:rPr lang="en-US" dirty="0">
                <a:solidFill>
                  <a:schemeClr val="accent6"/>
                </a:solidFill>
              </a:rPr>
              <a:t>Murmur Hash Function</a:t>
            </a:r>
          </a:p>
          <a:p>
            <a:r>
              <a:rPr lang="en-US" dirty="0"/>
              <a:t>Similar to </a:t>
            </a:r>
            <a:r>
              <a:rPr lang="en-US" dirty="0">
                <a:solidFill>
                  <a:schemeClr val="accent5"/>
                </a:solidFill>
              </a:rPr>
              <a:t>FNV</a:t>
            </a:r>
            <a:r>
              <a:rPr lang="en-US" dirty="0"/>
              <a:t>, it perform some bit-wise operation (XOR, ROL, MUL) on each bit with some magic number, starting with a seed</a:t>
            </a:r>
          </a:p>
          <a:p>
            <a:pPr lvl="1"/>
            <a:r>
              <a:rPr lang="en-US" dirty="0"/>
              <a:t>Murmur works with group of 4 bytes</a:t>
            </a:r>
          </a:p>
          <a:p>
            <a:r>
              <a:rPr lang="en-US" dirty="0"/>
              <a:t>Both </a:t>
            </a:r>
            <a:r>
              <a:rPr lang="en-US" dirty="0">
                <a:solidFill>
                  <a:schemeClr val="accent6"/>
                </a:solidFill>
              </a:rPr>
              <a:t>FNV</a:t>
            </a:r>
            <a:r>
              <a:rPr lang="en-US" dirty="0"/>
              <a:t> and </a:t>
            </a:r>
            <a:r>
              <a:rPr lang="en-US" dirty="0">
                <a:solidFill>
                  <a:schemeClr val="accent5"/>
                </a:solidFill>
              </a:rPr>
              <a:t>Murmur</a:t>
            </a:r>
            <a:r>
              <a:rPr lang="en-US" dirty="0"/>
              <a:t> try to scramble data to get </a:t>
            </a:r>
            <a:r>
              <a:rPr lang="en-US" dirty="0">
                <a:solidFill>
                  <a:schemeClr val="accent4"/>
                </a:solidFill>
              </a:rPr>
              <a:t>avalanche effect</a:t>
            </a:r>
          </a:p>
          <a:p>
            <a:pPr lvl="1"/>
            <a:endParaRPr lang="en-US" dirty="0"/>
          </a:p>
        </p:txBody>
      </p:sp>
      <p:sp>
        <p:nvSpPr>
          <p:cNvPr id="9" name="TextBox 8">
            <a:extLst>
              <a:ext uri="{FF2B5EF4-FFF2-40B4-BE49-F238E27FC236}">
                <a16:creationId xmlns:a16="http://schemas.microsoft.com/office/drawing/2014/main" id="{2B78A1CB-B57A-9F44-55D9-BFCA3AF50372}"/>
              </a:ext>
            </a:extLst>
          </p:cNvPr>
          <p:cNvSpPr txBox="1"/>
          <p:nvPr/>
        </p:nvSpPr>
        <p:spPr>
          <a:xfrm>
            <a:off x="6925042" y="1118077"/>
            <a:ext cx="4491770" cy="3108543"/>
          </a:xfrm>
          <a:prstGeom prst="rect">
            <a:avLst/>
          </a:prstGeom>
          <a:solidFill>
            <a:schemeClr val="bg1"/>
          </a:solidFill>
          <a:ln>
            <a:solidFill>
              <a:schemeClr val="accent1"/>
            </a:solidFill>
          </a:ln>
        </p:spPr>
        <p:txBody>
          <a:bodyPr wrap="square">
            <a:spAutoFit/>
          </a:bodyPr>
          <a:lstStyle/>
          <a:p>
            <a:r>
              <a:rPr lang="en-US" sz="1400" b="0" dirty="0" err="1">
                <a:solidFill>
                  <a:srgbClr val="4EC9B0"/>
                </a:solidFill>
                <a:effectLst/>
                <a:latin typeface="Monaspace Neon" pitchFamily="50" charset="0"/>
              </a:rPr>
              <a:t>size_t</a:t>
            </a:r>
            <a:r>
              <a:rPr lang="en-US" sz="1400" b="0" dirty="0">
                <a:solidFill>
                  <a:srgbClr val="D4D4D4"/>
                </a:solidFill>
                <a:effectLst/>
                <a:latin typeface="Monaspace Neon" pitchFamily="50" charset="0"/>
              </a:rPr>
              <a:t> </a:t>
            </a:r>
            <a:r>
              <a:rPr lang="en-US" sz="1400" b="0" dirty="0">
                <a:solidFill>
                  <a:srgbClr val="9CDCFE"/>
                </a:solidFill>
                <a:effectLst/>
                <a:latin typeface="Monaspace Neon" pitchFamily="50" charset="0"/>
              </a:rPr>
              <a:t>hash</a:t>
            </a:r>
            <a:r>
              <a:rPr lang="en-US" sz="1400" b="0" dirty="0">
                <a:solidFill>
                  <a:srgbClr val="D4D4D4"/>
                </a:solidFill>
                <a:effectLst/>
                <a:latin typeface="Monaspace Neon" pitchFamily="50" charset="0"/>
              </a:rPr>
              <a:t> = </a:t>
            </a:r>
            <a:r>
              <a:rPr lang="en-US" sz="1400" b="0" dirty="0">
                <a:solidFill>
                  <a:srgbClr val="B5CEA8"/>
                </a:solidFill>
                <a:effectLst/>
                <a:latin typeface="Monaspace Neon" pitchFamily="50" charset="0"/>
              </a:rPr>
              <a:t>0xc70f6907UL</a:t>
            </a:r>
            <a:r>
              <a:rPr lang="en-US" sz="1400" b="0" dirty="0">
                <a:solidFill>
                  <a:srgbClr val="D4D4D4"/>
                </a:solidFill>
                <a:effectLst/>
                <a:latin typeface="Monaspace Neon" pitchFamily="50" charset="0"/>
              </a:rPr>
              <a:t>;</a:t>
            </a:r>
          </a:p>
          <a:p>
            <a:r>
              <a:rPr lang="en-US" sz="1400" b="0" dirty="0">
                <a:solidFill>
                  <a:srgbClr val="C586C0"/>
                </a:solidFill>
                <a:effectLst/>
                <a:latin typeface="Monaspace Neon" pitchFamily="50" charset="0"/>
              </a:rPr>
              <a:t>while</a:t>
            </a:r>
            <a:r>
              <a:rPr lang="en-US" sz="1400" b="0" dirty="0">
                <a:solidFill>
                  <a:srgbClr val="D4D4D4"/>
                </a:solidFill>
                <a:effectLst/>
                <a:latin typeface="Monaspace Neon" pitchFamily="50" charset="0"/>
              </a:rPr>
              <a:t> (</a:t>
            </a:r>
            <a:r>
              <a:rPr lang="en-US" sz="1400" b="0" dirty="0">
                <a:solidFill>
                  <a:srgbClr val="DCDCAA"/>
                </a:solidFill>
                <a:effectLst/>
                <a:latin typeface="Monaspace Neon" pitchFamily="50" charset="0"/>
              </a:rPr>
              <a:t>has_more_4_bytes_to_hash</a:t>
            </a:r>
            <a:r>
              <a:rPr lang="en-US" sz="1400" b="0" dirty="0">
                <a:solidFill>
                  <a:srgbClr val="D4D4D4"/>
                </a:solidFill>
                <a:effectLst/>
                <a:latin typeface="Monaspace Neon" pitchFamily="50" charset="0"/>
              </a:rPr>
              <a:t>()) {</a:t>
            </a:r>
          </a:p>
          <a:p>
            <a:r>
              <a:rPr lang="en-US" sz="1400" b="0" dirty="0">
                <a:solidFill>
                  <a:srgbClr val="D4D4D4"/>
                </a:solidFill>
                <a:effectLst/>
                <a:latin typeface="Monaspace Neon" pitchFamily="50" charset="0"/>
              </a:rPr>
              <a:t>  k = </a:t>
            </a:r>
            <a:r>
              <a:rPr lang="en-US" sz="1400" b="0" dirty="0">
                <a:solidFill>
                  <a:srgbClr val="DCDCAA"/>
                </a:solidFill>
                <a:effectLst/>
                <a:latin typeface="Monaspace Neon" pitchFamily="50" charset="0"/>
              </a:rPr>
              <a:t>take_4_bytes_from_data</a:t>
            </a:r>
            <a:r>
              <a:rPr lang="en-US" sz="1400" b="0" dirty="0">
                <a:solidFill>
                  <a:srgbClr val="D4D4D4"/>
                </a:solidFill>
                <a:effectLst/>
                <a:latin typeface="Monaspace Neon" pitchFamily="50" charset="0"/>
              </a:rPr>
              <a:t>();</a:t>
            </a:r>
          </a:p>
          <a:p>
            <a:r>
              <a:rPr lang="en-US" sz="1400" b="0" dirty="0">
                <a:solidFill>
                  <a:srgbClr val="6A9955"/>
                </a:solidFill>
                <a:effectLst/>
                <a:latin typeface="Monaspace Neon" pitchFamily="50" charset="0"/>
              </a:rPr>
              <a:t>  //k is a group of 4 bytes</a:t>
            </a:r>
            <a:endParaRPr lang="en-US" sz="1400" b="0" dirty="0">
              <a:solidFill>
                <a:srgbClr val="D4D4D4"/>
              </a:solidFill>
              <a:effectLst/>
              <a:latin typeface="Monaspace Neon" pitchFamily="50" charset="0"/>
            </a:endParaRPr>
          </a:p>
          <a:p>
            <a:r>
              <a:rPr lang="en-US" sz="1400" b="0" dirty="0">
                <a:solidFill>
                  <a:srgbClr val="D4D4D4"/>
                </a:solidFill>
                <a:effectLst/>
                <a:latin typeface="Monaspace Neon" pitchFamily="50" charset="0"/>
              </a:rPr>
              <a:t>  k *= </a:t>
            </a:r>
            <a:r>
              <a:rPr lang="en-US" sz="1400" b="0" dirty="0">
                <a:solidFill>
                  <a:srgbClr val="B5CEA8"/>
                </a:solidFill>
                <a:effectLst/>
                <a:latin typeface="Monaspace Neon" pitchFamily="50" charset="0"/>
              </a:rPr>
              <a:t>0xcc9e2d51</a:t>
            </a:r>
            <a:r>
              <a:rPr lang="en-US" sz="1400" b="0" dirty="0">
                <a:solidFill>
                  <a:srgbClr val="D4D4D4"/>
                </a:solidFill>
                <a:effectLst/>
                <a:latin typeface="Monaspace Neon" pitchFamily="50" charset="0"/>
              </a:rPr>
              <a:t>;</a:t>
            </a:r>
          </a:p>
          <a:p>
            <a:r>
              <a:rPr lang="en-US" sz="1400" b="0" dirty="0">
                <a:solidFill>
                  <a:srgbClr val="D4D4D4"/>
                </a:solidFill>
                <a:effectLst/>
                <a:latin typeface="Monaspace Neon" pitchFamily="50" charset="0"/>
              </a:rPr>
              <a:t>  k = (k &lt;&lt; </a:t>
            </a:r>
            <a:r>
              <a:rPr lang="en-US" sz="1400" b="0" dirty="0">
                <a:solidFill>
                  <a:srgbClr val="B5CEA8"/>
                </a:solidFill>
                <a:effectLst/>
                <a:latin typeface="Monaspace Neon" pitchFamily="50" charset="0"/>
              </a:rPr>
              <a:t>15</a:t>
            </a:r>
            <a:r>
              <a:rPr lang="en-US" sz="1400" b="0" dirty="0">
                <a:solidFill>
                  <a:srgbClr val="D4D4D4"/>
                </a:solidFill>
                <a:effectLst/>
                <a:latin typeface="Monaspace Neon" pitchFamily="50" charset="0"/>
              </a:rPr>
              <a:t>) | (k &gt;&gt; </a:t>
            </a:r>
            <a:r>
              <a:rPr lang="en-US" sz="1400" b="0" dirty="0">
                <a:solidFill>
                  <a:srgbClr val="B5CEA8"/>
                </a:solidFill>
                <a:effectLst/>
                <a:latin typeface="Monaspace Neon" pitchFamily="50" charset="0"/>
              </a:rPr>
              <a:t>17</a:t>
            </a:r>
            <a:r>
              <a:rPr lang="en-US" sz="1400" b="0" dirty="0">
                <a:solidFill>
                  <a:srgbClr val="D4D4D4"/>
                </a:solidFill>
                <a:effectLst/>
                <a:latin typeface="Monaspace Neon" pitchFamily="50" charset="0"/>
              </a:rPr>
              <a:t>);</a:t>
            </a:r>
          </a:p>
          <a:p>
            <a:r>
              <a:rPr lang="en-US" sz="1400" b="0" dirty="0">
                <a:solidFill>
                  <a:srgbClr val="D4D4D4"/>
                </a:solidFill>
                <a:effectLst/>
                <a:latin typeface="Monaspace Neon" pitchFamily="50" charset="0"/>
              </a:rPr>
              <a:t>  k *= </a:t>
            </a:r>
            <a:r>
              <a:rPr lang="en-US" sz="1400" b="0" dirty="0">
                <a:solidFill>
                  <a:srgbClr val="B5CEA8"/>
                </a:solidFill>
                <a:effectLst/>
                <a:latin typeface="Monaspace Neon" pitchFamily="50" charset="0"/>
              </a:rPr>
              <a:t>0x1b873593</a:t>
            </a:r>
            <a:r>
              <a:rPr lang="en-US" sz="1400" b="0" dirty="0">
                <a:solidFill>
                  <a:srgbClr val="D4D4D4"/>
                </a:solidFill>
                <a:effectLst/>
                <a:latin typeface="Monaspace Neon" pitchFamily="50" charset="0"/>
              </a:rPr>
              <a:t>;</a:t>
            </a:r>
          </a:p>
          <a:p>
            <a:r>
              <a:rPr lang="en-US" sz="1400" b="0" dirty="0">
                <a:solidFill>
                  <a:srgbClr val="D4D4D4"/>
                </a:solidFill>
                <a:effectLst/>
                <a:latin typeface="Monaspace Neon" pitchFamily="50" charset="0"/>
              </a:rPr>
              <a:t>  hash ^= k</a:t>
            </a:r>
          </a:p>
          <a:p>
            <a:r>
              <a:rPr lang="en-US" sz="1400" b="0" dirty="0">
                <a:solidFill>
                  <a:srgbClr val="D4D4D4"/>
                </a:solidFill>
                <a:effectLst/>
                <a:latin typeface="Monaspace Neon" pitchFamily="50" charset="0"/>
              </a:rPr>
              <a:t>  hash = (h &lt;&lt; </a:t>
            </a:r>
            <a:r>
              <a:rPr lang="en-US" sz="1400" b="0" dirty="0">
                <a:solidFill>
                  <a:srgbClr val="B5CEA8"/>
                </a:solidFill>
                <a:effectLst/>
                <a:latin typeface="Monaspace Neon" pitchFamily="50" charset="0"/>
              </a:rPr>
              <a:t>13</a:t>
            </a:r>
            <a:r>
              <a:rPr lang="en-US" sz="1400" b="0" dirty="0">
                <a:solidFill>
                  <a:srgbClr val="D4D4D4"/>
                </a:solidFill>
                <a:effectLst/>
                <a:latin typeface="Monaspace Neon" pitchFamily="50" charset="0"/>
              </a:rPr>
              <a:t>) | (h &gt;&gt; </a:t>
            </a:r>
            <a:r>
              <a:rPr lang="en-US" sz="1400" b="0" dirty="0">
                <a:solidFill>
                  <a:srgbClr val="B5CEA8"/>
                </a:solidFill>
                <a:effectLst/>
                <a:latin typeface="Monaspace Neon" pitchFamily="50" charset="0"/>
              </a:rPr>
              <a:t>19</a:t>
            </a:r>
            <a:r>
              <a:rPr lang="en-US" sz="1400" b="0" dirty="0">
                <a:solidFill>
                  <a:srgbClr val="D4D4D4"/>
                </a:solidFill>
                <a:effectLst/>
                <a:latin typeface="Monaspace Neon" pitchFamily="50" charset="0"/>
              </a:rPr>
              <a:t>);</a:t>
            </a:r>
          </a:p>
          <a:p>
            <a:r>
              <a:rPr lang="en-US" sz="1400" b="0" dirty="0">
                <a:solidFill>
                  <a:srgbClr val="D4D4D4"/>
                </a:solidFill>
                <a:effectLst/>
                <a:latin typeface="Monaspace Neon" pitchFamily="50" charset="0"/>
              </a:rPr>
              <a:t>  hash = h * </a:t>
            </a:r>
            <a:r>
              <a:rPr lang="en-US" sz="1400" b="0" dirty="0">
                <a:solidFill>
                  <a:srgbClr val="B5CEA8"/>
                </a:solidFill>
                <a:effectLst/>
                <a:latin typeface="Monaspace Neon" pitchFamily="50" charset="0"/>
              </a:rPr>
              <a:t>5</a:t>
            </a:r>
            <a:r>
              <a:rPr lang="en-US" sz="1400" b="0" dirty="0">
                <a:solidFill>
                  <a:srgbClr val="D4D4D4"/>
                </a:solidFill>
                <a:effectLst/>
                <a:latin typeface="Monaspace Neon" pitchFamily="50" charset="0"/>
              </a:rPr>
              <a:t> + </a:t>
            </a:r>
            <a:r>
              <a:rPr lang="en-US" sz="1400" b="0" dirty="0">
                <a:solidFill>
                  <a:srgbClr val="B5CEA8"/>
                </a:solidFill>
                <a:effectLst/>
                <a:latin typeface="Monaspace Neon" pitchFamily="50" charset="0"/>
              </a:rPr>
              <a:t>0xe6546b64</a:t>
            </a:r>
            <a:r>
              <a:rPr lang="en-US" sz="1400" b="0" dirty="0">
                <a:solidFill>
                  <a:srgbClr val="D4D4D4"/>
                </a:solidFill>
                <a:effectLst/>
                <a:latin typeface="Monaspace Neon" pitchFamily="50" charset="0"/>
              </a:rPr>
              <a:t>;</a:t>
            </a:r>
          </a:p>
          <a:p>
            <a:r>
              <a:rPr lang="en-US" sz="1400" b="0" dirty="0">
                <a:solidFill>
                  <a:srgbClr val="D4D4D4"/>
                </a:solidFill>
                <a:effectLst/>
                <a:latin typeface="Monaspace Neon" pitchFamily="50" charset="0"/>
              </a:rPr>
              <a:t>}</a:t>
            </a:r>
          </a:p>
          <a:p>
            <a:br>
              <a:rPr lang="en-US" sz="1400" b="0" dirty="0">
                <a:solidFill>
                  <a:srgbClr val="D4D4D4"/>
                </a:solidFill>
                <a:effectLst/>
                <a:latin typeface="Monaspace Neon" pitchFamily="50" charset="0"/>
              </a:rPr>
            </a:br>
            <a:r>
              <a:rPr lang="en-US" sz="1400" b="0" dirty="0">
                <a:solidFill>
                  <a:srgbClr val="6A9955"/>
                </a:solidFill>
                <a:effectLst/>
                <a:latin typeface="Monaspace Neon" pitchFamily="50" charset="0"/>
              </a:rPr>
              <a:t>// more must be done when </a:t>
            </a:r>
          </a:p>
          <a:p>
            <a:r>
              <a:rPr lang="en-US" sz="1400" b="0" dirty="0">
                <a:solidFill>
                  <a:srgbClr val="6A9955"/>
                </a:solidFill>
                <a:effectLst/>
                <a:latin typeface="Monaspace Neon" pitchFamily="50" charset="0"/>
              </a:rPr>
              <a:t>// there are less than 4 bytes remain</a:t>
            </a:r>
            <a:endParaRPr lang="en-US" sz="1400" b="0" dirty="0">
              <a:solidFill>
                <a:srgbClr val="D4D4D4"/>
              </a:solidFill>
              <a:effectLst/>
              <a:latin typeface="Monaspace Neon" pitchFamily="50" charset="0"/>
            </a:endParaRPr>
          </a:p>
        </p:txBody>
      </p:sp>
    </p:spTree>
    <p:extLst>
      <p:ext uri="{BB962C8B-B14F-4D97-AF65-F5344CB8AC3E}">
        <p14:creationId xmlns:p14="http://schemas.microsoft.com/office/powerpoint/2010/main" val="37894354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0EB3-91D5-DE8F-C95F-8B95264C6F05}"/>
              </a:ext>
            </a:extLst>
          </p:cNvPr>
          <p:cNvSpPr>
            <a:spLocks noGrp="1"/>
          </p:cNvSpPr>
          <p:nvPr>
            <p:ph type="title"/>
          </p:nvPr>
        </p:nvSpPr>
        <p:spPr/>
        <p:txBody>
          <a:bodyPr/>
          <a:lstStyle/>
          <a:p>
            <a:r>
              <a:rPr lang="en-US" dirty="0"/>
              <a:t>Cryptographic Hash Function</a:t>
            </a:r>
          </a:p>
        </p:txBody>
      </p:sp>
      <p:sp>
        <p:nvSpPr>
          <p:cNvPr id="3" name="Content Placeholder 2">
            <a:extLst>
              <a:ext uri="{FF2B5EF4-FFF2-40B4-BE49-F238E27FC236}">
                <a16:creationId xmlns:a16="http://schemas.microsoft.com/office/drawing/2014/main" id="{4C5C154D-CC92-8628-C0BD-F5C205838828}"/>
              </a:ext>
            </a:extLst>
          </p:cNvPr>
          <p:cNvSpPr>
            <a:spLocks noGrp="1"/>
          </p:cNvSpPr>
          <p:nvPr>
            <p:ph idx="1"/>
          </p:nvPr>
        </p:nvSpPr>
        <p:spPr>
          <a:xfrm>
            <a:off x="838199" y="1358781"/>
            <a:ext cx="10345615" cy="3371481"/>
          </a:xfrm>
        </p:spPr>
        <p:txBody>
          <a:bodyPr>
            <a:normAutofit fontScale="70000" lnSpcReduction="20000"/>
          </a:bodyPr>
          <a:lstStyle/>
          <a:p>
            <a:r>
              <a:rPr lang="en-US" dirty="0"/>
              <a:t>There is a similar function called </a:t>
            </a:r>
            <a:r>
              <a:rPr lang="en-US" dirty="0">
                <a:solidFill>
                  <a:schemeClr val="accent4"/>
                </a:solidFill>
              </a:rPr>
              <a:t>cryptographic hash function </a:t>
            </a:r>
            <a:r>
              <a:rPr lang="en-US" dirty="0"/>
              <a:t>(CHF) which essentially the same as a hash function, but the output is a string of fixed length</a:t>
            </a:r>
          </a:p>
          <a:p>
            <a:pPr lvl="1"/>
            <a:r>
              <a:rPr lang="en-US" dirty="0"/>
              <a:t>The </a:t>
            </a:r>
            <a:r>
              <a:rPr lang="en-US" dirty="0">
                <a:solidFill>
                  <a:schemeClr val="accent4"/>
                </a:solidFill>
              </a:rPr>
              <a:t>CHF</a:t>
            </a:r>
            <a:r>
              <a:rPr lang="en-US" dirty="0"/>
              <a:t> is very hard to find an inverse, i.e., computing x from h(x) is hard</a:t>
            </a:r>
          </a:p>
          <a:p>
            <a:pPr lvl="1"/>
            <a:r>
              <a:rPr lang="en-US" dirty="0"/>
              <a:t>The main usage is to check integrity of a data, to check that x == y, we simply check h(x) == h(y)</a:t>
            </a:r>
          </a:p>
          <a:p>
            <a:pPr lvl="2"/>
            <a:r>
              <a:rPr lang="en-US" dirty="0"/>
              <a:t>Consider checking a large file downloaded over an insecure connection. Instead of comparing the entire content of a file, we check if the value of CHF of the download file match the CHF of the original file.</a:t>
            </a:r>
          </a:p>
          <a:p>
            <a:pPr lvl="1"/>
            <a:r>
              <a:rPr lang="en-US" dirty="0"/>
              <a:t>Some well-known CHFs are </a:t>
            </a:r>
            <a:r>
              <a:rPr lang="en-US" dirty="0">
                <a:solidFill>
                  <a:schemeClr val="accent5"/>
                </a:solidFill>
              </a:rPr>
              <a:t>MD5</a:t>
            </a:r>
            <a:r>
              <a:rPr lang="en-US" dirty="0"/>
              <a:t>, </a:t>
            </a:r>
            <a:r>
              <a:rPr lang="en-US" dirty="0">
                <a:solidFill>
                  <a:schemeClr val="accent3"/>
                </a:solidFill>
              </a:rPr>
              <a:t>SHA1</a:t>
            </a:r>
            <a:r>
              <a:rPr lang="en-US" dirty="0"/>
              <a:t>, </a:t>
            </a:r>
            <a:r>
              <a:rPr lang="en-US" dirty="0">
                <a:solidFill>
                  <a:schemeClr val="accent6"/>
                </a:solidFill>
              </a:rPr>
              <a:t>SHA256</a:t>
            </a:r>
          </a:p>
          <a:p>
            <a:r>
              <a:rPr lang="en-US" dirty="0">
                <a:solidFill>
                  <a:schemeClr val="accent4"/>
                </a:solidFill>
              </a:rPr>
              <a:t>CHF</a:t>
            </a:r>
            <a:r>
              <a:rPr lang="en-US" dirty="0"/>
              <a:t>, while seems to be uniformly distributed and pattern-less, it takes noticeable time to compute</a:t>
            </a:r>
          </a:p>
        </p:txBody>
      </p:sp>
      <p:graphicFrame>
        <p:nvGraphicFramePr>
          <p:cNvPr id="4" name="Table 3">
            <a:extLst>
              <a:ext uri="{FF2B5EF4-FFF2-40B4-BE49-F238E27FC236}">
                <a16:creationId xmlns:a16="http://schemas.microsoft.com/office/drawing/2014/main" id="{3DD39EDC-42D9-2BAF-BF7C-7D4089E9C058}"/>
              </a:ext>
            </a:extLst>
          </p:cNvPr>
          <p:cNvGraphicFramePr>
            <a:graphicFrameLocks noGrp="1"/>
          </p:cNvGraphicFramePr>
          <p:nvPr>
            <p:extLst>
              <p:ext uri="{D42A27DB-BD31-4B8C-83A1-F6EECF244321}">
                <p14:modId xmlns:p14="http://schemas.microsoft.com/office/powerpoint/2010/main" val="545936294"/>
              </p:ext>
            </p:extLst>
          </p:nvPr>
        </p:nvGraphicFramePr>
        <p:xfrm>
          <a:off x="341433" y="4605865"/>
          <a:ext cx="10178562" cy="2150539"/>
        </p:xfrm>
        <a:graphic>
          <a:graphicData uri="http://schemas.openxmlformats.org/drawingml/2006/table">
            <a:tbl>
              <a:tblPr firstRow="1" firstCol="1" bandRow="1">
                <a:tableStyleId>{7DF18680-E054-41AD-8BC1-D1AEF772440D}</a:tableStyleId>
              </a:tblPr>
              <a:tblGrid>
                <a:gridCol w="887658">
                  <a:extLst>
                    <a:ext uri="{9D8B030D-6E8A-4147-A177-3AD203B41FA5}">
                      <a16:colId xmlns:a16="http://schemas.microsoft.com/office/drawing/2014/main" val="2708071051"/>
                    </a:ext>
                  </a:extLst>
                </a:gridCol>
                <a:gridCol w="2322726">
                  <a:extLst>
                    <a:ext uri="{9D8B030D-6E8A-4147-A177-3AD203B41FA5}">
                      <a16:colId xmlns:a16="http://schemas.microsoft.com/office/drawing/2014/main" val="4246386930"/>
                    </a:ext>
                  </a:extLst>
                </a:gridCol>
                <a:gridCol w="2322726">
                  <a:extLst>
                    <a:ext uri="{9D8B030D-6E8A-4147-A177-3AD203B41FA5}">
                      <a16:colId xmlns:a16="http://schemas.microsoft.com/office/drawing/2014/main" val="334446445"/>
                    </a:ext>
                  </a:extLst>
                </a:gridCol>
                <a:gridCol w="2322726">
                  <a:extLst>
                    <a:ext uri="{9D8B030D-6E8A-4147-A177-3AD203B41FA5}">
                      <a16:colId xmlns:a16="http://schemas.microsoft.com/office/drawing/2014/main" val="2280151094"/>
                    </a:ext>
                  </a:extLst>
                </a:gridCol>
                <a:gridCol w="2322726">
                  <a:extLst>
                    <a:ext uri="{9D8B030D-6E8A-4147-A177-3AD203B41FA5}">
                      <a16:colId xmlns:a16="http://schemas.microsoft.com/office/drawing/2014/main" val="2003879331"/>
                    </a:ext>
                  </a:extLst>
                </a:gridCol>
              </a:tblGrid>
              <a:tr h="382699">
                <a:tc>
                  <a:txBody>
                    <a:bodyPr/>
                    <a:lstStyle/>
                    <a:p>
                      <a:r>
                        <a:rPr lang="en-US" sz="1400" dirty="0">
                          <a:solidFill>
                            <a:schemeClr val="bg2"/>
                          </a:solidFill>
                        </a:rPr>
                        <a:t>CHF</a:t>
                      </a:r>
                    </a:p>
                  </a:txBody>
                  <a:tcPr/>
                </a:tc>
                <a:tc>
                  <a:txBody>
                    <a:bodyPr/>
                    <a:lstStyle/>
                    <a:p>
                      <a:r>
                        <a:rPr lang="en-US" sz="1400" dirty="0">
                          <a:solidFill>
                            <a:schemeClr val="bg1"/>
                          </a:solidFill>
                        </a:rPr>
                        <a:t>“a”</a:t>
                      </a:r>
                    </a:p>
                  </a:txBody>
                  <a:tcPr/>
                </a:tc>
                <a:tc>
                  <a:txBody>
                    <a:bodyPr/>
                    <a:lstStyle/>
                    <a:p>
                      <a:r>
                        <a:rPr lang="en-US" sz="1400" dirty="0">
                          <a:solidFill>
                            <a:schemeClr val="bg1"/>
                          </a:solidFill>
                        </a:rPr>
                        <a:t>“b”</a:t>
                      </a:r>
                    </a:p>
                  </a:txBody>
                  <a:tcPr/>
                </a:tc>
                <a:tc>
                  <a:txBody>
                    <a:bodyPr/>
                    <a:lstStyle/>
                    <a:p>
                      <a:r>
                        <a:rPr lang="en-US" sz="1400" dirty="0">
                          <a:solidFill>
                            <a:schemeClr val="bg1"/>
                          </a:solidFill>
                        </a:rPr>
                        <a:t>“c”</a:t>
                      </a:r>
                    </a:p>
                  </a:txBody>
                  <a:tcPr/>
                </a:tc>
                <a:tc>
                  <a:txBody>
                    <a:bodyPr/>
                    <a:lstStyle/>
                    <a:p>
                      <a:r>
                        <a:rPr lang="en-US" sz="1400" dirty="0">
                          <a:solidFill>
                            <a:schemeClr val="bg1"/>
                          </a:solidFill>
                        </a:rPr>
                        <a:t>“ab”</a:t>
                      </a:r>
                    </a:p>
                  </a:txBody>
                  <a:tcPr/>
                </a:tc>
                <a:extLst>
                  <a:ext uri="{0D108BD9-81ED-4DB2-BD59-A6C34878D82A}">
                    <a16:rowId xmlns:a16="http://schemas.microsoft.com/office/drawing/2014/main" val="2516625856"/>
                  </a:ext>
                </a:extLst>
              </a:tr>
              <a:tr h="382699">
                <a:tc>
                  <a:txBody>
                    <a:bodyPr/>
                    <a:lstStyle/>
                    <a:p>
                      <a:r>
                        <a:rPr lang="en-US" sz="1400" dirty="0">
                          <a:solidFill>
                            <a:schemeClr val="bg2"/>
                          </a:solidFill>
                        </a:rPr>
                        <a:t>MD5</a:t>
                      </a:r>
                    </a:p>
                  </a:txBody>
                  <a:tcPr/>
                </a:tc>
                <a:tc>
                  <a:txBody>
                    <a:bodyPr/>
                    <a:lstStyle/>
                    <a:p>
                      <a:r>
                        <a:rPr lang="en-US" sz="1400" dirty="0"/>
                        <a:t>0cc175b9c0f1b6a831c399e269772661</a:t>
                      </a:r>
                    </a:p>
                  </a:txBody>
                  <a:tcPr/>
                </a:tc>
                <a:tc>
                  <a:txBody>
                    <a:bodyPr/>
                    <a:lstStyle/>
                    <a:p>
                      <a:r>
                        <a:rPr lang="en-US" sz="1400" dirty="0"/>
                        <a:t>92eb5ffee6ae2fec3ad71c777531578f</a:t>
                      </a:r>
                    </a:p>
                  </a:txBody>
                  <a:tcPr/>
                </a:tc>
                <a:tc>
                  <a:txBody>
                    <a:bodyPr/>
                    <a:lstStyle/>
                    <a:p>
                      <a:r>
                        <a:rPr lang="en-US" sz="1400" dirty="0"/>
                        <a:t>4a8a08f09d37b73795649038408b5f33</a:t>
                      </a:r>
                    </a:p>
                  </a:txBody>
                  <a:tcPr/>
                </a:tc>
                <a:tc>
                  <a:txBody>
                    <a:bodyPr/>
                    <a:lstStyle/>
                    <a:p>
                      <a:r>
                        <a:rPr lang="en-US" sz="1400" dirty="0"/>
                        <a:t>187ef4436122d1cc2f40dc2b92f0eba0</a:t>
                      </a:r>
                    </a:p>
                  </a:txBody>
                  <a:tcPr/>
                </a:tc>
                <a:extLst>
                  <a:ext uri="{0D108BD9-81ED-4DB2-BD59-A6C34878D82A}">
                    <a16:rowId xmlns:a16="http://schemas.microsoft.com/office/drawing/2014/main" val="3032607862"/>
                  </a:ext>
                </a:extLst>
              </a:tr>
              <a:tr h="405750">
                <a:tc>
                  <a:txBody>
                    <a:bodyPr/>
                    <a:lstStyle/>
                    <a:p>
                      <a:r>
                        <a:rPr lang="en-US" sz="1400" dirty="0">
                          <a:solidFill>
                            <a:schemeClr val="bg2"/>
                          </a:solidFill>
                        </a:rPr>
                        <a:t>SHA1</a:t>
                      </a:r>
                    </a:p>
                  </a:txBody>
                  <a:tcPr/>
                </a:tc>
                <a:tc>
                  <a:txBody>
                    <a:bodyPr/>
                    <a:lstStyle/>
                    <a:p>
                      <a:r>
                        <a:rPr lang="en-US" sz="1400" dirty="0"/>
                        <a:t>86f7e437faa5a7fce15d1ddcb9eaeaea377667b8</a:t>
                      </a:r>
                    </a:p>
                  </a:txBody>
                  <a:tcPr/>
                </a:tc>
                <a:tc>
                  <a:txBody>
                    <a:bodyPr/>
                    <a:lstStyle/>
                    <a:p>
                      <a:r>
                        <a:rPr lang="en-US" sz="1400" dirty="0"/>
                        <a:t>e9d71f5ee7c92d6dc9e92ffdad17b8bd49418f98</a:t>
                      </a:r>
                    </a:p>
                  </a:txBody>
                  <a:tcPr/>
                </a:tc>
                <a:tc>
                  <a:txBody>
                    <a:bodyPr/>
                    <a:lstStyle/>
                    <a:p>
                      <a:r>
                        <a:rPr lang="en-US" sz="1400" dirty="0"/>
                        <a:t>84a516841ba77a5b4648de2cd0dfcb30ea46dbb4</a:t>
                      </a:r>
                    </a:p>
                  </a:txBody>
                  <a:tcPr/>
                </a:tc>
                <a:tc>
                  <a:txBody>
                    <a:bodyPr/>
                    <a:lstStyle/>
                    <a:p>
                      <a:r>
                        <a:rPr lang="en-US" sz="1400" dirty="0"/>
                        <a:t>da23614e02469a0d7c7bd1bdab5c9c474b1904dc</a:t>
                      </a:r>
                    </a:p>
                  </a:txBody>
                  <a:tcPr/>
                </a:tc>
                <a:extLst>
                  <a:ext uri="{0D108BD9-81ED-4DB2-BD59-A6C34878D82A}">
                    <a16:rowId xmlns:a16="http://schemas.microsoft.com/office/drawing/2014/main" val="798890603"/>
                  </a:ext>
                </a:extLst>
              </a:tr>
              <a:tr h="382699">
                <a:tc>
                  <a:txBody>
                    <a:bodyPr/>
                    <a:lstStyle/>
                    <a:p>
                      <a:r>
                        <a:rPr lang="en-US" sz="1400" dirty="0">
                          <a:solidFill>
                            <a:schemeClr val="bg2"/>
                          </a:solidFill>
                        </a:rPr>
                        <a:t>SHA256</a:t>
                      </a:r>
                    </a:p>
                  </a:txBody>
                  <a:tcPr/>
                </a:tc>
                <a:tc>
                  <a:txBody>
                    <a:bodyPr/>
                    <a:lstStyle/>
                    <a:p>
                      <a:r>
                        <a:rPr lang="en-US" sz="1400" dirty="0"/>
                        <a:t>ca978112ca1bbdcafac231b39a23dc4da786eff8147c4e72b9807785afee48bb</a:t>
                      </a:r>
                    </a:p>
                  </a:txBody>
                  <a:tcPr/>
                </a:tc>
                <a:tc>
                  <a:txBody>
                    <a:bodyPr/>
                    <a:lstStyle/>
                    <a:p>
                      <a:r>
                        <a:rPr lang="en-US" sz="1400" dirty="0"/>
                        <a:t>3e23e8160039594a33894f6564e1b1348bbd7a0088d42c4acb73eeaed59c009d</a:t>
                      </a:r>
                    </a:p>
                  </a:txBody>
                  <a:tcPr/>
                </a:tc>
                <a:tc>
                  <a:txBody>
                    <a:bodyPr/>
                    <a:lstStyle/>
                    <a:p>
                      <a:r>
                        <a:rPr lang="en-US" sz="1400" dirty="0"/>
                        <a:t>2e7d2c03a9507ae265ecf5b5356885a53393a2029d241394997265a1a25aefc6</a:t>
                      </a:r>
                    </a:p>
                  </a:txBody>
                  <a:tcPr/>
                </a:tc>
                <a:tc>
                  <a:txBody>
                    <a:bodyPr/>
                    <a:lstStyle/>
                    <a:p>
                      <a:r>
                        <a:rPr lang="en-US" sz="1400" dirty="0"/>
                        <a:t>fb8e20fc2e4c3f248c60c39bd652f3c1347298bb977b8b4d5903b85055620603</a:t>
                      </a:r>
                    </a:p>
                  </a:txBody>
                  <a:tcPr/>
                </a:tc>
                <a:extLst>
                  <a:ext uri="{0D108BD9-81ED-4DB2-BD59-A6C34878D82A}">
                    <a16:rowId xmlns:a16="http://schemas.microsoft.com/office/drawing/2014/main" val="3070338899"/>
                  </a:ext>
                </a:extLst>
              </a:tr>
            </a:tbl>
          </a:graphicData>
        </a:graphic>
      </p:graphicFrame>
    </p:spTree>
    <p:extLst>
      <p:ext uri="{BB962C8B-B14F-4D97-AF65-F5344CB8AC3E}">
        <p14:creationId xmlns:p14="http://schemas.microsoft.com/office/powerpoint/2010/main" val="9528121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64A084-081F-4FD5-3470-6B6AAA4EBE35}"/>
              </a:ext>
            </a:extLst>
          </p:cNvPr>
          <p:cNvSpPr>
            <a:spLocks noGrp="1"/>
          </p:cNvSpPr>
          <p:nvPr>
            <p:ph type="title"/>
          </p:nvPr>
        </p:nvSpPr>
        <p:spPr/>
        <p:txBody>
          <a:bodyPr/>
          <a:lstStyle/>
          <a:p>
            <a:r>
              <a:rPr lang="en-US" dirty="0"/>
              <a:t>Iterator</a:t>
            </a:r>
          </a:p>
        </p:txBody>
      </p:sp>
      <p:sp>
        <p:nvSpPr>
          <p:cNvPr id="5" name="Text Placeholder 4">
            <a:extLst>
              <a:ext uri="{FF2B5EF4-FFF2-40B4-BE49-F238E27FC236}">
                <a16:creationId xmlns:a16="http://schemas.microsoft.com/office/drawing/2014/main" id="{2350D636-25CD-C851-6482-E18F53A7386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979511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3A56D5-ED43-5E7F-D8D9-B6E8B4EAC093}"/>
              </a:ext>
            </a:extLst>
          </p:cNvPr>
          <p:cNvSpPr>
            <a:spLocks noGrp="1"/>
          </p:cNvSpPr>
          <p:nvPr>
            <p:ph type="title"/>
          </p:nvPr>
        </p:nvSpPr>
        <p:spPr/>
        <p:txBody>
          <a:bodyPr/>
          <a:lstStyle/>
          <a:p>
            <a:r>
              <a:rPr lang="en-US" dirty="0"/>
              <a:t>Overview</a:t>
            </a:r>
          </a:p>
        </p:txBody>
      </p:sp>
      <p:sp>
        <p:nvSpPr>
          <p:cNvPr id="5" name="Content Placeholder 4">
            <a:extLst>
              <a:ext uri="{FF2B5EF4-FFF2-40B4-BE49-F238E27FC236}">
                <a16:creationId xmlns:a16="http://schemas.microsoft.com/office/drawing/2014/main" id="{E02E8B6C-45B6-F888-0BE3-E7D8A836F258}"/>
              </a:ext>
            </a:extLst>
          </p:cNvPr>
          <p:cNvSpPr>
            <a:spLocks noGrp="1"/>
          </p:cNvSpPr>
          <p:nvPr>
            <p:ph idx="1"/>
          </p:nvPr>
        </p:nvSpPr>
        <p:spPr/>
        <p:txBody>
          <a:bodyPr>
            <a:normAutofit fontScale="92500" lnSpcReduction="10000"/>
          </a:bodyPr>
          <a:lstStyle/>
          <a:p>
            <a:r>
              <a:rPr lang="en-US" dirty="0"/>
              <a:t>Iterator of a hash table is very language-dependent</a:t>
            </a:r>
          </a:p>
          <a:p>
            <a:pPr lvl="1"/>
            <a:r>
              <a:rPr lang="en-US" dirty="0"/>
              <a:t>For separate chaining, this is because each bucket has another container (vector) and our iterator has to remember the state of both the current bucket  and the current position in the vector</a:t>
            </a:r>
          </a:p>
          <a:p>
            <a:pPr lvl="1"/>
            <a:r>
              <a:rPr lang="en-US" dirty="0"/>
              <a:t>For Open Addressing, the iterator has to take into account the state of each bucket</a:t>
            </a:r>
          </a:p>
          <a:p>
            <a:r>
              <a:rPr lang="en-US" dirty="0"/>
              <a:t>The detail implementation of the iterator is </a:t>
            </a:r>
            <a:r>
              <a:rPr lang="en-US" dirty="0">
                <a:solidFill>
                  <a:schemeClr val="accent4"/>
                </a:solidFill>
              </a:rPr>
              <a:t>beyond the scope of this class</a:t>
            </a:r>
            <a:r>
              <a:rPr lang="en-US" dirty="0"/>
              <a:t>, however, the detail is provided here for completeness. The student should focus on the key idea and performance of the iterator over the actual implementation in C++</a:t>
            </a:r>
          </a:p>
        </p:txBody>
      </p:sp>
    </p:spTree>
    <p:extLst>
      <p:ext uri="{BB962C8B-B14F-4D97-AF65-F5344CB8AC3E}">
        <p14:creationId xmlns:p14="http://schemas.microsoft.com/office/powerpoint/2010/main" val="20103340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377440-281C-DBA7-188C-35805B23679E}"/>
              </a:ext>
            </a:extLst>
          </p:cNvPr>
          <p:cNvSpPr>
            <a:spLocks noGrp="1"/>
          </p:cNvSpPr>
          <p:nvPr>
            <p:ph type="title"/>
          </p:nvPr>
        </p:nvSpPr>
        <p:spPr/>
        <p:txBody>
          <a:bodyPr/>
          <a:lstStyle/>
          <a:p>
            <a:r>
              <a:rPr lang="en-US" dirty="0"/>
              <a:t>Separate Chaining Iterator</a:t>
            </a:r>
          </a:p>
        </p:txBody>
      </p:sp>
      <p:sp>
        <p:nvSpPr>
          <p:cNvPr id="5" name="Content Placeholder 4">
            <a:extLst>
              <a:ext uri="{FF2B5EF4-FFF2-40B4-BE49-F238E27FC236}">
                <a16:creationId xmlns:a16="http://schemas.microsoft.com/office/drawing/2014/main" id="{11AA7EDA-7269-41DB-E453-229AD787BA62}"/>
              </a:ext>
            </a:extLst>
          </p:cNvPr>
          <p:cNvSpPr>
            <a:spLocks noGrp="1"/>
          </p:cNvSpPr>
          <p:nvPr>
            <p:ph idx="1"/>
          </p:nvPr>
        </p:nvSpPr>
        <p:spPr>
          <a:xfrm>
            <a:off x="838200" y="1358781"/>
            <a:ext cx="5963495" cy="5016382"/>
          </a:xfrm>
        </p:spPr>
        <p:txBody>
          <a:bodyPr>
            <a:normAutofit fontScale="77500" lnSpcReduction="20000"/>
          </a:bodyPr>
          <a:lstStyle/>
          <a:p>
            <a:r>
              <a:rPr lang="en-US" dirty="0"/>
              <a:t>We need to </a:t>
            </a:r>
            <a:r>
              <a:rPr lang="en-US" dirty="0">
                <a:solidFill>
                  <a:schemeClr val="accent4"/>
                </a:solidFill>
              </a:rPr>
              <a:t>iterate</a:t>
            </a:r>
            <a:r>
              <a:rPr lang="en-US" dirty="0"/>
              <a:t> over all values in each bucket</a:t>
            </a:r>
          </a:p>
          <a:p>
            <a:r>
              <a:rPr lang="en-US" dirty="0"/>
              <a:t>When reaching the last element in the bucket, we need to </a:t>
            </a:r>
            <a:r>
              <a:rPr lang="en-US" dirty="0">
                <a:solidFill>
                  <a:schemeClr val="accent3"/>
                </a:solidFill>
              </a:rPr>
              <a:t>go to the next bucket </a:t>
            </a:r>
            <a:r>
              <a:rPr lang="en-US" dirty="0"/>
              <a:t>that has data</a:t>
            </a:r>
          </a:p>
          <a:p>
            <a:r>
              <a:rPr lang="en-US" dirty="0"/>
              <a:t>This make each next iteration take possible long time</a:t>
            </a:r>
          </a:p>
          <a:p>
            <a:pPr lvl="1"/>
            <a:r>
              <a:rPr lang="en-US" dirty="0"/>
              <a:t>Its </a:t>
            </a:r>
            <a:r>
              <a:rPr lang="en-US" dirty="0">
                <a:solidFill>
                  <a:schemeClr val="accent6"/>
                </a:solidFill>
              </a:rPr>
              <a:t>O(M) </a:t>
            </a:r>
            <a:r>
              <a:rPr lang="en-US" dirty="0"/>
              <a:t>where </a:t>
            </a:r>
            <a:r>
              <a:rPr lang="en-US" dirty="0">
                <a:solidFill>
                  <a:schemeClr val="accent6"/>
                </a:solidFill>
              </a:rPr>
              <a:t>M</a:t>
            </a:r>
            <a:r>
              <a:rPr lang="en-US" dirty="0"/>
              <a:t> is the table size</a:t>
            </a:r>
          </a:p>
          <a:p>
            <a:r>
              <a:rPr lang="en-US" dirty="0"/>
              <a:t>The iterator is </a:t>
            </a:r>
            <a:r>
              <a:rPr lang="en-US" dirty="0">
                <a:solidFill>
                  <a:schemeClr val="accent2"/>
                </a:solidFill>
              </a:rPr>
              <a:t>invalidated</a:t>
            </a:r>
            <a:r>
              <a:rPr lang="en-US" dirty="0"/>
              <a:t> after insert and rehash</a:t>
            </a:r>
          </a:p>
          <a:p>
            <a:pPr lvl="1"/>
            <a:r>
              <a:rPr lang="en-US" dirty="0"/>
              <a:t>Because the underlying vector might be relocated</a:t>
            </a:r>
          </a:p>
        </p:txBody>
      </p:sp>
      <p:graphicFrame>
        <p:nvGraphicFramePr>
          <p:cNvPr id="6" name="Table 5">
            <a:extLst>
              <a:ext uri="{FF2B5EF4-FFF2-40B4-BE49-F238E27FC236}">
                <a16:creationId xmlns:a16="http://schemas.microsoft.com/office/drawing/2014/main" id="{F935F7C8-1741-FF2A-4F86-01FF8CF108D8}"/>
              </a:ext>
            </a:extLst>
          </p:cNvPr>
          <p:cNvGraphicFramePr>
            <a:graphicFrameLocks noGrp="1"/>
          </p:cNvGraphicFramePr>
          <p:nvPr>
            <p:extLst>
              <p:ext uri="{D42A27DB-BD31-4B8C-83A1-F6EECF244321}">
                <p14:modId xmlns:p14="http://schemas.microsoft.com/office/powerpoint/2010/main" val="1670332914"/>
              </p:ext>
            </p:extLst>
          </p:nvPr>
        </p:nvGraphicFramePr>
        <p:xfrm>
          <a:off x="6878270" y="1426154"/>
          <a:ext cx="5112536" cy="631680"/>
        </p:xfrm>
        <a:graphic>
          <a:graphicData uri="http://schemas.openxmlformats.org/drawingml/2006/table">
            <a:tbl>
              <a:tblPr firstRow="1" bandRow="1">
                <a:tableStyleId>{E8B1032C-EA38-4F05-BA0D-38AFFFC7BED3}</a:tableStyleId>
              </a:tblPr>
              <a:tblGrid>
                <a:gridCol w="639067">
                  <a:extLst>
                    <a:ext uri="{9D8B030D-6E8A-4147-A177-3AD203B41FA5}">
                      <a16:colId xmlns:a16="http://schemas.microsoft.com/office/drawing/2014/main" val="2431925760"/>
                    </a:ext>
                  </a:extLst>
                </a:gridCol>
                <a:gridCol w="639067">
                  <a:extLst>
                    <a:ext uri="{9D8B030D-6E8A-4147-A177-3AD203B41FA5}">
                      <a16:colId xmlns:a16="http://schemas.microsoft.com/office/drawing/2014/main" val="2788890793"/>
                    </a:ext>
                  </a:extLst>
                </a:gridCol>
                <a:gridCol w="639067">
                  <a:extLst>
                    <a:ext uri="{9D8B030D-6E8A-4147-A177-3AD203B41FA5}">
                      <a16:colId xmlns:a16="http://schemas.microsoft.com/office/drawing/2014/main" val="4204188436"/>
                    </a:ext>
                  </a:extLst>
                </a:gridCol>
                <a:gridCol w="639067">
                  <a:extLst>
                    <a:ext uri="{9D8B030D-6E8A-4147-A177-3AD203B41FA5}">
                      <a16:colId xmlns:a16="http://schemas.microsoft.com/office/drawing/2014/main" val="3149246360"/>
                    </a:ext>
                  </a:extLst>
                </a:gridCol>
                <a:gridCol w="639067">
                  <a:extLst>
                    <a:ext uri="{9D8B030D-6E8A-4147-A177-3AD203B41FA5}">
                      <a16:colId xmlns:a16="http://schemas.microsoft.com/office/drawing/2014/main" val="29750842"/>
                    </a:ext>
                  </a:extLst>
                </a:gridCol>
                <a:gridCol w="639067">
                  <a:extLst>
                    <a:ext uri="{9D8B030D-6E8A-4147-A177-3AD203B41FA5}">
                      <a16:colId xmlns:a16="http://schemas.microsoft.com/office/drawing/2014/main" val="3424601522"/>
                    </a:ext>
                  </a:extLst>
                </a:gridCol>
                <a:gridCol w="639067">
                  <a:extLst>
                    <a:ext uri="{9D8B030D-6E8A-4147-A177-3AD203B41FA5}">
                      <a16:colId xmlns:a16="http://schemas.microsoft.com/office/drawing/2014/main" val="982321321"/>
                    </a:ext>
                  </a:extLst>
                </a:gridCol>
                <a:gridCol w="639067">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err="1">
                          <a:ln>
                            <a:noFill/>
                          </a:ln>
                          <a:solidFill>
                            <a:schemeClr val="accent3"/>
                          </a:solidFill>
                          <a:effectLst/>
                          <a:uLnTx/>
                          <a:uFillTx/>
                          <a:latin typeface="Sarabun ExtraLight"/>
                          <a:ea typeface="+mn-ea"/>
                          <a:cs typeface="Sarabun ExtraLight"/>
                        </a:rPr>
                        <a:t>a,b,c</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kumimoji="0" lang="en-US" sz="1600" b="0" i="0" u="none" strike="noStrike" kern="1200" cap="none" spc="0" normalizeH="0" baseline="0" noProof="0">
                          <a:ln>
                            <a:noFill/>
                          </a:ln>
                          <a:solidFill>
                            <a:prstClr val="white"/>
                          </a:solidFill>
                          <a:effectLst/>
                          <a:uLnTx/>
                          <a:uFillTx/>
                          <a:latin typeface="Sarabun ExtraLight"/>
                          <a:ea typeface="+mn-ea"/>
                          <a:cs typeface="Sarabun ExtraLight"/>
                        </a:rPr>
                        <a:t>{}</a:t>
                      </a: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err="1">
                          <a:ln>
                            <a:noFill/>
                          </a:ln>
                          <a:solidFill>
                            <a:schemeClr val="accent3"/>
                          </a:solidFill>
                          <a:effectLst/>
                          <a:uLnTx/>
                          <a:uFillTx/>
                          <a:latin typeface="Sarabun ExtraLight"/>
                          <a:ea typeface="+mn-ea"/>
                          <a:cs typeface="Sarabun ExtraLight"/>
                        </a:rPr>
                        <a:t>e,f</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r>
                        <a:rPr kumimoji="0" lang="en-US" sz="1600" b="0" i="0" u="none" strike="noStrike" kern="1200" cap="none" spc="0" normalizeH="0" baseline="0" noProof="0" dirty="0">
                          <a:ln>
                            <a:noFill/>
                          </a:ln>
                          <a:solidFill>
                            <a:schemeClr val="accent3"/>
                          </a:solidFill>
                          <a:effectLst/>
                          <a:uLnTx/>
                          <a:uFillTx/>
                          <a:latin typeface="Sarabun ExtraLight"/>
                          <a:ea typeface="+mn-ea"/>
                          <a:cs typeface="Sarabun ExtraLight"/>
                        </a:rPr>
                        <a:t>g</a:t>
                      </a: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cxnSp>
        <p:nvCxnSpPr>
          <p:cNvPr id="8" name="Straight Arrow Connector 7">
            <a:extLst>
              <a:ext uri="{FF2B5EF4-FFF2-40B4-BE49-F238E27FC236}">
                <a16:creationId xmlns:a16="http://schemas.microsoft.com/office/drawing/2014/main" id="{CD9F41E2-E781-5102-E7C0-D1D6CFFD8C89}"/>
              </a:ext>
            </a:extLst>
          </p:cNvPr>
          <p:cNvCxnSpPr/>
          <p:nvPr/>
        </p:nvCxnSpPr>
        <p:spPr>
          <a:xfrm flipV="1">
            <a:off x="7356524" y="2009826"/>
            <a:ext cx="0" cy="427922"/>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320AF72-A6AC-875E-30D6-D271AC05D986}"/>
              </a:ext>
            </a:extLst>
          </p:cNvPr>
          <p:cNvSpPr txBox="1"/>
          <p:nvPr/>
        </p:nvSpPr>
        <p:spPr>
          <a:xfrm>
            <a:off x="6901422" y="2472229"/>
            <a:ext cx="910204" cy="338554"/>
          </a:xfrm>
          <a:prstGeom prst="rect">
            <a:avLst/>
          </a:prstGeom>
          <a:noFill/>
        </p:spPr>
        <p:txBody>
          <a:bodyPr wrap="square" rtlCol="0">
            <a:spAutoFit/>
          </a:bodyPr>
          <a:lstStyle/>
          <a:p>
            <a:pPr algn="ctr"/>
            <a:r>
              <a:rPr lang="en-US" sz="1600" dirty="0"/>
              <a:t>iterator</a:t>
            </a:r>
          </a:p>
        </p:txBody>
      </p:sp>
      <p:sp>
        <p:nvSpPr>
          <p:cNvPr id="12" name="Speech Bubble: Rectangle with Corners Rounded 11">
            <a:extLst>
              <a:ext uri="{FF2B5EF4-FFF2-40B4-BE49-F238E27FC236}">
                <a16:creationId xmlns:a16="http://schemas.microsoft.com/office/drawing/2014/main" id="{4B8B62A4-6BD1-EE45-182B-74C0ACB16188}"/>
              </a:ext>
            </a:extLst>
          </p:cNvPr>
          <p:cNvSpPr/>
          <p:nvPr/>
        </p:nvSpPr>
        <p:spPr>
          <a:xfrm>
            <a:off x="8207642" y="3242979"/>
            <a:ext cx="2118924" cy="977327"/>
          </a:xfrm>
          <a:prstGeom prst="wedgeRoundRectCallout">
            <a:avLst>
              <a:gd name="adj1" fmla="val 21378"/>
              <a:gd name="adj2" fmla="val -9409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t>Iterator must remember which bucket and which data in the bucket to which it points</a:t>
            </a:r>
          </a:p>
        </p:txBody>
      </p:sp>
    </p:spTree>
    <p:extLst>
      <p:ext uri="{BB962C8B-B14F-4D97-AF65-F5344CB8AC3E}">
        <p14:creationId xmlns:p14="http://schemas.microsoft.com/office/powerpoint/2010/main" val="25472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grpId="0" nodeType="clickEffect">
                                  <p:stCondLst>
                                    <p:cond delay="0"/>
                                  </p:stCondLst>
                                  <p:childTnLst>
                                    <p:animMotion origin="layout" path="M 4.58333E-6 4.81481E-6 L 0.19335 4.81481E-6 " pathEditMode="relative" rAng="0" ptsTypes="AA">
                                      <p:cBhvr>
                                        <p:cTn id="19" dur="1000" fill="hold"/>
                                        <p:tgtEl>
                                          <p:spTgt spid="9"/>
                                        </p:tgtEl>
                                        <p:attrNameLst>
                                          <p:attrName>ppt_x</p:attrName>
                                          <p:attrName>ppt_y</p:attrName>
                                        </p:attrNameLst>
                                      </p:cBhvr>
                                      <p:rCtr x="9661" y="0"/>
                                    </p:animMotion>
                                  </p:childTnLst>
                                </p:cTn>
                              </p:par>
                              <p:par>
                                <p:cTn id="20" presetID="42" presetClass="path" presetSubtype="0" accel="50000" decel="50000" fill="hold" nodeType="withEffect">
                                  <p:stCondLst>
                                    <p:cond delay="0"/>
                                  </p:stCondLst>
                                  <p:childTnLst>
                                    <p:animMotion origin="layout" path="M 4.58333E-6 4.44444E-6 L 0.19414 -0.00024 " pathEditMode="relative" rAng="0" ptsTypes="AA">
                                      <p:cBhvr>
                                        <p:cTn id="21" dur="1000" fill="hold"/>
                                        <p:tgtEl>
                                          <p:spTgt spid="8"/>
                                        </p:tgtEl>
                                        <p:attrNameLst>
                                          <p:attrName>ppt_x</p:attrName>
                                          <p:attrName>ppt_y</p:attrName>
                                        </p:attrNameLst>
                                      </p:cBhvr>
                                      <p:rCtr x="9701" y="-23"/>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3DD2D-B7F4-8204-FBCB-223C4AAF552B}"/>
              </a:ext>
            </a:extLst>
          </p:cNvPr>
          <p:cNvSpPr>
            <a:spLocks noGrp="1"/>
          </p:cNvSpPr>
          <p:nvPr>
            <p:ph type="title"/>
          </p:nvPr>
        </p:nvSpPr>
        <p:spPr/>
        <p:txBody>
          <a:bodyPr/>
          <a:lstStyle/>
          <a:p>
            <a:r>
              <a:rPr lang="en-US" dirty="0"/>
              <a:t>Open Addressing Iterator</a:t>
            </a:r>
          </a:p>
        </p:txBody>
      </p:sp>
      <p:sp>
        <p:nvSpPr>
          <p:cNvPr id="3" name="Content Placeholder 2">
            <a:extLst>
              <a:ext uri="{FF2B5EF4-FFF2-40B4-BE49-F238E27FC236}">
                <a16:creationId xmlns:a16="http://schemas.microsoft.com/office/drawing/2014/main" id="{C81793AF-3DF8-5BF4-CE45-D5977FFC1C74}"/>
              </a:ext>
            </a:extLst>
          </p:cNvPr>
          <p:cNvSpPr>
            <a:spLocks noGrp="1"/>
          </p:cNvSpPr>
          <p:nvPr>
            <p:ph idx="1"/>
          </p:nvPr>
        </p:nvSpPr>
        <p:spPr>
          <a:xfrm>
            <a:off x="5675434" y="1358781"/>
            <a:ext cx="5678365" cy="5016382"/>
          </a:xfrm>
        </p:spPr>
        <p:txBody>
          <a:bodyPr/>
          <a:lstStyle/>
          <a:p>
            <a:r>
              <a:rPr lang="en-US" dirty="0"/>
              <a:t>We use the iterator of the vector, but we have to skip over </a:t>
            </a:r>
            <a:r>
              <a:rPr lang="en-US" dirty="0">
                <a:solidFill>
                  <a:schemeClr val="accent3"/>
                </a:solidFill>
              </a:rPr>
              <a:t>ERASED</a:t>
            </a:r>
            <a:r>
              <a:rPr lang="en-US" dirty="0"/>
              <a:t> and </a:t>
            </a:r>
            <a:r>
              <a:rPr lang="en-US" dirty="0">
                <a:solidFill>
                  <a:schemeClr val="accent6"/>
                </a:solidFill>
              </a:rPr>
              <a:t>EMPTY</a:t>
            </a:r>
            <a:r>
              <a:rPr lang="en-US" dirty="0"/>
              <a:t> bucket</a:t>
            </a:r>
          </a:p>
          <a:p>
            <a:r>
              <a:rPr lang="en-US" dirty="0"/>
              <a:t>Similarly to the Separate Chaining, the operation ++ takes O(M)</a:t>
            </a:r>
          </a:p>
          <a:p>
            <a:r>
              <a:rPr lang="en-US" dirty="0"/>
              <a:t>It is also invalidated after insert or rehash</a:t>
            </a:r>
          </a:p>
        </p:txBody>
      </p:sp>
      <p:graphicFrame>
        <p:nvGraphicFramePr>
          <p:cNvPr id="4" name="Table 3">
            <a:extLst>
              <a:ext uri="{FF2B5EF4-FFF2-40B4-BE49-F238E27FC236}">
                <a16:creationId xmlns:a16="http://schemas.microsoft.com/office/drawing/2014/main" id="{8C7D46C9-D4D0-FCEB-7DB6-CBC10886FCF5}"/>
              </a:ext>
            </a:extLst>
          </p:cNvPr>
          <p:cNvGraphicFramePr>
            <a:graphicFrameLocks noGrp="1"/>
          </p:cNvGraphicFramePr>
          <p:nvPr>
            <p:extLst>
              <p:ext uri="{D42A27DB-BD31-4B8C-83A1-F6EECF244321}">
                <p14:modId xmlns:p14="http://schemas.microsoft.com/office/powerpoint/2010/main" val="1231080889"/>
              </p:ext>
            </p:extLst>
          </p:nvPr>
        </p:nvGraphicFramePr>
        <p:xfrm>
          <a:off x="288435" y="1465719"/>
          <a:ext cx="5112536" cy="631680"/>
        </p:xfrm>
        <a:graphic>
          <a:graphicData uri="http://schemas.openxmlformats.org/drawingml/2006/table">
            <a:tbl>
              <a:tblPr firstRow="1" bandRow="1">
                <a:tableStyleId>{E8B1032C-EA38-4F05-BA0D-38AFFFC7BED3}</a:tableStyleId>
              </a:tblPr>
              <a:tblGrid>
                <a:gridCol w="639067">
                  <a:extLst>
                    <a:ext uri="{9D8B030D-6E8A-4147-A177-3AD203B41FA5}">
                      <a16:colId xmlns:a16="http://schemas.microsoft.com/office/drawing/2014/main" val="2431925760"/>
                    </a:ext>
                  </a:extLst>
                </a:gridCol>
                <a:gridCol w="639067">
                  <a:extLst>
                    <a:ext uri="{9D8B030D-6E8A-4147-A177-3AD203B41FA5}">
                      <a16:colId xmlns:a16="http://schemas.microsoft.com/office/drawing/2014/main" val="2788890793"/>
                    </a:ext>
                  </a:extLst>
                </a:gridCol>
                <a:gridCol w="639067">
                  <a:extLst>
                    <a:ext uri="{9D8B030D-6E8A-4147-A177-3AD203B41FA5}">
                      <a16:colId xmlns:a16="http://schemas.microsoft.com/office/drawing/2014/main" val="4204188436"/>
                    </a:ext>
                  </a:extLst>
                </a:gridCol>
                <a:gridCol w="639067">
                  <a:extLst>
                    <a:ext uri="{9D8B030D-6E8A-4147-A177-3AD203B41FA5}">
                      <a16:colId xmlns:a16="http://schemas.microsoft.com/office/drawing/2014/main" val="3149246360"/>
                    </a:ext>
                  </a:extLst>
                </a:gridCol>
                <a:gridCol w="639067">
                  <a:extLst>
                    <a:ext uri="{9D8B030D-6E8A-4147-A177-3AD203B41FA5}">
                      <a16:colId xmlns:a16="http://schemas.microsoft.com/office/drawing/2014/main" val="29750842"/>
                    </a:ext>
                  </a:extLst>
                </a:gridCol>
                <a:gridCol w="639067">
                  <a:extLst>
                    <a:ext uri="{9D8B030D-6E8A-4147-A177-3AD203B41FA5}">
                      <a16:colId xmlns:a16="http://schemas.microsoft.com/office/drawing/2014/main" val="3424601522"/>
                    </a:ext>
                  </a:extLst>
                </a:gridCol>
                <a:gridCol w="639067">
                  <a:extLst>
                    <a:ext uri="{9D8B030D-6E8A-4147-A177-3AD203B41FA5}">
                      <a16:colId xmlns:a16="http://schemas.microsoft.com/office/drawing/2014/main" val="982321321"/>
                    </a:ext>
                  </a:extLst>
                </a:gridCol>
                <a:gridCol w="639067">
                  <a:extLst>
                    <a:ext uri="{9D8B030D-6E8A-4147-A177-3AD203B41FA5}">
                      <a16:colId xmlns:a16="http://schemas.microsoft.com/office/drawing/2014/main" val="3681052910"/>
                    </a:ext>
                  </a:extLst>
                </a:gridCol>
              </a:tblGrid>
              <a:tr h="155141">
                <a:tc>
                  <a:txBody>
                    <a:bodyPr/>
                    <a:lstStyle/>
                    <a:p>
                      <a:pPr algn="ctr"/>
                      <a:r>
                        <a:rPr lang="en-US" sz="1600" b="0" dirty="0">
                          <a:solidFill>
                            <a:schemeClr val="tx1">
                              <a:lumMod val="65000"/>
                            </a:schemeClr>
                          </a:solidFill>
                        </a:rPr>
                        <a:t>0</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1</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2</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3</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4</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5</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6</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0" dirty="0">
                          <a:solidFill>
                            <a:schemeClr val="tx1">
                              <a:lumMod val="65000"/>
                            </a:schemeClr>
                          </a:solidFill>
                        </a:rPr>
                        <a:t>7</a:t>
                      </a:r>
                      <a:endParaRPr lang="th-TH" sz="1600" b="0" dirty="0">
                        <a:solidFill>
                          <a:schemeClr val="tx1">
                            <a:lumMod val="65000"/>
                          </a:schemeClr>
                        </a:solidFill>
                      </a:endParaRPr>
                    </a:p>
                  </a:txBody>
                  <a:tcPr marL="36000" marR="36000" marT="36000" marB="36000" anchor="b">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9695263"/>
                  </a:ext>
                </a:extLst>
              </a:tr>
              <a:tr h="185084">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600" kern="1200" dirty="0">
                          <a:solidFill>
                            <a:schemeClr val="tx1"/>
                          </a:solidFill>
                          <a:latin typeface="+mn-lt"/>
                          <a:ea typeface="+mn-ea"/>
                          <a:cs typeface="+mn-cs"/>
                        </a:rPr>
                        <a:t>X</a:t>
                      </a:r>
                      <a:endParaRPr lang="th-TH" sz="1600" kern="1200" dirty="0">
                        <a:solidFill>
                          <a:schemeClr val="tx1"/>
                        </a:solidFill>
                        <a:latin typeface="+mn-lt"/>
                        <a:ea typeface="+mn-ea"/>
                        <a:cs typeface="+mn-cs"/>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endParaRPr lang="th-TH" sz="1600" dirty="0"/>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Y</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arabun ExtraLight"/>
                          <a:ea typeface="+mn-ea"/>
                          <a:cs typeface="Sarabun ExtraLight"/>
                        </a:rPr>
                        <a:t>Z</a:t>
                      </a: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h-TH" sz="1600" b="0" i="0" u="none" strike="noStrike" kern="1200" cap="none" spc="0" normalizeH="0" baseline="0" noProof="0" dirty="0">
                        <a:ln>
                          <a:noFill/>
                        </a:ln>
                        <a:solidFill>
                          <a:prstClr val="white"/>
                        </a:solidFill>
                        <a:effectLst/>
                        <a:uLnTx/>
                        <a:uFillTx/>
                        <a:latin typeface="Sarabun ExtraLight"/>
                        <a:ea typeface="+mn-ea"/>
                        <a:cs typeface="Sarabun ExtraLight"/>
                      </a:endParaRP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4361109"/>
                  </a:ext>
                </a:extLst>
              </a:tr>
            </a:tbl>
          </a:graphicData>
        </a:graphic>
      </p:graphicFrame>
      <p:cxnSp>
        <p:nvCxnSpPr>
          <p:cNvPr id="5" name="Straight Arrow Connector 4">
            <a:extLst>
              <a:ext uri="{FF2B5EF4-FFF2-40B4-BE49-F238E27FC236}">
                <a16:creationId xmlns:a16="http://schemas.microsoft.com/office/drawing/2014/main" id="{32FCACF5-A375-A95C-5544-AF55F156D3FA}"/>
              </a:ext>
            </a:extLst>
          </p:cNvPr>
          <p:cNvCxnSpPr/>
          <p:nvPr/>
        </p:nvCxnSpPr>
        <p:spPr>
          <a:xfrm flipV="1">
            <a:off x="1232682" y="2049391"/>
            <a:ext cx="0" cy="427922"/>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6D23135-2B71-865F-2DAF-6546605816E9}"/>
              </a:ext>
            </a:extLst>
          </p:cNvPr>
          <p:cNvSpPr txBox="1"/>
          <p:nvPr/>
        </p:nvSpPr>
        <p:spPr>
          <a:xfrm>
            <a:off x="777580" y="2511794"/>
            <a:ext cx="910204" cy="338554"/>
          </a:xfrm>
          <a:prstGeom prst="rect">
            <a:avLst/>
          </a:prstGeom>
          <a:noFill/>
        </p:spPr>
        <p:txBody>
          <a:bodyPr wrap="square" rtlCol="0">
            <a:spAutoFit/>
          </a:bodyPr>
          <a:lstStyle/>
          <a:p>
            <a:pPr algn="ctr"/>
            <a:r>
              <a:rPr lang="en-US" sz="1600" dirty="0"/>
              <a:t>iterator</a:t>
            </a:r>
          </a:p>
        </p:txBody>
      </p:sp>
    </p:spTree>
    <p:extLst>
      <p:ext uri="{BB962C8B-B14F-4D97-AF65-F5344CB8AC3E}">
        <p14:creationId xmlns:p14="http://schemas.microsoft.com/office/powerpoint/2010/main" val="199166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grpId="0" nodeType="clickEffect">
                                  <p:stCondLst>
                                    <p:cond delay="0"/>
                                  </p:stCondLst>
                                  <p:childTnLst>
                                    <p:animMotion origin="layout" path="M -1.66667E-6 -7.40741E-7 L 0.15573 0.00023 " pathEditMode="relative" rAng="0" ptsTypes="AA">
                                      <p:cBhvr>
                                        <p:cTn id="19" dur="1000" fill="hold"/>
                                        <p:tgtEl>
                                          <p:spTgt spid="6"/>
                                        </p:tgtEl>
                                        <p:attrNameLst>
                                          <p:attrName>ppt_x</p:attrName>
                                          <p:attrName>ppt_y</p:attrName>
                                        </p:attrNameLst>
                                      </p:cBhvr>
                                      <p:rCtr x="7786" y="0"/>
                                    </p:animMotion>
                                  </p:childTnLst>
                                </p:cTn>
                              </p:par>
                              <p:par>
                                <p:cTn id="20" presetID="42" presetClass="path" presetSubtype="0" accel="50000" decel="50000" fill="hold" nodeType="withEffect">
                                  <p:stCondLst>
                                    <p:cond delay="0"/>
                                  </p:stCondLst>
                                  <p:childTnLst>
                                    <p:animMotion origin="layout" path="M -1.66667E-6 -2.59259E-6 L 0.15716 0.00139 " pathEditMode="relative" rAng="0" ptsTypes="AA">
                                      <p:cBhvr>
                                        <p:cTn id="21" dur="1000" fill="hold"/>
                                        <p:tgtEl>
                                          <p:spTgt spid="5"/>
                                        </p:tgtEl>
                                        <p:attrNameLst>
                                          <p:attrName>ppt_x</p:attrName>
                                          <p:attrName>ppt_y</p:attrName>
                                        </p:attrNameLst>
                                      </p:cBhvr>
                                      <p:rCtr x="7852"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056CE-44C6-943A-9FEA-DB1D64E760F4}"/>
              </a:ext>
            </a:extLst>
          </p:cNvPr>
          <p:cNvSpPr>
            <a:spLocks noGrp="1"/>
          </p:cNvSpPr>
          <p:nvPr>
            <p:ph type="title"/>
          </p:nvPr>
        </p:nvSpPr>
        <p:spPr/>
        <p:txBody>
          <a:bodyPr/>
          <a:lstStyle/>
          <a:p>
            <a:r>
              <a:rPr lang="en-US" dirty="0"/>
              <a:t>Separate Chaining Iterator Class</a:t>
            </a:r>
          </a:p>
        </p:txBody>
      </p:sp>
      <p:sp>
        <p:nvSpPr>
          <p:cNvPr id="3" name="Content Placeholder 2">
            <a:extLst>
              <a:ext uri="{FF2B5EF4-FFF2-40B4-BE49-F238E27FC236}">
                <a16:creationId xmlns:a16="http://schemas.microsoft.com/office/drawing/2014/main" id="{C648804D-7B35-025F-33E7-7D459969138A}"/>
              </a:ext>
            </a:extLst>
          </p:cNvPr>
          <p:cNvSpPr>
            <a:spLocks noGrp="1"/>
          </p:cNvSpPr>
          <p:nvPr>
            <p:ph idx="1"/>
          </p:nvPr>
        </p:nvSpPr>
        <p:spPr>
          <a:xfrm>
            <a:off x="838200" y="1358781"/>
            <a:ext cx="5610958" cy="5016382"/>
          </a:xfrm>
        </p:spPr>
        <p:txBody>
          <a:bodyPr>
            <a:normAutofit fontScale="62500" lnSpcReduction="20000"/>
          </a:bodyPr>
          <a:lstStyle/>
          <a:p>
            <a:r>
              <a:rPr lang="en-US" sz="2800" b="0" dirty="0" err="1">
                <a:solidFill>
                  <a:srgbClr val="9CDCFE"/>
                </a:solidFill>
                <a:effectLst/>
                <a:latin typeface="Monaspace Neon" pitchFamily="50" charset="0"/>
              </a:rPr>
              <a:t>mCurValueItr</a:t>
            </a:r>
            <a:r>
              <a:rPr lang="en-US" sz="2800" b="0" dirty="0">
                <a:solidFill>
                  <a:srgbClr val="9CDCFE"/>
                </a:solidFill>
                <a:effectLst/>
                <a:latin typeface="Monaspace Neon" pitchFamily="50" charset="0"/>
              </a:rPr>
              <a:t> </a:t>
            </a:r>
            <a:r>
              <a:rPr lang="en-US" dirty="0"/>
              <a:t>points to the current element in each bucket</a:t>
            </a:r>
          </a:p>
          <a:p>
            <a:r>
              <a:rPr lang="en-US" sz="2800" b="0" dirty="0" err="1">
                <a:solidFill>
                  <a:srgbClr val="9CDCFE"/>
                </a:solidFill>
                <a:effectLst/>
                <a:latin typeface="Monaspace Neon" pitchFamily="50" charset="0"/>
              </a:rPr>
              <a:t>mCurBucketItr</a:t>
            </a:r>
            <a:r>
              <a:rPr lang="en-US" sz="2800" b="0" dirty="0">
                <a:solidFill>
                  <a:srgbClr val="9CDCFE"/>
                </a:solidFill>
                <a:effectLst/>
                <a:latin typeface="Monaspace Neon" pitchFamily="50" charset="0"/>
              </a:rPr>
              <a:t> </a:t>
            </a:r>
            <a:r>
              <a:rPr lang="en-US" dirty="0"/>
              <a:t>points to the current bucket whose element is pointed by </a:t>
            </a:r>
            <a:r>
              <a:rPr lang="en-US" sz="2800" b="0" dirty="0" err="1">
                <a:solidFill>
                  <a:srgbClr val="9CDCFE"/>
                </a:solidFill>
                <a:effectLst/>
                <a:latin typeface="Monaspace Neon" pitchFamily="50" charset="0"/>
              </a:rPr>
              <a:t>mCurValueItr</a:t>
            </a:r>
            <a:endParaRPr lang="en-US" sz="2800" b="0" dirty="0">
              <a:solidFill>
                <a:srgbClr val="9CDCFE"/>
              </a:solidFill>
              <a:effectLst/>
              <a:latin typeface="Monaspace Neon" pitchFamily="50" charset="0"/>
            </a:endParaRPr>
          </a:p>
          <a:p>
            <a:r>
              <a:rPr lang="en-US" sz="2800" b="0" dirty="0" err="1">
                <a:solidFill>
                  <a:srgbClr val="9CDCFE"/>
                </a:solidFill>
                <a:effectLst/>
                <a:latin typeface="Monaspace Neon" pitchFamily="50" charset="0"/>
              </a:rPr>
              <a:t>mEndBucketItr</a:t>
            </a:r>
            <a:r>
              <a:rPr lang="en-US" dirty="0"/>
              <a:t> points to the end of </a:t>
            </a:r>
            <a:r>
              <a:rPr lang="en-US" dirty="0" err="1"/>
              <a:t>mBucket</a:t>
            </a:r>
            <a:r>
              <a:rPr lang="en-US" dirty="0"/>
              <a:t>. It is used to detect if our iterator reach the end</a:t>
            </a:r>
          </a:p>
          <a:p>
            <a:r>
              <a:rPr lang="en-US" sz="2800" b="0" dirty="0" err="1">
                <a:solidFill>
                  <a:srgbClr val="DCDCAA"/>
                </a:solidFill>
                <a:effectLst/>
                <a:latin typeface="Monaspace Neon" pitchFamily="50" charset="0"/>
              </a:rPr>
              <a:t>to_next_data</a:t>
            </a:r>
            <a:r>
              <a:rPr lang="en-US" dirty="0"/>
              <a:t> check if our iterator points to the end of a vector inside a bucket, if that is the case, it moves the iterator to the first element of a non-empty bucket</a:t>
            </a:r>
          </a:p>
          <a:p>
            <a:pPr lvl="1"/>
            <a:r>
              <a:rPr lang="en-US" dirty="0"/>
              <a:t>It is used after operator++</a:t>
            </a:r>
          </a:p>
          <a:p>
            <a:pPr lvl="1"/>
            <a:r>
              <a:rPr lang="en-US" dirty="0"/>
              <a:t>It takes O(M)</a:t>
            </a:r>
          </a:p>
        </p:txBody>
      </p:sp>
      <p:sp>
        <p:nvSpPr>
          <p:cNvPr id="5" name="TextBox 4">
            <a:extLst>
              <a:ext uri="{FF2B5EF4-FFF2-40B4-BE49-F238E27FC236}">
                <a16:creationId xmlns:a16="http://schemas.microsoft.com/office/drawing/2014/main" id="{3BFE7098-4B50-0756-7E1E-39A9997E1641}"/>
              </a:ext>
            </a:extLst>
          </p:cNvPr>
          <p:cNvSpPr txBox="1"/>
          <p:nvPr/>
        </p:nvSpPr>
        <p:spPr>
          <a:xfrm>
            <a:off x="6579577" y="1358781"/>
            <a:ext cx="4964723" cy="3139321"/>
          </a:xfrm>
          <a:prstGeom prst="rect">
            <a:avLst/>
          </a:prstGeom>
          <a:solidFill>
            <a:schemeClr val="bg1"/>
          </a:solidFill>
          <a:ln>
            <a:solidFill>
              <a:schemeClr val="accent3"/>
            </a:solidFill>
          </a:ln>
        </p:spPr>
        <p:txBody>
          <a:bodyPr wrap="square">
            <a:spAutoFit/>
          </a:bodyPr>
          <a:lstStyle/>
          <a:p>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friend</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hash_set_sp</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protected:</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ValueIterator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mEndBucketItr</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void</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to_next_data</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while</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mEndBucketItr</a:t>
            </a:r>
            <a:r>
              <a:rPr lang="en-US" sz="1100" b="0" dirty="0">
                <a:solidFill>
                  <a:srgbClr val="D4D4D4"/>
                </a:solidFill>
                <a:effectLst/>
                <a:latin typeface="Monaspace Neon" pitchFamily="50" charset="0"/>
              </a:rPr>
              <a:t> &amp;&amp;</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-&gt;</a:t>
            </a:r>
            <a:r>
              <a:rPr lang="en-US" sz="1100" b="0" dirty="0">
                <a:solidFill>
                  <a:srgbClr val="DCDCAA"/>
                </a:solidFill>
                <a:effectLst/>
                <a:latin typeface="Monaspace Neon" pitchFamily="50" charset="0"/>
              </a:rPr>
              <a:t>end</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mEndBucketItr</a:t>
            </a:r>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break</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-&gt;</a:t>
            </a:r>
            <a:r>
              <a:rPr lang="en-US" sz="1100" b="0" dirty="0">
                <a:solidFill>
                  <a:srgbClr val="DCDCAA"/>
                </a:solidFill>
                <a:effectLst/>
                <a:latin typeface="Monaspace Neon" pitchFamily="50" charset="0"/>
              </a:rPr>
              <a:t>begin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p>
          <a:p>
            <a:br>
              <a:rPr lang="en-US" sz="1100" b="0" dirty="0">
                <a:solidFill>
                  <a:srgbClr val="D4D4D4"/>
                </a:solidFill>
                <a:effectLst/>
                <a:latin typeface="Monaspace Neon" pitchFamily="50" charset="0"/>
              </a:rPr>
            </a:br>
            <a:endParaRPr lang="en-US" sz="1100" b="0" dirty="0">
              <a:solidFill>
                <a:srgbClr val="D4D4D4"/>
              </a:solidFill>
              <a:effectLst/>
              <a:latin typeface="Monaspace Neon" pitchFamily="50" charset="0"/>
            </a:endParaRPr>
          </a:p>
        </p:txBody>
      </p:sp>
    </p:spTree>
    <p:extLst>
      <p:ext uri="{BB962C8B-B14F-4D97-AF65-F5344CB8AC3E}">
        <p14:creationId xmlns:p14="http://schemas.microsoft.com/office/powerpoint/2010/main" val="23393762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622E-CA1D-4C78-9E6B-AAED88920112}"/>
              </a:ext>
            </a:extLst>
          </p:cNvPr>
          <p:cNvSpPr>
            <a:spLocks noGrp="1"/>
          </p:cNvSpPr>
          <p:nvPr>
            <p:ph type="title"/>
          </p:nvPr>
        </p:nvSpPr>
        <p:spPr/>
        <p:txBody>
          <a:bodyPr/>
          <a:lstStyle/>
          <a:p>
            <a:r>
              <a:rPr lang="en-US" dirty="0"/>
              <a:t>Separate Chaining Iterator Class</a:t>
            </a:r>
          </a:p>
        </p:txBody>
      </p:sp>
      <p:sp>
        <p:nvSpPr>
          <p:cNvPr id="3" name="Content Placeholder 2">
            <a:extLst>
              <a:ext uri="{FF2B5EF4-FFF2-40B4-BE49-F238E27FC236}">
                <a16:creationId xmlns:a16="http://schemas.microsoft.com/office/drawing/2014/main" id="{B8A15C2A-EA15-035A-86BB-7ECA095FE2CD}"/>
              </a:ext>
            </a:extLst>
          </p:cNvPr>
          <p:cNvSpPr>
            <a:spLocks noGrp="1"/>
          </p:cNvSpPr>
          <p:nvPr>
            <p:ph idx="1"/>
          </p:nvPr>
        </p:nvSpPr>
        <p:spPr>
          <a:xfrm>
            <a:off x="5646056" y="1373794"/>
            <a:ext cx="6342744" cy="2203978"/>
          </a:xfrm>
        </p:spPr>
        <p:txBody>
          <a:bodyPr>
            <a:normAutofit fontScale="70000" lnSpcReduction="20000"/>
          </a:bodyPr>
          <a:lstStyle/>
          <a:p>
            <a:r>
              <a:rPr lang="en-US" dirty="0"/>
              <a:t>The key operation is </a:t>
            </a:r>
            <a:r>
              <a:rPr lang="en-US" sz="2800" b="0" dirty="0" err="1">
                <a:solidFill>
                  <a:srgbClr val="DCDCAA"/>
                </a:solidFill>
                <a:effectLst/>
                <a:latin typeface="Monaspace Neon" pitchFamily="50" charset="0"/>
              </a:rPr>
              <a:t>to_next_data</a:t>
            </a:r>
            <a:r>
              <a:rPr lang="en-US" sz="2800" b="0" dirty="0">
                <a:solidFill>
                  <a:srgbClr val="DCDCAA"/>
                </a:solidFill>
                <a:effectLst/>
                <a:latin typeface="Monaspace Neon" pitchFamily="50" charset="0"/>
              </a:rPr>
              <a:t> </a:t>
            </a:r>
            <a:r>
              <a:rPr lang="en-US" dirty="0"/>
              <a:t>which is used in </a:t>
            </a:r>
            <a:r>
              <a:rPr lang="en-US" sz="2800" b="0" dirty="0">
                <a:solidFill>
                  <a:srgbClr val="DCDCAA"/>
                </a:solidFill>
                <a:effectLst/>
                <a:latin typeface="Monaspace Neon" pitchFamily="50" charset="0"/>
              </a:rPr>
              <a:t>operator++</a:t>
            </a:r>
          </a:p>
          <a:p>
            <a:r>
              <a:rPr lang="en-US" dirty="0"/>
              <a:t>The other functions simply works directly on the data pointed by </a:t>
            </a:r>
            <a:r>
              <a:rPr lang="en-US" sz="2800" b="0" dirty="0" err="1">
                <a:solidFill>
                  <a:srgbClr val="9CDCFE"/>
                </a:solidFill>
                <a:effectLst/>
                <a:latin typeface="Monaspace Neon" pitchFamily="50" charset="0"/>
              </a:rPr>
              <a:t>mCurValueItr</a:t>
            </a:r>
            <a:endParaRPr lang="en-US" sz="2800" b="0" dirty="0">
              <a:solidFill>
                <a:srgbClr val="9CDCFE"/>
              </a:solidFill>
              <a:effectLst/>
              <a:latin typeface="Monaspace Neon" pitchFamily="50" charset="0"/>
            </a:endParaRPr>
          </a:p>
          <a:p>
            <a:r>
              <a:rPr lang="en-US" dirty="0"/>
              <a:t>Below are iterator functions in the hash table class</a:t>
            </a:r>
          </a:p>
          <a:p>
            <a:endParaRPr lang="en-US" dirty="0"/>
          </a:p>
        </p:txBody>
      </p:sp>
      <p:sp>
        <p:nvSpPr>
          <p:cNvPr id="5" name="TextBox 4">
            <a:extLst>
              <a:ext uri="{FF2B5EF4-FFF2-40B4-BE49-F238E27FC236}">
                <a16:creationId xmlns:a16="http://schemas.microsoft.com/office/drawing/2014/main" id="{1726CD52-61E6-F3E2-5113-F96B83153938}"/>
              </a:ext>
            </a:extLst>
          </p:cNvPr>
          <p:cNvSpPr txBox="1"/>
          <p:nvPr/>
        </p:nvSpPr>
        <p:spPr>
          <a:xfrm>
            <a:off x="783405" y="1230594"/>
            <a:ext cx="4724767" cy="5509200"/>
          </a:xfrm>
          <a:prstGeom prst="rect">
            <a:avLst/>
          </a:prstGeom>
          <a:solidFill>
            <a:schemeClr val="bg1"/>
          </a:solidFill>
          <a:ln>
            <a:solidFill>
              <a:schemeClr val="accent3"/>
            </a:solidFill>
          </a:ln>
        </p:spPr>
        <p:txBody>
          <a:bodyPr wrap="square">
            <a:spAutoFit/>
          </a:bodyPr>
          <a:lstStyle/>
          <a:p>
            <a:r>
              <a:rPr lang="en-US" sz="1100" b="0" dirty="0">
                <a:solidFill>
                  <a:srgbClr val="569CD6"/>
                </a:solidFill>
                <a:effectLst/>
                <a:latin typeface="Monaspace Neon" pitchFamily="50" charset="0"/>
              </a:rPr>
              <a:t>public:</a:t>
            </a:r>
            <a:endParaRPr lang="en-US" sz="1100" b="0" dirty="0">
              <a:solidFill>
                <a:srgbClr val="D4D4D4"/>
              </a:solidFill>
              <a:effectLst/>
              <a:latin typeface="Monaspace Neon" pitchFamily="50" charset="0"/>
            </a:endParaRPr>
          </a:p>
          <a:p>
            <a:endParaRPr lang="en-US" sz="1100" b="0" dirty="0">
              <a:solidFill>
                <a:srgbClr val="DCDCAA"/>
              </a:solidFill>
              <a:effectLst/>
              <a:latin typeface="Monaspace Neon" pitchFamily="50" charset="0"/>
            </a:endParaRPr>
          </a:p>
          <a:p>
            <a:r>
              <a:rPr lang="en-US" sz="1100" b="0" dirty="0" err="1">
                <a:solidFill>
                  <a:srgbClr val="DCDCAA"/>
                </a:solidFill>
                <a:effectLst/>
                <a:latin typeface="Monaspace Neon" pitchFamily="50" charset="0"/>
              </a:rPr>
              <a:t>hashtable_iterator</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ValueIterator</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element</a:t>
            </a:r>
            <a:r>
              <a:rPr lang="en-US" sz="1100" b="0" dirty="0">
                <a:solidFill>
                  <a:srgbClr val="D4D4D4"/>
                </a:solidFill>
                <a:effectLst/>
                <a:latin typeface="Monaspace Neon" pitchFamily="50" charset="0"/>
              </a:rPr>
              <a:t>,</a:t>
            </a:r>
          </a:p>
          <a:p>
            <a:r>
              <a:rPr lang="en-US" sz="1100" dirty="0">
                <a:solidFill>
                  <a:srgbClr val="D4D4D4"/>
                </a:solidFill>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bucket</a:t>
            </a:r>
            <a:r>
              <a:rPr lang="en-US" sz="1100" b="0" dirty="0">
                <a:solidFill>
                  <a:srgbClr val="D4D4D4"/>
                </a:solidFill>
                <a:effectLst/>
                <a:latin typeface="Monaspace Neon" pitchFamily="50" charset="0"/>
              </a:rPr>
              <a:t>,</a:t>
            </a:r>
          </a:p>
          <a:p>
            <a:r>
              <a:rPr lang="en-US" sz="1100" dirty="0">
                <a:solidFill>
                  <a:srgbClr val="D4D4D4"/>
                </a:solidFill>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endBucket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element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bucket</a:t>
            </a:r>
            <a:r>
              <a:rPr lang="en-US" sz="1100" b="0" dirty="0">
                <a:solidFill>
                  <a:srgbClr val="D4D4D4"/>
                </a:solidFill>
                <a:effectLst/>
                <a:latin typeface="Monaspace Neon" pitchFamily="50" charset="0"/>
              </a:rPr>
              <a:t>), </a:t>
            </a:r>
          </a:p>
          <a:p>
            <a:r>
              <a:rPr lang="en-US" sz="1100" dirty="0">
                <a:solidFill>
                  <a:srgbClr val="D4D4D4"/>
                </a:solidFill>
                <a:latin typeface="Monaspace Neon" pitchFamily="50" charset="0"/>
              </a:rPr>
              <a:t>  </a:t>
            </a:r>
            <a:r>
              <a:rPr lang="en-US" sz="1100" b="0" dirty="0" err="1">
                <a:solidFill>
                  <a:srgbClr val="9CDCFE"/>
                </a:solidFill>
                <a:effectLst/>
                <a:latin typeface="Monaspace Neon" pitchFamily="50" charset="0"/>
              </a:rPr>
              <a:t>mEndBucketItr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endBucket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to_next_data</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err="1">
                <a:solidFill>
                  <a:srgbClr val="DCDCAA"/>
                </a:solidFill>
                <a:effectLst/>
                <a:latin typeface="Monaspace Neon" pitchFamily="50" charset="0"/>
              </a:rPr>
              <a:t>hashtable_iterator</a:t>
            </a:r>
            <a:r>
              <a:rPr lang="en-US" sz="1100" b="0" dirty="0">
                <a:solidFill>
                  <a:srgbClr val="D4D4D4"/>
                </a:solidFill>
                <a:effectLst/>
                <a:latin typeface="Monaspace Neon" pitchFamily="50" charset="0"/>
              </a:rPr>
              <a:t>() { }</a:t>
            </a:r>
          </a:p>
          <a:p>
            <a:br>
              <a:rPr lang="en-US" sz="1100" b="0" dirty="0">
                <a:solidFill>
                  <a:srgbClr val="D4D4D4"/>
                </a:solidFill>
                <a:effectLst/>
                <a:latin typeface="Monaspace Neon" pitchFamily="50" charset="0"/>
              </a:rPr>
            </a:br>
            <a:r>
              <a:rPr lang="en-US" sz="1100" b="0" dirty="0" err="1">
                <a:solidFill>
                  <a:srgbClr val="4EC9B0"/>
                </a:solidFill>
                <a:effectLst/>
                <a:latin typeface="Monaspace Neon" pitchFamily="50" charset="0"/>
              </a:rPr>
              <a:t>hashtable_iterator</a:t>
            </a:r>
            <a:r>
              <a:rPr lang="en-US" sz="1100" b="0" dirty="0">
                <a:solidFill>
                  <a:srgbClr val="569CD6"/>
                </a:solidFill>
                <a:effectLst/>
                <a:latin typeface="Monaspace Neon" pitchFamily="50" charset="0"/>
              </a:rPr>
              <a:t>&amp;</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to_next_data</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endParaRPr lang="en-US" sz="1100" b="0" dirty="0">
              <a:solidFill>
                <a:srgbClr val="D4D4D4"/>
              </a:solidFill>
              <a:effectLst/>
              <a:latin typeface="Monaspace Neon" pitchFamily="50" charset="0"/>
            </a:endParaRPr>
          </a:p>
          <a:p>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tmp</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tmp</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4EC9B0"/>
                </a:solidFill>
                <a:effectLst/>
                <a:latin typeface="Monaspace Neon" pitchFamily="50" charset="0"/>
              </a:rPr>
              <a:t>reference</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 }</a:t>
            </a:r>
          </a:p>
          <a:p>
            <a:r>
              <a:rPr lang="en-US" sz="1100" b="0" dirty="0">
                <a:solidFill>
                  <a:srgbClr val="4EC9B0"/>
                </a:solidFill>
                <a:effectLst/>
                <a:latin typeface="Monaspace Neon" pitchFamily="50" charset="0"/>
              </a:rPr>
              <a:t>pointer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operator-&gt;</a:t>
            </a:r>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&amp;(*</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  }</a:t>
            </a:r>
          </a:p>
          <a:p>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other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other</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other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other</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mCurValueItr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p:txBody>
      </p:sp>
      <p:sp>
        <p:nvSpPr>
          <p:cNvPr id="7" name="TextBox 6">
            <a:extLst>
              <a:ext uri="{FF2B5EF4-FFF2-40B4-BE49-F238E27FC236}">
                <a16:creationId xmlns:a16="http://schemas.microsoft.com/office/drawing/2014/main" id="{0DB2DA4D-BBAD-0978-45FF-0C83B9062E23}"/>
              </a:ext>
            </a:extLst>
          </p:cNvPr>
          <p:cNvSpPr txBox="1"/>
          <p:nvPr/>
        </p:nvSpPr>
        <p:spPr>
          <a:xfrm>
            <a:off x="5998029" y="3720972"/>
            <a:ext cx="5355771" cy="1954381"/>
          </a:xfrm>
          <a:prstGeom prst="rect">
            <a:avLst/>
          </a:prstGeom>
          <a:solidFill>
            <a:schemeClr val="bg1"/>
          </a:solidFill>
          <a:ln>
            <a:solidFill>
              <a:schemeClr val="accent3"/>
            </a:solidFill>
          </a:ln>
        </p:spPr>
        <p:txBody>
          <a:bodyPr wrap="square">
            <a:spAutoFit/>
          </a:bodyPr>
          <a:lstStyle/>
          <a:p>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begin</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()-&gt;</a:t>
            </a:r>
            <a:r>
              <a:rPr lang="en-US" sz="1100" b="0" dirty="0">
                <a:solidFill>
                  <a:srgbClr val="DCDCAA"/>
                </a:solidFill>
                <a:effectLst/>
                <a:latin typeface="Monaspace Neon" pitchFamily="50" charset="0"/>
              </a:rPr>
              <a:t>begin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end</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size</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1</a:t>
            </a:r>
            <a:r>
              <a:rPr lang="en-US" sz="1100" b="0" dirty="0">
                <a:solidFill>
                  <a:srgbClr val="D4D4D4"/>
                </a:solidFill>
                <a:effectLst/>
                <a:latin typeface="Monaspace Neon" pitchFamily="50" charset="0"/>
              </a:rPr>
              <a:t>].</a:t>
            </a:r>
            <a:r>
              <a:rPr lang="en-US" sz="1100" b="0" dirty="0">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p>
        </p:txBody>
      </p:sp>
    </p:spTree>
    <p:extLst>
      <p:ext uri="{BB962C8B-B14F-4D97-AF65-F5344CB8AC3E}">
        <p14:creationId xmlns:p14="http://schemas.microsoft.com/office/powerpoint/2010/main" val="629064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C8AFA-B1B6-2CA9-9D1A-618B555C2F2D}"/>
              </a:ext>
            </a:extLst>
          </p:cNvPr>
          <p:cNvSpPr>
            <a:spLocks noGrp="1"/>
          </p:cNvSpPr>
          <p:nvPr>
            <p:ph type="title"/>
          </p:nvPr>
        </p:nvSpPr>
        <p:spPr/>
        <p:txBody>
          <a:bodyPr/>
          <a:lstStyle/>
          <a:p>
            <a:r>
              <a:rPr lang="en-US" dirty="0"/>
              <a:t>Adjustment to find and insert</a:t>
            </a:r>
          </a:p>
        </p:txBody>
      </p:sp>
      <p:sp>
        <p:nvSpPr>
          <p:cNvPr id="3" name="Content Placeholder 2">
            <a:extLst>
              <a:ext uri="{FF2B5EF4-FFF2-40B4-BE49-F238E27FC236}">
                <a16:creationId xmlns:a16="http://schemas.microsoft.com/office/drawing/2014/main" id="{EADEC15D-E675-9BCA-DCB6-1E537BE03085}"/>
              </a:ext>
            </a:extLst>
          </p:cNvPr>
          <p:cNvSpPr>
            <a:spLocks noGrp="1"/>
          </p:cNvSpPr>
          <p:nvPr>
            <p:ph idx="1"/>
          </p:nvPr>
        </p:nvSpPr>
        <p:spPr>
          <a:xfrm>
            <a:off x="6538686" y="1358781"/>
            <a:ext cx="5087257" cy="5016382"/>
          </a:xfrm>
        </p:spPr>
        <p:txBody>
          <a:bodyPr/>
          <a:lstStyle/>
          <a:p>
            <a:r>
              <a:rPr lang="en-US" dirty="0"/>
              <a:t>Iterator is returned for </a:t>
            </a:r>
            <a:r>
              <a:rPr lang="en-US" sz="2800" b="0" dirty="0">
                <a:solidFill>
                  <a:srgbClr val="DCDCAA"/>
                </a:solidFill>
                <a:effectLst/>
                <a:latin typeface="Monaspace Neon" pitchFamily="50" charset="0"/>
              </a:rPr>
              <a:t>find </a:t>
            </a:r>
            <a:r>
              <a:rPr lang="en-US" dirty="0"/>
              <a:t>and </a:t>
            </a:r>
            <a:r>
              <a:rPr lang="en-US" sz="2800" b="0" dirty="0">
                <a:solidFill>
                  <a:srgbClr val="DCDCAA"/>
                </a:solidFill>
                <a:effectLst/>
                <a:latin typeface="Monaspace Neon" pitchFamily="50" charset="0"/>
              </a:rPr>
              <a:t>insert</a:t>
            </a:r>
          </a:p>
          <a:p>
            <a:r>
              <a:rPr lang="en-US" dirty="0"/>
              <a:t>See how the iterator is created</a:t>
            </a:r>
          </a:p>
        </p:txBody>
      </p:sp>
      <p:sp>
        <p:nvSpPr>
          <p:cNvPr id="5" name="TextBox 4">
            <a:extLst>
              <a:ext uri="{FF2B5EF4-FFF2-40B4-BE49-F238E27FC236}">
                <a16:creationId xmlns:a16="http://schemas.microsoft.com/office/drawing/2014/main" id="{2E1907A3-1506-6F76-F7A7-8F0CFF68A869}"/>
              </a:ext>
            </a:extLst>
          </p:cNvPr>
          <p:cNvSpPr txBox="1"/>
          <p:nvPr/>
        </p:nvSpPr>
        <p:spPr>
          <a:xfrm>
            <a:off x="747486" y="1358781"/>
            <a:ext cx="5254171" cy="5170646"/>
          </a:xfrm>
          <a:prstGeom prst="rect">
            <a:avLst/>
          </a:prstGeom>
          <a:solidFill>
            <a:schemeClr val="bg1"/>
          </a:solidFill>
          <a:ln>
            <a:solidFill>
              <a:schemeClr val="accent3"/>
            </a:solidFill>
          </a:ln>
        </p:spPr>
        <p:txBody>
          <a:bodyPr wrap="square">
            <a:spAutoFit/>
          </a:bodyPr>
          <a:lstStyle/>
          <a:p>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find</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hash_to_bucket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auto</a:t>
            </a:r>
            <a:r>
              <a:rPr lang="en-US" sz="1100" b="0" dirty="0">
                <a:solidFill>
                  <a:srgbClr val="D4D4D4"/>
                </a:solidFill>
                <a:effectLst/>
                <a:latin typeface="Monaspace Neon" pitchFamily="50" charset="0"/>
              </a:rPr>
              <a:t> &amp;</a:t>
            </a:r>
            <a:r>
              <a:rPr lang="en-US" sz="1100" b="0" dirty="0">
                <a:solidFill>
                  <a:srgbClr val="9CDCFE"/>
                </a:solidFill>
                <a:effectLst/>
                <a:latin typeface="Monaspace Neon" pitchFamily="50" charset="0"/>
              </a:rPr>
              <a:t>b</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auto</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find_in_bucket</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else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pair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iterator</a:t>
            </a:r>
            <a:r>
              <a:rPr lang="en-US" sz="1100" b="0" dirty="0" err="1">
                <a:solidFill>
                  <a:srgbClr val="D4D4D4"/>
                </a:solidFill>
                <a:effectLst/>
                <a:latin typeface="Monaspace Neon" pitchFamily="50" charset="0"/>
              </a:rPr>
              <a:t>,</a:t>
            </a:r>
            <a:r>
              <a:rPr lang="en-US" sz="1100" b="0" dirty="0" err="1">
                <a:solidFill>
                  <a:srgbClr val="569CD6"/>
                </a:solidFill>
                <a:effectLst/>
                <a:latin typeface="Monaspace Neon" pitchFamily="50" charset="0"/>
              </a:rPr>
              <a:t>bool</a:t>
            </a:r>
            <a:r>
              <a:rPr lang="en-US" sz="1100" b="0" dirty="0">
                <a:solidFill>
                  <a:srgbClr val="D4D4D4"/>
                </a:solidFill>
                <a:effectLst/>
                <a:latin typeface="Monaspace Neon" pitchFamily="50" charset="0"/>
              </a:rPr>
              <a:t>&gt; </a:t>
            </a:r>
            <a:r>
              <a:rPr lang="en-US" sz="1100" b="0" dirty="0">
                <a:solidFill>
                  <a:srgbClr val="DCDCAA"/>
                </a:solidFill>
                <a:effectLst/>
                <a:latin typeface="Monaspace Neon" pitchFamily="50" charset="0"/>
              </a:rPr>
              <a:t>insert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auto</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 = </a:t>
            </a:r>
            <a:r>
              <a:rPr lang="en-US" sz="1100" b="0" dirty="0">
                <a:solidFill>
                  <a:srgbClr val="DCDCAA"/>
                </a:solidFill>
                <a:effectLst/>
                <a:latin typeface="Monaspace Neon" pitchFamily="50" charset="0"/>
              </a:rPr>
              <a:t>find</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 != </a:t>
            </a:r>
            <a:r>
              <a:rPr lang="en-US" sz="1100" b="0" dirty="0">
                <a:solidFill>
                  <a:srgbClr val="DCDCAA"/>
                </a:solidFill>
                <a:effectLst/>
                <a:latin typeface="Monaspace Neon" pitchFamily="50" charset="0"/>
              </a:rPr>
              <a:t>end</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it</a:t>
            </a:r>
            <a:r>
              <a:rPr lang="en-US" sz="1100" b="0" dirty="0" err="1">
                <a:solidFill>
                  <a:srgbClr val="D4D4D4"/>
                </a:solidFill>
                <a:effectLst/>
                <a:latin typeface="Monaspace Neon" pitchFamily="50" charset="0"/>
              </a:rPr>
              <a:t>,</a:t>
            </a:r>
            <a:r>
              <a:rPr lang="en-US" sz="1100" b="0" dirty="0" err="1">
                <a:solidFill>
                  <a:srgbClr val="569CD6"/>
                </a:solidFill>
                <a:effectLst/>
                <a:latin typeface="Monaspace Neon" pitchFamily="50" charset="0"/>
              </a:rPr>
              <a:t>false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else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load_factor</a:t>
            </a:r>
            <a:r>
              <a:rPr lang="en-US" sz="1100" b="0" dirty="0">
                <a:solidFill>
                  <a:srgbClr val="D4D4D4"/>
                </a:solidFill>
                <a:effectLst/>
                <a:latin typeface="Monaspace Neon" pitchFamily="50" charset="0"/>
              </a:rPr>
              <a:t>() &gt; </a:t>
            </a:r>
            <a:r>
              <a:rPr lang="en-US" sz="1100" b="0" dirty="0" err="1">
                <a:solidFill>
                  <a:srgbClr val="DCDCAA"/>
                </a:solidFill>
                <a:effectLst/>
                <a:latin typeface="Monaspace Neon" pitchFamily="50" charset="0"/>
              </a:rPr>
              <a:t>max_load_factor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rehash</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2</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size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hash_to_bucket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auto</a:t>
            </a:r>
            <a:r>
              <a:rPr lang="en-US" sz="1100" b="0" dirty="0">
                <a:solidFill>
                  <a:srgbClr val="D4D4D4"/>
                </a:solidFill>
                <a:effectLst/>
                <a:latin typeface="Monaspace Neon" pitchFamily="50" charset="0"/>
              </a:rPr>
              <a:t> &amp;</a:t>
            </a:r>
            <a:r>
              <a:rPr lang="en-US" sz="1100" b="0" dirty="0">
                <a:solidFill>
                  <a:srgbClr val="9CDCFE"/>
                </a:solidFill>
                <a:effectLst/>
                <a:latin typeface="Monaspace Neon" pitchFamily="50" charset="0"/>
              </a:rPr>
              <a:t>b</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push_back</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1</a:t>
            </a:r>
            <a:r>
              <a:rPr lang="en-US" sz="1100" b="0" dirty="0">
                <a:solidFill>
                  <a:srgbClr val="D4D4D4"/>
                </a:solidFill>
                <a:effectLst/>
                <a:latin typeface="Monaspace Neon" pitchFamily="50" charset="0"/>
              </a:rPr>
              <a:t>,</a:t>
            </a:r>
          </a:p>
          <a:p>
            <a:r>
              <a:rPr lang="en-US" sz="1100" dirty="0">
                <a:solidFill>
                  <a:srgbClr val="D4D4D4"/>
                </a:solidFill>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p>
          <a:p>
            <a:r>
              <a:rPr lang="en-US" sz="1100" dirty="0">
                <a:solidFill>
                  <a:srgbClr val="D4D4D4"/>
                </a:solidFill>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it</a:t>
            </a:r>
            <a:r>
              <a:rPr lang="en-US" sz="1100" b="0" dirty="0" err="1">
                <a:solidFill>
                  <a:srgbClr val="D4D4D4"/>
                </a:solidFill>
                <a:effectLst/>
                <a:latin typeface="Monaspace Neon" pitchFamily="50" charset="0"/>
              </a:rPr>
              <a:t>,</a:t>
            </a:r>
            <a:r>
              <a:rPr lang="en-US" sz="1100" b="0" dirty="0" err="1">
                <a:solidFill>
                  <a:srgbClr val="569CD6"/>
                </a:solidFill>
                <a:effectLst/>
                <a:latin typeface="Monaspace Neon" pitchFamily="50" charset="0"/>
              </a:rPr>
              <a:t>true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p:txBody>
      </p:sp>
    </p:spTree>
    <p:extLst>
      <p:ext uri="{BB962C8B-B14F-4D97-AF65-F5344CB8AC3E}">
        <p14:creationId xmlns:p14="http://schemas.microsoft.com/office/powerpoint/2010/main" val="1418982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8E32E-428A-240D-9D80-8F7D222D30AA}"/>
              </a:ext>
            </a:extLst>
          </p:cNvPr>
          <p:cNvSpPr>
            <a:spLocks noGrp="1"/>
          </p:cNvSpPr>
          <p:nvPr>
            <p:ph type="title"/>
          </p:nvPr>
        </p:nvSpPr>
        <p:spPr/>
        <p:txBody>
          <a:bodyPr/>
          <a:lstStyle/>
          <a:p>
            <a:r>
              <a:rPr lang="en-US" dirty="0"/>
              <a:t>Open Addressing Iterator Class</a:t>
            </a:r>
          </a:p>
        </p:txBody>
      </p:sp>
      <p:sp>
        <p:nvSpPr>
          <p:cNvPr id="3" name="Content Placeholder 2">
            <a:extLst>
              <a:ext uri="{FF2B5EF4-FFF2-40B4-BE49-F238E27FC236}">
                <a16:creationId xmlns:a16="http://schemas.microsoft.com/office/drawing/2014/main" id="{3D26108B-2AC6-B0B2-A02A-C4D7A1182A34}"/>
              </a:ext>
            </a:extLst>
          </p:cNvPr>
          <p:cNvSpPr>
            <a:spLocks noGrp="1"/>
          </p:cNvSpPr>
          <p:nvPr>
            <p:ph idx="1"/>
          </p:nvPr>
        </p:nvSpPr>
        <p:spPr>
          <a:xfrm>
            <a:off x="838200" y="1358781"/>
            <a:ext cx="5804388" cy="5016382"/>
          </a:xfrm>
        </p:spPr>
        <p:txBody>
          <a:bodyPr>
            <a:normAutofit fontScale="77500" lnSpcReduction="20000"/>
          </a:bodyPr>
          <a:lstStyle/>
          <a:p>
            <a:r>
              <a:rPr lang="en-US" sz="2800" b="0" dirty="0" err="1">
                <a:solidFill>
                  <a:srgbClr val="9CDCFE"/>
                </a:solidFill>
                <a:effectLst/>
                <a:latin typeface="Monaspace Neon" pitchFamily="50" charset="0"/>
              </a:rPr>
              <a:t>mCurBucketItr</a:t>
            </a:r>
            <a:r>
              <a:rPr lang="en-US" sz="2800" b="0" dirty="0">
                <a:solidFill>
                  <a:srgbClr val="9CDCFE"/>
                </a:solidFill>
                <a:effectLst/>
                <a:latin typeface="Monaspace Neon" pitchFamily="50" charset="0"/>
              </a:rPr>
              <a:t> </a:t>
            </a:r>
            <a:r>
              <a:rPr lang="en-US" dirty="0"/>
              <a:t>points to the current bucket</a:t>
            </a:r>
            <a:endParaRPr lang="en-US" sz="2800" b="0" dirty="0">
              <a:solidFill>
                <a:srgbClr val="9CDCFE"/>
              </a:solidFill>
              <a:effectLst/>
              <a:latin typeface="Monaspace Neon" pitchFamily="50" charset="0"/>
            </a:endParaRPr>
          </a:p>
          <a:p>
            <a:r>
              <a:rPr lang="en-US" sz="2800" b="0" dirty="0" err="1">
                <a:solidFill>
                  <a:srgbClr val="9CDCFE"/>
                </a:solidFill>
                <a:effectLst/>
                <a:latin typeface="Monaspace Neon" pitchFamily="50" charset="0"/>
              </a:rPr>
              <a:t>mEndBucketItr</a:t>
            </a:r>
            <a:r>
              <a:rPr lang="en-US" dirty="0"/>
              <a:t> points to the end of </a:t>
            </a:r>
            <a:r>
              <a:rPr lang="en-US" dirty="0" err="1"/>
              <a:t>mBucket</a:t>
            </a:r>
            <a:r>
              <a:rPr lang="en-US" dirty="0"/>
              <a:t>. It is used to detect if our iterator reach the end</a:t>
            </a:r>
          </a:p>
          <a:p>
            <a:r>
              <a:rPr lang="en-US" sz="2800" b="0" dirty="0" err="1">
                <a:solidFill>
                  <a:srgbClr val="DCDCAA"/>
                </a:solidFill>
                <a:effectLst/>
                <a:latin typeface="Monaspace Neon" pitchFamily="50" charset="0"/>
              </a:rPr>
              <a:t>to_next_data</a:t>
            </a:r>
            <a:r>
              <a:rPr lang="en-US" dirty="0"/>
              <a:t> check if our iterator points to a bucket without data, if that is the case, it moves the iterator to the next occupied bucket (or until it reaches the end)</a:t>
            </a:r>
          </a:p>
          <a:p>
            <a:pPr lvl="1"/>
            <a:r>
              <a:rPr lang="en-US" dirty="0"/>
              <a:t>Similar to that of Separate Chaining, it is used after operator++ and takes O(M)</a:t>
            </a:r>
          </a:p>
          <a:p>
            <a:endParaRPr lang="en-US" dirty="0"/>
          </a:p>
          <a:p>
            <a:endParaRPr lang="en-US" dirty="0"/>
          </a:p>
          <a:p>
            <a:endParaRPr lang="en-US" dirty="0"/>
          </a:p>
        </p:txBody>
      </p:sp>
      <p:sp>
        <p:nvSpPr>
          <p:cNvPr id="5" name="TextBox 4">
            <a:extLst>
              <a:ext uri="{FF2B5EF4-FFF2-40B4-BE49-F238E27FC236}">
                <a16:creationId xmlns:a16="http://schemas.microsoft.com/office/drawing/2014/main" id="{D5CFA31F-6308-E5A0-5B3C-5E45A663C6A3}"/>
              </a:ext>
            </a:extLst>
          </p:cNvPr>
          <p:cNvSpPr txBox="1"/>
          <p:nvPr/>
        </p:nvSpPr>
        <p:spPr>
          <a:xfrm>
            <a:off x="6818069" y="1358781"/>
            <a:ext cx="4535731" cy="2292935"/>
          </a:xfrm>
          <a:prstGeom prst="rect">
            <a:avLst/>
          </a:prstGeom>
          <a:solidFill>
            <a:schemeClr val="bg1"/>
          </a:solidFill>
          <a:ln>
            <a:solidFill>
              <a:schemeClr val="accent4"/>
            </a:solidFill>
          </a:ln>
        </p:spPr>
        <p:txBody>
          <a:bodyPr wrap="square">
            <a:spAutoFit/>
          </a:bodyPr>
          <a:lstStyle/>
          <a:p>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protected:</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mEndBucketItr</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void</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to_next_data</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while</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mEndBucketItr</a:t>
            </a:r>
            <a:r>
              <a:rPr lang="en-US" sz="1100" b="0" dirty="0">
                <a:solidFill>
                  <a:srgbClr val="D4D4D4"/>
                </a:solidFill>
                <a:effectLst/>
                <a:latin typeface="Monaspace Neon" pitchFamily="50" charset="0"/>
              </a:rPr>
              <a:t> &amp;&amp;</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 OCCUPIED)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p>
          <a:p>
            <a:br>
              <a:rPr lang="en-US" sz="1100" b="0" dirty="0">
                <a:solidFill>
                  <a:srgbClr val="D4D4D4"/>
                </a:solidFill>
                <a:effectLst/>
                <a:latin typeface="Monaspace Neon" pitchFamily="50" charset="0"/>
              </a:rPr>
            </a:br>
            <a:endParaRPr lang="en-US" sz="1100" b="0" dirty="0">
              <a:solidFill>
                <a:srgbClr val="D4D4D4"/>
              </a:solidFill>
              <a:effectLst/>
              <a:latin typeface="Monaspace Neon" pitchFamily="50" charset="0"/>
            </a:endParaRPr>
          </a:p>
        </p:txBody>
      </p:sp>
    </p:spTree>
    <p:extLst>
      <p:ext uri="{BB962C8B-B14F-4D97-AF65-F5344CB8AC3E}">
        <p14:creationId xmlns:p14="http://schemas.microsoft.com/office/powerpoint/2010/main" val="7899843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C7D1-C352-A5C4-443C-FE84AE6EEB71}"/>
              </a:ext>
            </a:extLst>
          </p:cNvPr>
          <p:cNvSpPr>
            <a:spLocks noGrp="1"/>
          </p:cNvSpPr>
          <p:nvPr>
            <p:ph type="title"/>
          </p:nvPr>
        </p:nvSpPr>
        <p:spPr/>
        <p:txBody>
          <a:bodyPr/>
          <a:lstStyle/>
          <a:p>
            <a:r>
              <a:rPr lang="en-US" dirty="0"/>
              <a:t>Open Addressing Iterator Class</a:t>
            </a:r>
          </a:p>
        </p:txBody>
      </p:sp>
      <p:sp>
        <p:nvSpPr>
          <p:cNvPr id="3" name="Content Placeholder 2">
            <a:extLst>
              <a:ext uri="{FF2B5EF4-FFF2-40B4-BE49-F238E27FC236}">
                <a16:creationId xmlns:a16="http://schemas.microsoft.com/office/drawing/2014/main" id="{ADD8E151-6C5C-C510-D3E1-9CBC7DCF79B1}"/>
              </a:ext>
            </a:extLst>
          </p:cNvPr>
          <p:cNvSpPr>
            <a:spLocks noGrp="1"/>
          </p:cNvSpPr>
          <p:nvPr>
            <p:ph idx="1"/>
          </p:nvPr>
        </p:nvSpPr>
        <p:spPr>
          <a:xfrm>
            <a:off x="6466114" y="1358781"/>
            <a:ext cx="4956995" cy="5016382"/>
          </a:xfrm>
        </p:spPr>
        <p:txBody>
          <a:bodyPr/>
          <a:lstStyle/>
          <a:p>
            <a:r>
              <a:rPr lang="en-US" dirty="0"/>
              <a:t>Almost the same as that of Separate Chaining except the constructor</a:t>
            </a:r>
          </a:p>
          <a:p>
            <a:r>
              <a:rPr lang="en-US" dirty="0"/>
              <a:t>Below are iterator functions in the hash table class</a:t>
            </a:r>
          </a:p>
        </p:txBody>
      </p:sp>
      <p:sp>
        <p:nvSpPr>
          <p:cNvPr id="5" name="TextBox 4">
            <a:extLst>
              <a:ext uri="{FF2B5EF4-FFF2-40B4-BE49-F238E27FC236}">
                <a16:creationId xmlns:a16="http://schemas.microsoft.com/office/drawing/2014/main" id="{24A3C8A3-3F4B-FC67-D5D1-32E2CF3175E6}"/>
              </a:ext>
            </a:extLst>
          </p:cNvPr>
          <p:cNvSpPr txBox="1"/>
          <p:nvPr/>
        </p:nvSpPr>
        <p:spPr>
          <a:xfrm>
            <a:off x="768891" y="1358781"/>
            <a:ext cx="5392423" cy="5309146"/>
          </a:xfrm>
          <a:prstGeom prst="rect">
            <a:avLst/>
          </a:prstGeom>
          <a:solidFill>
            <a:schemeClr val="bg1"/>
          </a:solidFill>
          <a:ln>
            <a:solidFill>
              <a:schemeClr val="accent4"/>
            </a:solidFill>
          </a:ln>
        </p:spPr>
        <p:txBody>
          <a:bodyPr wrap="square">
            <a:spAutoFit/>
          </a:bodyPr>
          <a:lstStyle/>
          <a:p>
            <a:r>
              <a:rPr lang="en-US" sz="1100" b="0" dirty="0">
                <a:solidFill>
                  <a:srgbClr val="569CD6"/>
                </a:solidFill>
                <a:effectLst/>
                <a:latin typeface="Monaspace Neon" pitchFamily="50" charset="0"/>
              </a:rPr>
              <a:t>public:</a:t>
            </a:r>
            <a:endParaRPr lang="en-US" sz="1100" b="0" dirty="0">
              <a:solidFill>
                <a:srgbClr val="D4D4D4"/>
              </a:solidFill>
              <a:effectLst/>
              <a:latin typeface="Monaspace Neon" pitchFamily="50" charset="0"/>
            </a:endParaRPr>
          </a:p>
          <a:p>
            <a:endParaRPr lang="en-US" sz="1100" b="0" dirty="0">
              <a:solidFill>
                <a:srgbClr val="DCDCAA"/>
              </a:solidFill>
              <a:effectLst/>
              <a:latin typeface="Monaspace Neon" pitchFamily="50" charset="0"/>
            </a:endParaRPr>
          </a:p>
          <a:p>
            <a:r>
              <a:rPr lang="en-US" sz="1100" b="0" dirty="0" err="1">
                <a:solidFill>
                  <a:srgbClr val="DCDCAA"/>
                </a:solidFill>
                <a:effectLst/>
                <a:latin typeface="Monaspace Neon" pitchFamily="50" charset="0"/>
              </a:rPr>
              <a:t>hashtable_iterator</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bucket</a:t>
            </a:r>
            <a:r>
              <a:rPr lang="en-US" sz="1100" b="0" dirty="0">
                <a:solidFill>
                  <a:srgbClr val="D4D4D4"/>
                </a:solidFill>
                <a:effectLst/>
                <a:latin typeface="Monaspace Neon" pitchFamily="50" charset="0"/>
              </a:rPr>
              <a:t>,</a:t>
            </a:r>
          </a:p>
          <a:p>
            <a:r>
              <a:rPr lang="en-US" sz="1100" dirty="0">
                <a:solidFill>
                  <a:srgbClr val="D4D4D4"/>
                </a:solidFill>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endBucket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bucket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mEndBucketItr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endBucket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to_next_data</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err="1">
                <a:solidFill>
                  <a:srgbClr val="DCDCAA"/>
                </a:solidFill>
                <a:effectLst/>
                <a:latin typeface="Monaspace Neon" pitchFamily="50" charset="0"/>
              </a:rPr>
              <a:t>hashtable_iterator</a:t>
            </a:r>
            <a:r>
              <a:rPr lang="en-US" sz="1100" b="0" dirty="0">
                <a:solidFill>
                  <a:srgbClr val="D4D4D4"/>
                </a:solidFill>
                <a:effectLst/>
                <a:latin typeface="Monaspace Neon" pitchFamily="50" charset="0"/>
              </a:rPr>
              <a:t>() { }</a:t>
            </a:r>
          </a:p>
          <a:p>
            <a:br>
              <a:rPr lang="en-US" sz="1100" b="0" dirty="0">
                <a:solidFill>
                  <a:srgbClr val="D4D4D4"/>
                </a:solidFill>
                <a:effectLst/>
                <a:latin typeface="Monaspace Neon" pitchFamily="50" charset="0"/>
              </a:rPr>
            </a:br>
            <a:r>
              <a:rPr lang="en-US" sz="1100" b="0" dirty="0" err="1">
                <a:solidFill>
                  <a:srgbClr val="4EC9B0"/>
                </a:solidFill>
                <a:effectLst/>
                <a:latin typeface="Monaspace Neon" pitchFamily="50" charset="0"/>
              </a:rPr>
              <a:t>hashtable_iterator</a:t>
            </a:r>
            <a:r>
              <a:rPr lang="en-US" sz="1100" b="0" dirty="0">
                <a:solidFill>
                  <a:srgbClr val="569CD6"/>
                </a:solidFill>
                <a:effectLst/>
                <a:latin typeface="Monaspace Neon" pitchFamily="50" charset="0"/>
              </a:rPr>
              <a:t>&amp;</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to_next_data</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tmp</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tmp</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4EC9B0"/>
                </a:solidFill>
                <a:effectLst/>
                <a:latin typeface="Monaspace Neon" pitchFamily="50" charset="0"/>
              </a:rPr>
              <a:t>reference</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second</a:t>
            </a:r>
            <a:r>
              <a:rPr lang="en-US" sz="1100" b="0" dirty="0">
                <a:solidFill>
                  <a:srgbClr val="D4D4D4"/>
                </a:solidFill>
                <a:effectLst/>
                <a:latin typeface="Monaspace Neon" pitchFamily="50" charset="0"/>
              </a:rPr>
              <a:t>; }</a:t>
            </a:r>
          </a:p>
          <a:p>
            <a:r>
              <a:rPr lang="en-US" sz="1100" b="0" dirty="0">
                <a:solidFill>
                  <a:srgbClr val="4EC9B0"/>
                </a:solidFill>
                <a:effectLst/>
                <a:latin typeface="Monaspace Neon" pitchFamily="50" charset="0"/>
              </a:rPr>
              <a:t>pointer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operator-&gt;</a:t>
            </a:r>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&amp;(*</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second</a:t>
            </a:r>
            <a:r>
              <a:rPr lang="en-US" sz="1100" b="0" dirty="0">
                <a:solidFill>
                  <a:srgbClr val="D4D4D4"/>
                </a:solidFill>
                <a:effectLst/>
                <a:latin typeface="Monaspace Neon" pitchFamily="50" charset="0"/>
              </a:rPr>
              <a:t>; }</a:t>
            </a:r>
          </a:p>
          <a:p>
            <a:br>
              <a:rPr lang="en-US" sz="1100" b="0" dirty="0">
                <a:solidFill>
                  <a:srgbClr val="D4D4D4"/>
                </a:solidFill>
                <a:effectLst/>
                <a:latin typeface="Monaspace Neon" pitchFamily="50" charset="0"/>
              </a:rPr>
            </a:br>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other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other</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mCurBucketItr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operator==</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hashtable_iterator</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other</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other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p:txBody>
      </p:sp>
      <p:sp>
        <p:nvSpPr>
          <p:cNvPr id="7" name="TextBox 6">
            <a:extLst>
              <a:ext uri="{FF2B5EF4-FFF2-40B4-BE49-F238E27FC236}">
                <a16:creationId xmlns:a16="http://schemas.microsoft.com/office/drawing/2014/main" id="{848712C9-3BDC-D8CF-FA95-D803DDD8CAB7}"/>
              </a:ext>
            </a:extLst>
          </p:cNvPr>
          <p:cNvSpPr txBox="1"/>
          <p:nvPr/>
        </p:nvSpPr>
        <p:spPr>
          <a:xfrm>
            <a:off x="6691086" y="4713546"/>
            <a:ext cx="3679372" cy="1954381"/>
          </a:xfrm>
          <a:prstGeom prst="rect">
            <a:avLst/>
          </a:prstGeom>
          <a:solidFill>
            <a:schemeClr val="bg1"/>
          </a:solidFill>
          <a:ln>
            <a:solidFill>
              <a:schemeClr val="accent4"/>
            </a:solidFill>
          </a:ln>
        </p:spPr>
        <p:txBody>
          <a:bodyPr wrap="square">
            <a:spAutoFit/>
          </a:bodyPr>
          <a:lstStyle/>
          <a:p>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begin</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end</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p>
          <a:p>
            <a:br>
              <a:rPr lang="en-US" sz="1100" b="0" dirty="0">
                <a:solidFill>
                  <a:srgbClr val="D4D4D4"/>
                </a:solidFill>
                <a:effectLst/>
                <a:latin typeface="Monaspace Neon" pitchFamily="50" charset="0"/>
              </a:rPr>
            </a:br>
            <a:endParaRPr lang="en-US" sz="1100" b="0" dirty="0">
              <a:solidFill>
                <a:srgbClr val="D4D4D4"/>
              </a:solidFill>
              <a:effectLst/>
              <a:latin typeface="Monaspace Neon" pitchFamily="50" charset="0"/>
            </a:endParaRPr>
          </a:p>
        </p:txBody>
      </p:sp>
    </p:spTree>
    <p:extLst>
      <p:ext uri="{BB962C8B-B14F-4D97-AF65-F5344CB8AC3E}">
        <p14:creationId xmlns:p14="http://schemas.microsoft.com/office/powerpoint/2010/main" val="28609846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DF1A7-B1B4-D791-713B-5825BD96E603}"/>
              </a:ext>
            </a:extLst>
          </p:cNvPr>
          <p:cNvSpPr>
            <a:spLocks noGrp="1"/>
          </p:cNvSpPr>
          <p:nvPr>
            <p:ph type="title"/>
          </p:nvPr>
        </p:nvSpPr>
        <p:spPr/>
        <p:txBody>
          <a:bodyPr/>
          <a:lstStyle/>
          <a:p>
            <a:r>
              <a:rPr lang="en-US" dirty="0"/>
              <a:t>Adjustment to find and insert</a:t>
            </a:r>
          </a:p>
        </p:txBody>
      </p:sp>
      <p:sp>
        <p:nvSpPr>
          <p:cNvPr id="3" name="Content Placeholder 2">
            <a:extLst>
              <a:ext uri="{FF2B5EF4-FFF2-40B4-BE49-F238E27FC236}">
                <a16:creationId xmlns:a16="http://schemas.microsoft.com/office/drawing/2014/main" id="{37EAF54A-9573-AAC8-9BA6-7E10A7A08B97}"/>
              </a:ext>
            </a:extLst>
          </p:cNvPr>
          <p:cNvSpPr>
            <a:spLocks noGrp="1"/>
          </p:cNvSpPr>
          <p:nvPr>
            <p:ph idx="1"/>
          </p:nvPr>
        </p:nvSpPr>
        <p:spPr/>
        <p:txBody>
          <a:bodyPr/>
          <a:lstStyle/>
          <a:p>
            <a:r>
              <a:rPr lang="en-US" dirty="0"/>
              <a:t>Similar to that of Separate Chaining</a:t>
            </a:r>
          </a:p>
        </p:txBody>
      </p:sp>
      <p:sp>
        <p:nvSpPr>
          <p:cNvPr id="5" name="TextBox 4">
            <a:extLst>
              <a:ext uri="{FF2B5EF4-FFF2-40B4-BE49-F238E27FC236}">
                <a16:creationId xmlns:a16="http://schemas.microsoft.com/office/drawing/2014/main" id="{AFCD075C-29ED-40A5-931B-18F77349C42B}"/>
              </a:ext>
            </a:extLst>
          </p:cNvPr>
          <p:cNvSpPr txBox="1"/>
          <p:nvPr/>
        </p:nvSpPr>
        <p:spPr>
          <a:xfrm>
            <a:off x="2104572" y="2337887"/>
            <a:ext cx="6096000" cy="4154984"/>
          </a:xfrm>
          <a:prstGeom prst="rect">
            <a:avLst/>
          </a:prstGeom>
          <a:solidFill>
            <a:schemeClr val="bg1"/>
          </a:solidFill>
          <a:ln>
            <a:solidFill>
              <a:schemeClr val="accent2"/>
            </a:solidFill>
          </a:ln>
        </p:spPr>
        <p:txBody>
          <a:bodyPr wrap="square">
            <a:spAutoFit/>
          </a:bodyPr>
          <a:lstStyle/>
          <a:p>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find</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 OCCUPIED)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bucketIdx</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else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pair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iterator</a:t>
            </a:r>
            <a:r>
              <a:rPr lang="en-US" sz="1100" b="0" dirty="0" err="1">
                <a:solidFill>
                  <a:srgbClr val="D4D4D4"/>
                </a:solidFill>
                <a:effectLst/>
                <a:latin typeface="Monaspace Neon" pitchFamily="50" charset="0"/>
              </a:rPr>
              <a:t>,</a:t>
            </a:r>
            <a:r>
              <a:rPr lang="en-US" sz="1100" b="0" dirty="0" err="1">
                <a:solidFill>
                  <a:srgbClr val="569CD6"/>
                </a:solidFill>
                <a:effectLst/>
                <a:latin typeface="Monaspace Neon" pitchFamily="50" charset="0"/>
              </a:rPr>
              <a:t>bool</a:t>
            </a:r>
            <a:r>
              <a:rPr lang="en-US" sz="1100" b="0" dirty="0">
                <a:solidFill>
                  <a:srgbClr val="D4D4D4"/>
                </a:solidFill>
                <a:effectLst/>
                <a:latin typeface="Monaspace Neon" pitchFamily="50" charset="0"/>
              </a:rPr>
              <a:t>&gt; </a:t>
            </a:r>
            <a:r>
              <a:rPr lang="en-US" sz="1100" b="0" dirty="0">
                <a:solidFill>
                  <a:srgbClr val="DCDCAA"/>
                </a:solidFill>
                <a:effectLst/>
                <a:latin typeface="Monaspace Neon" pitchFamily="50" charset="0"/>
              </a:rPr>
              <a:t>insert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mSize</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1</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0.0</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a:solidFill>
                  <a:srgbClr val="DCDCAA"/>
                </a:solidFill>
                <a:effectLst/>
                <a:latin typeface="Monaspace Neon" pitchFamily="50" charset="0"/>
              </a:rPr>
              <a:t>size</a:t>
            </a:r>
            <a:r>
              <a:rPr lang="en-US" sz="1100" b="0" dirty="0">
                <a:solidFill>
                  <a:srgbClr val="D4D4D4"/>
                </a:solidFill>
                <a:effectLst/>
                <a:latin typeface="Monaspace Neon" pitchFamily="50" charset="0"/>
              </a:rPr>
              <a:t>()) &gt; </a:t>
            </a:r>
            <a:r>
              <a:rPr lang="en-US" sz="1100" b="0" dirty="0" err="1">
                <a:solidFill>
                  <a:srgbClr val="DCDCAA"/>
                </a:solidFill>
                <a:effectLst/>
                <a:latin typeface="Monaspace Neon" pitchFamily="50" charset="0"/>
              </a:rPr>
              <a:t>max_load_factor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rehash</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2</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 OCCUPIED) {</a:t>
            </a:r>
          </a:p>
          <a:p>
            <a:r>
              <a:rPr lang="en-US" sz="1100" b="0" dirty="0">
                <a:solidFill>
                  <a:srgbClr val="6A9955"/>
                </a:solidFill>
                <a:effectLst/>
                <a:latin typeface="Monaspace Neon" pitchFamily="50" charset="0"/>
              </a:rPr>
              <a:t>    //found existing key, skip</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bucketIdx</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false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else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4D4D4"/>
                </a:solidFill>
                <a:effectLst/>
                <a:latin typeface="Monaspace Neon" pitchFamily="50" charset="0"/>
              </a:rPr>
              <a:t>OCCUPIED,</a:t>
            </a:r>
            <a:r>
              <a:rPr lang="en-US" sz="1100" b="0" dirty="0" err="1">
                <a:solidFill>
                  <a:srgbClr val="9CDCFE"/>
                </a:solidFill>
                <a:effectLst/>
                <a:latin typeface="Monaspace Neon" pitchFamily="50" charset="0"/>
              </a:rPr>
              <a:t>key</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bucketIdx</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true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p:txBody>
      </p:sp>
    </p:spTree>
    <p:extLst>
      <p:ext uri="{BB962C8B-B14F-4D97-AF65-F5344CB8AC3E}">
        <p14:creationId xmlns:p14="http://schemas.microsoft.com/office/powerpoint/2010/main" val="22447205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852833-D45F-5954-EC35-0B050A8582CF}"/>
              </a:ext>
            </a:extLst>
          </p:cNvPr>
          <p:cNvSpPr>
            <a:spLocks noGrp="1"/>
          </p:cNvSpPr>
          <p:nvPr>
            <p:ph type="title"/>
          </p:nvPr>
        </p:nvSpPr>
        <p:spPr/>
        <p:txBody>
          <a:bodyPr/>
          <a:lstStyle/>
          <a:p>
            <a:r>
              <a:rPr lang="en-US" dirty="0"/>
              <a:t>Using Hash as a Map</a:t>
            </a:r>
          </a:p>
        </p:txBody>
      </p:sp>
      <p:sp>
        <p:nvSpPr>
          <p:cNvPr id="5" name="Text Placeholder 4">
            <a:extLst>
              <a:ext uri="{FF2B5EF4-FFF2-40B4-BE49-F238E27FC236}">
                <a16:creationId xmlns:a16="http://schemas.microsoft.com/office/drawing/2014/main" id="{AAD20E18-9ED2-4358-1822-669E2035FBD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835497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86C465-668C-6135-221E-BA978C018011}"/>
              </a:ext>
            </a:extLst>
          </p:cNvPr>
          <p:cNvSpPr>
            <a:spLocks noGrp="1"/>
          </p:cNvSpPr>
          <p:nvPr>
            <p:ph type="title"/>
          </p:nvPr>
        </p:nvSpPr>
        <p:spPr/>
        <p:txBody>
          <a:bodyPr/>
          <a:lstStyle/>
          <a:p>
            <a:r>
              <a:rPr lang="en-US" dirty="0"/>
              <a:t>Overview</a:t>
            </a:r>
          </a:p>
        </p:txBody>
      </p:sp>
      <p:sp>
        <p:nvSpPr>
          <p:cNvPr id="5" name="Content Placeholder 4">
            <a:extLst>
              <a:ext uri="{FF2B5EF4-FFF2-40B4-BE49-F238E27FC236}">
                <a16:creationId xmlns:a16="http://schemas.microsoft.com/office/drawing/2014/main" id="{3DB0133B-AC9D-AC7C-F69D-9A4874FDA904}"/>
              </a:ext>
            </a:extLst>
          </p:cNvPr>
          <p:cNvSpPr>
            <a:spLocks noGrp="1"/>
          </p:cNvSpPr>
          <p:nvPr>
            <p:ph idx="1"/>
          </p:nvPr>
        </p:nvSpPr>
        <p:spPr/>
        <p:txBody>
          <a:bodyPr>
            <a:normAutofit lnSpcReduction="10000"/>
          </a:bodyPr>
          <a:lstStyle/>
          <a:p>
            <a:r>
              <a:rPr lang="en-US" dirty="0"/>
              <a:t>Previously, we focus on using hash as a set</a:t>
            </a:r>
          </a:p>
          <a:p>
            <a:r>
              <a:rPr lang="en-US" dirty="0"/>
              <a:t>Like the Binary Search Tree (and AVL), the hash table can be adjusted to a map by storing a </a:t>
            </a:r>
            <a:r>
              <a:rPr lang="en-US" dirty="0">
                <a:solidFill>
                  <a:schemeClr val="accent5"/>
                </a:solidFill>
              </a:rPr>
              <a:t>pair</a:t>
            </a:r>
            <a:r>
              <a:rPr lang="en-US" dirty="0"/>
              <a:t> of </a:t>
            </a:r>
            <a:r>
              <a:rPr lang="en-US" dirty="0" err="1">
                <a:solidFill>
                  <a:schemeClr val="accent3"/>
                </a:solidFill>
              </a:rPr>
              <a:t>KeyT</a:t>
            </a:r>
            <a:r>
              <a:rPr lang="en-US" dirty="0"/>
              <a:t> and </a:t>
            </a:r>
            <a:r>
              <a:rPr lang="en-US" dirty="0" err="1">
                <a:solidFill>
                  <a:schemeClr val="accent4"/>
                </a:solidFill>
              </a:rPr>
              <a:t>MappedT</a:t>
            </a:r>
            <a:r>
              <a:rPr lang="en-US" dirty="0"/>
              <a:t> instead of just the </a:t>
            </a:r>
            <a:r>
              <a:rPr lang="en-US" dirty="0" err="1">
                <a:solidFill>
                  <a:schemeClr val="accent3"/>
                </a:solidFill>
              </a:rPr>
              <a:t>KeyT</a:t>
            </a:r>
            <a:endParaRPr lang="en-US" dirty="0">
              <a:solidFill>
                <a:schemeClr val="accent3"/>
              </a:solidFill>
            </a:endParaRPr>
          </a:p>
          <a:p>
            <a:r>
              <a:rPr lang="en-US" dirty="0"/>
              <a:t>We also need </a:t>
            </a:r>
            <a:r>
              <a:rPr lang="en-US" dirty="0">
                <a:solidFill>
                  <a:schemeClr val="accent2"/>
                </a:solidFill>
              </a:rPr>
              <a:t>operator[]</a:t>
            </a:r>
          </a:p>
          <a:p>
            <a:r>
              <a:rPr lang="en-US" dirty="0"/>
              <a:t>All of these can be done in the similar approach as in CP::</a:t>
            </a:r>
            <a:r>
              <a:rPr lang="en-US" dirty="0" err="1"/>
              <a:t>map_bst</a:t>
            </a:r>
            <a:endParaRPr lang="en-US" dirty="0"/>
          </a:p>
          <a:p>
            <a:r>
              <a:rPr lang="en-US" dirty="0"/>
              <a:t>For completeness, we also introduce </a:t>
            </a:r>
            <a:r>
              <a:rPr lang="en-US" dirty="0" err="1">
                <a:solidFill>
                  <a:schemeClr val="accent6"/>
                </a:solidFill>
              </a:rPr>
              <a:t>EqualT</a:t>
            </a:r>
            <a:r>
              <a:rPr lang="en-US" dirty="0"/>
              <a:t> as another template type which is the type used to check for equality of keys</a:t>
            </a:r>
          </a:p>
        </p:txBody>
      </p:sp>
    </p:spTree>
    <p:extLst>
      <p:ext uri="{BB962C8B-B14F-4D97-AF65-F5344CB8AC3E}">
        <p14:creationId xmlns:p14="http://schemas.microsoft.com/office/powerpoint/2010/main" val="27341425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9E161-FE74-B1E2-5C49-635E70DD7FB3}"/>
              </a:ext>
            </a:extLst>
          </p:cNvPr>
          <p:cNvSpPr>
            <a:spLocks noGrp="1"/>
          </p:cNvSpPr>
          <p:nvPr>
            <p:ph type="title"/>
          </p:nvPr>
        </p:nvSpPr>
        <p:spPr/>
        <p:txBody>
          <a:bodyPr/>
          <a:lstStyle/>
          <a:p>
            <a:r>
              <a:rPr lang="en-US" dirty="0"/>
              <a:t>More Template Declaration</a:t>
            </a:r>
          </a:p>
        </p:txBody>
      </p:sp>
      <p:sp>
        <p:nvSpPr>
          <p:cNvPr id="3" name="Content Placeholder 2">
            <a:extLst>
              <a:ext uri="{FF2B5EF4-FFF2-40B4-BE49-F238E27FC236}">
                <a16:creationId xmlns:a16="http://schemas.microsoft.com/office/drawing/2014/main" id="{285CFD3C-49BA-5B17-98CE-2E5F354BD19B}"/>
              </a:ext>
            </a:extLst>
          </p:cNvPr>
          <p:cNvSpPr>
            <a:spLocks noGrp="1"/>
          </p:cNvSpPr>
          <p:nvPr>
            <p:ph idx="1"/>
          </p:nvPr>
        </p:nvSpPr>
        <p:spPr>
          <a:xfrm>
            <a:off x="7249886" y="1358781"/>
            <a:ext cx="4103914" cy="3938933"/>
          </a:xfrm>
        </p:spPr>
        <p:txBody>
          <a:bodyPr>
            <a:normAutofit fontScale="62500" lnSpcReduction="20000"/>
          </a:bodyPr>
          <a:lstStyle/>
          <a:p>
            <a:r>
              <a:rPr lang="en-US" sz="2800" b="0" dirty="0" err="1">
                <a:solidFill>
                  <a:srgbClr val="4EC9B0"/>
                </a:solidFill>
                <a:effectLst/>
                <a:latin typeface="Monaspace Neon" pitchFamily="50" charset="0"/>
              </a:rPr>
              <a:t>MappedT</a:t>
            </a:r>
            <a:r>
              <a:rPr lang="en-US" dirty="0"/>
              <a:t> is the mapped datatype</a:t>
            </a:r>
          </a:p>
          <a:p>
            <a:r>
              <a:rPr lang="en-US" sz="2800" b="0" dirty="0" err="1">
                <a:solidFill>
                  <a:srgbClr val="4EC9B0"/>
                </a:solidFill>
                <a:effectLst/>
                <a:latin typeface="Monaspace Neon" pitchFamily="50" charset="0"/>
              </a:rPr>
              <a:t>EqualT</a:t>
            </a:r>
            <a:r>
              <a:rPr lang="en-US" dirty="0"/>
              <a:t> is the equality comparator class, has a default to </a:t>
            </a:r>
            <a:r>
              <a:rPr lang="en-US" sz="2800" b="0" dirty="0">
                <a:solidFill>
                  <a:srgbClr val="4EC9B0"/>
                </a:solidFill>
                <a:effectLst/>
                <a:latin typeface="Monaspace Neon" pitchFamily="50" charset="0"/>
              </a:rPr>
              <a:t>std</a:t>
            </a:r>
            <a:r>
              <a:rPr lang="en-US" sz="2800" b="0" dirty="0">
                <a:solidFill>
                  <a:srgbClr val="D4D4D4"/>
                </a:solidFill>
                <a:effectLst/>
                <a:latin typeface="Monaspace Neon" pitchFamily="50" charset="0"/>
              </a:rPr>
              <a:t>::</a:t>
            </a:r>
            <a:r>
              <a:rPr lang="en-US" sz="2800" b="0" dirty="0" err="1">
                <a:solidFill>
                  <a:srgbClr val="4EC9B0"/>
                </a:solidFill>
                <a:effectLst/>
                <a:latin typeface="Monaspace Neon" pitchFamily="50" charset="0"/>
              </a:rPr>
              <a:t>equal_to</a:t>
            </a:r>
            <a:r>
              <a:rPr lang="en-US" sz="2800" b="0" dirty="0">
                <a:solidFill>
                  <a:srgbClr val="4EC9B0"/>
                </a:solidFill>
                <a:effectLst/>
                <a:latin typeface="Monaspace Neon" pitchFamily="50" charset="0"/>
              </a:rPr>
              <a:t> </a:t>
            </a:r>
            <a:r>
              <a:rPr lang="en-US" dirty="0"/>
              <a:t>which simply use the operator ==</a:t>
            </a:r>
          </a:p>
          <a:p>
            <a:r>
              <a:rPr lang="en-US" dirty="0"/>
              <a:t>For Separate Chaining, each element in the vector in each bucket is a pair of </a:t>
            </a:r>
            <a:r>
              <a:rPr lang="en-US" dirty="0" err="1"/>
              <a:t>KeyT</a:t>
            </a:r>
            <a:r>
              <a:rPr lang="en-US" dirty="0"/>
              <a:t> and </a:t>
            </a:r>
            <a:r>
              <a:rPr lang="en-US" dirty="0" err="1"/>
              <a:t>MappedT</a:t>
            </a:r>
            <a:endParaRPr lang="en-US" dirty="0"/>
          </a:p>
          <a:p>
            <a:r>
              <a:rPr lang="en-US" dirty="0"/>
              <a:t>For Open Addressing, each bucket is pair&lt;</a:t>
            </a:r>
            <a:r>
              <a:rPr lang="en-US" dirty="0" err="1"/>
              <a:t>state,pair</a:t>
            </a:r>
            <a:r>
              <a:rPr lang="en-US" dirty="0"/>
              <a:t>&lt;</a:t>
            </a:r>
            <a:r>
              <a:rPr lang="en-US" dirty="0" err="1"/>
              <a:t>KeyT,MappedT</a:t>
            </a:r>
            <a:r>
              <a:rPr lang="en-US" dirty="0"/>
              <a:t>&gt;&gt;</a:t>
            </a:r>
          </a:p>
        </p:txBody>
      </p:sp>
      <p:sp>
        <p:nvSpPr>
          <p:cNvPr id="5" name="TextBox 4">
            <a:extLst>
              <a:ext uri="{FF2B5EF4-FFF2-40B4-BE49-F238E27FC236}">
                <a16:creationId xmlns:a16="http://schemas.microsoft.com/office/drawing/2014/main" id="{787C6E7E-ACC4-0032-875A-12EA26C5B8AF}"/>
              </a:ext>
            </a:extLst>
          </p:cNvPr>
          <p:cNvSpPr txBox="1"/>
          <p:nvPr/>
        </p:nvSpPr>
        <p:spPr>
          <a:xfrm>
            <a:off x="783772" y="1305342"/>
            <a:ext cx="6096000" cy="2123658"/>
          </a:xfrm>
          <a:prstGeom prst="rect">
            <a:avLst/>
          </a:prstGeom>
          <a:solidFill>
            <a:schemeClr val="bg1"/>
          </a:solidFill>
          <a:ln>
            <a:solidFill>
              <a:schemeClr val="accent2"/>
            </a:solidFill>
          </a:ln>
        </p:spPr>
        <p:txBody>
          <a:bodyPr wrap="square">
            <a:spAutoFit/>
          </a:bodyPr>
          <a:lstStyle/>
          <a:p>
            <a:r>
              <a:rPr lang="en-US" sz="1100" b="0" dirty="0">
                <a:solidFill>
                  <a:srgbClr val="569CD6"/>
                </a:solidFill>
                <a:effectLst/>
                <a:latin typeface="Monaspace Neon" pitchFamily="50" charset="0"/>
              </a:rPr>
              <a:t>template</a:t>
            </a:r>
            <a:r>
              <a:rPr lang="en-US" sz="1100" b="0" dirty="0">
                <a:solidFill>
                  <a:srgbClr val="D4D4D4"/>
                </a:solidFill>
                <a:effectLst/>
                <a:latin typeface="Monaspace Neon" pitchFamily="50" charset="0"/>
              </a:rPr>
              <a:t> &lt;</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MappedT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HasherT</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hash</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&gt;,</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EqualT</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equal_to</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&gt;&gt;</a:t>
            </a:r>
          </a:p>
          <a:p>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hash_map_sp</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protected:</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static</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a:solidFill>
                  <a:srgbClr val="569CD6"/>
                </a:solidFill>
                <a:effectLst/>
                <a:latin typeface="Monaspace Neon" pitchFamily="50" charset="0"/>
              </a:rPr>
              <a:t>unsigned</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long</a:t>
            </a:r>
            <a:r>
              <a:rPr lang="en-US" sz="1100" b="0" dirty="0">
                <a:solidFill>
                  <a:srgbClr val="D4D4D4"/>
                </a:solidFill>
                <a:effectLst/>
                <a:latin typeface="Monaspace Neon" pitchFamily="50" charset="0"/>
              </a:rPr>
              <a:t>&gt; </a:t>
            </a:r>
            <a:r>
              <a:rPr lang="en-US" sz="1100" b="0" dirty="0">
                <a:solidFill>
                  <a:srgbClr val="9CDCFE"/>
                </a:solidFill>
                <a:effectLst/>
                <a:latin typeface="Monaspace Neon" pitchFamily="50" charset="0"/>
              </a:rPr>
              <a:t>PRIMES</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typedef</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pair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KeyT</a:t>
            </a:r>
            <a:r>
              <a:rPr lang="en-US" sz="1100" b="0" dirty="0" err="1">
                <a:solidFill>
                  <a:srgbClr val="D4D4D4"/>
                </a:solidFill>
                <a:effectLst/>
                <a:latin typeface="Monaspace Neon" pitchFamily="50" charset="0"/>
              </a:rPr>
              <a:t>,</a:t>
            </a:r>
            <a:r>
              <a:rPr lang="en-US" sz="1100" b="0" dirty="0" err="1">
                <a:solidFill>
                  <a:srgbClr val="4EC9B0"/>
                </a:solidFill>
                <a:effectLst/>
                <a:latin typeface="Monaspace Neon" pitchFamily="50" charset="0"/>
              </a:rPr>
              <a:t>MappedT</a:t>
            </a:r>
            <a:r>
              <a:rPr lang="en-US" sz="1100" b="0" dirty="0">
                <a:solidFill>
                  <a:srgbClr val="D4D4D4"/>
                </a:solidFill>
                <a:effectLst/>
                <a:latin typeface="Monaspace Neon" pitchFamily="50" charset="0"/>
              </a:rPr>
              <a:t>&gt;                 </a:t>
            </a:r>
            <a:r>
              <a:rPr lang="en-US" sz="1100" b="0" dirty="0" err="1">
                <a:solidFill>
                  <a:srgbClr val="4EC9B0"/>
                </a:solidFill>
                <a:effectLst/>
                <a:latin typeface="Monaspace Neon" pitchFamily="50" charset="0"/>
              </a:rPr>
              <a:t>ValueT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typedef</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ValueT</a:t>
            </a:r>
            <a:r>
              <a:rPr lang="en-US" sz="1100" b="0" dirty="0">
                <a:solidFill>
                  <a:srgbClr val="D4D4D4"/>
                </a:solidFill>
                <a:effectLst/>
                <a:latin typeface="Monaspace Neon" pitchFamily="50" charset="0"/>
              </a:rPr>
              <a:t>&gt;                     </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typedef</a:t>
            </a:r>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ValueIterator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typedef</a:t>
            </a:r>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&gt;::</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a:t>
            </a:r>
          </a:p>
        </p:txBody>
      </p:sp>
      <p:sp>
        <p:nvSpPr>
          <p:cNvPr id="7" name="TextBox 6">
            <a:extLst>
              <a:ext uri="{FF2B5EF4-FFF2-40B4-BE49-F238E27FC236}">
                <a16:creationId xmlns:a16="http://schemas.microsoft.com/office/drawing/2014/main" id="{931CEACF-E6BF-5D44-0F8A-3D1E1B7A8938}"/>
              </a:ext>
            </a:extLst>
          </p:cNvPr>
          <p:cNvSpPr txBox="1"/>
          <p:nvPr/>
        </p:nvSpPr>
        <p:spPr>
          <a:xfrm>
            <a:off x="783772" y="4082228"/>
            <a:ext cx="6096000" cy="2292935"/>
          </a:xfrm>
          <a:prstGeom prst="rect">
            <a:avLst/>
          </a:prstGeom>
          <a:solidFill>
            <a:schemeClr val="bg1"/>
          </a:solidFill>
          <a:ln>
            <a:solidFill>
              <a:schemeClr val="accent6"/>
            </a:solidFill>
          </a:ln>
        </p:spPr>
        <p:txBody>
          <a:bodyPr wrap="square">
            <a:spAutoFit/>
          </a:bodyPr>
          <a:lstStyle/>
          <a:p>
            <a:r>
              <a:rPr lang="en-US" sz="1100" b="0" dirty="0">
                <a:solidFill>
                  <a:srgbClr val="569CD6"/>
                </a:solidFill>
                <a:effectLst/>
                <a:latin typeface="Monaspace Neon" pitchFamily="50" charset="0"/>
              </a:rPr>
              <a:t>template</a:t>
            </a:r>
            <a:r>
              <a:rPr lang="en-US" sz="1100" b="0" dirty="0">
                <a:solidFill>
                  <a:srgbClr val="D4D4D4"/>
                </a:solidFill>
                <a:effectLst/>
                <a:latin typeface="Monaspace Neon" pitchFamily="50" charset="0"/>
              </a:rPr>
              <a:t> &lt;</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MappedT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HasherT</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hash</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&gt;,</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EqualT</a:t>
            </a:r>
            <a:r>
              <a:rPr lang="en-US" sz="1100" b="0" dirty="0">
                <a:solidFill>
                  <a:srgbClr val="D4D4D4"/>
                </a:solidFill>
                <a:effectLst/>
                <a:latin typeface="Monaspace Neon" pitchFamily="50" charset="0"/>
              </a:rPr>
              <a:t> =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equal_to</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&gt;&gt;</a:t>
            </a:r>
          </a:p>
          <a:p>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hash_map_oa_qp</a:t>
            </a:r>
            <a:r>
              <a:rPr lang="en-US" sz="1100" b="0" dirty="0">
                <a:solidFill>
                  <a:srgbClr val="D4D4D4"/>
                </a:solidFill>
                <a:effectLst/>
                <a:latin typeface="Monaspace Neon" pitchFamily="50" charset="0"/>
              </a:rPr>
              <a:t> {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protected:</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static</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a:solidFill>
                  <a:srgbClr val="569CD6"/>
                </a:solidFill>
                <a:effectLst/>
                <a:latin typeface="Monaspace Neon" pitchFamily="50" charset="0"/>
              </a:rPr>
              <a:t>unsigned</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long</a:t>
            </a:r>
            <a:r>
              <a:rPr lang="en-US" sz="1100" b="0" dirty="0">
                <a:solidFill>
                  <a:srgbClr val="D4D4D4"/>
                </a:solidFill>
                <a:effectLst/>
                <a:latin typeface="Monaspace Neon" pitchFamily="50" charset="0"/>
              </a:rPr>
              <a:t>&gt; </a:t>
            </a:r>
            <a:r>
              <a:rPr lang="en-US" sz="1100" b="0" dirty="0">
                <a:solidFill>
                  <a:srgbClr val="9CDCFE"/>
                </a:solidFill>
                <a:effectLst/>
                <a:latin typeface="Monaspace Neon" pitchFamily="50" charset="0"/>
              </a:rPr>
              <a:t>PRIMES</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enum</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state</a:t>
            </a:r>
            <a:r>
              <a:rPr lang="en-US" sz="1100" b="0" dirty="0">
                <a:solidFill>
                  <a:srgbClr val="D4D4D4"/>
                </a:solidFill>
                <a:effectLst/>
                <a:latin typeface="Monaspace Neon" pitchFamily="50" charset="0"/>
              </a:rPr>
              <a:t> {</a:t>
            </a:r>
            <a:r>
              <a:rPr lang="en-US" sz="1100" b="0" dirty="0">
                <a:solidFill>
                  <a:srgbClr val="4FC1FF"/>
                </a:solidFill>
                <a:effectLst/>
                <a:latin typeface="Monaspace Neon" pitchFamily="50" charset="0"/>
              </a:rPr>
              <a:t>EMPTY</a:t>
            </a:r>
            <a:r>
              <a:rPr lang="en-US" sz="1100" b="0" dirty="0">
                <a:solidFill>
                  <a:srgbClr val="D4D4D4"/>
                </a:solidFill>
                <a:effectLst/>
                <a:latin typeface="Monaspace Neon" pitchFamily="50" charset="0"/>
              </a:rPr>
              <a:t>, </a:t>
            </a:r>
            <a:r>
              <a:rPr lang="en-US" sz="1100" b="0" dirty="0">
                <a:solidFill>
                  <a:srgbClr val="4FC1FF"/>
                </a:solidFill>
                <a:effectLst/>
                <a:latin typeface="Monaspace Neon" pitchFamily="50" charset="0"/>
              </a:rPr>
              <a:t>ERASED</a:t>
            </a:r>
            <a:r>
              <a:rPr lang="en-US" sz="1100" b="0" dirty="0">
                <a:solidFill>
                  <a:srgbClr val="D4D4D4"/>
                </a:solidFill>
                <a:effectLst/>
                <a:latin typeface="Monaspace Neon" pitchFamily="50" charset="0"/>
              </a:rPr>
              <a:t>, </a:t>
            </a:r>
            <a:r>
              <a:rPr lang="en-US" sz="1100" b="0" dirty="0">
                <a:solidFill>
                  <a:srgbClr val="4FC1FF"/>
                </a:solidFill>
                <a:effectLst/>
                <a:latin typeface="Monaspace Neon" pitchFamily="50" charset="0"/>
              </a:rPr>
              <a:t>OCCUPIED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typedef</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pair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KeyT</a:t>
            </a:r>
            <a:r>
              <a:rPr lang="en-US" sz="1100" b="0" dirty="0" err="1">
                <a:solidFill>
                  <a:srgbClr val="D4D4D4"/>
                </a:solidFill>
                <a:effectLst/>
                <a:latin typeface="Monaspace Neon" pitchFamily="50" charset="0"/>
              </a:rPr>
              <a:t>,</a:t>
            </a:r>
            <a:r>
              <a:rPr lang="en-US" sz="1100" b="0" dirty="0" err="1">
                <a:solidFill>
                  <a:srgbClr val="4EC9B0"/>
                </a:solidFill>
                <a:effectLst/>
                <a:latin typeface="Monaspace Neon" pitchFamily="50" charset="0"/>
              </a:rPr>
              <a:t>MappedT</a:t>
            </a:r>
            <a:r>
              <a:rPr lang="en-US" sz="1100" b="0" dirty="0">
                <a:solidFill>
                  <a:srgbClr val="D4D4D4"/>
                </a:solidFill>
                <a:effectLst/>
                <a:latin typeface="Monaspace Neon" pitchFamily="50" charset="0"/>
              </a:rPr>
              <a:t>&gt;                  </a:t>
            </a:r>
            <a:r>
              <a:rPr lang="en-US" sz="1100" b="0" dirty="0" err="1">
                <a:solidFill>
                  <a:srgbClr val="4EC9B0"/>
                </a:solidFill>
                <a:effectLst/>
                <a:latin typeface="Monaspace Neon" pitchFamily="50" charset="0"/>
              </a:rPr>
              <a:t>ValueT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typedef</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pair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state</a:t>
            </a:r>
            <a:r>
              <a:rPr lang="en-US" sz="1100" b="0" dirty="0" err="1">
                <a:solidFill>
                  <a:srgbClr val="D4D4D4"/>
                </a:solidFill>
                <a:effectLst/>
                <a:latin typeface="Monaspace Neon" pitchFamily="50" charset="0"/>
              </a:rPr>
              <a:t>,</a:t>
            </a:r>
            <a:r>
              <a:rPr lang="en-US" sz="1100" b="0" dirty="0" err="1">
                <a:solidFill>
                  <a:srgbClr val="4EC9B0"/>
                </a:solidFill>
                <a:effectLst/>
                <a:latin typeface="Monaspace Neon" pitchFamily="50" charset="0"/>
              </a:rPr>
              <a:t>ValueT</a:t>
            </a:r>
            <a:r>
              <a:rPr lang="en-US" sz="1100" b="0" dirty="0">
                <a:solidFill>
                  <a:srgbClr val="D4D4D4"/>
                </a:solidFill>
                <a:effectLst/>
                <a:latin typeface="Monaspace Neon" pitchFamily="50" charset="0"/>
              </a:rPr>
              <a:t>&gt;                  </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typedef</a:t>
            </a:r>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typename</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vector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BucketT</a:t>
            </a:r>
            <a:r>
              <a:rPr lang="en-US" sz="1100" b="0" dirty="0">
                <a:solidFill>
                  <a:srgbClr val="D4D4D4"/>
                </a:solidFill>
                <a:effectLst/>
                <a:latin typeface="Monaspace Neon" pitchFamily="50" charset="0"/>
              </a:rPr>
              <a:t>&gt;::</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BucketIterator</a:t>
            </a:r>
            <a:r>
              <a:rPr lang="en-US" sz="1100" b="0" dirty="0">
                <a:solidFill>
                  <a:srgbClr val="D4D4D4"/>
                </a:solidFill>
                <a:effectLst/>
                <a:latin typeface="Monaspace Neon" pitchFamily="50" charset="0"/>
              </a:rPr>
              <a:t>;</a:t>
            </a:r>
          </a:p>
        </p:txBody>
      </p:sp>
    </p:spTree>
    <p:extLst>
      <p:ext uri="{BB962C8B-B14F-4D97-AF65-F5344CB8AC3E}">
        <p14:creationId xmlns:p14="http://schemas.microsoft.com/office/powerpoint/2010/main" val="16753823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37313-6D3C-0852-C83F-135B608FD46C}"/>
              </a:ext>
            </a:extLst>
          </p:cNvPr>
          <p:cNvSpPr>
            <a:spLocks noGrp="1"/>
          </p:cNvSpPr>
          <p:nvPr>
            <p:ph type="title"/>
          </p:nvPr>
        </p:nvSpPr>
        <p:spPr/>
        <p:txBody>
          <a:bodyPr/>
          <a:lstStyle/>
          <a:p>
            <a:r>
              <a:rPr lang="en-US" dirty="0"/>
              <a:t>operator[]</a:t>
            </a:r>
          </a:p>
        </p:txBody>
      </p:sp>
      <p:sp>
        <p:nvSpPr>
          <p:cNvPr id="3" name="Content Placeholder 2">
            <a:extLst>
              <a:ext uri="{FF2B5EF4-FFF2-40B4-BE49-F238E27FC236}">
                <a16:creationId xmlns:a16="http://schemas.microsoft.com/office/drawing/2014/main" id="{C163D9B7-91E4-37B3-8A6E-38CBE2540F01}"/>
              </a:ext>
            </a:extLst>
          </p:cNvPr>
          <p:cNvSpPr>
            <a:spLocks noGrp="1"/>
          </p:cNvSpPr>
          <p:nvPr>
            <p:ph idx="1"/>
          </p:nvPr>
        </p:nvSpPr>
        <p:spPr/>
        <p:txBody>
          <a:bodyPr/>
          <a:lstStyle/>
          <a:p>
            <a:r>
              <a:rPr lang="en-US" dirty="0"/>
              <a:t>Utilize the function find and insert.</a:t>
            </a:r>
          </a:p>
          <a:p>
            <a:r>
              <a:rPr lang="en-US" dirty="0"/>
              <a:t>The same code can be used for both the separate chaining and open addressing</a:t>
            </a:r>
          </a:p>
        </p:txBody>
      </p:sp>
      <p:sp>
        <p:nvSpPr>
          <p:cNvPr id="5" name="TextBox 4">
            <a:extLst>
              <a:ext uri="{FF2B5EF4-FFF2-40B4-BE49-F238E27FC236}">
                <a16:creationId xmlns:a16="http://schemas.microsoft.com/office/drawing/2014/main" id="{8D4F3E4B-53DC-56B6-C2C3-F1B318D6E292}"/>
              </a:ext>
            </a:extLst>
          </p:cNvPr>
          <p:cNvSpPr txBox="1"/>
          <p:nvPr/>
        </p:nvSpPr>
        <p:spPr>
          <a:xfrm>
            <a:off x="2539999" y="3804683"/>
            <a:ext cx="5515430" cy="1815882"/>
          </a:xfrm>
          <a:prstGeom prst="rect">
            <a:avLst/>
          </a:prstGeom>
          <a:solidFill>
            <a:schemeClr val="bg1"/>
          </a:solidFill>
          <a:ln>
            <a:solidFill>
              <a:schemeClr val="accent2"/>
            </a:solidFill>
          </a:ln>
        </p:spPr>
        <p:txBody>
          <a:bodyPr wrap="square">
            <a:spAutoFit/>
          </a:bodyPr>
          <a:lstStyle/>
          <a:p>
            <a:r>
              <a:rPr lang="en-US" sz="1600" b="0" dirty="0" err="1">
                <a:solidFill>
                  <a:srgbClr val="4EC9B0"/>
                </a:solidFill>
                <a:effectLst/>
                <a:latin typeface="Monaspace Neon" pitchFamily="50" charset="0"/>
              </a:rPr>
              <a:t>MappedT</a:t>
            </a:r>
            <a:r>
              <a:rPr lang="en-US" sz="1600" b="0" dirty="0">
                <a:solidFill>
                  <a:srgbClr val="569CD6"/>
                </a:solidFill>
                <a:effectLst/>
                <a:latin typeface="Monaspace Neon" pitchFamily="50" charset="0"/>
              </a:rPr>
              <a:t>&amp;</a:t>
            </a:r>
            <a:r>
              <a:rPr lang="en-US" sz="1600" b="0" dirty="0">
                <a:solidFill>
                  <a:srgbClr val="D4D4D4"/>
                </a:solidFill>
                <a:effectLst/>
                <a:latin typeface="Monaspace Neon" pitchFamily="50" charset="0"/>
              </a:rPr>
              <a:t> </a:t>
            </a:r>
            <a:r>
              <a:rPr lang="en-US" sz="1600" b="0" dirty="0">
                <a:solidFill>
                  <a:srgbClr val="DCDCAA"/>
                </a:solidFill>
                <a:effectLst/>
                <a:latin typeface="Monaspace Neon" pitchFamily="50" charset="0"/>
              </a:rPr>
              <a:t>operator[]</a:t>
            </a:r>
            <a:r>
              <a:rPr lang="en-US" sz="1600" b="0" dirty="0">
                <a:solidFill>
                  <a:srgbClr val="D4D4D4"/>
                </a:solidFill>
                <a:effectLst/>
                <a:latin typeface="Monaspace Neon" pitchFamily="50" charset="0"/>
              </a:rPr>
              <a:t>(</a:t>
            </a:r>
            <a:r>
              <a:rPr lang="en-US" sz="1600" b="0" dirty="0">
                <a:solidFill>
                  <a:srgbClr val="569CD6"/>
                </a:solidFill>
                <a:effectLst/>
                <a:latin typeface="Monaspace Neon" pitchFamily="50" charset="0"/>
              </a:rPr>
              <a:t>const</a:t>
            </a:r>
            <a:r>
              <a:rPr lang="en-US" sz="1600" b="0" dirty="0">
                <a:solidFill>
                  <a:srgbClr val="D4D4D4"/>
                </a:solidFill>
                <a:effectLst/>
                <a:latin typeface="Monaspace Neon" pitchFamily="50" charset="0"/>
              </a:rPr>
              <a:t> </a:t>
            </a:r>
            <a:r>
              <a:rPr lang="en-US" sz="1600" b="0" dirty="0" err="1">
                <a:solidFill>
                  <a:srgbClr val="4EC9B0"/>
                </a:solidFill>
                <a:effectLst/>
                <a:latin typeface="Monaspace Neon" pitchFamily="50" charset="0"/>
              </a:rPr>
              <a:t>KeyT</a:t>
            </a:r>
            <a:r>
              <a:rPr lang="en-US" sz="1600" b="0" dirty="0">
                <a:solidFill>
                  <a:srgbClr val="569CD6"/>
                </a:solidFill>
                <a:effectLst/>
                <a:latin typeface="Monaspace Neon" pitchFamily="50" charset="0"/>
              </a:rPr>
              <a:t>&amp;</a:t>
            </a:r>
            <a:r>
              <a:rPr lang="en-US" sz="1600" b="0" dirty="0">
                <a:solidFill>
                  <a:srgbClr val="D4D4D4"/>
                </a:solidFill>
                <a:effectLst/>
                <a:latin typeface="Monaspace Neon" pitchFamily="50" charset="0"/>
              </a:rPr>
              <a:t> </a:t>
            </a:r>
            <a:r>
              <a:rPr lang="en-US" sz="1600" b="0" dirty="0">
                <a:solidFill>
                  <a:srgbClr val="9CDCFE"/>
                </a:solidFill>
                <a:effectLst/>
                <a:latin typeface="Monaspace Neon" pitchFamily="50" charset="0"/>
              </a:rPr>
              <a:t>key</a:t>
            </a:r>
            <a:r>
              <a:rPr lang="en-US" sz="1600" b="0" dirty="0">
                <a:solidFill>
                  <a:srgbClr val="D4D4D4"/>
                </a:solidFill>
                <a:effectLst/>
                <a:latin typeface="Monaspace Neon" pitchFamily="50" charset="0"/>
              </a:rPr>
              <a:t>) {</a:t>
            </a:r>
          </a:p>
          <a:p>
            <a:r>
              <a:rPr lang="en-US" sz="1600" b="0" dirty="0">
                <a:solidFill>
                  <a:srgbClr val="D4D4D4"/>
                </a:solidFill>
                <a:effectLst/>
                <a:latin typeface="Monaspace Neon" pitchFamily="50" charset="0"/>
              </a:rPr>
              <a:t>  </a:t>
            </a:r>
            <a:r>
              <a:rPr lang="en-US" sz="1600" b="0" dirty="0">
                <a:solidFill>
                  <a:srgbClr val="569CD6"/>
                </a:solidFill>
                <a:effectLst/>
                <a:latin typeface="Monaspace Neon" pitchFamily="50" charset="0"/>
              </a:rPr>
              <a:t>auto</a:t>
            </a:r>
            <a:r>
              <a:rPr lang="en-US" sz="1600" b="0" dirty="0">
                <a:solidFill>
                  <a:srgbClr val="D4D4D4"/>
                </a:solidFill>
                <a:effectLst/>
                <a:latin typeface="Monaspace Neon" pitchFamily="50" charset="0"/>
              </a:rPr>
              <a:t> </a:t>
            </a:r>
            <a:r>
              <a:rPr lang="en-US" sz="1600" b="0" dirty="0">
                <a:solidFill>
                  <a:srgbClr val="9CDCFE"/>
                </a:solidFill>
                <a:effectLst/>
                <a:latin typeface="Monaspace Neon" pitchFamily="50" charset="0"/>
              </a:rPr>
              <a:t>it</a:t>
            </a:r>
            <a:r>
              <a:rPr lang="en-US" sz="1600" b="0" dirty="0">
                <a:solidFill>
                  <a:srgbClr val="D4D4D4"/>
                </a:solidFill>
                <a:effectLst/>
                <a:latin typeface="Monaspace Neon" pitchFamily="50" charset="0"/>
              </a:rPr>
              <a:t> = </a:t>
            </a:r>
            <a:r>
              <a:rPr lang="en-US" sz="1600" b="0" dirty="0">
                <a:solidFill>
                  <a:srgbClr val="DCDCAA"/>
                </a:solidFill>
                <a:effectLst/>
                <a:latin typeface="Monaspace Neon" pitchFamily="50" charset="0"/>
              </a:rPr>
              <a:t>find</a:t>
            </a:r>
            <a:r>
              <a:rPr lang="en-US" sz="1600" b="0" dirty="0">
                <a:solidFill>
                  <a:srgbClr val="D4D4D4"/>
                </a:solidFill>
                <a:effectLst/>
                <a:latin typeface="Monaspace Neon" pitchFamily="50" charset="0"/>
              </a:rPr>
              <a:t>(</a:t>
            </a:r>
            <a:r>
              <a:rPr lang="en-US" sz="1600" b="0" dirty="0">
                <a:solidFill>
                  <a:srgbClr val="9CDCFE"/>
                </a:solidFill>
                <a:effectLst/>
                <a:latin typeface="Monaspace Neon" pitchFamily="50" charset="0"/>
              </a:rPr>
              <a:t>key</a:t>
            </a:r>
            <a:r>
              <a:rPr lang="en-US" sz="1600" b="0" dirty="0">
                <a:solidFill>
                  <a:srgbClr val="D4D4D4"/>
                </a:solidFill>
                <a:effectLst/>
                <a:latin typeface="Monaspace Neon" pitchFamily="50" charset="0"/>
              </a:rPr>
              <a:t>);</a:t>
            </a:r>
          </a:p>
          <a:p>
            <a:r>
              <a:rPr lang="en-US" sz="1600" b="0" dirty="0">
                <a:solidFill>
                  <a:srgbClr val="D4D4D4"/>
                </a:solidFill>
                <a:effectLst/>
                <a:latin typeface="Monaspace Neon" pitchFamily="50" charset="0"/>
              </a:rPr>
              <a:t>  </a:t>
            </a:r>
            <a:r>
              <a:rPr lang="en-US" sz="1600" b="0" dirty="0">
                <a:solidFill>
                  <a:srgbClr val="C586C0"/>
                </a:solidFill>
                <a:effectLst/>
                <a:latin typeface="Monaspace Neon" pitchFamily="50" charset="0"/>
              </a:rPr>
              <a:t>if</a:t>
            </a:r>
            <a:r>
              <a:rPr lang="en-US" sz="1600" b="0" dirty="0">
                <a:solidFill>
                  <a:srgbClr val="D4D4D4"/>
                </a:solidFill>
                <a:effectLst/>
                <a:latin typeface="Monaspace Neon" pitchFamily="50" charset="0"/>
              </a:rPr>
              <a:t> (</a:t>
            </a:r>
            <a:r>
              <a:rPr lang="en-US" sz="1600" b="0" dirty="0">
                <a:solidFill>
                  <a:srgbClr val="9CDCFE"/>
                </a:solidFill>
                <a:effectLst/>
                <a:latin typeface="Monaspace Neon" pitchFamily="50" charset="0"/>
              </a:rPr>
              <a:t>it</a:t>
            </a:r>
            <a:r>
              <a:rPr lang="en-US" sz="1600" b="0" dirty="0">
                <a:solidFill>
                  <a:srgbClr val="D4D4D4"/>
                </a:solidFill>
                <a:effectLst/>
                <a:latin typeface="Monaspace Neon" pitchFamily="50" charset="0"/>
              </a:rPr>
              <a:t> == </a:t>
            </a:r>
            <a:r>
              <a:rPr lang="en-US" sz="1600" b="0" dirty="0">
                <a:solidFill>
                  <a:srgbClr val="DCDCAA"/>
                </a:solidFill>
                <a:effectLst/>
                <a:latin typeface="Monaspace Neon" pitchFamily="50" charset="0"/>
              </a:rPr>
              <a:t>end</a:t>
            </a:r>
            <a:r>
              <a:rPr lang="en-US" sz="1600" b="0" dirty="0">
                <a:solidFill>
                  <a:srgbClr val="D4D4D4"/>
                </a:solidFill>
                <a:effectLst/>
                <a:latin typeface="Monaspace Neon" pitchFamily="50" charset="0"/>
              </a:rPr>
              <a:t>()) {</a:t>
            </a:r>
          </a:p>
          <a:p>
            <a:r>
              <a:rPr lang="en-US" sz="1600" b="0" dirty="0">
                <a:solidFill>
                  <a:srgbClr val="D4D4D4"/>
                </a:solidFill>
                <a:effectLst/>
                <a:latin typeface="Monaspace Neon" pitchFamily="50" charset="0"/>
              </a:rPr>
              <a:t>    </a:t>
            </a:r>
            <a:r>
              <a:rPr lang="en-US" sz="1600" b="0" dirty="0">
                <a:solidFill>
                  <a:srgbClr val="9CDCFE"/>
                </a:solidFill>
                <a:effectLst/>
                <a:latin typeface="Monaspace Neon" pitchFamily="50" charset="0"/>
              </a:rPr>
              <a:t>it</a:t>
            </a:r>
            <a:r>
              <a:rPr lang="en-US" sz="1600" b="0" dirty="0">
                <a:solidFill>
                  <a:srgbClr val="D4D4D4"/>
                </a:solidFill>
                <a:effectLst/>
                <a:latin typeface="Monaspace Neon" pitchFamily="50" charset="0"/>
              </a:rPr>
              <a:t> = </a:t>
            </a:r>
            <a:r>
              <a:rPr lang="en-US" sz="1600" b="0" dirty="0">
                <a:solidFill>
                  <a:srgbClr val="DCDCAA"/>
                </a:solidFill>
                <a:effectLst/>
                <a:latin typeface="Monaspace Neon" pitchFamily="50" charset="0"/>
              </a:rPr>
              <a:t>insert</a:t>
            </a:r>
            <a:r>
              <a:rPr lang="en-US" sz="1600" b="0" dirty="0">
                <a:solidFill>
                  <a:srgbClr val="D4D4D4"/>
                </a:solidFill>
                <a:effectLst/>
                <a:latin typeface="Monaspace Neon" pitchFamily="50" charset="0"/>
              </a:rPr>
              <a:t>({</a:t>
            </a:r>
            <a:r>
              <a:rPr lang="en-US" sz="1600" b="0" dirty="0" err="1">
                <a:solidFill>
                  <a:srgbClr val="9CDCFE"/>
                </a:solidFill>
                <a:effectLst/>
                <a:latin typeface="Monaspace Neon" pitchFamily="50" charset="0"/>
              </a:rPr>
              <a:t>key</a:t>
            </a:r>
            <a:r>
              <a:rPr lang="en-US" sz="1600" b="0" dirty="0" err="1">
                <a:solidFill>
                  <a:srgbClr val="D4D4D4"/>
                </a:solidFill>
                <a:effectLst/>
                <a:latin typeface="Monaspace Neon" pitchFamily="50" charset="0"/>
              </a:rPr>
              <a:t>,</a:t>
            </a:r>
            <a:r>
              <a:rPr lang="en-US" sz="1600" b="0" dirty="0" err="1">
                <a:solidFill>
                  <a:srgbClr val="4EC9B0"/>
                </a:solidFill>
                <a:effectLst/>
                <a:latin typeface="Monaspace Neon" pitchFamily="50" charset="0"/>
              </a:rPr>
              <a:t>MappedT</a:t>
            </a:r>
            <a:r>
              <a:rPr lang="en-US" sz="1600" b="0" dirty="0">
                <a:solidFill>
                  <a:srgbClr val="D4D4D4"/>
                </a:solidFill>
                <a:effectLst/>
                <a:latin typeface="Monaspace Neon" pitchFamily="50" charset="0"/>
              </a:rPr>
              <a:t>()}).</a:t>
            </a:r>
            <a:r>
              <a:rPr lang="en-US" sz="1600" b="0" dirty="0">
                <a:solidFill>
                  <a:srgbClr val="9CDCFE"/>
                </a:solidFill>
                <a:effectLst/>
                <a:latin typeface="Monaspace Neon" pitchFamily="50" charset="0"/>
              </a:rPr>
              <a:t>first</a:t>
            </a:r>
            <a:r>
              <a:rPr lang="en-US" sz="1600" b="0" dirty="0">
                <a:solidFill>
                  <a:srgbClr val="D4D4D4"/>
                </a:solidFill>
                <a:effectLst/>
                <a:latin typeface="Monaspace Neon" pitchFamily="50" charset="0"/>
              </a:rPr>
              <a:t>;</a:t>
            </a:r>
          </a:p>
          <a:p>
            <a:r>
              <a:rPr lang="en-US" sz="1600" b="0" dirty="0">
                <a:solidFill>
                  <a:srgbClr val="D4D4D4"/>
                </a:solidFill>
                <a:effectLst/>
                <a:latin typeface="Monaspace Neon" pitchFamily="50" charset="0"/>
              </a:rPr>
              <a:t>  }</a:t>
            </a:r>
          </a:p>
          <a:p>
            <a:r>
              <a:rPr lang="en-US" sz="1600" b="0" dirty="0">
                <a:solidFill>
                  <a:srgbClr val="D4D4D4"/>
                </a:solidFill>
                <a:effectLst/>
                <a:latin typeface="Monaspace Neon" pitchFamily="50" charset="0"/>
              </a:rPr>
              <a:t>  </a:t>
            </a:r>
            <a:r>
              <a:rPr lang="en-US" sz="1600" b="0" dirty="0">
                <a:solidFill>
                  <a:srgbClr val="C586C0"/>
                </a:solidFill>
                <a:effectLst/>
                <a:latin typeface="Monaspace Neon" pitchFamily="50" charset="0"/>
              </a:rPr>
              <a:t>return</a:t>
            </a:r>
            <a:r>
              <a:rPr lang="en-US" sz="1600" b="0" dirty="0">
                <a:solidFill>
                  <a:srgbClr val="D4D4D4"/>
                </a:solidFill>
                <a:effectLst/>
                <a:latin typeface="Monaspace Neon" pitchFamily="50" charset="0"/>
              </a:rPr>
              <a:t> </a:t>
            </a:r>
            <a:r>
              <a:rPr lang="en-US" sz="1600" b="0" dirty="0">
                <a:solidFill>
                  <a:srgbClr val="9CDCFE"/>
                </a:solidFill>
                <a:effectLst/>
                <a:latin typeface="Monaspace Neon" pitchFamily="50" charset="0"/>
              </a:rPr>
              <a:t>it</a:t>
            </a:r>
            <a:r>
              <a:rPr lang="en-US" sz="1600" b="0" dirty="0">
                <a:solidFill>
                  <a:srgbClr val="D4D4D4"/>
                </a:solidFill>
                <a:effectLst/>
                <a:latin typeface="Monaspace Neon" pitchFamily="50" charset="0"/>
              </a:rPr>
              <a:t>-&gt;</a:t>
            </a:r>
            <a:r>
              <a:rPr lang="en-US" sz="1600" b="0" dirty="0">
                <a:solidFill>
                  <a:srgbClr val="9CDCFE"/>
                </a:solidFill>
                <a:effectLst/>
                <a:latin typeface="Monaspace Neon" pitchFamily="50" charset="0"/>
              </a:rPr>
              <a:t>second</a:t>
            </a:r>
            <a:r>
              <a:rPr lang="en-US" sz="1600" b="0" dirty="0">
                <a:solidFill>
                  <a:srgbClr val="D4D4D4"/>
                </a:solidFill>
                <a:effectLst/>
                <a:latin typeface="Monaspace Neon" pitchFamily="50" charset="0"/>
              </a:rPr>
              <a:t>;</a:t>
            </a:r>
          </a:p>
          <a:p>
            <a:r>
              <a:rPr lang="en-US" sz="1600" b="0" dirty="0">
                <a:solidFill>
                  <a:srgbClr val="D4D4D4"/>
                </a:solidFill>
                <a:effectLst/>
                <a:latin typeface="Monaspace Neon" pitchFamily="50" charset="0"/>
              </a:rPr>
              <a:t>}</a:t>
            </a:r>
          </a:p>
        </p:txBody>
      </p:sp>
    </p:spTree>
    <p:extLst>
      <p:ext uri="{BB962C8B-B14F-4D97-AF65-F5344CB8AC3E}">
        <p14:creationId xmlns:p14="http://schemas.microsoft.com/office/powerpoint/2010/main" val="6809422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2F901-4BB2-D536-6EB9-07CB6CB8E714}"/>
              </a:ext>
            </a:extLst>
          </p:cNvPr>
          <p:cNvSpPr>
            <a:spLocks noGrp="1"/>
          </p:cNvSpPr>
          <p:nvPr>
            <p:ph type="title"/>
          </p:nvPr>
        </p:nvSpPr>
        <p:spPr/>
        <p:txBody>
          <a:bodyPr/>
          <a:lstStyle/>
          <a:p>
            <a:r>
              <a:rPr lang="en-US" dirty="0" err="1"/>
              <a:t>mEqual</a:t>
            </a:r>
            <a:endParaRPr lang="en-US" dirty="0"/>
          </a:p>
        </p:txBody>
      </p:sp>
      <p:sp>
        <p:nvSpPr>
          <p:cNvPr id="3" name="Content Placeholder 2">
            <a:extLst>
              <a:ext uri="{FF2B5EF4-FFF2-40B4-BE49-F238E27FC236}">
                <a16:creationId xmlns:a16="http://schemas.microsoft.com/office/drawing/2014/main" id="{F5014C15-F392-B0CF-F647-96B0C34312BB}"/>
              </a:ext>
            </a:extLst>
          </p:cNvPr>
          <p:cNvSpPr>
            <a:spLocks noGrp="1"/>
          </p:cNvSpPr>
          <p:nvPr>
            <p:ph idx="1"/>
          </p:nvPr>
        </p:nvSpPr>
        <p:spPr>
          <a:xfrm>
            <a:off x="838200" y="1358781"/>
            <a:ext cx="3516087" cy="5016382"/>
          </a:xfrm>
        </p:spPr>
        <p:txBody>
          <a:bodyPr>
            <a:normAutofit fontScale="85000" lnSpcReduction="10000"/>
          </a:bodyPr>
          <a:lstStyle/>
          <a:p>
            <a:r>
              <a:rPr lang="en-US" dirty="0"/>
              <a:t>To check if a given key is the same as the data in the hash table, we use </a:t>
            </a:r>
            <a:r>
              <a:rPr lang="en-US" dirty="0" err="1"/>
              <a:t>mEqual</a:t>
            </a:r>
            <a:r>
              <a:rPr lang="en-US" dirty="0"/>
              <a:t> instead of using operator ==</a:t>
            </a:r>
          </a:p>
          <a:p>
            <a:r>
              <a:rPr lang="en-US" dirty="0"/>
              <a:t>This is similar to using </a:t>
            </a:r>
            <a:r>
              <a:rPr lang="en-US" dirty="0" err="1"/>
              <a:t>mLess</a:t>
            </a:r>
            <a:r>
              <a:rPr lang="en-US" dirty="0"/>
              <a:t> instead of operator&lt; in Binary Heap or Binary Search Tree, AVL Tree</a:t>
            </a:r>
          </a:p>
        </p:txBody>
      </p:sp>
      <p:sp>
        <p:nvSpPr>
          <p:cNvPr id="5" name="TextBox 4">
            <a:extLst>
              <a:ext uri="{FF2B5EF4-FFF2-40B4-BE49-F238E27FC236}">
                <a16:creationId xmlns:a16="http://schemas.microsoft.com/office/drawing/2014/main" id="{04B50087-7763-13F9-4B55-FD25C4D36563}"/>
              </a:ext>
            </a:extLst>
          </p:cNvPr>
          <p:cNvSpPr txBox="1"/>
          <p:nvPr/>
        </p:nvSpPr>
        <p:spPr>
          <a:xfrm>
            <a:off x="4601029" y="2392792"/>
            <a:ext cx="6096000" cy="3647152"/>
          </a:xfrm>
          <a:prstGeom prst="rect">
            <a:avLst/>
          </a:prstGeom>
          <a:solidFill>
            <a:schemeClr val="bg1"/>
          </a:solidFill>
          <a:ln>
            <a:solidFill>
              <a:schemeClr val="accent2"/>
            </a:solidFill>
          </a:ln>
        </p:spPr>
        <p:txBody>
          <a:bodyPr wrap="square">
            <a:spAutoFit/>
          </a:bodyPr>
          <a:lstStyle/>
          <a:p>
            <a:r>
              <a:rPr lang="en-US" sz="1100" b="0" dirty="0" err="1">
                <a:solidFill>
                  <a:srgbClr val="569CD6"/>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D4D4D4"/>
                </a:solidFill>
                <a:effectLst/>
                <a:latin typeface="Monaspace Neon" pitchFamily="50" charset="0"/>
              </a:rPr>
              <a:t>start_pos</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hash_to_bucket</a:t>
            </a:r>
            <a:r>
              <a:rPr lang="en-US" sz="1100" b="0" dirty="0">
                <a:solidFill>
                  <a:srgbClr val="D4D4D4"/>
                </a:solidFill>
                <a:effectLst/>
                <a:latin typeface="Monaspace Neon" pitchFamily="50" charset="0"/>
              </a:rPr>
              <a:t>(key);</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D4D4D4"/>
                </a:solidFill>
                <a:effectLst/>
                <a:latin typeface="Monaspace Neon" pitchFamily="50" charset="0"/>
              </a:rPr>
              <a:t>first_erased</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0</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bool</a:t>
            </a:r>
            <a:r>
              <a:rPr lang="en-US" sz="1100" b="0" dirty="0">
                <a:solidFill>
                  <a:srgbClr val="D4D4D4"/>
                </a:solidFill>
                <a:effectLst/>
                <a:latin typeface="Monaspace Neon" pitchFamily="50" charset="0"/>
              </a:rPr>
              <a:t> </a:t>
            </a:r>
            <a:r>
              <a:rPr lang="en-US" sz="1100" b="0" dirty="0" err="1">
                <a:solidFill>
                  <a:srgbClr val="D4D4D4"/>
                </a:solidFill>
                <a:effectLst/>
                <a:latin typeface="Monaspace Neon" pitchFamily="50" charset="0"/>
              </a:rPr>
              <a:t>found_erased</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false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r>
              <a:rPr lang="en-US" sz="1100" b="0" dirty="0" err="1">
                <a:solidFill>
                  <a:srgbClr val="D4D4D4"/>
                </a:solidFill>
                <a:effectLst/>
                <a:latin typeface="Monaspace Neon" pitchFamily="50" charset="0"/>
              </a:rPr>
              <a:t>col_count</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0</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while</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true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569CD6"/>
                </a:solidFill>
                <a:effectLst/>
                <a:latin typeface="Monaspace Neon" pitchFamily="50" charset="0"/>
              </a:rPr>
              <a:t>size_t</a:t>
            </a:r>
            <a:r>
              <a:rPr lang="en-US" sz="1100" b="0" dirty="0">
                <a:solidFill>
                  <a:srgbClr val="D4D4D4"/>
                </a:solidFill>
                <a:effectLst/>
                <a:latin typeface="Monaspace Neon" pitchFamily="50" charset="0"/>
              </a:rPr>
              <a:t> pos = </a:t>
            </a:r>
            <a:r>
              <a:rPr lang="en-US" sz="1100" b="0" dirty="0" err="1">
                <a:solidFill>
                  <a:srgbClr val="DCDCAA"/>
                </a:solidFill>
                <a:effectLst/>
                <a:latin typeface="Monaspace Neon" pitchFamily="50" charset="0"/>
              </a:rPr>
              <a:t>quadratic_probing</a:t>
            </a:r>
            <a:r>
              <a:rPr lang="en-US" sz="1100" b="0" dirty="0">
                <a:solidFill>
                  <a:srgbClr val="D4D4D4"/>
                </a:solidFill>
                <a:effectLst/>
                <a:latin typeface="Monaspace Neon" pitchFamily="50" charset="0"/>
              </a:rPr>
              <a:t>(</a:t>
            </a:r>
            <a:r>
              <a:rPr lang="en-US" sz="1100" b="0" dirty="0" err="1">
                <a:solidFill>
                  <a:srgbClr val="D4D4D4"/>
                </a:solidFill>
                <a:effectLst/>
                <a:latin typeface="Monaspace Neon" pitchFamily="50" charset="0"/>
              </a:rPr>
              <a:t>start_pos,col_count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switch</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[pos].</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case</a:t>
            </a:r>
            <a:r>
              <a:rPr lang="en-US" sz="1100" b="0" dirty="0">
                <a:solidFill>
                  <a:srgbClr val="D4D4D4"/>
                </a:solidFill>
                <a:effectLst/>
                <a:latin typeface="Monaspace Neon" pitchFamily="50" charset="0"/>
              </a:rPr>
              <a:t> ERASED:</a:t>
            </a:r>
          </a:p>
          <a:p>
            <a:r>
              <a:rPr lang="en-US" sz="1100" b="0" dirty="0">
                <a:solidFill>
                  <a:srgbClr val="D4D4D4"/>
                </a:solidFill>
                <a:effectLst/>
                <a:latin typeface="Monaspace Neon" pitchFamily="50" charset="0"/>
              </a:rPr>
              <a:t>        </a:t>
            </a:r>
            <a:r>
              <a:rPr lang="en-US" sz="1100" b="0" dirty="0" err="1">
                <a:solidFill>
                  <a:srgbClr val="D4D4D4"/>
                </a:solidFill>
                <a:effectLst/>
                <a:latin typeface="Monaspace Neon" pitchFamily="50" charset="0"/>
              </a:rPr>
              <a:t>found_erased</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true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D4D4D4"/>
                </a:solidFill>
                <a:effectLst/>
                <a:latin typeface="Monaspace Neon" pitchFamily="50" charset="0"/>
              </a:rPr>
              <a:t>first_erased</a:t>
            </a:r>
            <a:r>
              <a:rPr lang="en-US" sz="1100" b="0" dirty="0">
                <a:solidFill>
                  <a:srgbClr val="D4D4D4"/>
                </a:solidFill>
                <a:effectLst/>
                <a:latin typeface="Monaspace Neon" pitchFamily="50" charset="0"/>
              </a:rPr>
              <a:t> = pos;</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break</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case</a:t>
            </a:r>
            <a:r>
              <a:rPr lang="en-US" sz="1100" b="0" dirty="0">
                <a:solidFill>
                  <a:srgbClr val="D4D4D4"/>
                </a:solidFill>
                <a:effectLst/>
                <a:latin typeface="Monaspace Neon" pitchFamily="50" charset="0"/>
              </a:rPr>
              <a:t> EMPTY:</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D4D4D4"/>
                </a:solidFill>
                <a:effectLst/>
                <a:latin typeface="Monaspace Neon" pitchFamily="50" charset="0"/>
              </a:rPr>
              <a:t>found_erased</a:t>
            </a:r>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D4D4D4"/>
                </a:solidFill>
                <a:effectLst/>
                <a:latin typeface="Monaspace Neon" pitchFamily="50" charset="0"/>
              </a:rPr>
              <a:t>first_erased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pos;</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case</a:t>
            </a:r>
            <a:r>
              <a:rPr lang="en-US" sz="1100" b="0" dirty="0">
                <a:solidFill>
                  <a:srgbClr val="D4D4D4"/>
                </a:solidFill>
                <a:effectLst/>
                <a:latin typeface="Monaspace Neon" pitchFamily="50" charset="0"/>
              </a:rPr>
              <a:t> OCCUPIED:</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mEqual</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[pos].</a:t>
            </a:r>
            <a:r>
              <a:rPr lang="en-US" sz="1100" b="0" dirty="0" err="1">
                <a:solidFill>
                  <a:srgbClr val="9CDCFE"/>
                </a:solidFill>
                <a:effectLst/>
                <a:latin typeface="Monaspace Neon" pitchFamily="50" charset="0"/>
              </a:rPr>
              <a:t>second</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first</a:t>
            </a:r>
            <a:r>
              <a:rPr lang="en-US" sz="1100" b="0" dirty="0" err="1">
                <a:solidFill>
                  <a:srgbClr val="D4D4D4"/>
                </a:solidFill>
                <a:effectLst/>
                <a:latin typeface="Monaspace Neon" pitchFamily="50" charset="0"/>
              </a:rPr>
              <a:t>,key</a:t>
            </a:r>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pos;</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break</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p:txBody>
      </p:sp>
      <p:sp>
        <p:nvSpPr>
          <p:cNvPr id="7" name="TextBox 6">
            <a:extLst>
              <a:ext uri="{FF2B5EF4-FFF2-40B4-BE49-F238E27FC236}">
                <a16:creationId xmlns:a16="http://schemas.microsoft.com/office/drawing/2014/main" id="{479F2886-58E4-D98F-313E-DB481091204D}"/>
              </a:ext>
            </a:extLst>
          </p:cNvPr>
          <p:cNvSpPr txBox="1"/>
          <p:nvPr/>
        </p:nvSpPr>
        <p:spPr>
          <a:xfrm>
            <a:off x="4601029" y="600278"/>
            <a:ext cx="6506029" cy="1107996"/>
          </a:xfrm>
          <a:prstGeom prst="rect">
            <a:avLst/>
          </a:prstGeom>
          <a:solidFill>
            <a:schemeClr val="bg1"/>
          </a:solidFill>
          <a:ln>
            <a:solidFill>
              <a:schemeClr val="accent6"/>
            </a:solidFill>
          </a:ln>
        </p:spPr>
        <p:txBody>
          <a:bodyPr wrap="square">
            <a:spAutoFit/>
          </a:bodyPr>
          <a:lstStyle/>
          <a:p>
            <a:r>
              <a:rPr lang="en-US" sz="1100" b="0" dirty="0" err="1">
                <a:solidFill>
                  <a:srgbClr val="4EC9B0"/>
                </a:solidFill>
                <a:effectLst/>
                <a:latin typeface="Monaspace Neon" pitchFamily="50" charset="0"/>
              </a:rPr>
              <a:t>ValueIterator</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find_in_bucket</a:t>
            </a:r>
            <a:r>
              <a:rPr lang="en-US" sz="1100" b="0" dirty="0">
                <a:solidFill>
                  <a:srgbClr val="D4D4D4"/>
                </a:solidFill>
                <a:effectLst/>
                <a:latin typeface="Monaspace Neon" pitchFamily="50" charset="0"/>
              </a:rPr>
              <a:t>(</a:t>
            </a:r>
            <a:r>
              <a:rPr lang="en-US" sz="1100" b="0" dirty="0" err="1">
                <a:solidFill>
                  <a:srgbClr val="4EC9B0"/>
                </a:solidFill>
                <a:effectLst/>
                <a:latin typeface="Monaspace Neon" pitchFamily="50" charset="0"/>
              </a:rPr>
              <a:t>BucketT</a:t>
            </a:r>
            <a:r>
              <a:rPr lang="en-US" sz="1100" b="0" dirty="0">
                <a:solidFill>
                  <a:srgbClr val="569CD6"/>
                </a:solidFill>
                <a:effectLst/>
                <a:latin typeface="Monaspace Neon" pitchFamily="50" charset="0"/>
              </a:rPr>
              <a:t>&amp;</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bucket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KeyT</a:t>
            </a:r>
            <a:r>
              <a:rPr lang="en-US" sz="1100" b="0" dirty="0">
                <a:solidFill>
                  <a:srgbClr val="569CD6"/>
                </a:solidFill>
                <a:effectLst/>
                <a:latin typeface="Monaspace Neon" pitchFamily="50" charset="0"/>
              </a:rPr>
              <a:t>&amp;</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for</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ValueIterator</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bucket</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bucket</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mEqual</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key</a:t>
            </a:r>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it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a:t>
            </a:r>
          </a:p>
        </p:txBody>
      </p:sp>
      <p:sp>
        <p:nvSpPr>
          <p:cNvPr id="9" name="Rectangle: Rounded Corners 8">
            <a:extLst>
              <a:ext uri="{FF2B5EF4-FFF2-40B4-BE49-F238E27FC236}">
                <a16:creationId xmlns:a16="http://schemas.microsoft.com/office/drawing/2014/main" id="{A7622ED3-CCEC-EFC5-766C-741097B56FE8}"/>
              </a:ext>
            </a:extLst>
          </p:cNvPr>
          <p:cNvSpPr/>
          <p:nvPr/>
        </p:nvSpPr>
        <p:spPr>
          <a:xfrm>
            <a:off x="4601029" y="5109028"/>
            <a:ext cx="6096000" cy="203200"/>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F705D9BA-ECA3-45FA-6C49-4702AB523FBF}"/>
              </a:ext>
            </a:extLst>
          </p:cNvPr>
          <p:cNvSpPr/>
          <p:nvPr/>
        </p:nvSpPr>
        <p:spPr>
          <a:xfrm>
            <a:off x="4601029" y="971550"/>
            <a:ext cx="6519720" cy="197826"/>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02016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0972E-08B8-017F-9E00-5E7B35505F80}"/>
              </a:ext>
            </a:extLst>
          </p:cNvPr>
          <p:cNvSpPr>
            <a:spLocks noGrp="1"/>
          </p:cNvSpPr>
          <p:nvPr>
            <p:ph type="title"/>
          </p:nvPr>
        </p:nvSpPr>
        <p:spPr/>
        <p:txBody>
          <a:bodyPr/>
          <a:lstStyle/>
          <a:p>
            <a:r>
              <a:rPr lang="en-US" dirty="0"/>
              <a:t>Insert</a:t>
            </a:r>
          </a:p>
        </p:txBody>
      </p:sp>
      <p:sp>
        <p:nvSpPr>
          <p:cNvPr id="3" name="Content Placeholder 2">
            <a:extLst>
              <a:ext uri="{FF2B5EF4-FFF2-40B4-BE49-F238E27FC236}">
                <a16:creationId xmlns:a16="http://schemas.microsoft.com/office/drawing/2014/main" id="{9C36710A-5CA5-F410-E456-2F664EDDD6D3}"/>
              </a:ext>
            </a:extLst>
          </p:cNvPr>
          <p:cNvSpPr>
            <a:spLocks noGrp="1"/>
          </p:cNvSpPr>
          <p:nvPr>
            <p:ph idx="1"/>
          </p:nvPr>
        </p:nvSpPr>
        <p:spPr>
          <a:xfrm>
            <a:off x="7863114" y="1358781"/>
            <a:ext cx="3915229" cy="5016382"/>
          </a:xfrm>
        </p:spPr>
        <p:txBody>
          <a:bodyPr/>
          <a:lstStyle/>
          <a:p>
            <a:r>
              <a:rPr lang="en-US" dirty="0"/>
              <a:t>Insert now takes pair&lt;</a:t>
            </a:r>
            <a:r>
              <a:rPr lang="en-US" dirty="0" err="1"/>
              <a:t>KeyT,MappedT</a:t>
            </a:r>
            <a:r>
              <a:rPr lang="en-US" dirty="0"/>
              <a:t>&gt;</a:t>
            </a:r>
          </a:p>
          <a:p>
            <a:r>
              <a:rPr lang="en-US" dirty="0"/>
              <a:t>Passing the </a:t>
            </a:r>
            <a:r>
              <a:rPr lang="en-US" dirty="0" err="1"/>
              <a:t>KeyT</a:t>
            </a:r>
            <a:r>
              <a:rPr lang="en-US" dirty="0"/>
              <a:t> to the bucket finding </a:t>
            </a:r>
          </a:p>
        </p:txBody>
      </p:sp>
      <p:sp>
        <p:nvSpPr>
          <p:cNvPr id="5" name="TextBox 4">
            <a:extLst>
              <a:ext uri="{FF2B5EF4-FFF2-40B4-BE49-F238E27FC236}">
                <a16:creationId xmlns:a16="http://schemas.microsoft.com/office/drawing/2014/main" id="{60C9041B-777F-6C19-D56C-9A039D021C97}"/>
              </a:ext>
            </a:extLst>
          </p:cNvPr>
          <p:cNvSpPr txBox="1"/>
          <p:nvPr/>
        </p:nvSpPr>
        <p:spPr>
          <a:xfrm>
            <a:off x="838200" y="1230594"/>
            <a:ext cx="6611257" cy="2292935"/>
          </a:xfrm>
          <a:prstGeom prst="rect">
            <a:avLst/>
          </a:prstGeom>
          <a:solidFill>
            <a:schemeClr val="bg1"/>
          </a:solidFill>
          <a:ln>
            <a:solidFill>
              <a:schemeClr val="accent1"/>
            </a:solidFill>
          </a:ln>
        </p:spPr>
        <p:txBody>
          <a:bodyPr wrap="square">
            <a:spAutoFit/>
          </a:bodyPr>
          <a:lstStyle/>
          <a:p>
            <a:r>
              <a:rPr lang="en-US" sz="1100" b="0" dirty="0">
                <a:solidFill>
                  <a:srgbClr val="4EC9B0"/>
                </a:solidFill>
                <a:effectLst/>
                <a:latin typeface="Monaspace Neon" pitchFamily="50" charset="0"/>
              </a:rPr>
              <a:t>std</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pair</a:t>
            </a:r>
            <a:r>
              <a:rPr lang="en-US" sz="1100" b="0" dirty="0">
                <a:solidFill>
                  <a:srgbClr val="D4D4D4"/>
                </a:solidFill>
                <a:effectLst/>
                <a:latin typeface="Monaspace Neon" pitchFamily="50" charset="0"/>
              </a:rPr>
              <a:t>&lt;</a:t>
            </a:r>
            <a:r>
              <a:rPr lang="en-US" sz="1100" b="0" dirty="0" err="1">
                <a:solidFill>
                  <a:srgbClr val="4EC9B0"/>
                </a:solidFill>
                <a:effectLst/>
                <a:latin typeface="Monaspace Neon" pitchFamily="50" charset="0"/>
              </a:rPr>
              <a:t>iterator</a:t>
            </a:r>
            <a:r>
              <a:rPr lang="en-US" sz="1100" b="0" dirty="0" err="1">
                <a:solidFill>
                  <a:srgbClr val="D4D4D4"/>
                </a:solidFill>
                <a:effectLst/>
                <a:latin typeface="Monaspace Neon" pitchFamily="50" charset="0"/>
              </a:rPr>
              <a:t>,</a:t>
            </a:r>
            <a:r>
              <a:rPr lang="en-US" sz="1100" b="0" dirty="0" err="1">
                <a:solidFill>
                  <a:srgbClr val="569CD6"/>
                </a:solidFill>
                <a:effectLst/>
                <a:latin typeface="Monaspace Neon" pitchFamily="50" charset="0"/>
              </a:rPr>
              <a:t>bool</a:t>
            </a:r>
            <a:r>
              <a:rPr lang="en-US" sz="1100" b="0" dirty="0">
                <a:solidFill>
                  <a:srgbClr val="D4D4D4"/>
                </a:solidFill>
                <a:effectLst/>
                <a:latin typeface="Monaspace Neon" pitchFamily="50" charset="0"/>
              </a:rPr>
              <a:t>&gt; </a:t>
            </a:r>
            <a:r>
              <a:rPr lang="en-US" sz="1100" b="0" dirty="0">
                <a:solidFill>
                  <a:srgbClr val="DCDCAA"/>
                </a:solidFill>
                <a:effectLst/>
                <a:latin typeface="Monaspace Neon" pitchFamily="50" charset="0"/>
              </a:rPr>
              <a:t>insert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ValueT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&amp;</a:t>
            </a:r>
            <a:r>
              <a:rPr lang="en-US" sz="1100" b="0" dirty="0">
                <a:solidFill>
                  <a:srgbClr val="9CDCFE"/>
                </a:solidFill>
                <a:effectLst/>
                <a:latin typeface="Monaspace Neon" pitchFamily="50" charset="0"/>
              </a:rPr>
              <a:t>value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mSize</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1</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0.0</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a:solidFill>
                  <a:srgbClr val="DCDCAA"/>
                </a:solidFill>
                <a:effectLst/>
                <a:latin typeface="Monaspace Neon" pitchFamily="50" charset="0"/>
              </a:rPr>
              <a:t>size</a:t>
            </a:r>
            <a:r>
              <a:rPr lang="en-US" sz="1100" b="0" dirty="0">
                <a:solidFill>
                  <a:srgbClr val="D4D4D4"/>
                </a:solidFill>
                <a:effectLst/>
                <a:latin typeface="Monaspace Neon" pitchFamily="50" charset="0"/>
              </a:rPr>
              <a:t>()) &gt; </a:t>
            </a:r>
            <a:r>
              <a:rPr lang="en-US" sz="1100" b="0" dirty="0" err="1">
                <a:solidFill>
                  <a:srgbClr val="DCDCAA"/>
                </a:solidFill>
                <a:effectLst/>
                <a:latin typeface="Monaspace Neon" pitchFamily="50" charset="0"/>
              </a:rPr>
              <a:t>max_load_factor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rehash</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2</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size_t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find_bucket</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value</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first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a:t>
            </a:r>
            <a:r>
              <a:rPr lang="en-US" sz="1100" b="0" dirty="0">
                <a:solidFill>
                  <a:srgbClr val="9CDCFE"/>
                </a:solidFill>
                <a:effectLst/>
                <a:latin typeface="Monaspace Neon" pitchFamily="50" charset="0"/>
              </a:rPr>
              <a:t>first</a:t>
            </a:r>
            <a:r>
              <a:rPr lang="en-US" sz="1100" b="0" dirty="0">
                <a:solidFill>
                  <a:srgbClr val="D4D4D4"/>
                </a:solidFill>
                <a:effectLst/>
                <a:latin typeface="Monaspace Neon" pitchFamily="50" charset="0"/>
              </a:rPr>
              <a:t> == OCCUPIED) {</a:t>
            </a:r>
          </a:p>
          <a:p>
            <a:r>
              <a:rPr lang="en-US" sz="1100" b="0" dirty="0">
                <a:solidFill>
                  <a:srgbClr val="6A9955"/>
                </a:solidFill>
                <a:effectLst/>
                <a:latin typeface="Monaspace Neon" pitchFamily="50" charset="0"/>
              </a:rPr>
              <a:t>    //found existing key, skip</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bucketIdx</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false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 </a:t>
            </a:r>
            <a:r>
              <a:rPr lang="en-US" sz="1100" b="0" dirty="0">
                <a:solidFill>
                  <a:srgbClr val="C586C0"/>
                </a:solidFill>
                <a:effectLst/>
                <a:latin typeface="Monaspace Neon" pitchFamily="50" charset="0"/>
              </a:rPr>
              <a:t>else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mBuckets</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bucketIdx</a:t>
            </a:r>
            <a:r>
              <a:rPr lang="en-US" sz="1100" b="0" dirty="0">
                <a:solidFill>
                  <a:srgbClr val="D4D4D4"/>
                </a:solidFill>
                <a:effectLst/>
                <a:latin typeface="Monaspace Neon" pitchFamily="50" charset="0"/>
              </a:rPr>
              <a:t>] = {</a:t>
            </a:r>
            <a:r>
              <a:rPr lang="en-US" sz="1100" b="0" dirty="0" err="1">
                <a:solidFill>
                  <a:srgbClr val="D4D4D4"/>
                </a:solidFill>
                <a:effectLst/>
                <a:latin typeface="Monaspace Neon" pitchFamily="50" charset="0"/>
              </a:rPr>
              <a:t>OCCUPIED,</a:t>
            </a:r>
            <a:r>
              <a:rPr lang="en-US" sz="1100" b="0" dirty="0" err="1">
                <a:solidFill>
                  <a:srgbClr val="9CDCFE"/>
                </a:solidFill>
                <a:effectLst/>
                <a:latin typeface="Monaspace Neon" pitchFamily="50" charset="0"/>
              </a:rPr>
              <a:t>value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mSize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iterator</a:t>
            </a:r>
            <a:r>
              <a:rPr lang="en-US" sz="1100" b="0" dirty="0">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begin</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bucketIdx</a:t>
            </a:r>
            <a:r>
              <a:rPr lang="en-US" sz="1100" b="0" dirty="0" err="1">
                <a:solidFill>
                  <a:srgbClr val="D4D4D4"/>
                </a:solidFill>
                <a:effectLst/>
                <a:latin typeface="Monaspace Neon" pitchFamily="50" charset="0"/>
              </a:rPr>
              <a:t>,</a:t>
            </a:r>
            <a:r>
              <a:rPr lang="en-US" sz="1100" b="0" dirty="0" err="1">
                <a:solidFill>
                  <a:srgbClr val="9CDCFE"/>
                </a:solidFill>
                <a:effectLst/>
                <a:latin typeface="Monaspace Neon" pitchFamily="50" charset="0"/>
              </a:rPr>
              <a:t>mBuckets</a:t>
            </a:r>
            <a:r>
              <a:rPr lang="en-US" sz="1100" b="0" dirty="0" err="1">
                <a:solidFill>
                  <a:srgbClr val="D4D4D4"/>
                </a:solidFill>
                <a:effectLst/>
                <a:latin typeface="Monaspace Neon" pitchFamily="50" charset="0"/>
              </a:rPr>
              <a:t>.</a:t>
            </a:r>
            <a:r>
              <a:rPr lang="en-US" sz="1100" b="0" dirty="0" err="1">
                <a:solidFill>
                  <a:srgbClr val="DCDCAA"/>
                </a:solidFill>
                <a:effectLst/>
                <a:latin typeface="Monaspace Neon" pitchFamily="50" charset="0"/>
              </a:rPr>
              <a:t>end</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true</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p:txBody>
      </p:sp>
      <p:sp>
        <p:nvSpPr>
          <p:cNvPr id="7" name="TextBox 6">
            <a:extLst>
              <a:ext uri="{FF2B5EF4-FFF2-40B4-BE49-F238E27FC236}">
                <a16:creationId xmlns:a16="http://schemas.microsoft.com/office/drawing/2014/main" id="{ED65EADE-A7E9-9BC2-15EF-3D4DF0694C16}"/>
              </a:ext>
            </a:extLst>
          </p:cNvPr>
          <p:cNvSpPr txBox="1"/>
          <p:nvPr/>
        </p:nvSpPr>
        <p:spPr>
          <a:xfrm>
            <a:off x="838200" y="3802013"/>
            <a:ext cx="6611257" cy="2677656"/>
          </a:xfrm>
          <a:prstGeom prst="rect">
            <a:avLst/>
          </a:prstGeom>
          <a:solidFill>
            <a:schemeClr val="bg1"/>
          </a:solidFill>
          <a:ln>
            <a:solidFill>
              <a:schemeClr val="accent2"/>
            </a:solidFill>
          </a:ln>
        </p:spPr>
        <p:txBody>
          <a:bodyPr wrap="square">
            <a:spAutoFit/>
          </a:bodyPr>
          <a:lstStyle/>
          <a:p>
            <a:r>
              <a:rPr lang="en-US" sz="1050" b="0" dirty="0">
                <a:solidFill>
                  <a:srgbClr val="4EC9B0"/>
                </a:solidFill>
                <a:effectLst/>
                <a:latin typeface="Monaspace Neon" pitchFamily="50" charset="0"/>
              </a:rPr>
              <a:t>std</a:t>
            </a:r>
            <a:r>
              <a:rPr lang="en-US" sz="1050" b="0" dirty="0">
                <a:solidFill>
                  <a:srgbClr val="D4D4D4"/>
                </a:solidFill>
                <a:effectLst/>
                <a:latin typeface="Monaspace Neon" pitchFamily="50" charset="0"/>
              </a:rPr>
              <a:t>::</a:t>
            </a:r>
            <a:r>
              <a:rPr lang="en-US" sz="1050" b="0" dirty="0">
                <a:solidFill>
                  <a:srgbClr val="4EC9B0"/>
                </a:solidFill>
                <a:effectLst/>
                <a:latin typeface="Monaspace Neon" pitchFamily="50" charset="0"/>
              </a:rPr>
              <a:t>pair</a:t>
            </a:r>
            <a:r>
              <a:rPr lang="en-US" sz="1050" b="0" dirty="0">
                <a:solidFill>
                  <a:srgbClr val="D4D4D4"/>
                </a:solidFill>
                <a:effectLst/>
                <a:latin typeface="Monaspace Neon" pitchFamily="50" charset="0"/>
              </a:rPr>
              <a:t>&lt;</a:t>
            </a:r>
            <a:r>
              <a:rPr lang="en-US" sz="1050" b="0" dirty="0" err="1">
                <a:solidFill>
                  <a:srgbClr val="4EC9B0"/>
                </a:solidFill>
                <a:effectLst/>
                <a:latin typeface="Monaspace Neon" pitchFamily="50" charset="0"/>
              </a:rPr>
              <a:t>iterator</a:t>
            </a:r>
            <a:r>
              <a:rPr lang="en-US" sz="1050" b="0" dirty="0" err="1">
                <a:solidFill>
                  <a:srgbClr val="D4D4D4"/>
                </a:solidFill>
                <a:effectLst/>
                <a:latin typeface="Monaspace Neon" pitchFamily="50" charset="0"/>
              </a:rPr>
              <a:t>,</a:t>
            </a:r>
            <a:r>
              <a:rPr lang="en-US" sz="1050" b="0" dirty="0" err="1">
                <a:solidFill>
                  <a:srgbClr val="569CD6"/>
                </a:solidFill>
                <a:effectLst/>
                <a:latin typeface="Monaspace Neon" pitchFamily="50" charset="0"/>
              </a:rPr>
              <a:t>bool</a:t>
            </a:r>
            <a:r>
              <a:rPr lang="en-US" sz="1050" b="0" dirty="0">
                <a:solidFill>
                  <a:srgbClr val="D4D4D4"/>
                </a:solidFill>
                <a:effectLst/>
                <a:latin typeface="Monaspace Neon" pitchFamily="50" charset="0"/>
              </a:rPr>
              <a:t>&gt; </a:t>
            </a:r>
            <a:r>
              <a:rPr lang="en-US" sz="1050" b="0" dirty="0">
                <a:solidFill>
                  <a:srgbClr val="DCDCAA"/>
                </a:solidFill>
                <a:effectLst/>
                <a:latin typeface="Monaspace Neon" pitchFamily="50" charset="0"/>
              </a:rPr>
              <a:t>insert</a:t>
            </a:r>
            <a:r>
              <a:rPr lang="en-US" sz="1050" b="0" dirty="0">
                <a:solidFill>
                  <a:srgbClr val="D4D4D4"/>
                </a:solidFill>
                <a:effectLst/>
                <a:latin typeface="Monaspace Neon" pitchFamily="50" charset="0"/>
              </a:rPr>
              <a:t>(</a:t>
            </a:r>
            <a:r>
              <a:rPr lang="en-US" sz="1050" b="0" dirty="0">
                <a:solidFill>
                  <a:srgbClr val="569CD6"/>
                </a:solidFill>
                <a:effectLst/>
                <a:latin typeface="Monaspace Neon" pitchFamily="50" charset="0"/>
              </a:rPr>
              <a:t>const</a:t>
            </a:r>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ValueT</a:t>
            </a:r>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&amp;</a:t>
            </a:r>
            <a:r>
              <a:rPr lang="en-US" sz="1050" b="0" dirty="0">
                <a:solidFill>
                  <a:srgbClr val="9CDCFE"/>
                </a:solidFill>
                <a:effectLst/>
                <a:latin typeface="Monaspace Neon" pitchFamily="50" charset="0"/>
              </a:rPr>
              <a:t>value</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auto</a:t>
            </a:r>
            <a:r>
              <a:rPr lang="en-US" sz="1050" b="0" dirty="0">
                <a:solidFill>
                  <a:srgbClr val="D4D4D4"/>
                </a:solidFill>
                <a:effectLst/>
                <a:latin typeface="Monaspace Neon" pitchFamily="50" charset="0"/>
              </a:rPr>
              <a:t> </a:t>
            </a:r>
            <a:r>
              <a:rPr lang="en-US" sz="1050" b="0" dirty="0">
                <a:solidFill>
                  <a:srgbClr val="9CDCFE"/>
                </a:solidFill>
                <a:effectLst/>
                <a:latin typeface="Monaspace Neon" pitchFamily="50" charset="0"/>
              </a:rPr>
              <a:t>it</a:t>
            </a:r>
            <a:r>
              <a:rPr lang="en-US" sz="1050" b="0" dirty="0">
                <a:solidFill>
                  <a:srgbClr val="D4D4D4"/>
                </a:solidFill>
                <a:effectLst/>
                <a:latin typeface="Monaspace Neon" pitchFamily="50" charset="0"/>
              </a:rPr>
              <a:t> = </a:t>
            </a:r>
            <a:r>
              <a:rPr lang="en-US" sz="1050" b="0" dirty="0">
                <a:solidFill>
                  <a:srgbClr val="DCDCAA"/>
                </a:solidFill>
                <a:effectLst/>
                <a:latin typeface="Monaspace Neon" pitchFamily="50" charset="0"/>
              </a:rPr>
              <a:t>find</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value</a:t>
            </a:r>
            <a:r>
              <a:rPr lang="en-US" sz="1050" b="0" dirty="0" err="1">
                <a:solidFill>
                  <a:srgbClr val="D4D4D4"/>
                </a:solidFill>
                <a:effectLst/>
                <a:latin typeface="Monaspace Neon" pitchFamily="50" charset="0"/>
              </a:rPr>
              <a:t>.</a:t>
            </a:r>
            <a:r>
              <a:rPr lang="en-US" sz="1050" b="0" dirty="0" err="1">
                <a:solidFill>
                  <a:srgbClr val="9CDCFE"/>
                </a:solidFill>
                <a:effectLst/>
                <a:latin typeface="Monaspace Neon" pitchFamily="50" charset="0"/>
              </a:rPr>
              <a:t>first</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if</a:t>
            </a:r>
            <a:r>
              <a:rPr lang="en-US" sz="1050" b="0" dirty="0">
                <a:solidFill>
                  <a:srgbClr val="D4D4D4"/>
                </a:solidFill>
                <a:effectLst/>
                <a:latin typeface="Monaspace Neon" pitchFamily="50" charset="0"/>
              </a:rPr>
              <a:t> (</a:t>
            </a:r>
            <a:r>
              <a:rPr lang="en-US" sz="1050" b="0" dirty="0">
                <a:solidFill>
                  <a:srgbClr val="9CDCFE"/>
                </a:solidFill>
                <a:effectLst/>
                <a:latin typeface="Monaspace Neon" pitchFamily="50" charset="0"/>
              </a:rPr>
              <a:t>it</a:t>
            </a:r>
            <a:r>
              <a:rPr lang="en-US" sz="1050" b="0" dirty="0">
                <a:solidFill>
                  <a:srgbClr val="D4D4D4"/>
                </a:solidFill>
                <a:effectLst/>
                <a:latin typeface="Monaspace Neon" pitchFamily="50" charset="0"/>
              </a:rPr>
              <a:t> != </a:t>
            </a:r>
            <a:r>
              <a:rPr lang="en-US" sz="1050" b="0" dirty="0">
                <a:solidFill>
                  <a:srgbClr val="DCDCAA"/>
                </a:solidFill>
                <a:effectLst/>
                <a:latin typeface="Monaspace Neon" pitchFamily="50" charset="0"/>
              </a:rPr>
              <a:t>end</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it</a:t>
            </a:r>
            <a:r>
              <a:rPr lang="en-US" sz="1050" b="0" dirty="0" err="1">
                <a:solidFill>
                  <a:srgbClr val="D4D4D4"/>
                </a:solidFill>
                <a:effectLst/>
                <a:latin typeface="Monaspace Neon" pitchFamily="50" charset="0"/>
              </a:rPr>
              <a:t>,</a:t>
            </a:r>
            <a:r>
              <a:rPr lang="en-US" sz="1050" b="0" dirty="0" err="1">
                <a:solidFill>
                  <a:srgbClr val="569CD6"/>
                </a:solidFill>
                <a:effectLst/>
                <a:latin typeface="Monaspace Neon" pitchFamily="50" charset="0"/>
              </a:rPr>
              <a:t>false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 </a:t>
            </a:r>
            <a:r>
              <a:rPr lang="en-US" sz="1050" b="0" dirty="0">
                <a:solidFill>
                  <a:srgbClr val="C586C0"/>
                </a:solidFill>
                <a:effectLst/>
                <a:latin typeface="Monaspace Neon" pitchFamily="50" charset="0"/>
              </a:rPr>
              <a:t>else</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if</a:t>
            </a:r>
            <a:r>
              <a:rPr lang="en-US" sz="1050" b="0" dirty="0">
                <a:solidFill>
                  <a:srgbClr val="D4D4D4"/>
                </a:solidFill>
                <a:effectLst/>
                <a:latin typeface="Monaspace Neon" pitchFamily="50" charset="0"/>
              </a:rPr>
              <a:t> (</a:t>
            </a:r>
            <a:r>
              <a:rPr lang="en-US" sz="1050" b="0" dirty="0" err="1">
                <a:solidFill>
                  <a:srgbClr val="DCDCAA"/>
                </a:solidFill>
                <a:effectLst/>
                <a:latin typeface="Monaspace Neon" pitchFamily="50" charset="0"/>
              </a:rPr>
              <a:t>load_factor</a:t>
            </a:r>
            <a:r>
              <a:rPr lang="en-US" sz="1050" b="0" dirty="0">
                <a:solidFill>
                  <a:srgbClr val="D4D4D4"/>
                </a:solidFill>
                <a:effectLst/>
                <a:latin typeface="Monaspace Neon" pitchFamily="50" charset="0"/>
              </a:rPr>
              <a:t>() &gt; </a:t>
            </a:r>
            <a:r>
              <a:rPr lang="en-US" sz="1050" b="0" dirty="0" err="1">
                <a:solidFill>
                  <a:srgbClr val="DCDCAA"/>
                </a:solidFill>
                <a:effectLst/>
                <a:latin typeface="Monaspace Neon" pitchFamily="50" charset="0"/>
              </a:rPr>
              <a:t>max_load_factor</a:t>
            </a:r>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a:solidFill>
                  <a:srgbClr val="DCDCAA"/>
                </a:solidFill>
                <a:effectLst/>
                <a:latin typeface="Monaspace Neon" pitchFamily="50" charset="0"/>
              </a:rPr>
              <a:t>rehash</a:t>
            </a:r>
            <a:r>
              <a:rPr lang="en-US" sz="1050" b="0" dirty="0">
                <a:solidFill>
                  <a:srgbClr val="D4D4D4"/>
                </a:solidFill>
                <a:effectLst/>
                <a:latin typeface="Monaspace Neon" pitchFamily="50" charset="0"/>
              </a:rPr>
              <a:t>(</a:t>
            </a:r>
            <a:r>
              <a:rPr lang="en-US" sz="1050" b="0" dirty="0">
                <a:solidFill>
                  <a:srgbClr val="B5CEA8"/>
                </a:solidFill>
                <a:effectLst/>
                <a:latin typeface="Monaspace Neon" pitchFamily="50" charset="0"/>
              </a:rPr>
              <a:t>2</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mBuckets</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size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    </a:t>
            </a:r>
            <a:r>
              <a:rPr lang="en-US" sz="1050" b="0" dirty="0" err="1">
                <a:solidFill>
                  <a:srgbClr val="4EC9B0"/>
                </a:solidFill>
                <a:effectLst/>
                <a:latin typeface="Monaspace Neon" pitchFamily="50" charset="0"/>
              </a:rPr>
              <a:t>size_t</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 = </a:t>
            </a:r>
            <a:r>
              <a:rPr lang="en-US" sz="1050" b="0" dirty="0" err="1">
                <a:solidFill>
                  <a:srgbClr val="DCDCAA"/>
                </a:solidFill>
                <a:effectLst/>
                <a:latin typeface="Monaspace Neon" pitchFamily="50" charset="0"/>
              </a:rPr>
              <a:t>hash_to_bucket</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value</a:t>
            </a:r>
            <a:r>
              <a:rPr lang="en-US" sz="1050" b="0" dirty="0" err="1">
                <a:solidFill>
                  <a:srgbClr val="D4D4D4"/>
                </a:solidFill>
                <a:effectLst/>
                <a:latin typeface="Monaspace Neon" pitchFamily="50" charset="0"/>
              </a:rPr>
              <a:t>.</a:t>
            </a:r>
            <a:r>
              <a:rPr lang="en-US" sz="1050" b="0" dirty="0" err="1">
                <a:solidFill>
                  <a:srgbClr val="9CDCFE"/>
                </a:solidFill>
                <a:effectLst/>
                <a:latin typeface="Monaspace Neon" pitchFamily="50" charset="0"/>
              </a:rPr>
              <a:t>first</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569CD6"/>
                </a:solidFill>
                <a:effectLst/>
                <a:latin typeface="Monaspace Neon" pitchFamily="50" charset="0"/>
              </a:rPr>
              <a:t>auto</a:t>
            </a:r>
            <a:r>
              <a:rPr lang="en-US" sz="1050" b="0" dirty="0">
                <a:solidFill>
                  <a:srgbClr val="D4D4D4"/>
                </a:solidFill>
                <a:effectLst/>
                <a:latin typeface="Monaspace Neon" pitchFamily="50" charset="0"/>
              </a:rPr>
              <a:t> &amp;</a:t>
            </a:r>
            <a:r>
              <a:rPr lang="en-US" sz="1050" b="0" dirty="0">
                <a:solidFill>
                  <a:srgbClr val="9CDCFE"/>
                </a:solidFill>
                <a:effectLst/>
                <a:latin typeface="Monaspace Neon" pitchFamily="50" charset="0"/>
              </a:rPr>
              <a:t>b</a:t>
            </a:r>
            <a:r>
              <a:rPr lang="en-US" sz="1050" b="0" dirty="0">
                <a:solidFill>
                  <a:srgbClr val="D4D4D4"/>
                </a:solidFill>
                <a:effectLst/>
                <a:latin typeface="Monaspace Neon" pitchFamily="50" charset="0"/>
              </a:rPr>
              <a:t> = </a:t>
            </a:r>
            <a:r>
              <a:rPr lang="en-US" sz="1050" b="0" dirty="0" err="1">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b</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push_back</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value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mSize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9CDCFE"/>
                </a:solidFill>
                <a:effectLst/>
                <a:latin typeface="Monaspace Neon" pitchFamily="50" charset="0"/>
              </a:rPr>
              <a:t>it</a:t>
            </a:r>
            <a:r>
              <a:rPr lang="en-US" sz="1050" b="0" dirty="0">
                <a:solidFill>
                  <a:srgbClr val="D4D4D4"/>
                </a:solidFill>
                <a:effectLst/>
                <a:latin typeface="Monaspace Neon" pitchFamily="50" charset="0"/>
              </a:rPr>
              <a:t> = </a:t>
            </a:r>
            <a:r>
              <a:rPr lang="en-US" sz="1050" b="0" dirty="0">
                <a:solidFill>
                  <a:srgbClr val="4EC9B0"/>
                </a:solidFill>
                <a:effectLst/>
                <a:latin typeface="Monaspace Neon" pitchFamily="50" charset="0"/>
              </a:rPr>
              <a:t>iterator</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end</a:t>
            </a:r>
            <a:r>
              <a:rPr lang="en-US" sz="1050" b="0" dirty="0">
                <a:solidFill>
                  <a:srgbClr val="D4D4D4"/>
                </a:solidFill>
                <a:effectLst/>
                <a:latin typeface="Monaspace Neon" pitchFamily="50" charset="0"/>
              </a:rPr>
              <a:t>() - </a:t>
            </a:r>
            <a:r>
              <a:rPr lang="en-US" sz="1050" b="0" dirty="0">
                <a:solidFill>
                  <a:srgbClr val="B5CEA8"/>
                </a:solidFill>
                <a:effectLst/>
                <a:latin typeface="Monaspace Neon" pitchFamily="50" charset="0"/>
              </a:rPr>
              <a:t>1</a:t>
            </a:r>
            <a:r>
              <a:rPr lang="en-US" sz="1050" b="0" dirty="0">
                <a:solidFill>
                  <a:srgbClr val="D4D4D4"/>
                </a:solidFill>
                <a:effectLst/>
                <a:latin typeface="Monaspace Neon" pitchFamily="50" charset="0"/>
              </a:rPr>
              <a:t>,</a:t>
            </a:r>
            <a:r>
              <a:rPr lang="en-US" sz="1050" b="0" dirty="0">
                <a:solidFill>
                  <a:srgbClr val="9CDCFE"/>
                </a:solidFill>
                <a:effectLst/>
                <a:latin typeface="Monaspace Neon" pitchFamily="50" charset="0"/>
              </a:rPr>
              <a:t>mBuckets</a:t>
            </a:r>
            <a:r>
              <a:rPr lang="en-US" sz="1050" b="0" dirty="0">
                <a:solidFill>
                  <a:srgbClr val="D4D4D4"/>
                </a:solidFill>
                <a:effectLst/>
                <a:latin typeface="Monaspace Neon" pitchFamily="50" charset="0"/>
              </a:rPr>
              <a:t>.</a:t>
            </a:r>
            <a:r>
              <a:rPr lang="en-US" sz="1050" b="0" dirty="0">
                <a:solidFill>
                  <a:srgbClr val="DCDCAA"/>
                </a:solidFill>
                <a:effectLst/>
                <a:latin typeface="Monaspace Neon" pitchFamily="50" charset="0"/>
              </a:rPr>
              <a:t>begin</a:t>
            </a:r>
            <a:r>
              <a:rPr lang="en-US" sz="1050" b="0" dirty="0">
                <a:solidFill>
                  <a:srgbClr val="D4D4D4"/>
                </a:solidFill>
                <a:effectLst/>
                <a:latin typeface="Monaspace Neon" pitchFamily="50" charset="0"/>
              </a:rPr>
              <a:t>()+</a:t>
            </a:r>
            <a:r>
              <a:rPr lang="en-US" sz="1050" b="0" dirty="0" err="1">
                <a:solidFill>
                  <a:srgbClr val="9CDCFE"/>
                </a:solidFill>
                <a:effectLst/>
                <a:latin typeface="Monaspace Neon" pitchFamily="50" charset="0"/>
              </a:rPr>
              <a:t>bucketIdx</a:t>
            </a:r>
            <a:r>
              <a:rPr lang="en-US" sz="1050" b="0" dirty="0" err="1">
                <a:solidFill>
                  <a:srgbClr val="D4D4D4"/>
                </a:solidFill>
                <a:effectLst/>
                <a:latin typeface="Monaspace Neon" pitchFamily="50" charset="0"/>
              </a:rPr>
              <a:t>,</a:t>
            </a:r>
            <a:r>
              <a:rPr lang="en-US" sz="1050" b="0" dirty="0" err="1">
                <a:solidFill>
                  <a:srgbClr val="9CDCFE"/>
                </a:solidFill>
                <a:effectLst/>
                <a:latin typeface="Monaspace Neon" pitchFamily="50" charset="0"/>
              </a:rPr>
              <a:t>mBuckets</a:t>
            </a:r>
            <a:r>
              <a:rPr lang="en-US" sz="1050" b="0" dirty="0" err="1">
                <a:solidFill>
                  <a:srgbClr val="D4D4D4"/>
                </a:solidFill>
                <a:effectLst/>
                <a:latin typeface="Monaspace Neon" pitchFamily="50" charset="0"/>
              </a:rPr>
              <a:t>.</a:t>
            </a:r>
            <a:r>
              <a:rPr lang="en-US" sz="1050" b="0" dirty="0" err="1">
                <a:solidFill>
                  <a:srgbClr val="DCDCAA"/>
                </a:solidFill>
                <a:effectLst/>
                <a:latin typeface="Monaspace Neon" pitchFamily="50" charset="0"/>
              </a:rPr>
              <a:t>end</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r>
              <a:rPr lang="en-US" sz="1050" b="0" dirty="0">
                <a:solidFill>
                  <a:srgbClr val="C586C0"/>
                </a:solidFill>
                <a:effectLst/>
                <a:latin typeface="Monaspace Neon" pitchFamily="50" charset="0"/>
              </a:rPr>
              <a:t>return</a:t>
            </a:r>
            <a:r>
              <a:rPr lang="en-US" sz="1050" b="0" dirty="0">
                <a:solidFill>
                  <a:srgbClr val="D4D4D4"/>
                </a:solidFill>
                <a:effectLst/>
                <a:latin typeface="Monaspace Neon" pitchFamily="50" charset="0"/>
              </a:rPr>
              <a:t> {</a:t>
            </a:r>
            <a:r>
              <a:rPr lang="en-US" sz="1050" b="0" dirty="0" err="1">
                <a:solidFill>
                  <a:srgbClr val="9CDCFE"/>
                </a:solidFill>
                <a:effectLst/>
                <a:latin typeface="Monaspace Neon" pitchFamily="50" charset="0"/>
              </a:rPr>
              <a:t>it</a:t>
            </a:r>
            <a:r>
              <a:rPr lang="en-US" sz="1050" b="0" dirty="0" err="1">
                <a:solidFill>
                  <a:srgbClr val="D4D4D4"/>
                </a:solidFill>
                <a:effectLst/>
                <a:latin typeface="Monaspace Neon" pitchFamily="50" charset="0"/>
              </a:rPr>
              <a:t>,</a:t>
            </a:r>
            <a:r>
              <a:rPr lang="en-US" sz="1050" b="0" dirty="0" err="1">
                <a:solidFill>
                  <a:srgbClr val="569CD6"/>
                </a:solidFill>
                <a:effectLst/>
                <a:latin typeface="Monaspace Neon" pitchFamily="50" charset="0"/>
              </a:rPr>
              <a:t>true</a:t>
            </a:r>
            <a:r>
              <a:rPr lang="en-US" sz="1050" b="0" dirty="0">
                <a:solidFill>
                  <a:srgbClr val="D4D4D4"/>
                </a:solidFill>
                <a:effectLst/>
                <a:latin typeface="Monaspace Neon" pitchFamily="50" charset="0"/>
              </a:rPr>
              <a:t>};</a:t>
            </a:r>
          </a:p>
          <a:p>
            <a:r>
              <a:rPr lang="en-US" sz="1050" b="0" dirty="0">
                <a:solidFill>
                  <a:srgbClr val="D4D4D4"/>
                </a:solidFill>
                <a:effectLst/>
                <a:latin typeface="Monaspace Neon" pitchFamily="50" charset="0"/>
              </a:rPr>
              <a:t>  }</a:t>
            </a:r>
          </a:p>
          <a:p>
            <a:r>
              <a:rPr lang="en-US" sz="1050" b="0" dirty="0">
                <a:solidFill>
                  <a:srgbClr val="D4D4D4"/>
                </a:solidFill>
                <a:effectLst/>
                <a:latin typeface="Monaspace Neon" pitchFamily="50" charset="0"/>
              </a:rPr>
              <a:t>}</a:t>
            </a:r>
          </a:p>
        </p:txBody>
      </p:sp>
      <p:sp>
        <p:nvSpPr>
          <p:cNvPr id="8" name="Rectangle: Rounded Corners 7">
            <a:extLst>
              <a:ext uri="{FF2B5EF4-FFF2-40B4-BE49-F238E27FC236}">
                <a16:creationId xmlns:a16="http://schemas.microsoft.com/office/drawing/2014/main" id="{FD7E0206-97A4-3FD4-FC06-BF15247363C6}"/>
              </a:ext>
            </a:extLst>
          </p:cNvPr>
          <p:cNvSpPr/>
          <p:nvPr/>
        </p:nvSpPr>
        <p:spPr>
          <a:xfrm>
            <a:off x="838200" y="1762857"/>
            <a:ext cx="6611256" cy="206619"/>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32D0E791-C6C3-84BC-ED04-C2D5E1323446}"/>
              </a:ext>
            </a:extLst>
          </p:cNvPr>
          <p:cNvSpPr/>
          <p:nvPr/>
        </p:nvSpPr>
        <p:spPr>
          <a:xfrm>
            <a:off x="838200" y="5108330"/>
            <a:ext cx="6611256" cy="206619"/>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51490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8335CA-A3B4-8AB0-4EDF-31E44F10D7B3}"/>
              </a:ext>
            </a:extLst>
          </p:cNvPr>
          <p:cNvSpPr>
            <a:spLocks noGrp="1"/>
          </p:cNvSpPr>
          <p:nvPr>
            <p:ph type="title"/>
          </p:nvPr>
        </p:nvSpPr>
        <p:spPr/>
        <p:txBody>
          <a:bodyPr/>
          <a:lstStyle/>
          <a:p>
            <a:r>
              <a:rPr lang="en-US" dirty="0"/>
              <a:t>Summary</a:t>
            </a:r>
          </a:p>
        </p:txBody>
      </p:sp>
      <p:sp>
        <p:nvSpPr>
          <p:cNvPr id="5" name="Content Placeholder 4">
            <a:extLst>
              <a:ext uri="{FF2B5EF4-FFF2-40B4-BE49-F238E27FC236}">
                <a16:creationId xmlns:a16="http://schemas.microsoft.com/office/drawing/2014/main" id="{5C2AE113-0659-CB01-D5C7-71D20E2848AC}"/>
              </a:ext>
            </a:extLst>
          </p:cNvPr>
          <p:cNvSpPr>
            <a:spLocks noGrp="1"/>
          </p:cNvSpPr>
          <p:nvPr>
            <p:ph idx="1"/>
          </p:nvPr>
        </p:nvSpPr>
        <p:spPr/>
        <p:txBody>
          <a:bodyPr/>
          <a:lstStyle/>
          <a:p>
            <a:r>
              <a:rPr lang="en-US" dirty="0"/>
              <a:t>Hash Table is fast if we maintain load factor to be small</a:t>
            </a:r>
          </a:p>
          <a:p>
            <a:pPr lvl="1"/>
            <a:r>
              <a:rPr lang="en-US" dirty="0"/>
              <a:t>The speed depends on uniformity of the hash function</a:t>
            </a:r>
          </a:p>
          <a:p>
            <a:r>
              <a:rPr lang="en-US" dirty="0"/>
              <a:t>Iterator is a little slow because it might need to go over empty bucket</a:t>
            </a:r>
          </a:p>
          <a:p>
            <a:r>
              <a:rPr lang="en-US" dirty="0"/>
              <a:t>There are two different collision handling strategies, Separate Chaining and Open Addressing.</a:t>
            </a:r>
          </a:p>
          <a:p>
            <a:pPr lvl="1"/>
            <a:r>
              <a:rPr lang="en-US" dirty="0"/>
              <a:t>SP is more permissive in the load factor range while OA limits it to be not exceeding 1</a:t>
            </a:r>
          </a:p>
        </p:txBody>
      </p:sp>
    </p:spTree>
    <p:extLst>
      <p:ext uri="{BB962C8B-B14F-4D97-AF65-F5344CB8AC3E}">
        <p14:creationId xmlns:p14="http://schemas.microsoft.com/office/powerpoint/2010/main" val="3640962317"/>
      </p:ext>
    </p:extLst>
  </p:cSld>
  <p:clrMapOvr>
    <a:masterClrMapping/>
  </p:clrMapOvr>
</p:sld>
</file>

<file path=ppt/theme/theme1.xml><?xml version="1.0" encoding="utf-8"?>
<a:theme xmlns:a="http://schemas.openxmlformats.org/drawingml/2006/main" name="dae-default">
  <a:themeElements>
    <a:clrScheme name="Custom 3">
      <a:dk1>
        <a:sysClr val="windowText" lastClr="000000"/>
      </a:dk1>
      <a:lt1>
        <a:sysClr val="window" lastClr="FFFFFF"/>
      </a:lt1>
      <a:dk2>
        <a:srgbClr val="212121"/>
      </a:dk2>
      <a:lt2>
        <a:srgbClr val="E7E6E6"/>
      </a:lt2>
      <a:accent1>
        <a:srgbClr val="D4FB79"/>
      </a:accent1>
      <a:accent2>
        <a:srgbClr val="FF7E79"/>
      </a:accent2>
      <a:accent3>
        <a:srgbClr val="76D6FB"/>
      </a:accent3>
      <a:accent4>
        <a:srgbClr val="FFD479"/>
      </a:accent4>
      <a:accent5>
        <a:srgbClr val="D783FF"/>
      </a:accent5>
      <a:accent6>
        <a:srgbClr val="73FA79"/>
      </a:accent6>
      <a:hlink>
        <a:srgbClr val="0096FF"/>
      </a:hlink>
      <a:folHlink>
        <a:srgbClr val="954F72"/>
      </a:folHlink>
    </a:clrScheme>
    <a:fontScheme name="Custom 1">
      <a:majorFont>
        <a:latin typeface="Sarabun ExtraLight"/>
        <a:ea typeface=""/>
        <a:cs typeface="Sarabun ExtraLight"/>
      </a:majorFont>
      <a:minorFont>
        <a:latin typeface="Sarabun ExtraLight"/>
        <a:ea typeface=""/>
        <a:cs typeface="Sarabun ExtraLight"/>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e-default" id="{510114F9-C429-4665-9804-4C0F10FA9A8E}" vid="{3074D711-C638-4782-B543-05305884A16A}"/>
    </a:ext>
  </a:extLst>
</a:theme>
</file>

<file path=docProps/app.xml><?xml version="1.0" encoding="utf-8"?>
<Properties xmlns="http://schemas.openxmlformats.org/officeDocument/2006/extended-properties" xmlns:vt="http://schemas.openxmlformats.org/officeDocument/2006/docPropsVTypes">
  <Template>dae-default</Template>
  <TotalTime>13288</TotalTime>
  <Words>11549</Words>
  <Application>Microsoft Office PowerPoint</Application>
  <PresentationFormat>Widescreen</PresentationFormat>
  <Paragraphs>1970</Paragraphs>
  <Slides>71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71</vt:i4>
      </vt:variant>
    </vt:vector>
  </HeadingPairs>
  <TitlesOfParts>
    <vt:vector size="80" baseType="lpstr">
      <vt:lpstr>Arial</vt:lpstr>
      <vt:lpstr>Cambria Math</vt:lpstr>
      <vt:lpstr>Consolas</vt:lpstr>
      <vt:lpstr>Corbel</vt:lpstr>
      <vt:lpstr>Monaspace Neon</vt:lpstr>
      <vt:lpstr>Sarabun</vt:lpstr>
      <vt:lpstr>Sarabun ExtraLight</vt:lpstr>
      <vt:lpstr>Sarabun Light</vt:lpstr>
      <vt:lpstr>dae-default</vt:lpstr>
      <vt:lpstr>Hash Table</vt:lpstr>
      <vt:lpstr>Overview</vt:lpstr>
      <vt:lpstr>Perfect Hash Example: The Structure</vt:lpstr>
      <vt:lpstr>Perfect Hash Example: Operation</vt:lpstr>
      <vt:lpstr>Using Hash Table as a std::map</vt:lpstr>
      <vt:lpstr>Basic Analysis of perfect hash</vt:lpstr>
      <vt:lpstr>Perfect hash problem and solution</vt:lpstr>
      <vt:lpstr>Collision Example</vt:lpstr>
      <vt:lpstr>Outline</vt:lpstr>
      <vt:lpstr>Separate Chaining</vt:lpstr>
      <vt:lpstr>Separate Chaining Overview</vt:lpstr>
      <vt:lpstr>Coding ver 0.1: overview</vt:lpstr>
      <vt:lpstr>What is std::hash </vt:lpstr>
      <vt:lpstr>Coding ver 0.1: basic operations</vt:lpstr>
      <vt:lpstr>Basic Analysis</vt:lpstr>
      <vt:lpstr>Load Factor and Trade Off between Time and Space</vt:lpstr>
      <vt:lpstr>Adaptive Bucket Size with Rehash</vt:lpstr>
      <vt:lpstr>Code ver 0.2: load factor and rehash</vt:lpstr>
      <vt:lpstr>Analysis</vt:lpstr>
      <vt:lpstr>What’s remain?</vt:lpstr>
      <vt:lpstr>Open Addressing</vt:lpstr>
      <vt:lpstr>X can be in different bucket other than h(x)</vt:lpstr>
      <vt:lpstr>Example: Linear Probing</vt:lpstr>
      <vt:lpstr>Probing Function</vt:lpstr>
      <vt:lpstr>Find in Open Addressing</vt:lpstr>
      <vt:lpstr>Open Addressing v0.1 (LP)</vt:lpstr>
      <vt:lpstr>Open Addressing v0.1 (LP)</vt:lpstr>
      <vt:lpstr>Erasing in Open Addressing</vt:lpstr>
      <vt:lpstr>Fixing Erase in Open Addressing</vt:lpstr>
      <vt:lpstr>Open Addressing v0.2 (LP)</vt:lpstr>
      <vt:lpstr>Open Addressing v0.2 (LP)</vt:lpstr>
      <vt:lpstr>Basic Analysis</vt:lpstr>
      <vt:lpstr>Primary Clustering Problem</vt:lpstr>
      <vt:lpstr>Another Cause for Primary Clustering</vt:lpstr>
      <vt:lpstr>Quadratic Probing: Fixing Primary Clustering</vt:lpstr>
      <vt:lpstr>Does Quadratic Probing always find an empty bucket?</vt:lpstr>
      <vt:lpstr>Sufficient Condition for finding free bucket</vt:lpstr>
      <vt:lpstr>QP Summary</vt:lpstr>
      <vt:lpstr>Open Addressing v0.3 (QP)</vt:lpstr>
      <vt:lpstr>Open Addressing v0.3 (QP)</vt:lpstr>
      <vt:lpstr>Double Hashing</vt:lpstr>
      <vt:lpstr>Example</vt:lpstr>
      <vt:lpstr>Summary</vt:lpstr>
      <vt:lpstr>Open Addressing Analysis</vt:lpstr>
      <vt:lpstr>Comparing Separate Chaining vs Open Addressing</vt:lpstr>
      <vt:lpstr>Hash Function</vt:lpstr>
      <vt:lpstr>The goal of a hash function</vt:lpstr>
      <vt:lpstr>Bad Hash Function</vt:lpstr>
      <vt:lpstr>Trivial Hash Function</vt:lpstr>
      <vt:lpstr>Trivial Hash for non-integer</vt:lpstr>
      <vt:lpstr>Hash Function for Variable Length Data</vt:lpstr>
      <vt:lpstr>Hash Function for byte-array</vt:lpstr>
      <vt:lpstr>Hash Function for byte-array</vt:lpstr>
      <vt:lpstr>Cryptographic Hash Function</vt:lpstr>
      <vt:lpstr>Iterator</vt:lpstr>
      <vt:lpstr>Overview</vt:lpstr>
      <vt:lpstr>Separate Chaining Iterator</vt:lpstr>
      <vt:lpstr>Open Addressing Iterator</vt:lpstr>
      <vt:lpstr>Separate Chaining Iterator Class</vt:lpstr>
      <vt:lpstr>Separate Chaining Iterator Class</vt:lpstr>
      <vt:lpstr>Adjustment to find and insert</vt:lpstr>
      <vt:lpstr>Open Addressing Iterator Class</vt:lpstr>
      <vt:lpstr>Open Addressing Iterator Class</vt:lpstr>
      <vt:lpstr>Adjustment to find and insert</vt:lpstr>
      <vt:lpstr>Using Hash as a Map</vt:lpstr>
      <vt:lpstr>Overview</vt:lpstr>
      <vt:lpstr>More Template Declaration</vt:lpstr>
      <vt:lpstr>operator[]</vt:lpstr>
      <vt:lpstr>mEqual</vt:lpstr>
      <vt:lpstr>Insert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Nattee Niparnan</dc:creator>
  <cp:lastModifiedBy>Nattee Niparnan</cp:lastModifiedBy>
  <cp:revision>77</cp:revision>
  <dcterms:created xsi:type="dcterms:W3CDTF">2020-11-04T00:09:46Z</dcterms:created>
  <dcterms:modified xsi:type="dcterms:W3CDTF">2024-02-16T03:37:19Z</dcterms:modified>
</cp:coreProperties>
</file>